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0977836a3040d2" /><Relationship Type="http://schemas.openxmlformats.org/officeDocument/2006/relationships/extended-properties" Target="/docProps/app.xml" Id="R26471402b7d248a5" /><Relationship Type="http://schemas.openxmlformats.org/officeDocument/2006/relationships/officeDocument" Target="/ppt/presentation.xml" Id="R2e74c5f5f06846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f5aae03b074ed3"/>
    <p:sldMasterId xmlns:r="http://schemas.openxmlformats.org/officeDocument/2006/relationships" id="2147483655" r:id="R49cd495d96cb4f80"/>
  </p:sldMasterIdLst>
  <p:notesMasterIdLst>
    <p:notesMasterId xmlns:r="http://schemas.openxmlformats.org/officeDocument/2006/relationships" r:id="Rb7fb6727b5ec4879"/>
  </p:notesMasterIdLst>
  <p:sldIdLst>
    <p:sldId xmlns:r="http://schemas.openxmlformats.org/officeDocument/2006/relationships" id="256" r:id="R27732187fb894335"/>
    <p:sldId xmlns:r="http://schemas.openxmlformats.org/officeDocument/2006/relationships" id="257" r:id="R230548db8f1a4aab"/>
    <p:sldId xmlns:r="http://schemas.openxmlformats.org/officeDocument/2006/relationships" id="258" r:id="R44f0e2b1605f4d6c"/>
    <p:sldId xmlns:r="http://schemas.openxmlformats.org/officeDocument/2006/relationships" id="259" r:id="Rddcd781564a949af"/>
    <p:sldId xmlns:r="http://schemas.openxmlformats.org/officeDocument/2006/relationships" id="260" r:id="R9671cbec94164675"/>
    <p:sldId xmlns:r="http://schemas.openxmlformats.org/officeDocument/2006/relationships" id="261" r:id="R45346b0162f54ba6"/>
    <p:sldId xmlns:r="http://schemas.openxmlformats.org/officeDocument/2006/relationships" id="262" r:id="Rac9fb9445239439e"/>
    <p:sldId xmlns:r="http://schemas.openxmlformats.org/officeDocument/2006/relationships" id="263" r:id="Re1324022675b49ae"/>
    <p:sldId xmlns:r="http://schemas.openxmlformats.org/officeDocument/2006/relationships" id="264" r:id="Rbab1158e5c724d74"/>
    <p:sldId xmlns:r="http://schemas.openxmlformats.org/officeDocument/2006/relationships" id="265" r:id="R16105f2b2df84cf6"/>
    <p:sldId xmlns:r="http://schemas.openxmlformats.org/officeDocument/2006/relationships" id="266" r:id="R2b924abc0d5142d0"/>
    <p:sldId xmlns:r="http://schemas.openxmlformats.org/officeDocument/2006/relationships" id="267" r:id="Rc1757426b42d43fc"/>
    <p:sldId xmlns:r="http://schemas.openxmlformats.org/officeDocument/2006/relationships" id="268" r:id="R44e8c2cdefaa4d12"/>
    <p:sldId xmlns:r="http://schemas.openxmlformats.org/officeDocument/2006/relationships" id="269" r:id="Rc2494a3992504436"/>
    <p:sldId xmlns:r="http://schemas.openxmlformats.org/officeDocument/2006/relationships" id="270" r:id="R82919eeaeb9a457f"/>
    <p:sldId xmlns:r="http://schemas.openxmlformats.org/officeDocument/2006/relationships" id="271" r:id="R84d1c912127a4e95"/>
    <p:sldId xmlns:r="http://schemas.openxmlformats.org/officeDocument/2006/relationships" id="272" r:id="R668407b4fea946b2"/>
    <p:sldId xmlns:r="http://schemas.openxmlformats.org/officeDocument/2006/relationships" id="273" r:id="R392facff718640d4"/>
    <p:sldId xmlns:r="http://schemas.openxmlformats.org/officeDocument/2006/relationships" id="274" r:id="R9b9b79d5210949a4"/>
    <p:sldId xmlns:r="http://schemas.openxmlformats.org/officeDocument/2006/relationships" id="275" r:id="Rb3d5211780ef4118"/>
    <p:sldId xmlns:r="http://schemas.openxmlformats.org/officeDocument/2006/relationships" id="276" r:id="R365058f826d8427d"/>
    <p:sldId xmlns:r="http://schemas.openxmlformats.org/officeDocument/2006/relationships" id="277" r:id="Rdfb228cd584e44bc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80958aa01e4d8b" /><Relationship Type="http://schemas.openxmlformats.org/officeDocument/2006/relationships/slideMaster" Target="/ppt/slideMasters/slideMaster1.xml" Id="R9ef5aae03b074ed3" /><Relationship Type="http://schemas.openxmlformats.org/officeDocument/2006/relationships/slideMaster" Target="/ppt/slideMasters/slideMaster2.xml" Id="R49cd495d96cb4f80" /><Relationship Type="http://schemas.openxmlformats.org/officeDocument/2006/relationships/notesMaster" Target="/ppt/notesMasters/notesMaster1.xml" Id="Rb7fb6727b5ec4879" /><Relationship Type="http://schemas.openxmlformats.org/officeDocument/2006/relationships/presProps" Target="/ppt/presProps.xml" Id="Rab3f0ce2e38b497e" /><Relationship Type="http://schemas.openxmlformats.org/officeDocument/2006/relationships/viewProps" Target="/ppt/viewProps.xml" Id="R485afc4211184b3d" /><Relationship Type="http://schemas.openxmlformats.org/officeDocument/2006/relationships/tableStyles" Target="/ppt/tableStyles.xml" Id="Rf9244cb895a443b9" /><Relationship Type="http://schemas.openxmlformats.org/officeDocument/2006/relationships/slide" Target="/ppt/slides/slide1.xml" Id="R27732187fb894335" /><Relationship Type="http://schemas.openxmlformats.org/officeDocument/2006/relationships/slide" Target="/ppt/slides/slide2.xml" Id="R230548db8f1a4aab" /><Relationship Type="http://schemas.openxmlformats.org/officeDocument/2006/relationships/slide" Target="/ppt/slides/slide3.xml" Id="R44f0e2b1605f4d6c" /><Relationship Type="http://schemas.openxmlformats.org/officeDocument/2006/relationships/slide" Target="/ppt/slides/slide4.xml" Id="Rddcd781564a949af" /><Relationship Type="http://schemas.openxmlformats.org/officeDocument/2006/relationships/slide" Target="/ppt/slides/slide5.xml" Id="R9671cbec94164675" /><Relationship Type="http://schemas.openxmlformats.org/officeDocument/2006/relationships/slide" Target="/ppt/slides/slide6.xml" Id="R45346b0162f54ba6" /><Relationship Type="http://schemas.openxmlformats.org/officeDocument/2006/relationships/slide" Target="/ppt/slides/slide7.xml" Id="Rac9fb9445239439e" /><Relationship Type="http://schemas.openxmlformats.org/officeDocument/2006/relationships/slide" Target="/ppt/slides/slide8.xml" Id="Re1324022675b49ae" /><Relationship Type="http://schemas.openxmlformats.org/officeDocument/2006/relationships/slide" Target="/ppt/slides/slide9.xml" Id="Rbab1158e5c724d74" /><Relationship Type="http://schemas.openxmlformats.org/officeDocument/2006/relationships/slide" Target="/ppt/slides/slide10.xml" Id="R16105f2b2df84cf6" /><Relationship Type="http://schemas.openxmlformats.org/officeDocument/2006/relationships/slide" Target="/ppt/slides/slide11.xml" Id="R2b924abc0d5142d0" /><Relationship Type="http://schemas.openxmlformats.org/officeDocument/2006/relationships/slide" Target="/ppt/slides/slide12.xml" Id="Rc1757426b42d43fc" /><Relationship Type="http://schemas.openxmlformats.org/officeDocument/2006/relationships/slide" Target="/ppt/slides/slide13.xml" Id="R44e8c2cdefaa4d12" /><Relationship Type="http://schemas.openxmlformats.org/officeDocument/2006/relationships/slide" Target="/ppt/slides/slide14.xml" Id="Rc2494a3992504436" /><Relationship Type="http://schemas.openxmlformats.org/officeDocument/2006/relationships/slide" Target="/ppt/slides/slide15.xml" Id="R82919eeaeb9a457f" /><Relationship Type="http://schemas.openxmlformats.org/officeDocument/2006/relationships/slide" Target="/ppt/slides/slide16.xml" Id="R84d1c912127a4e95" /><Relationship Type="http://schemas.openxmlformats.org/officeDocument/2006/relationships/slide" Target="/ppt/slides/slide17.xml" Id="R668407b4fea946b2" /><Relationship Type="http://schemas.openxmlformats.org/officeDocument/2006/relationships/slide" Target="/ppt/slides/slide18.xml" Id="R392facff718640d4" /><Relationship Type="http://schemas.openxmlformats.org/officeDocument/2006/relationships/slide" Target="/ppt/slides/slide19.xml" Id="R9b9b79d5210949a4" /><Relationship Type="http://schemas.openxmlformats.org/officeDocument/2006/relationships/slide" Target="/ppt/slides/slide20.xml" Id="Rb3d5211780ef4118" /><Relationship Type="http://schemas.openxmlformats.org/officeDocument/2006/relationships/slide" Target="/ppt/slides/slide21.xml" Id="R365058f826d8427d" /><Relationship Type="http://schemas.openxmlformats.org/officeDocument/2006/relationships/slide" Target="/ppt/slides/slide22.xml" Id="Rdfb228cd584e44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ce37a84f10b45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33137d83914291" /><Relationship Type="http://schemas.openxmlformats.org/officeDocument/2006/relationships/notesMaster" Target="/ppt/notesMasters/notesMaster1.xml" Id="Re4dbe63e12ac44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0eb5b0e09f4bac" /><Relationship Type="http://schemas.openxmlformats.org/officeDocument/2006/relationships/notesMaster" Target="/ppt/notesMasters/notesMaster1.xml" Id="R9e4a490d987b4d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1ae606a5414348" /><Relationship Type="http://schemas.openxmlformats.org/officeDocument/2006/relationships/notesMaster" Target="/ppt/notesMasters/notesMaster1.xml" Id="Re775b5f8841549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ae52fbe87d499a" /><Relationship Type="http://schemas.openxmlformats.org/officeDocument/2006/relationships/notesMaster" Target="/ppt/notesMasters/notesMaster1.xml" Id="Rf3be1f8a105a44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660377f5794f28" /><Relationship Type="http://schemas.openxmlformats.org/officeDocument/2006/relationships/notesMaster" Target="/ppt/notesMasters/notesMaster1.xml" Id="Rf88ea36a242842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b26ddd87dd4440" /><Relationship Type="http://schemas.openxmlformats.org/officeDocument/2006/relationships/notesMaster" Target="/ppt/notesMasters/notesMaster1.xml" Id="Rf42ed3a808eb4e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57f93b7bf04a8d" /><Relationship Type="http://schemas.openxmlformats.org/officeDocument/2006/relationships/notesMaster" Target="/ppt/notesMasters/notesMaster1.xml" Id="R7a2ff8e8d8f043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f8c320457e49d8" /><Relationship Type="http://schemas.openxmlformats.org/officeDocument/2006/relationships/notesMaster" Target="/ppt/notesMasters/notesMaster1.xml" Id="R441b910d80f644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1d255bfe3b4661" /><Relationship Type="http://schemas.openxmlformats.org/officeDocument/2006/relationships/notesMaster" Target="/ppt/notesMasters/notesMaster1.xml" Id="R73f1274b4b454e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4a1ebf2f8d48bc" /><Relationship Type="http://schemas.openxmlformats.org/officeDocument/2006/relationships/notesMaster" Target="/ppt/notesMasters/notesMaster1.xml" Id="R946c402acf514c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b52e1f713a4e02" /><Relationship Type="http://schemas.openxmlformats.org/officeDocument/2006/relationships/notesMaster" Target="/ppt/notesMasters/notesMaster1.xml" Id="R85f5c17a82e441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61afc11c744033" /><Relationship Type="http://schemas.openxmlformats.org/officeDocument/2006/relationships/notesMaster" Target="/ppt/notesMasters/notesMaster1.xml" Id="Rc9648f71ecfc42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9d30290ca14fb5" /><Relationship Type="http://schemas.openxmlformats.org/officeDocument/2006/relationships/notesMaster" Target="/ppt/notesMasters/notesMaster1.xml" Id="R68f1ed0199984f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9ec52ffe864f19" /><Relationship Type="http://schemas.openxmlformats.org/officeDocument/2006/relationships/notesMaster" Target="/ppt/notesMasters/notesMaster1.xml" Id="R198e09b4d9fa4e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0b9561c0bf4e79" /><Relationship Type="http://schemas.openxmlformats.org/officeDocument/2006/relationships/notesMaster" Target="/ppt/notesMasters/notesMaster1.xml" Id="R256c276bce0a4c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7257f50b39427d" /><Relationship Type="http://schemas.openxmlformats.org/officeDocument/2006/relationships/notesMaster" Target="/ppt/notesMasters/notesMaster1.xml" Id="R82a323bf881444d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c9feca8d6a4d34" /><Relationship Type="http://schemas.openxmlformats.org/officeDocument/2006/relationships/notesMaster" Target="/ppt/notesMasters/notesMaster1.xml" Id="R535b44b30e3347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925e178a2841e0" /><Relationship Type="http://schemas.openxmlformats.org/officeDocument/2006/relationships/notesMaster" Target="/ppt/notesMasters/notesMaster1.xml" Id="R7075dbb4b0ce415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7ee85ffd06f440a" /><Relationship Type="http://schemas.openxmlformats.org/officeDocument/2006/relationships/notesMaster" Target="/ppt/notesMasters/notesMaster1.xml" Id="R09599e3ca06c4fb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dcf9f9479e24a66" /><Relationship Type="http://schemas.openxmlformats.org/officeDocument/2006/relationships/notesMaster" Target="/ppt/notesMasters/notesMaster1.xml" Id="R51777217368a4b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825821898f349e8" /><Relationship Type="http://schemas.openxmlformats.org/officeDocument/2006/relationships/notesMaster" Target="/ppt/notesMasters/notesMaster1.xml" Id="Rf95d1ae22eeb421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f7bc1f874ca4a29" /><Relationship Type="http://schemas.openxmlformats.org/officeDocument/2006/relationships/notesMaster" Target="/ppt/notesMasters/notesMaster1.xml" Id="R5e00df71928645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 15 秒内：这是一个前后端分离、AI Agent 驱动的数据库查询与运维工作台。</a:t>
            </a:r>
          </a:p>
          <a:p xmlns:a="http://schemas.openxmlformats.org/drawingml/2006/main">
            <a:r>
              <a:t>一句话说清用户价值：不会 SQL 的人也能查询，会 SQL 的人更快。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痛点来源：docs/需求说明书V2.0.md 1.2 目标用户、1.3 核心价值；对应解法见 README「功能特性」与本稿功能演示页。三类成本：业务等、开发慢、运维难管。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用真实工作流举例：产品经理打开网页，输入“本月新增用户按日分组”，系统生成 SQL、返回结果，并可一键生成图表。</a:t>
            </a:r>
          </a:p>
          <a:p xmlns:a="http://schemas.openxmlformats.org/drawingml/2006/main"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定位一句话：不会 SQL 的人也能查数，会 SQL 的人更快。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不逐条念功能，强调模块围绕工作流组织：连接、查询、分析、报表、管理。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40 秒），包含两个查询案例：</a:t>
            </a:r>
          </a:p>
          <a:p xmlns:a="http://schemas.openxmlformats.org/drawingml/2006/main">
            <a:r>
              <a:t>案例一：选择「本地演示库 (SQLite)」，提问「查询所有用户信息」，Agent 生成 SELECT id, username, email, age, created_at FROM users 并返回 8 条记录；</a:t>
            </a:r>
          </a:p>
          <a:p xmlns:a="http://schemas.openxmlformats.org/drawingml/2006/main">
            <a:r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视频为本地运行实例的录屏；数据源为内置演示库（SQLite）与远端 Oracle UAT 库（T_ORG 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60 秒），数据源为 Oracle（UAT）：</a:t>
            </a:r>
          </a:p>
          <a:p xmlns:a="http://schemas.openxmlformats.org/drawingml/2006/main">
            <a:r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 xmlns:a="http://schemas.openxmlformats.org/drawingml/2006/main">
            <a:r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 xmlns:a="http://schemas.openxmlformats.org/drawingml/2006/main">
            <a:r>
              <a:t>结尾进入「可视化报表」页，可见刚保存的两张图表（笔数与金额量级差异大时前端自动拆分双 Y 轴）。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视频为本地运行实例的录屏；数据源为远端 Oracle UAT 库（T_TRANS_LOG / T_ORG）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55 秒），完整演示 SQL 工作台与 Agent 协同：</a:t>
            </a:r>
          </a:p>
          <a:p xmlns:a="http://schemas.openxmlformats.org/drawingml/2006/main">
            <a:r>
              <a:t>案例一：数据源切换为「OceanBase（本地）」，在编辑器输入 SELECT * FROM `t_org`; 并点击「▶ 执行」，返回 55 行机构数据；</a:t>
            </a:r>
          </a:p>
          <a:p xmlns:a="http://schemas.openxmlformats.org/drawingml/2006/main">
            <a:r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 xmlns:a="http://schemas.openxmlformats.org/drawingml/2006/main">
            <a:r>
              <a:t>结尾依次切换左侧「历史」页签（本次两条 SQL 的执行记录，含行数与耗时）与「收藏」页签（新增的收藏项排在首位）。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4.4.2.1（bank_db，T_ORG 55 行 / T_TRANS_LOG 10 万行）；Agent 生成 SQL 的模型为 openai · deepseek-v4-flash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52 秒），三个写操作场景均需人工确认：</a:t>
            </a:r>
          </a:p>
          <a:p xmlns:a="http://schemas.openxmlformats.org/drawingml/2006/main">
            <a:r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 xmlns:a="http://schemas.openxmlformats.org/drawingml/2006/main">
            <a:r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 xmlns:a="http://schemas.openxmlformats.org/drawingml/2006/main">
            <a:r>
              <a:t>案例三（高危操作被拦下）：继续输入「删除用户表」，Agent 生成 DROP TABLE `t_user`，同样红色高危提示，点「取消」后提示「已取消执行」，表未被删除。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 bank_db（T_USER）；READ 自动执行、DML/DDL 待确认以及 5 分钟过期机制见 services/sql_service.py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32 秒），四个监控能力依次演示：</a:t>
            </a:r>
          </a:p>
          <a:p xmlns:a="http://schemas.openxmlformats.org/drawingml/2006/main">
            <a:r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 xmlns:a="http://schemas.openxmlformats.org/drawingml/2006/main">
            <a:r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 xmlns:a="http://schemas.openxmlformats.org/drawingml/2006/main">
            <a:r>
              <a:t>第三步：切到「慢查询」，把耗时阈值从默认 1000ms 改为 100ms 并点击「查询」，列出超过阈值的慢 SQL（含数据源、耗时、行数、状态、SQL、时间）；</a:t>
            </a:r>
          </a:p>
          <a:p xmlns:a="http://schemas.openxmlformats.org/drawingml/2006/main">
            <a:r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视频为本地运行实例的录屏；数据来自 query_history / audit_logs 与远端 Oracle SIT、UAT 库；慢查询阈值、连接概览与 schema diff 实现见 routers/monitor.py 与 services/metadata_service.py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秒），两步验证连接可用性：</a:t>
            </a:r>
          </a:p>
          <a:p xmlns:a="http://schemas.openxmlformats.org/drawingml/2006/main">
            <a:r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 xmlns:a="http://schemas.openxmlformats.org/drawingml/2006/main">
            <a:r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秒），从用户到角色依次演示：</a:t>
            </a:r>
          </a:p>
          <a:p xmlns:a="http://schemas.openxmlformats.org/drawingml/2006/main">
            <a:r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 xmlns:a="http://schemas.openxmlformats.org/drawingml/2006/main">
            <a:r>
              <a:t>第二步：切到「角色管理」，左侧列出 5 个内置角色（管理员 / 技术管理 / 技术查询 / 业务管理 / 业务查询）；</a:t>
            </a:r>
          </a:p>
          <a:p xmlns:a="http://schemas.openxmlformats.org/drawingml/2006/main">
            <a:r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视频为本地运行实例的录屏；角色与权限码定义见 backend/app/permissions.py（BUILTIN_ROLES / PERMISSIONS），前端路由守卫与菜单按 meta.permission 控制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Agent 能力的层次：不只是生成 SQL，还包括 Schema 感知、多轮对话、解释优化和流式输出。</a:t>
            </a:r>
          </a:p>
          <a:p xmlns:a="http://schemas.openxmlformats.org/drawingml/2006/main">
            <a:r>
              <a:t>下一页会展开工程实现中的工具调用与失败重试。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重点讲“工具调用 + 失败重试 + few-shot”，这是 AI 编程竞赛最看重的工程深度。</a:t>
            </a:r>
          </a:p>
          <a:p xmlns:a="http://schemas.openxmlformats.org/drawingml/2006/main">
            <a:r>
              <a:t>现场演示：输入“查询本月新增用户数并按日分组”，展示思考过程、SQL、结果和图表生成。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这是项目的信任基础：让 AI 能生成 SQL，但不让 AI 拥有不受控的写权限。</a:t>
            </a:r>
          </a:p>
          <a:p xmlns:a="http://schemas.openxmlformats.org/drawingml/2006/main">
            <a:r>
              <a:t>可对比“直接给 AI 数据库权限”的传统做法，突出安全设计。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审计与监控是系统可治理的体现，也是企业级部署的关键。</a:t>
            </a:r>
          </a:p>
          <a:p xmlns:a="http://schemas.openxmlformats.org/drawingml/2006/main">
            <a:r>
              <a:t>强调审计导出与自动清理，以及 Prometheus 指标对运维友好。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企业级完整性：加密、分级授权、全量审计、指标与测试。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backend/app/security.py、permissions.py、main.py（/metrics）；后端 117 项 pytest 用例，96 个 API 接口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收尾回到用户价值，并给出下一步计划。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da4d1488e40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d244dd24648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73449db214a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492d1e32e4f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24f96ccba4a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0cc8e6973444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8c95062b5d4e6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2fb0006e1b4b2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a6d75ed722460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8bce9511a640c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f51f916343449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d3631811ee41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AA06A7-9197-4BB0-AAD7-489398BAA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02D52F-3D8B-49DA-860D-CD2DF9B6C9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3ADEDE-B669-4C47-BAD1-62D54CF44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2A7363-EAF5-4F1B-841F-AE5EBDBE49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48684C-13E6-4F82-9666-EDA4E9D151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941F1F-A1AA-4B8F-BAAB-59A5E9ACA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CE35AF-28E6-4416-937A-51695DB5EE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3660CA-DF56-459A-83F6-7834608229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7BF0F0-03FB-46AB-A7F1-79EA35F21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B30A46-CE3C-46D1-BBB0-D1E075EFB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7AB76E-9D41-4414-BB7F-2B1E85CF5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6E669A-FC85-4A5A-8567-E5886F23ED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BF757B-F9AC-4A6B-9499-142A21372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928315-A78D-4FC8-A6AB-846B99225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ABFD6B-5772-493F-9DAD-1A5CA8098B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AC4394-E391-452E-B764-FDF6F790F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76EC73-8794-4B2F-B640-27EA99411A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B29C93-C40B-438D-B5CD-2E27B4F5DC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EDE9DC-0F8B-44F2-9417-329A865C30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CD5FFE-DDB7-4BDE-8BBD-941A84EAC3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63bb25c75544c8" /><Relationship Type="http://schemas.openxmlformats.org/officeDocument/2006/relationships/slideLayout" Target="/ppt/slideLayouts/slideLayout1.xml" Id="Rc6365838bb814031" /><Relationship Type="http://schemas.openxmlformats.org/officeDocument/2006/relationships/slideLayout" Target="/ppt/slideLayouts/slideLayout2.xml" Id="R61d8c87bccfd4cc2" /><Relationship Type="http://schemas.openxmlformats.org/officeDocument/2006/relationships/slideLayout" Target="/ppt/slideLayouts/slideLayout3.xml" Id="R2ddb483c57fb49c5" /><Relationship Type="http://schemas.openxmlformats.org/officeDocument/2006/relationships/slideLayout" Target="/ppt/slideLayouts/slideLayout4.xml" Id="R1459fccdde7441b7" /><Relationship Type="http://schemas.openxmlformats.org/officeDocument/2006/relationships/slideLayout" Target="/ppt/slideLayouts/slideLayout5.xml" Id="R94efcd1b0aa34621" /><Relationship Type="http://schemas.openxmlformats.org/officeDocument/2006/relationships/slideLayout" Target="/ppt/slideLayouts/slideLayout6.xml" Id="R5bf03de01a24406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97c9200e8344315" /><Relationship Type="http://schemas.openxmlformats.org/officeDocument/2006/relationships/slideLayout" Target="/ppt/slideLayouts/slideLayout7.xml" Id="Ree9613460cab4943" /><Relationship Type="http://schemas.openxmlformats.org/officeDocument/2006/relationships/slideLayout" Target="/ppt/slideLayouts/slideLayout8.xml" Id="R6c4b706dc6ed4dbe" /><Relationship Type="http://schemas.openxmlformats.org/officeDocument/2006/relationships/slideLayout" Target="/ppt/slideLayouts/slideLayout9.xml" Id="R4f3fbdffc23f4754" /><Relationship Type="http://schemas.openxmlformats.org/officeDocument/2006/relationships/slideLayout" Target="/ppt/slideLayouts/slideLayout10.xml" Id="R6d1cfba6f9d645fa" /><Relationship Type="http://schemas.openxmlformats.org/officeDocument/2006/relationships/slideLayout" Target="/ppt/slideLayouts/slideLayout11.xml" Id="Re3ba43d4fc6d4d46" /><Relationship Type="http://schemas.openxmlformats.org/officeDocument/2006/relationships/slideLayout" Target="/ppt/slideLayouts/slideLayout12.xml" Id="R948aa426bb3b4fb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365838bb814031"/>
    <p:sldLayoutId xmlns:r="http://schemas.openxmlformats.org/officeDocument/2006/relationships" id="2147483650" r:id="R61d8c87bccfd4cc2"/>
    <p:sldLayoutId xmlns:r="http://schemas.openxmlformats.org/officeDocument/2006/relationships" id="2147483651" r:id="R2ddb483c57fb49c5"/>
    <p:sldLayoutId xmlns:r="http://schemas.openxmlformats.org/officeDocument/2006/relationships" id="2147483652" r:id="R1459fccdde7441b7"/>
    <p:sldLayoutId xmlns:r="http://schemas.openxmlformats.org/officeDocument/2006/relationships" id="2147483653" r:id="R94efcd1b0aa34621"/>
    <p:sldLayoutId xmlns:r="http://schemas.openxmlformats.org/officeDocument/2006/relationships" id="2147483654" r:id="R5bf03de01a2440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ee9613460cab4943"/>
    <p:sldLayoutId xmlns:r="http://schemas.openxmlformats.org/officeDocument/2006/relationships" id="2147483657" r:id="R6c4b706dc6ed4dbe"/>
    <p:sldLayoutId xmlns:r="http://schemas.openxmlformats.org/officeDocument/2006/relationships" id="2147483658" r:id="R4f3fbdffc23f4754"/>
    <p:sldLayoutId xmlns:r="http://schemas.openxmlformats.org/officeDocument/2006/relationships" id="2147483659" r:id="R6d1cfba6f9d645fa"/>
    <p:sldLayoutId xmlns:r="http://schemas.openxmlformats.org/officeDocument/2006/relationships" id="2147483660" r:id="Re3ba43d4fc6d4d46"/>
    <p:sldLayoutId xmlns:r="http://schemas.openxmlformats.org/officeDocument/2006/relationships" id="2147483661" r:id="R948aa426bb3b4f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5bf0e2d054c9a" /><Relationship Type="http://schemas.openxmlformats.org/officeDocument/2006/relationships/notesSlide" Target="/ppt/notesSlides/notesSlide1.xml" Id="Rfd7abcecc3e04d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b47b04bbc4dd6" /><Relationship Type="http://schemas.openxmlformats.org/officeDocument/2006/relationships/notesSlide" Target="/ppt/notesSlides/notesSlide2.xml" Id="Rb4f63b65943a44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18f581947a4cc5" /><Relationship Type="http://schemas.openxmlformats.org/officeDocument/2006/relationships/notesSlide" Target="/ppt/notesSlides/notesSlide3.xml" Id="Rd83de62c781b4a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f530a33080412c" /><Relationship Type="http://schemas.openxmlformats.org/officeDocument/2006/relationships/notesSlide" Target="/ppt/notesSlides/notesSlide4.xml" Id="R2fa96e5dce1c44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94cd72fd243cf" /><Relationship Type="http://schemas.openxmlformats.org/officeDocument/2006/relationships/notesSlide" Target="/ppt/notesSlides/notesSlide5.xml" Id="Rb80f46961c814f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58fe2f002b49f7" /><Relationship Type="http://schemas.openxmlformats.org/officeDocument/2006/relationships/notesSlide" Target="/ppt/notesSlides/notesSlide6.xml" Id="R640ac7945b874d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93106efe974c26" /><Relationship Type="http://schemas.openxmlformats.org/officeDocument/2006/relationships/notesSlide" Target="/ppt/notesSlides/notesSlide7.xml" Id="Ra00d136ad1024d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0345f1ad354b01" /><Relationship Type="http://schemas.openxmlformats.org/officeDocument/2006/relationships/notesSlide" Target="/ppt/notesSlides/notesSlide8.xml" Id="R6b36136358c146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72dec220cb4789" /><Relationship Type="http://schemas.openxmlformats.org/officeDocument/2006/relationships/image" Target="/ppt/media/image.png" Id="Recfdcb3fcaf5463c" /><Relationship Type="http://schemas.openxmlformats.org/officeDocument/2006/relationships/notesSlide" Target="/ppt/notesSlides/notesSlide9.xml" Id="Rde325a82ade44b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dc19dfcaa74694" /><Relationship Type="http://schemas.openxmlformats.org/officeDocument/2006/relationships/image" Target="/ppt/media/image2.png" Id="R2a9c58adffda4473" /><Relationship Type="http://schemas.openxmlformats.org/officeDocument/2006/relationships/notesSlide" Target="/ppt/notesSlides/notesSlide10.xml" Id="Rd958cdc6141141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81db08b1204137" /><Relationship Type="http://schemas.openxmlformats.org/officeDocument/2006/relationships/image" Target="/ppt/media/image3.png" Id="Rf72fcfc19f29462c" /><Relationship Type="http://schemas.openxmlformats.org/officeDocument/2006/relationships/notesSlide" Target="/ppt/notesSlides/notesSlide11.xml" Id="Refa77cb1119142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5800c472f64e1e" /><Relationship Type="http://schemas.openxmlformats.org/officeDocument/2006/relationships/image" Target="/ppt/media/image4.png" Id="R505afebbcf8d411a" /><Relationship Type="http://schemas.openxmlformats.org/officeDocument/2006/relationships/notesSlide" Target="/ppt/notesSlides/notesSlide12.xml" Id="Rdc3ee2803cd141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188e0a6c434f47" /><Relationship Type="http://schemas.openxmlformats.org/officeDocument/2006/relationships/image" Target="/ppt/media/image5.png" Id="Rbce18d7349864e3a" /><Relationship Type="http://schemas.openxmlformats.org/officeDocument/2006/relationships/notesSlide" Target="/ppt/notesSlides/notesSlide13.xml" Id="R9f5b2bb9854c41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221d5338de47d7" /><Relationship Type="http://schemas.openxmlformats.org/officeDocument/2006/relationships/image" Target="/ppt/media/image6.png" Id="R799e9147562f48c2" /><Relationship Type="http://schemas.openxmlformats.org/officeDocument/2006/relationships/notesSlide" Target="/ppt/notesSlides/notesSlide14.xml" Id="R681eb8d5cb1c46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f6171a1eb41d8" /><Relationship Type="http://schemas.openxmlformats.org/officeDocument/2006/relationships/image" Target="/ppt/media/image7.png" Id="R0ff9ed4d6250427f" /><Relationship Type="http://schemas.openxmlformats.org/officeDocument/2006/relationships/notesSlide" Target="/ppt/notesSlides/notesSlide15.xml" Id="Rca87da603ff344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824aea7f784e50" /><Relationship Type="http://schemas.openxmlformats.org/officeDocument/2006/relationships/notesSlide" Target="/ppt/notesSlides/notesSlide16.xml" Id="Rc70724c9742b41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13032a8fd4f01" /><Relationship Type="http://schemas.openxmlformats.org/officeDocument/2006/relationships/notesSlide" Target="/ppt/notesSlides/notesSlide17.xml" Id="R0935cfe7626740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6338f675b4921" /><Relationship Type="http://schemas.openxmlformats.org/officeDocument/2006/relationships/notesSlide" Target="/ppt/notesSlides/notesSlide18.xml" Id="Rb28574d31e0c48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ae4e0dac74637" /><Relationship Type="http://schemas.openxmlformats.org/officeDocument/2006/relationships/notesSlide" Target="/ppt/notesSlides/notesSlide19.xml" Id="R10938b815de54c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0a1d553414538" /><Relationship Type="http://schemas.openxmlformats.org/officeDocument/2006/relationships/notesSlide" Target="/ppt/notesSlides/notesSlide20.xml" Id="Rb397fb6137584d7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5ba2fc43ea495e" /><Relationship Type="http://schemas.openxmlformats.org/officeDocument/2006/relationships/notesSlide" Target="/ppt/notesSlides/notesSlide21.xml" Id="R5d4f938173b540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7ec560440941b3" /><Relationship Type="http://schemas.openxmlformats.org/officeDocument/2006/relationships/notesSlide" Target="/ppt/notesSlides/notesSlide22.xml" Id="R666f82a9094842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glow">
            <a:extLst xmlns:a="http://schemas.openxmlformats.org/drawingml/2006/main">
              <a:ext uri="{FF2B5EF4-FFF2-40B4-BE49-F238E27FC236}">
                <a16:creationId xmlns:a16="http://schemas.microsoft.com/office/drawing/2014/main" id="{96475DF0-91FA-4D83-9202-93F2D60F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409575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786BED7-C868-4930-86E0-74535282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DataMind</a:t>
            </a:r>
            <a:endParaRPr sz="48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5FA2DB7-9453-448D-B45E-2970BCB0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数据库 Agent Web 应用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ver-claim">
            <a:extLst xmlns:a="http://schemas.openxmlformats.org/drawingml/2006/main">
              <a:ext uri="{FF2B5EF4-FFF2-40B4-BE49-F238E27FC236}">
                <a16:creationId xmlns:a16="http://schemas.microsoft.com/office/drawing/2014/main" id="{BE95F843-07A9-4CE2-8C6D-AED90FD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让不会写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的业务人员也能安全地查数据，会写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的技术人员更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高效。</a:t>
            </a:r>
            <a:endParaRPr sz="1500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ver-tag-0">
            <a:extLst xmlns:a="http://schemas.openxmlformats.org/drawingml/2006/main">
              <a:ext uri="{FF2B5EF4-FFF2-40B4-BE49-F238E27FC236}">
                <a16:creationId xmlns:a16="http://schemas.microsoft.com/office/drawing/2014/main" id="{DCB7573E-0096-4C4F-80C3-0B2998C3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AI Agent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cover-tag-line-0">
            <a:extLst xmlns:a="http://schemas.openxmlformats.org/drawingml/2006/main">
              <a:ext uri="{FF2B5EF4-FFF2-40B4-BE49-F238E27FC236}">
                <a16:creationId xmlns:a16="http://schemas.microsoft.com/office/drawing/2014/main" id="{5677942D-344D-4456-9949-87234BCD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ag-1">
            <a:extLst xmlns:a="http://schemas.openxmlformats.org/drawingml/2006/main">
              <a:ext uri="{FF2B5EF4-FFF2-40B4-BE49-F238E27FC236}">
                <a16:creationId xmlns:a16="http://schemas.microsoft.com/office/drawing/2014/main" id="{22330EBB-127F-49F3-8FF7-9A170A8F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Multi-Database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cover-tag-line-1">
            <a:extLst xmlns:a="http://schemas.openxmlformats.org/drawingml/2006/main">
              <a:ext uri="{FF2B5EF4-FFF2-40B4-BE49-F238E27FC236}">
                <a16:creationId xmlns:a16="http://schemas.microsoft.com/office/drawing/2014/main" id="{5D5DFA16-70A3-4BE7-A528-56B0CC2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tag-2">
            <a:extLst xmlns:a="http://schemas.openxmlformats.org/drawingml/2006/main">
              <a:ext uri="{FF2B5EF4-FFF2-40B4-BE49-F238E27FC236}">
                <a16:creationId xmlns:a16="http://schemas.microsoft.com/office/drawing/2014/main" id="{22584E74-B731-447C-B78D-952BF97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Security First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cover-tag-line-2">
            <a:extLst xmlns:a="http://schemas.openxmlformats.org/drawingml/2006/main">
              <a:ext uri="{FF2B5EF4-FFF2-40B4-BE49-F238E27FC236}">
                <a16:creationId xmlns:a16="http://schemas.microsoft.com/office/drawing/2014/main" id="{02DE3F7A-8423-4CE5-A349-33BDFF5C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2034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0EEFF3-99BD-4193-996A-72CD053C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目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录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64F2C69-6218-46C2-8E41-6D26584D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0A19B6F-735F-448D-8804-3DA16895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1FFD42-F8E6-4D30-B15A-52FA7C50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4D03CF3-57D5-4A69-942B-4C77711B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CF0D2F01-8E46-456F-9475-7A08FDB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2A0A11B6-D1DD-47AC-8958-A80E4279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050CA851-76F2-4D79-A801-D3A1F614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da-line-0">
            <a:extLst xmlns:a="http://schemas.openxmlformats.org/drawingml/2006/main">
              <a:ext uri="{FF2B5EF4-FFF2-40B4-BE49-F238E27FC236}">
                <a16:creationId xmlns:a16="http://schemas.microsoft.com/office/drawing/2014/main" id="{B4AC9968-589D-45D4-918D-666556E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24C606F9-FFCB-4EDE-A866-D8C19858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4AF6C35E-0EBA-4438-AB2B-695379C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30446F87-7F5C-4D14-871F-98287231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查询、SQL 工作台、报表、元数据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da-line-1">
            <a:extLst xmlns:a="http://schemas.openxmlformats.org/drawingml/2006/main">
              <a:ext uri="{FF2B5EF4-FFF2-40B4-BE49-F238E27FC236}">
                <a16:creationId xmlns:a16="http://schemas.microsoft.com/office/drawing/2014/main" id="{8AA52654-942A-42D6-9EE5-96F4ECC1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3AD9FE69-807F-4A83-A1D4-7A0C68F5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C175F5B5-5EBB-4DCF-BB40-C0D93C09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7C5CF6CC-F218-4988-8737-4511F20D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da-line-2">
            <a:extLst xmlns:a="http://schemas.openxmlformats.org/drawingml/2006/main">
              <a:ext uri="{FF2B5EF4-FFF2-40B4-BE49-F238E27FC236}">
                <a16:creationId xmlns:a16="http://schemas.microsoft.com/office/drawing/2014/main" id="{84C8F81C-36EF-41B7-9C26-C2B476B7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68520EF8-7F9C-4269-B7F7-705F473C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agenda-title-3">
            <a:extLst xmlns:a="http://schemas.openxmlformats.org/drawingml/2006/main">
              <a:ext uri="{FF2B5EF4-FFF2-40B4-BE49-F238E27FC236}">
                <a16:creationId xmlns:a16="http://schemas.microsoft.com/office/drawing/2014/main" id="{96E34BEF-E9AB-4C1D-8F13-890F80A5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da-desc-3">
            <a:extLst xmlns:a="http://schemas.openxmlformats.org/drawingml/2006/main">
              <a:ext uri="{FF2B5EF4-FFF2-40B4-BE49-F238E27FC236}">
                <a16:creationId xmlns:a16="http://schemas.microsoft.com/office/drawing/2014/main" id="{A6889C72-7345-4D0B-B16E-7D02E025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RBAC、审计、监控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43127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82CD866D-25EF-48E0-9AB2-B1260955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86DCE1E0-76AC-4F1E-8BFF-BC8B88DD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5C3F9D9C-1D2C-4601-BFF8-E6DF01A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078817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215B41-8487-48B8-A663-FE41EFC7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三类角色的取数痛点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895B40-9AAD-4126-96ED-BF734BA1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A70C55-0830-4DB6-9033-9FD439BD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同一个数据库，三类使用者卡在完全不同的环节：业务要等、开发要配、运维要管。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221DB-CE9F-435A-AED7-94C27D6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18F1ADD-8853-4EEA-AD77-37090465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业务人员 · 拿不到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4B42D9C-F928-4DB7-88E0-3FA0D980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取数靠排队，等排期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不懂 SQL，没有自助入口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口径不一致，数据对不上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只能拿到数字，拿不到图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结果不可复用，反复重问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CC49319-E66D-4B12-B002-8B3CD85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68E3272-A1BF-4A41-BAF6-28380C4A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开发人员 · 拿得慢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3340258-A260-47E2-BCAA-1551824C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多数据库客户端来回切换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查线上数据先搭隧道环境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简单 SQL 也要重复手写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· 误操作没有二次确认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· 查完只能截图贴群，难复现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79202A-BBDB-4380-9D4A-E8434E7F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314C1F1-A501-49AF-AEE7-CA759CD1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 / DBA · 管不住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0BB133F-82A9-40F4-BFB5-E52F3E04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多环境连接靠文档维护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变更前靠人眼比对结构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慢查询只能逐台登录排查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权限靠人肉维护，粒度粗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审计留痕与导出都很困难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550254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DA76F08-A7D2-4F18-813E-5CE6907A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为什么需要 DataMind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C2500B-0AAB-474C-BDFA-29C59439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把高门槛、高风险的数据工作，变成安全可控的对话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E30F57C-EAA0-4786-BCB3-09715CE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EEB4E77-1312-4550-A6BC-B8C690B4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82AE01-979F-4C5E-9717-3050A7B6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45262C-CA61-425F-AAF0-BD221AB8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pain-surface">
            <a:extLst xmlns:a="http://schemas.openxmlformats.org/drawingml/2006/main">
              <a:ext uri="{FF2B5EF4-FFF2-40B4-BE49-F238E27FC236}">
                <a16:creationId xmlns:a16="http://schemas.microsoft.com/office/drawing/2014/main" id="{90E5EDB2-0EAB-4CC2-B7F3-9D4CCFDF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pain-title">
            <a:extLst xmlns:a="http://schemas.openxmlformats.org/drawingml/2006/main">
              <a:ext uri="{FF2B5EF4-FFF2-40B4-BE49-F238E27FC236}">
                <a16:creationId xmlns:a16="http://schemas.microsoft.com/office/drawing/2014/main" id="{A139869C-91DC-4846-A97E-723A1BF0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常见痛点</a:t>
            </a:r>
            <a:endParaRPr sz="1800" b="1">
              <a:solidFill>
                <a:srgbClr val="B91C1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pain-list">
            <a:extLst xmlns:a="http://schemas.openxmlformats.org/drawingml/2006/main">
              <a:ext uri="{FF2B5EF4-FFF2-40B4-BE49-F238E27FC236}">
                <a16:creationId xmlns:a16="http://schemas.microsoft.com/office/drawing/2014/main" id="{408216ED-D0D8-4B82-A9BC-F3B1DFD9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业务人员不会写 SQL，取数依赖技术同事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报表开发和维护</a:t>
            </a:r>
            <a:r>
              <a:rPr sz="1600"/>
              <a:t>：</a:t>
            </a:r>
            <a:r>
              <a:rPr sz="1600"/>
              <a:t>需要提需求排期</a:t>
            </a:r>
            <a:r>
              <a:rPr sz="1600"/>
              <a:t>、</a:t>
            </a:r>
            <a:r>
              <a:rPr sz="1600"/>
              <a:t>开发</a:t>
            </a:r>
            <a:r>
              <a:rPr sz="1600"/>
              <a:t>、</a:t>
            </a:r>
            <a:r>
              <a:rPr sz="1600"/>
              <a:t>测试</a:t>
            </a:r>
            <a:r>
              <a:rPr sz="1600"/>
              <a:t>、</a:t>
            </a:r>
            <a:r>
              <a:rPr sz="1600"/>
              <a:t>上线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数据库切换</a:t>
            </a:r>
            <a:r>
              <a:rPr sz="1600"/>
              <a:t>：</a:t>
            </a:r>
            <a:r>
              <a:rPr sz="1600"/>
              <a:t>不同</a:t>
            </a:r>
            <a:r>
              <a:rPr sz="1600"/>
              <a:t>数据库</a:t>
            </a:r>
            <a:r>
              <a:rPr sz="1600"/>
              <a:t>各有各的客户端</a:t>
            </a:r>
            <a:r>
              <a:rPr sz="1600"/>
              <a:t>，</a:t>
            </a:r>
            <a:r>
              <a:rPr sz="1600"/>
              <a:t>安装切换繁琐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AI 生成 SQL 存在误操作与越权风险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查询结果难以沉淀为报表与文档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用户操作缺少权限和审计</a:t>
            </a:r>
            <a:endParaRPr sz="1600"/>
          </a:p>
        </p:txBody>
      </p:sp>
      <p:sp>
        <p:nvSpPr>
          <p:cNvPr id="10" name="solution-surface">
            <a:extLst xmlns:a="http://schemas.openxmlformats.org/drawingml/2006/main">
              <a:ext uri="{FF2B5EF4-FFF2-40B4-BE49-F238E27FC236}">
                <a16:creationId xmlns:a16="http://schemas.microsoft.com/office/drawing/2014/main" id="{1A1677ED-27FD-4A81-A436-462B97F2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63BA5013-4245-424D-8DB6-022DFCA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DataMind 的解法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D1981E38-750D-4F26-B024-734916E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自然语言查询：</a:t>
            </a:r>
            <a:r>
              <a:rPr sz="1600">
                <a:solidFill>
                  <a:srgbClr val="334155"/>
                </a:solidFill>
              </a:rPr>
              <a:t>输入</a:t>
            </a:r>
            <a:r>
              <a:rPr sz="1600">
                <a:solidFill>
                  <a:srgbClr val="334155"/>
                </a:solidFill>
              </a:rPr>
              <a:t>自然语言</a:t>
            </a:r>
            <a:r>
              <a:rPr sz="1600">
                <a:solidFill>
                  <a:srgbClr val="334155"/>
                </a:solidFill>
              </a:rPr>
              <a:t>，自动生成 SQL</a:t>
            </a:r>
            <a:r>
              <a:rPr sz="1600">
                <a:solidFill>
                  <a:srgbClr val="334155"/>
                </a:solidFill>
              </a:rPr>
              <a:t>并查询数据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自然语言生成报表</a:t>
            </a:r>
            <a:r>
              <a:rPr sz="1600" b="1">
                <a:solidFill>
                  <a:srgbClr val="0B5FFF"/>
                </a:solidFill>
              </a:rPr>
              <a:t>：</a:t>
            </a:r>
            <a:r>
              <a:rPr sz="1600">
                <a:solidFill>
                  <a:srgbClr val="334155"/>
                </a:solidFill>
              </a:rPr>
              <a:t>结果一键沉淀为图表、仪表盘、分享页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统一适配层：</a:t>
            </a:r>
            <a:r>
              <a:rPr sz="1600">
                <a:solidFill>
                  <a:srgbClr val="334155"/>
                </a:solidFill>
              </a:rPr>
              <a:t>屏蔽多数据库方言差异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分级安全执行：</a:t>
            </a:r>
            <a:r>
              <a:rPr sz="1600">
                <a:solidFill>
                  <a:srgbClr val="334155"/>
                </a:solidFill>
              </a:rPr>
              <a:t>只读自动、写操作确认、DDL 高危提示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RBAC + 审计：</a:t>
            </a:r>
            <a:r>
              <a:rPr sz="1600">
                <a:solidFill>
                  <a:srgbClr val="334155"/>
                </a:solidFill>
              </a:rPr>
              <a:t>细粒度权限、全量留痕、可导出</a:t>
            </a:r>
            <a:endParaRPr sz="16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396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55EB10-479F-41A2-8D88-A8EBBF83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产品定位与目标用户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F022D8-F289-40EF-B98B-74666883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91EB8D9-661E-4807-8A37-56295891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 把「连接 → 查询 → 分析 → 报表 → 权限审计」串成一个 Web 工作台，用 AI Agent 降低取数门槛。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4E33FA6-42B9-4BBF-A68C-BA3BB8F7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95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DE63953-BCE7-454D-96AB-D0812D49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核心需求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46DF7A1-B4DD-4A3F-B635-7F9A7D3D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典型场景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C0F1C28-00E7-47AF-A5A1-D9071071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6B53B7F-A487-49DE-9772-119EBACE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67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后端开发者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A858319-AC29-43FD-B6A3-4BD12C27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快速查数、写与优化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210D648-D317-46E1-878F-807DE197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日常开发、线上排障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C50338D-BEC3-4977-80A4-E5217049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861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3E9EB07-844A-4267-9A76-86867C7E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DBA / 运维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1E611DD-D229-46C0-BD95-982D01F8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多实例管理、结构变更、审计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8AD30EC-172E-40B8-8A3C-A48C688A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变更前对比、慢查询定位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8192618A-8AA0-490D-B8B4-D4376591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767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F6329AA-B85F-4F52-B914-ECD3CEB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数据分析师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9D60CF1-3462-4372-8567-EF61015D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自然语言取数、快速做报表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8130955-62F9-41D0-9231-9B6A13A6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数据探索、临时分析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3A76199D-4C99-4B1A-9DAE-BB6B03E3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70DDB52-E035-46C0-A998-C4169167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 / 产品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946C177-3C27-4D4A-9906-3654F6D7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完全不会 SQL 也要看数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9DE3274-0EBD-40EA-BA17-2ECD6CE1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辅助决策、快速核对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C34D7D1-842C-4759-B54B-E59E398A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一句话：让数据获取从「排队等」变成「自己动手」。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136309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EB85339D-B843-4889-B9E3-B47B01F7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0FE2BDAC-87F7-49B8-AB3F-C9A4423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5DB8879D-AA4B-4581-A934-13DACE6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功能全景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演示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759011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5B9609-9B19-451E-BFB2-35630474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</a:t>
            </a: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全景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58462B-A47B-41EA-B4BB-E335B525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C125138-FD7C-4186-9B81-EDB891AE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多个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功能模块围绕「连接 → 查询 → 分析 → 报表 → 管理」闭环组织。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FE06379-74DB-46ED-80AB-1803731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41E3C99-3AE3-4637-87E0-1D8646FE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ED67D41-DB52-4215-984B-965E09EF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类数据源、SSH 隧道、多环境标签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CF3C829-AEA3-41B1-8F2A-95195CDF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A68D41C-26DD-4E85-9001-94689A72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 工作台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364A0A5-E7BD-4BC4-BEC2-189B831D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 Tab 编辑、对象树、结果集直编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4B03EBE-9503-4D68-B1B4-A0E3068C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D06B776-AFD8-4915-9014-033108C8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元数据管理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2BB5D7E-2316-43C4-903A-5B02EF1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表/索引/DDL/视图/函数、结构对比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2CA042E3-27AF-426F-B8B6-BEF7EC03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EE86D-4187-47F8-9939-4C3AE646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智能查询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AA72AA1-9BAA-430B-809C-AE2C7D41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自然语言转 SQL、多轮会话、图表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8570E45-54B4-4F95-AE16-4EF6477C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DA65D0B-39FC-4666-A5BF-B9EE963A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可视化报表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27351D-0624-4C4E-8D24-561F7142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种图表、仪表盘、分享大屏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17BE1E6-CE02-4F5D-8993-094221B8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52A610D-0DC1-445A-9D50-6FFF7321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文档导出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CAA1067-709E-49EE-8143-D342BAAB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CSV/Excel/JSON、库文档导出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17500F90-0971-400A-B722-C532AC60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158D9F4-82C8-49C4-AC90-7CC3E5DE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用户与角色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77E2A43-E1A0-4A72-8CF8-F60A0066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RBAC 5 内置角色 + 自定义角色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650AC370-374E-4294-A82D-E29CF9F7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BF4EEC2-3543-43D2-AF90-CB3DCB8A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运维监控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0441335-D201-4EA6-8E86-2977D1A7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慢查询、连接概览、审计、指标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34108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14F934-C54D-4DCB-BDF5-1C2D707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：自然语言查询数据库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A5F9E4-BB65-4F52-88AB-DE64C6E1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DF3596EB-F080-4EB5-8437-135D1EE6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C5BCDDEE-55DB-4305-A98A-44CA799DEC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dcb3fcaf546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C5414442-A000-4598-B530-72577EC78A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dcb3fcaf546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0F63F88-5D4A-486B-9C70-EF4C3B92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40 秒）：演示库查用户 → Oracle（UAT）查机构 → 导出 CSV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5114A3A-052B-47AC-B3EA-7AB264D9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提问即得结果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D945409B-77CC-4612-AAB9-4A4F00A5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846F2ED-D4A1-4433-B9A1-66C265C3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一句话生成 SQL，无需手写语句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0C34D88-3DFE-48D1-BF6A-6B523A5E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953EEAF-D71F-412F-9FA3-A0F359E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流式回传思考过程与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AE17AB5F-1B2F-448A-9DD3-E7B87DB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D31FB66-666A-4F19-8CE3-EF531D57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切换数据源即可跨库查询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AE14BBF-671F-41BA-9E6B-951F0EB6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50AAF0-2327-47B6-8E49-7463F698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结果一键导出 CSV / Excel / JSON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72366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EB7112-161A-47EB-82DF-3A2341AF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：自然语言生成图表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51E3BC-A113-4F47-A6D2-9BDE756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08DAF0C9-2B7D-456B-91FB-94E4F3C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D6E49A81-6727-492D-B1A1-0EC7D08832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c58adffda4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7A6F58FA-CE1A-420B-BB6A-25A7D5F9BF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c58adffda4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3C35AAA-C1C9-42BB-8276-D82BAF1D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60 秒）：Oracle 查分行笔数/金额 → 自动出图 → 保存报表，再看近 30 天成功交易笔数与金额趋势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58980F-99CB-49A5-93B2-F628411A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从查询到图表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141CFC07-CDA3-49AB-B186-0DD3F941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0E5C373-324C-4E4C-B250-4317AA4B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案例一：各分行笔数与金额柱状图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A37A10F2-8D40-4851-ABE8-CD56BBD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7E2A82-9FE4-41DC-AE62-52AF5161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案例二：近30天交易趋势折线图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4937C79-7C98-4940-BB94-141F14D1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8C2E196-329F-421C-B33B-97925952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双指标量级差异大时自动分双 Y 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E152463A-7969-4DDC-9C15-6DD0C76F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C6A105-A74A-4178-92B3-8BCC747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一键保存到可视化报表复用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325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CF1C5C-9E08-46DC-BED3-05ECFDF2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：SQL 工作台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A366E1-E019-4103-9B6C-0DD65792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2BA5F91-CCAA-4F86-ABAD-9E1710A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51537D55-8EDA-42A4-8E45-773256206E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fcfc19f2946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BC3C3EC5-2398-4102-8803-67EAAA8B2F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fcfc19f2946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378C98-1DD3-4333-8CE5-EF1E8151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55 秒）：OceanBase 执行 SQL → Agent 生成聚合 SQL → 填入编辑器执行 → 收藏命名 → 历史 / 收藏页签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FA5AC3F-3019-4F24-BF4A-0A0F83A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专业查询体验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C8DF141D-1086-4AAA-83F0-4FD1FEE4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72A322E-AA3F-492C-807D-F792AD38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OceanBase 数据源即连即查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FA6638D-B8B0-487E-995B-6468DDF2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A20B1B0-3F14-4FA1-A68C-4429032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一句话生成聚合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2153DBFD-311F-46A5-8DF4-E2D6CA95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A74C849-285D-4804-A9A7-55E984A9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填入编辑器后一键执行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418C0AC-DAEB-434E-8A59-C2BC211A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BBDDD62-2799-45B5-BB84-7C0D1361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执行历史留痕 + SQL 收藏复用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89476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EE651E-F024-46D2-8DB1-FADC94E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：数据操作安全控制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A5EFBB-1B0A-462D-88AC-43DA2F17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E6CEF5FF-6CB8-4809-B505-5C73893F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033A3A01-5A16-4FF3-935B-AC92927EED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afebbcf8d41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D5027A48-3F4A-4EFB-9968-E30F5E2F33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afebbcf8d41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CB4628A-DB90-4057-B243-59FFBA79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52 秒）：UPDATE 确认执行 → Agent 修改字段长度确认执行 → 删除表取消执行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A8A0552-D1E3-404E-BFFC-7AA910A0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分级授权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D6FBBF7-B961-49AF-95C7-27F3D414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29883CD-AB14-495D-9C89-2F018752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READ：只读查询自动执行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D6514522-DBB4-4EDB-BBEC-B29F3BD8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DE538D-F7D4-43D0-B6D7-36D15346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DML：UPDATE 确认后才生效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64A0E71F-C8D1-4BD9-88FE-32A1D0B0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2D7A641-5AAD-4DEB-875B-3522B700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DDL：红色危险提示 + 逐条确认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185B5CAC-17B4-44A1-AC7B-F3937481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7193E88-B55D-4BBE-A124-D7692EE7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取消即中止，全部写入审计日志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099059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9E9D9F-45E5-4025-B10B-3283B3B9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：运维监控与日志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4E70D2-B00F-46FB-ABB1-2A4AAFD7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CD85A6CB-C42A-4F4F-B371-7D48632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5E55971B-108E-4F28-B4FF-827857040B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18d7349864e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97A6A064-A8F1-4834-A9BB-A321E28A0B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18d7349864e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ECEF888-6A37-4179-8BF7-449B3E4E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32 秒）：连接概览 → 审计日志 → 慢查询（耗时 ≥ 100ms） → 表结构对比（Oracle SIT vs UAT）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F3DCC74-C37B-443C-A94C-E351B6EC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运维与合规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92DD000-E94E-4044-9E7E-C52F252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3CE1A3C-4A2F-4544-81F1-838F0108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连接概览：查询量 / 耗时 / 成功率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C940110-F46B-494C-8E6E-497606AE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B26EBB9-43A2-42F8-B555-820809A8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审计日志：登录与 SQL 全量留痕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1AF26B7E-05AE-497F-BD0B-EE076925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F2727EE-A833-4D86-BB31-FDF54B4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慢查询：阈值可调（演示 100ms）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2D8F67C-AD88-4128-AA9F-3977B05E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48189E2-B096-44D8-A92C-780DD323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表结构对比：SIT vs UAT 差异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288649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1157EF-8690-47EF-B30E-62EA6178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：数据库与大模型连接管理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EFAC21-5F2C-443F-9F5F-280FBB43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5EF1957-45ED-4EA6-B273-C279690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5EE39828-0EFE-4B13-8F0C-EB5D806F93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e9147562f48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FCA9A88E-1E8A-4E93-9132-4DF7E4E68B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e9147562f48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14792DD-2DD5-4FEE-BB81-5163D87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秒）：数据库连接配置一键测连 → 大模型连接配置测试第二个模型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4E1537-538A-447F-8E25-3D6EFD5E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连接即资产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E8BF6C7-D264-4795-A607-3D6C586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3255BDA-1563-469B-B48E-945355A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数据库连接：一键「测试」即返回连通性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C616243-4FE1-442C-98DC-983F17B0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16BBA1-7CBC-4B58-8551-F5E19BA4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覆盖 SQLite / Oracle / MySQL / OceanBase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8D01140-CDE2-4CD9-AAE9-7533C1A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07B59E-89B6-454A-867A-2ED1056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大模型：OpenAI、Claude、Ollama 三类提供方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C4934E2-69C5-4BF3-BB71-B577B4CD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6CD81B9-E37D-44B7-9823-FA5EA6F8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 Key 加密存储，可指定默认模型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736800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906107-FF2F-4015-AD54-8E3B2F68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：用户与角色管理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F88583-E484-4E99-B916-AC8D6E30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8EA2E8C6-4D7B-4360-9B5F-10BD1912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77CA5F58-D2A2-4F23-9A8B-F4ABE74CC6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9ed4d625042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787C3D02-1C08-4BE5-9AD9-A22583D3BC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9ed4d625042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ED3CE2-1701-4E96-B000-4EF9BAE6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秒）：用户管理 → 角色管理 → 依次查看技术管理 / 技术查询 / 业务查询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2F7C4B4-EE2D-40A5-AD54-E5FBF526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权限可控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4F004ED-A34B-4A05-86E6-21C8BB70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6A696D-4BAE-414A-95C9-EE8F7019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用户管理：账号 / 角色 / 状态 / 重置密码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D2834A3-3309-4FA5-ADDA-BE54F656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88F649-4880-48E2-9F92-3ADF68B1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角色管理：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9E0FADD5-4A18-40ED-8F7A-B9691C82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8043C8E-4823-4F91-AE8E-AF66DEC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功能权限按模块分组勾选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6D13E7DA-B2C7-480A-AF17-BB3AE597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99B4E22-350D-4328-85F8-ECF3F6C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先勾选权限，再由路由守卫拦截：前端菜单与后端接口双重校验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4254867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C010A56C-2050-4E9F-BB10-4039813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DE62D92A-9D62-4087-A62D-FC2EDFC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2B588EA7-A1EB-4385-BE3F-EAC4B879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136524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F8CD424-3F67-496C-94DF-B8D9AAA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AI Agent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616B21-0478-4718-8345-B298BB2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把自然语言变成可信、可解释、可执行的 SQL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1E89406-837C-479E-8BCF-DB861C9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61491C8-3EFA-4F1B-AFF6-A05E1541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A40A87-0814-4BBD-A27A-433FB0C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D3C3DF-F924-464D-ADF5-1E16707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E339B070-8EB3-4623-8914-F2F776F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不是简单调用大模型，而是围绕 Schema、工具与安全策略构建的查询推理系统。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59B25632-4949-44D9-A1F2-51009734EF8D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价值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自然语言 →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输入问题，自动生成对应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降低取数门槛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Schema 感知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自动获取表结构作为上下文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提升生成准确率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多轮对话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保留上下文，可追问与调整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更自然的交互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 解释与优化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解释含义、分析执行计划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帮助理解与调优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流式输出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SSE 实时返回思考过程与结果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体验透明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4430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Agent 执行链路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工具调用 + 失败重试 + few-shot，让结果更可靠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node-0">
            <a:extLst xmlns:a="http://schemas.openxmlformats.org/drawingml/2006/main">
              <a:ext uri="{FF2B5EF4-FFF2-40B4-BE49-F238E27FC236}">
                <a16:creationId xmlns:a16="http://schemas.microsoft.com/office/drawing/2014/main" id="{E3B206FA-DE51-4FDA-BB32-2DD05653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gent-node-title-0">
            <a:extLst xmlns:a="http://schemas.openxmlformats.org/drawingml/2006/main">
              <a:ext uri="{FF2B5EF4-FFF2-40B4-BE49-F238E27FC236}">
                <a16:creationId xmlns:a16="http://schemas.microsoft.com/office/drawing/2014/main" id="{E168D5AD-69AE-496E-9149-D024D163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用户提问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t-node-desc-0">
            <a:extLst xmlns:a="http://schemas.openxmlformats.org/drawingml/2006/main">
              <a:ext uri="{FF2B5EF4-FFF2-40B4-BE49-F238E27FC236}">
                <a16:creationId xmlns:a16="http://schemas.microsoft.com/office/drawing/2014/main" id="{9BA60F3A-EF17-42AD-B467-D3C77CE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自然语言描述需求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t-arrow-0">
            <a:extLst xmlns:a="http://schemas.openxmlformats.org/drawingml/2006/main">
              <a:ext uri="{FF2B5EF4-FFF2-40B4-BE49-F238E27FC236}">
                <a16:creationId xmlns:a16="http://schemas.microsoft.com/office/drawing/2014/main" id="{83E11C4D-04AD-4383-BCDB-8EB60C0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t-node-1">
            <a:extLst xmlns:a="http://schemas.openxmlformats.org/drawingml/2006/main">
              <a:ext uri="{FF2B5EF4-FFF2-40B4-BE49-F238E27FC236}">
                <a16:creationId xmlns:a16="http://schemas.microsoft.com/office/drawing/2014/main" id="{D70F42FF-1916-4692-B73B-3061AB5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2" name="agent-node-title-1">
            <a:extLst xmlns:a="http://schemas.openxmlformats.org/drawingml/2006/main">
              <a:ext uri="{FF2B5EF4-FFF2-40B4-BE49-F238E27FC236}">
                <a16:creationId xmlns:a16="http://schemas.microsoft.com/office/drawing/2014/main" id="{92DCADA7-8153-4D60-A8CB-9043670B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推理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t-node-desc-1">
            <a:extLst xmlns:a="http://schemas.openxmlformats.org/drawingml/2006/main">
              <a:ext uri="{FF2B5EF4-FFF2-40B4-BE49-F238E27FC236}">
                <a16:creationId xmlns:a16="http://schemas.microsoft.com/office/drawing/2014/main" id="{71F89F85-B710-4A71-AE4C-60BFC521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Schema 感知 + 历史 few-shot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t-arrow-1">
            <a:extLst xmlns:a="http://schemas.openxmlformats.org/drawingml/2006/main">
              <a:ext uri="{FF2B5EF4-FFF2-40B4-BE49-F238E27FC236}">
                <a16:creationId xmlns:a16="http://schemas.microsoft.com/office/drawing/2014/main" id="{F56A9021-B64B-44CC-9FD7-C91043D0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t-node-2">
            <a:extLst xmlns:a="http://schemas.openxmlformats.org/drawingml/2006/main">
              <a:ext uri="{FF2B5EF4-FFF2-40B4-BE49-F238E27FC236}">
                <a16:creationId xmlns:a16="http://schemas.microsoft.com/office/drawing/2014/main" id="{98FF4A43-1009-44A9-B913-58CBA95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6" name="agent-node-title-2">
            <a:extLst xmlns:a="http://schemas.openxmlformats.org/drawingml/2006/main">
              <a:ext uri="{FF2B5EF4-FFF2-40B4-BE49-F238E27FC236}">
                <a16:creationId xmlns:a16="http://schemas.microsoft.com/office/drawing/2014/main" id="{9FA23F0C-87B6-4C23-9C4D-5D6C280B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工具调用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t-node-desc-2">
            <a:extLst xmlns:a="http://schemas.openxmlformats.org/drawingml/2006/main">
              <a:ext uri="{FF2B5EF4-FFF2-40B4-BE49-F238E27FC236}">
                <a16:creationId xmlns:a16="http://schemas.microsoft.com/office/drawing/2014/main" id="{EA32FCDF-BE5D-4846-B326-8E62C03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表结构 / 采样 / EXPLAIN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t-arrow-2">
            <a:extLst xmlns:a="http://schemas.openxmlformats.org/drawingml/2006/main">
              <a:ext uri="{FF2B5EF4-FFF2-40B4-BE49-F238E27FC236}">
                <a16:creationId xmlns:a16="http://schemas.microsoft.com/office/drawing/2014/main" id="{86400DC4-580C-4AF0-9CCC-3671BDE9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t-node-3">
            <a:extLst xmlns:a="http://schemas.openxmlformats.org/drawingml/2006/main">
              <a:ext uri="{FF2B5EF4-FFF2-40B4-BE49-F238E27FC236}">
                <a16:creationId xmlns:a16="http://schemas.microsoft.com/office/drawing/2014/main" id="{4093B9B8-D6C2-408C-9E9C-F20EE152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0" name="agent-node-title-3">
            <a:extLst xmlns:a="http://schemas.openxmlformats.org/drawingml/2006/main">
              <a:ext uri="{FF2B5EF4-FFF2-40B4-BE49-F238E27FC236}">
                <a16:creationId xmlns:a16="http://schemas.microsoft.com/office/drawing/2014/main" id="{1F232630-932A-4114-BFFB-31D146D4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生成 SQL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t-node-desc-3">
            <a:extLst xmlns:a="http://schemas.openxmlformats.org/drawingml/2006/main">
              <a:ext uri="{FF2B5EF4-FFF2-40B4-BE49-F238E27FC236}">
                <a16:creationId xmlns:a16="http://schemas.microsoft.com/office/drawing/2014/main" id="{D3A19887-3C43-4CC0-A508-946E38AF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只读查询或写操作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agent-arrow-3">
            <a:extLst xmlns:a="http://schemas.openxmlformats.org/drawingml/2006/main">
              <a:ext uri="{FF2B5EF4-FFF2-40B4-BE49-F238E27FC236}">
                <a16:creationId xmlns:a16="http://schemas.microsoft.com/office/drawing/2014/main" id="{6C3A02B7-4A9F-49A6-8DB6-CD28ECFE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gent-node-4">
            <a:extLst xmlns:a="http://schemas.openxmlformats.org/drawingml/2006/main">
              <a:ext uri="{FF2B5EF4-FFF2-40B4-BE49-F238E27FC236}">
                <a16:creationId xmlns:a16="http://schemas.microsoft.com/office/drawing/2014/main" id="{6632FA9B-34F7-42D2-AF96-33170268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4" name="agent-node-title-4">
            <a:extLst xmlns:a="http://schemas.openxmlformats.org/drawingml/2006/main">
              <a:ext uri="{FF2B5EF4-FFF2-40B4-BE49-F238E27FC236}">
                <a16:creationId xmlns:a16="http://schemas.microsoft.com/office/drawing/2014/main" id="{85A37348-B443-4DA9-996C-FFB2D5FF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安全执行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agent-node-desc-4">
            <a:extLst xmlns:a="http://schemas.openxmlformats.org/drawingml/2006/main">
              <a:ext uri="{FF2B5EF4-FFF2-40B4-BE49-F238E27FC236}">
                <a16:creationId xmlns:a16="http://schemas.microsoft.com/office/drawing/2014/main" id="{AEDD5386-4503-483B-BED0-847523E9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结果 / 图表 / 解释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工具调用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list_tables、get_columns、sample_data、explain 四个工具按需调用，最多 3 轮。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失败</a:t>
            </a: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重试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查询执行失败时，自动把错误回传给 LLM 修正并重试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（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默认最多重试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次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，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可设置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经验复用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历史成功 SQL 作为 few-shot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（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少量示例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注入新会话，越用越准。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B8C3787-9F0B-4BCE-ADD3-622C79D3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93" y="5922645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2520BB21-39A4-450B-A74E-207C5EA0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安全执行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5EC280-1DE3-4C78-AFD2-DFE00392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AI 可以生成 SQL，但不会拥有不受控的写权限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2EE8EE6-B7E6-4C09-8AC4-BAF279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C21CFE8-C2E9-4A00-AD00-D6FBEC13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A8BB8A3-80A5-46AE-988B-59EBA7E6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CC4F6E0-FFD9-447C-BF8B-E08AD434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5" name="表格 14">
            <a:extLst xmlns:a="http://schemas.openxmlformats.org/drawingml/2006/main">
              <a:ext uri="{FF2B5EF4-FFF2-40B4-BE49-F238E27FC236}">
                <a16:creationId xmlns:a16="http://schemas.microsoft.com/office/drawing/2014/main" id="{AF8909B3-4E5B-45BF-90D5-C54ECC324519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8" name="security-callout">
            <a:extLst xmlns:a="http://schemas.openxmlformats.org/drawingml/2006/main">
              <a:ext uri="{FF2B5EF4-FFF2-40B4-BE49-F238E27FC236}">
                <a16:creationId xmlns:a16="http://schemas.microsoft.com/office/drawing/2014/main" id="{A8DB2E57-DDEA-4818-A925-35C7E30C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execution_id 暂存待确认执行，5 分钟过期；用户确认后再次鉴权，全程审计。</a:t>
            </a:r>
            <a:endParaRPr sz="12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7664801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BD56B4D-41EB-42D2-8561-966BB77B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审计与监控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2A023D-297D-4537-9E39-191B21C3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让每一次操作都可追溯、可观察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72966D2-E9B9-4E75-B19C-302A91AD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5C880DA-850D-4A4F-A5A1-5F70246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8D1D6F-F302-44F9-A94D-FC5B04CE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52AE83B-8627-42A9-8EFB-3A153721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dit-surface">
            <a:extLst xmlns:a="http://schemas.openxmlformats.org/drawingml/2006/main">
              <a:ext uri="{FF2B5EF4-FFF2-40B4-BE49-F238E27FC236}">
                <a16:creationId xmlns:a16="http://schemas.microsoft.com/office/drawing/2014/main" id="{06C6E5FD-2058-4C96-9074-DE3ECE56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udit-title">
            <a:extLst xmlns:a="http://schemas.openxmlformats.org/drawingml/2006/main">
              <a:ext uri="{FF2B5EF4-FFF2-40B4-BE49-F238E27FC236}">
                <a16:creationId xmlns:a16="http://schemas.microsoft.com/office/drawing/2014/main" id="{C0EA438D-AD2C-48C5-ACE1-271E888D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审计日志</a:t>
            </a:r>
            <a:endParaRPr sz="18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udit-list">
            <a:extLst xmlns:a="http://schemas.openxmlformats.org/drawingml/2006/main">
              <a:ext uri="{FF2B5EF4-FFF2-40B4-BE49-F238E27FC236}">
                <a16:creationId xmlns:a16="http://schemas.microsoft.com/office/drawing/2014/main" id="{621AB5F6-228D-4164-BB33-19673A11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登录、SQL 执行、Agent 动作全量留痕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操作类型、SQL 文本、状态可追溯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导出 CSV / XLSX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audit_retention_days 默认 180 天自动清理</a:t>
            </a:r>
          </a:p>
        </p:txBody>
      </p:sp>
      <p:sp>
        <p:nvSpPr>
          <p:cNvPr id="10" name="monitor-surface">
            <a:extLst xmlns:a="http://schemas.openxmlformats.org/drawingml/2006/main">
              <a:ext uri="{FF2B5EF4-FFF2-40B4-BE49-F238E27FC236}">
                <a16:creationId xmlns:a16="http://schemas.microsoft.com/office/drawing/2014/main" id="{6C3EFDE2-02D4-4162-B160-4C0E4337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monitor-title">
            <a:extLst xmlns:a="http://schemas.openxmlformats.org/drawingml/2006/main">
              <a:ext uri="{FF2B5EF4-FFF2-40B4-BE49-F238E27FC236}">
                <a16:creationId xmlns:a16="http://schemas.microsoft.com/office/drawing/2014/main" id="{A3FB7A0A-992B-43D6-87E2-E464469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运维监控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monitor-list">
            <a:extLst xmlns:a="http://schemas.openxmlformats.org/drawingml/2006/main">
              <a:ext uri="{FF2B5EF4-FFF2-40B4-BE49-F238E27FC236}">
                <a16:creationId xmlns:a16="http://schemas.microsoft.com/office/drawing/2014/main" id="{1A199833-F4E2-4EC6-B44E-A5327A95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连接概览与慢查询统计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不通环境</a:t>
            </a:r>
            <a:r>
              <a:t>表结构对比）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定时导出任务状态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/metrics 暴露 Prometheus 指标</a:t>
            </a:r>
          </a:p>
        </p:txBody>
      </p:sp>
    </p:spTree>
    <p:extLst>
      <p:ext uri="{BB962C8B-B14F-4D97-AF65-F5344CB8AC3E}">
        <p14:creationId xmlns:p14="http://schemas.microsoft.com/office/powerpoint/2010/main" val="7427289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215B41-8487-48B8-A663-FE41EFC7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技术亮点 ③：安全、审计与可观测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895B40-9AAD-4126-96ED-BF734BA1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21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A70C55-0830-4DB6-9033-9FD439BD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密钥加密、分级授权、全量审计、指标暴露与测试覆盖，构成可交付的企业级完整性。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221DB-CE9F-435A-AED7-94C27D6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18F1ADD-8853-4EEA-AD77-37090465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加密与认证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4B42D9C-F928-4DB7-88E0-3FA0D980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数据库密码、SSH 私钥、AI Key 经 Fernet 加密入库，接口只返回 has_password / has_key；密码 pbkdf2 哈希，会话使用 httponly Cookie。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CC49319-E66D-4B12-B002-8B3CD85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68E3272-A1BF-4A41-BAF6-28380C4A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权限与审计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3340258-A260-47E2-BCAA-1551824C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按角色控制权限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/ DML / DDL 分级授权；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登录、SQL、Agent 动作全量留痕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操作类型、SQL 文本、状态可追溯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79202A-BBDB-4380-9D4A-E8434E7F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314C1F1-A501-49AF-AEE7-CA759CD1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可观测与部署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0BB133F-82A9-40F4-BFB5-E52F3E04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/metrics 暴露请求数、延迟与 SQL 执行次数；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117 项后端测试 + Playwright E2E；Docker 多阶段构建，单端口一键启动。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550254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C180E3-19B3-47EE-8BFE-3565AA92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22A0302-B2D1-4354-A077-7F131DD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让每个人都能安全、高效地与数据对话</a:t>
            </a:r>
            <a:endParaRPr sz="3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046B15D-A373-46CB-9EDA-00C94FA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61622F-BACB-47F5-9DC1-C70BBAE7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05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下一步：补齐更多数据库对象支持，扩展 Agent 工具（索引建议、慢查询根因分析），增加团队协作与报表订阅。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14239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2026-10-14T09:07:18.7690000Z</dcterms:created>
  <dcterms:modified xsi:type="dcterms:W3CDTF">2026-10-14T09:07:18.7690000Z</dcterms:modified>
</coreProperties>
</file>