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Masters/slideMaster2.xml" ContentType="application/vnd.openxmlformats-officedocument.presentationml.slideMaster+xml"/>
  <Override PartName="/ppt/slideMasters/theme/theme3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4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bccd688ddbc4899" /><Relationship Type="http://schemas.openxmlformats.org/officeDocument/2006/relationships/extended-properties" Target="/docProps/app.xml" Id="Ref3d04a2afc443ea" /><Relationship Type="http://schemas.openxmlformats.org/officeDocument/2006/relationships/officeDocument" Target="/ppt/presentation.xml" Id="R9a6495d617284b0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b9a39150ff74bb7"/>
    <p:sldMasterId xmlns:r="http://schemas.openxmlformats.org/officeDocument/2006/relationships" id="2147483655" r:id="R49359882dc184b77"/>
  </p:sldMasterIdLst>
  <p:notesMasterIdLst>
    <p:notesMasterId xmlns:r="http://schemas.openxmlformats.org/officeDocument/2006/relationships" r:id="R44d1150b67f2441c"/>
  </p:notesMasterIdLst>
  <p:sldIdLst>
    <p:sldId xmlns:r="http://schemas.openxmlformats.org/officeDocument/2006/relationships" id="256" r:id="R26ff0cb2d7774002"/>
    <p:sldId xmlns:r="http://schemas.openxmlformats.org/officeDocument/2006/relationships" id="257" r:id="Rf25725e6e40142d3"/>
    <p:sldId xmlns:r="http://schemas.openxmlformats.org/officeDocument/2006/relationships" id="258" r:id="R729cef2d26824fe6"/>
    <p:sldId xmlns:r="http://schemas.openxmlformats.org/officeDocument/2006/relationships" id="259" r:id="R3069835ec66e48df"/>
    <p:sldId xmlns:r="http://schemas.openxmlformats.org/officeDocument/2006/relationships" id="260" r:id="R5b72a776e28f485c"/>
    <p:sldId xmlns:r="http://schemas.openxmlformats.org/officeDocument/2006/relationships" id="261" r:id="R9ceb0e7c40a44f52"/>
    <p:sldId xmlns:r="http://schemas.openxmlformats.org/officeDocument/2006/relationships" id="262" r:id="Rb8b44636f8cd4409"/>
    <p:sldId xmlns:r="http://schemas.openxmlformats.org/officeDocument/2006/relationships" id="263" r:id="Rb5a9581ec9af4010"/>
    <p:sldId xmlns:r="http://schemas.openxmlformats.org/officeDocument/2006/relationships" id="264" r:id="R22f06ce73b1d4ab1"/>
    <p:sldId xmlns:r="http://schemas.openxmlformats.org/officeDocument/2006/relationships" id="265" r:id="R1f095d80b9e74a91"/>
    <p:sldId xmlns:r="http://schemas.openxmlformats.org/officeDocument/2006/relationships" id="266" r:id="R074b308757bb45b9"/>
    <p:sldId xmlns:r="http://schemas.openxmlformats.org/officeDocument/2006/relationships" id="267" r:id="Rc49ae6fad05a4281"/>
    <p:sldId xmlns:r="http://schemas.openxmlformats.org/officeDocument/2006/relationships" id="268" r:id="R463874a8fa874e61"/>
    <p:sldId xmlns:r="http://schemas.openxmlformats.org/officeDocument/2006/relationships" id="269" r:id="Rebdc9916b2464ce4"/>
    <p:sldId xmlns:r="http://schemas.openxmlformats.org/officeDocument/2006/relationships" id="270" r:id="Rd14a07fde0674f4f"/>
    <p:sldId xmlns:r="http://schemas.openxmlformats.org/officeDocument/2006/relationships" id="271" r:id="Rc9f1f9f0372b473c"/>
    <p:sldId xmlns:r="http://schemas.openxmlformats.org/officeDocument/2006/relationships" id="272" r:id="R72cab8e22a4b43ec"/>
    <p:sldId xmlns:r="http://schemas.openxmlformats.org/officeDocument/2006/relationships" id="273" r:id="Rc99191b5912e46ed"/>
    <p:sldId xmlns:r="http://schemas.openxmlformats.org/officeDocument/2006/relationships" id="274" r:id="Rd9d849ac60264358"/>
    <p:sldId xmlns:r="http://schemas.openxmlformats.org/officeDocument/2006/relationships" id="275" r:id="Rbe67657e3d14493d"/>
    <p:sldId xmlns:r="http://schemas.openxmlformats.org/officeDocument/2006/relationships" id="276" r:id="Rcfe5d9eb941243f7"/>
    <p:sldId xmlns:r="http://schemas.openxmlformats.org/officeDocument/2006/relationships" id="277" r:id="R74bc3d46c6484d84"/>
    <p:sldId xmlns:r="http://schemas.openxmlformats.org/officeDocument/2006/relationships" id="278" r:id="R712b7381210b4bde"/>
    <p:sldId xmlns:r="http://schemas.openxmlformats.org/officeDocument/2006/relationships" id="279" r:id="R9d12a279154d4b87"/>
    <p:sldId xmlns:r="http://schemas.openxmlformats.org/officeDocument/2006/relationships" id="280" r:id="Ref1e218bfeee4466"/>
    <p:sldId xmlns:r="http://schemas.openxmlformats.org/officeDocument/2006/relationships" id="281" r:id="Re4567015a6d24508"/>
  </p:sldIdLst>
  <p:sldSz cx="12192000" cy="6858000"/>
  <p:notesSz cx="6858000" cy="9144000"/>
  <p:defaultTextStyle>
    <a:lvl1pPr xmlns:a="http://schemas.openxmlformats.org/drawingml/2006/main" marL="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1pPr>
    <a:lvl2pPr xmlns:a="http://schemas.openxmlformats.org/drawingml/2006/main" marL="457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2pPr>
    <a:lvl3pPr xmlns:a="http://schemas.openxmlformats.org/drawingml/2006/main" marL="914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3pPr>
    <a:lvl4pPr xmlns:a="http://schemas.openxmlformats.org/drawingml/2006/main" marL="1371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4pPr>
    <a:lvl5pPr xmlns:a="http://schemas.openxmlformats.org/drawingml/2006/main" marL="18288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5pPr>
    <a:lvl6pPr xmlns:a="http://schemas.openxmlformats.org/drawingml/2006/main" marL="22860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6pPr>
    <a:lvl7pPr xmlns:a="http://schemas.openxmlformats.org/drawingml/2006/main" marL="2743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7pPr>
    <a:lvl8pPr xmlns:a="http://schemas.openxmlformats.org/drawingml/2006/main" marL="3200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8pPr>
    <a:lvl9pPr xmlns:a="http://schemas.openxmlformats.org/drawingml/2006/main" marL="3657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ddd8746ca694856" /><Relationship Type="http://schemas.openxmlformats.org/officeDocument/2006/relationships/slideMaster" Target="/ppt/slideMasters/slideMaster1.xml" Id="R9b9a39150ff74bb7" /><Relationship Type="http://schemas.openxmlformats.org/officeDocument/2006/relationships/slideMaster" Target="/ppt/slideMasters/slideMaster2.xml" Id="R49359882dc184b77" /><Relationship Type="http://schemas.openxmlformats.org/officeDocument/2006/relationships/notesMaster" Target="/ppt/notesMasters/notesMaster1.xml" Id="R44d1150b67f2441c" /><Relationship Type="http://schemas.openxmlformats.org/officeDocument/2006/relationships/presProps" Target="/ppt/presProps.xml" Id="R37aebebb324e4626" /><Relationship Type="http://schemas.openxmlformats.org/officeDocument/2006/relationships/viewProps" Target="/ppt/viewProps.xml" Id="Rb4d678d8817e4b35" /><Relationship Type="http://schemas.openxmlformats.org/officeDocument/2006/relationships/tableStyles" Target="/ppt/tableStyles.xml" Id="R8f2cee3dbaa94aa9" /><Relationship Type="http://schemas.openxmlformats.org/officeDocument/2006/relationships/slide" Target="/ppt/slides/slide1.xml" Id="R26ff0cb2d7774002" /><Relationship Type="http://schemas.openxmlformats.org/officeDocument/2006/relationships/slide" Target="/ppt/slides/slide2.xml" Id="Rf25725e6e40142d3" /><Relationship Type="http://schemas.openxmlformats.org/officeDocument/2006/relationships/slide" Target="/ppt/slides/slide3.xml" Id="R729cef2d26824fe6" /><Relationship Type="http://schemas.openxmlformats.org/officeDocument/2006/relationships/slide" Target="/ppt/slides/slide4.xml" Id="R3069835ec66e48df" /><Relationship Type="http://schemas.openxmlformats.org/officeDocument/2006/relationships/slide" Target="/ppt/slides/slide5.xml" Id="R5b72a776e28f485c" /><Relationship Type="http://schemas.openxmlformats.org/officeDocument/2006/relationships/slide" Target="/ppt/slides/slide6.xml" Id="R9ceb0e7c40a44f52" /><Relationship Type="http://schemas.openxmlformats.org/officeDocument/2006/relationships/slide" Target="/ppt/slides/slide7.xml" Id="Rb8b44636f8cd4409" /><Relationship Type="http://schemas.openxmlformats.org/officeDocument/2006/relationships/slide" Target="/ppt/slides/slide8.xml" Id="Rb5a9581ec9af4010" /><Relationship Type="http://schemas.openxmlformats.org/officeDocument/2006/relationships/slide" Target="/ppt/slides/slide9.xml" Id="R22f06ce73b1d4ab1" /><Relationship Type="http://schemas.openxmlformats.org/officeDocument/2006/relationships/slide" Target="/ppt/slides/slide10.xml" Id="R1f095d80b9e74a91" /><Relationship Type="http://schemas.openxmlformats.org/officeDocument/2006/relationships/slide" Target="/ppt/slides/slide11.xml" Id="R074b308757bb45b9" /><Relationship Type="http://schemas.openxmlformats.org/officeDocument/2006/relationships/slide" Target="/ppt/slides/slide12.xml" Id="Rc49ae6fad05a4281" /><Relationship Type="http://schemas.openxmlformats.org/officeDocument/2006/relationships/slide" Target="/ppt/slides/slide13.xml" Id="R463874a8fa874e61" /><Relationship Type="http://schemas.openxmlformats.org/officeDocument/2006/relationships/slide" Target="/ppt/slides/slide14.xml" Id="Rebdc9916b2464ce4" /><Relationship Type="http://schemas.openxmlformats.org/officeDocument/2006/relationships/slide" Target="/ppt/slides/slide15.xml" Id="Rd14a07fde0674f4f" /><Relationship Type="http://schemas.openxmlformats.org/officeDocument/2006/relationships/slide" Target="/ppt/slides/slide16.xml" Id="Rc9f1f9f0372b473c" /><Relationship Type="http://schemas.openxmlformats.org/officeDocument/2006/relationships/slide" Target="/ppt/slides/slide17.xml" Id="R72cab8e22a4b43ec" /><Relationship Type="http://schemas.openxmlformats.org/officeDocument/2006/relationships/slide" Target="/ppt/slides/slide18.xml" Id="Rc99191b5912e46ed" /><Relationship Type="http://schemas.openxmlformats.org/officeDocument/2006/relationships/slide" Target="/ppt/slides/slide19.xml" Id="Rd9d849ac60264358" /><Relationship Type="http://schemas.openxmlformats.org/officeDocument/2006/relationships/slide" Target="/ppt/slides/slide20.xml" Id="Rbe67657e3d14493d" /><Relationship Type="http://schemas.openxmlformats.org/officeDocument/2006/relationships/slide" Target="/ppt/slides/slide21.xml" Id="Rcfe5d9eb941243f7" /><Relationship Type="http://schemas.openxmlformats.org/officeDocument/2006/relationships/slide" Target="/ppt/slides/slide22.xml" Id="R74bc3d46c6484d84" /><Relationship Type="http://schemas.openxmlformats.org/officeDocument/2006/relationships/slide" Target="/ppt/slides/slide23.xml" Id="R712b7381210b4bde" /><Relationship Type="http://schemas.openxmlformats.org/officeDocument/2006/relationships/slide" Target="/ppt/slides/slide24.xml" Id="R9d12a279154d4b87" /><Relationship Type="http://schemas.openxmlformats.org/officeDocument/2006/relationships/slide" Target="/ppt/slides/slide25.xml" Id="Ref1e218bfeee4466" /><Relationship Type="http://schemas.openxmlformats.org/officeDocument/2006/relationships/slide" Target="/ppt/slides/slide26.xml" Id="Re4567015a6d2450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4.xml" Id="R7a14cd490b8f4dc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4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886cabcf85b40a5" /><Relationship Type="http://schemas.openxmlformats.org/officeDocument/2006/relationships/notesMaster" Target="/ppt/notesMasters/notesMaster1.xml" Id="R8887e0f535c94e8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357e890a1734b4e" /><Relationship Type="http://schemas.openxmlformats.org/officeDocument/2006/relationships/notesMaster" Target="/ppt/notesMasters/notesMaster1.xml" Id="Rb604286bb0344c6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9f42dee460c4184" /><Relationship Type="http://schemas.openxmlformats.org/officeDocument/2006/relationships/notesMaster" Target="/ppt/notesMasters/notesMaster1.xml" Id="Rada7622109c640b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a455746d9ed4e90" /><Relationship Type="http://schemas.openxmlformats.org/officeDocument/2006/relationships/notesMaster" Target="/ppt/notesMasters/notesMaster1.xml" Id="Re0644c9bd11f4b1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c9fd116f211437f" /><Relationship Type="http://schemas.openxmlformats.org/officeDocument/2006/relationships/notesMaster" Target="/ppt/notesMasters/notesMaster1.xml" Id="Ra53fdd9ac36541b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53ee563df624022" /><Relationship Type="http://schemas.openxmlformats.org/officeDocument/2006/relationships/notesMaster" Target="/ppt/notesMasters/notesMaster1.xml" Id="R93905266ff35485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2ea5934739e47c7" /><Relationship Type="http://schemas.openxmlformats.org/officeDocument/2006/relationships/notesMaster" Target="/ppt/notesMasters/notesMaster1.xml" Id="R4a889675e34845a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647fcba0dd8497d" /><Relationship Type="http://schemas.openxmlformats.org/officeDocument/2006/relationships/notesMaster" Target="/ppt/notesMasters/notesMaster1.xml" Id="Re6527b5ca5474d8c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46c10b446fd249cc" /><Relationship Type="http://schemas.openxmlformats.org/officeDocument/2006/relationships/notesMaster" Target="/ppt/notesMasters/notesMaster1.xml" Id="Rfc7cf6e59a10483d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a99936c09d9b4f62" /><Relationship Type="http://schemas.openxmlformats.org/officeDocument/2006/relationships/notesMaster" Target="/ppt/notesMasters/notesMaster1.xml" Id="Rd9f95816e9434cd6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8454f6f277534a9e" /><Relationship Type="http://schemas.openxmlformats.org/officeDocument/2006/relationships/notesMaster" Target="/ppt/notesMasters/notesMaster1.xml" Id="Ra1114da7be984aa0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122c5da7526f4400" /><Relationship Type="http://schemas.openxmlformats.org/officeDocument/2006/relationships/notesMaster" Target="/ppt/notesMasters/notesMaster1.xml" Id="Recbdf78223a6467a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2131476a864547f5" /><Relationship Type="http://schemas.openxmlformats.org/officeDocument/2006/relationships/notesMaster" Target="/ppt/notesMasters/notesMaster1.xml" Id="R31cf03fb6e9343af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33f76966814c44c7" /><Relationship Type="http://schemas.openxmlformats.org/officeDocument/2006/relationships/notesMaster" Target="/ppt/notesMasters/notesMaster1.xml" Id="Rb03031ab7710420e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5e7959aeaa1b4e55" /><Relationship Type="http://schemas.openxmlformats.org/officeDocument/2006/relationships/notesMaster" Target="/ppt/notesMasters/notesMaster1.xml" Id="R7ae70a42534d448a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5d755db973bb4cd6" /><Relationship Type="http://schemas.openxmlformats.org/officeDocument/2006/relationships/notesMaster" Target="/ppt/notesMasters/notesMaster1.xml" Id="R2ed5bdbe1d77443f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af244fa7e73c4d72" /><Relationship Type="http://schemas.openxmlformats.org/officeDocument/2006/relationships/notesMaster" Target="/ppt/notesMasters/notesMaster1.xml" Id="Rafa7de84d7224751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f623fee547924a69" /><Relationship Type="http://schemas.openxmlformats.org/officeDocument/2006/relationships/notesMaster" Target="/ppt/notesMasters/notesMaster1.xml" Id="Rbd5eceb1e8c14731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81a6f66aed1a4d64" /><Relationship Type="http://schemas.openxmlformats.org/officeDocument/2006/relationships/notesMaster" Target="/ppt/notesMasters/notesMaster1.xml" Id="R8e7c995f85ad45a1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b742c0ab8c134f63" /><Relationship Type="http://schemas.openxmlformats.org/officeDocument/2006/relationships/notesMaster" Target="/ppt/notesMasters/notesMaster1.xml" Id="R37d2b77f902e4e0f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e5e06b085f4549d7" /><Relationship Type="http://schemas.openxmlformats.org/officeDocument/2006/relationships/notesMaster" Target="/ppt/notesMasters/notesMaster1.xml" Id="R6ea1c880ecbe45dd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8562c559e19144b0" /><Relationship Type="http://schemas.openxmlformats.org/officeDocument/2006/relationships/notesMaster" Target="/ppt/notesMasters/notesMaster1.xml" Id="Rcd5ed6f47ba148d1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9c26d2db1ee84782" /><Relationship Type="http://schemas.openxmlformats.org/officeDocument/2006/relationships/notesMaster" Target="/ppt/notesMasters/notesMaster1.xml" Id="R0596bfca211c4703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ff56ebab57ca4d9f" /><Relationship Type="http://schemas.openxmlformats.org/officeDocument/2006/relationships/notesMaster" Target="/ppt/notesMasters/notesMaster1.xml" Id="Rf4800b572a414dc6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ce8f2126ed244cdc" /><Relationship Type="http://schemas.openxmlformats.org/officeDocument/2006/relationships/notesMaster" Target="/ppt/notesMasters/notesMaster1.xml" Id="Rd53bab2158c94b5d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394bb896f19e4d06" /><Relationship Type="http://schemas.openxmlformats.org/officeDocument/2006/relationships/notesMaster" Target="/ppt/notesMasters/notesMaster1.xml" Id="R62316c6e5f65478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开场控制在 15 秒内：这是一个前后端分离、AI Agent 驱动的数据库查询与运维工作台。</a:t>
            </a:r>
          </a:p>
          <a:p xmlns:a="http://schemas.openxmlformats.org/drawingml/2006/main">
            <a:r>
              <a:t>一句话说清用户价值：不会 SQL 的人也能查询，会 SQL 的人更快。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先给观众一个清晰的路线图：从为什么做，到产品能力、技术亮点，再到工程治理。</a:t>
            </a:r>
          </a:p>
          <a:p xmlns:a="http://schemas.openxmlformats.org/drawingml/2006/main">
            <a:r>
              <a:t>说明后续每一部分都服务于同一个判断：这是一个可运行、可测试、可部署的完整产品。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先给观众一个清晰的路线图：从为什么做，到产品能力、技术亮点，再到工程治理。</a:t>
            </a:r>
          </a:p>
          <a:p xmlns:a="http://schemas.openxmlformats.org/drawingml/2006/main">
            <a:r>
              <a:t>说明后续每一部分都服务于同一个判断：这是一个可运行、可测试、可部署的完整产品。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痛点来源：docs/需求说明书V2.0.md（1.2 目标用户、1.3 核心价值）与功能缺口；对应解法见功能演示页与「工程与治理」章节。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用真实工作流举例：产品经理打开网页，输入“本月新增用户按日分组”，系统生成 SQL、返回结果，并可一键生成图表。</a:t>
            </a:r>
          </a:p>
          <a:p xmlns:a="http://schemas.openxmlformats.org/drawingml/2006/main">
            <a:r>
              <a:t>不要逐条念，重点突出从“会写 SQL”到“会描述需求”的降低门槛。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定位一句话：不会 SQL 的人也能查数，会 SQL 的人更快。</a:t>
            </a:r>
          </a:p>
          <a:p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来源：仓库 需求说明书V2.0/V3.0.md、AGENTS.md、README.md；界面截图取自本地运行实例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先给观众一个清晰的路线图：从为什么做，到产品能力、技术亮点，再到工程治理。</a:t>
            </a:r>
          </a:p>
          <a:p xmlns:a="http://schemas.openxmlformats.org/drawingml/2006/main">
            <a:r>
              <a:t>说明后续每一部分都服务于同一个判断：这是一个可运行、可测试、可部署的完整产品。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不逐条念功能，强调模块围绕工作流组织：连接、查询、分析、报表、管理。</a:t>
            </a:r>
          </a:p>
          <a:p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来源：仓库 需求说明书V2.0/V3.0.md、AGENTS.md、README.md；界面截图取自本地运行实例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播放视频（约 40 秒），包含两个查询案例：</a:t>
            </a:r>
          </a:p>
          <a:p xmlns:a="http://schemas.openxmlformats.org/drawingml/2006/main">
            <a:r>
              <a:t>案例一：选择「本地演示库 (SQLite)」，提问「查询所有用户信息」，Agent 生成 SELECT id, username, email, age, created_at FROM users 并返回 8 条记录；</a:t>
            </a:r>
          </a:p>
          <a:p xmlns:a="http://schemas.openxmlformats.org/drawingml/2006/main">
            <a:r>
              <a:t>案例二：新建对话并切换到「Oracle（UAT）」，提问「查询所有机构，列出机构号、机构名称、机构层级和所在地区，按机构号排序」，Agent 生成 SELECT ORG_ID, ORG_NAME, ORG_LEVEL, REGION FROM BANK.T_ORG ORDER BY ORG_ID，返回 55 家机构（HEAD/BRANCH/SUB_BRANCH 层级）；结果出来后点击 CSV 将结果集导出（导出成功提示 + 浏览器下载，CSV 共 55 行数据）。</a:t>
            </a:r>
          </a:p>
          <a:p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视频为本地运行实例的录屏；数据源为内置演示库（SQLite）与远端 Oracle UAT 库（T_ORG 表）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播放视频（约 60 秒），数据源为 Oracle（UAT）：</a:t>
            </a:r>
          </a:p>
          <a:p xmlns:a="http://schemas.openxmlformats.org/drawingml/2006/main">
            <a:r>
              <a:t>案例一：提问「按分行层级统计近30天各个分行的交易笔数、交易总额，生成图表」，Agent 生成 SELECT o.ORG_NAME AS BRANCH_NAME, COUNT(t.LOG_ID) AS TRANS_CNT, ROUND(SUM(t.AMOUNT), 2) AS TRANS_AMT ... WHERE o.ORG_LEVEL = 'BRANCH' AND t.TRANS_TIME &gt;= TRUNC(SYSDATE) - 30 GROUP BY o.ORG_NAME，返回 6 家分行（360～1380 笔），自动渲染柱状图并点击「保存到可视化报表」；</a:t>
            </a:r>
          </a:p>
          <a:p xmlns:a="http://schemas.openxmlformats.org/drawingml/2006/main">
            <a:r>
              <a:t>案例二：新建对话后提问「近30天成功交易笔数和金额趋势，生成图表」，Agent 生成按 TRANS_TIME 逐日聚合（STATUS=SUCCESS）的 SQL，返回 31 天数据，自动选择折线图并同样保存到可视化报表；</a:t>
            </a:r>
          </a:p>
          <a:p xmlns:a="http://schemas.openxmlformats.org/drawingml/2006/main">
            <a:r>
              <a:t>结尾进入「可视化报表」页，可见刚保存的两张图表（笔数与金额量级差异大时前端自动拆分双 Y 轴）。</a:t>
            </a:r>
          </a:p>
          <a:p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视频为本地运行实例的录屏；数据源为远端 Oracle UAT 库（T_TRANS_LOG / T_ORG）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播放视频（约 55 秒），完整演示 SQL 工作台与 Agent 协同：</a:t>
            </a:r>
          </a:p>
          <a:p xmlns:a="http://schemas.openxmlformats.org/drawingml/2006/main">
            <a:r>
              <a:t>案例一：数据源切换为「OceanBase（本地）」，在编辑器输入 SELECT * FROM `t_org`; 并点击「▶ 执行」，返回 55 行机构数据；</a:t>
            </a:r>
          </a:p>
          <a:p xmlns:a="http://schemas.openxmlformats.org/drawingml/2006/main">
            <a:r>
              <a:t>案例二：点击右侧竖条展开 AI Agent 面板、新建会话，输入「统计近90天各地区的成功交易笔数和交易金额，按金额从高到低」，Agent 生成 SELECT o.REGION AS REGION, COUNT(t.LOG_ID) AS CNT, ROUND(SUM(t.AMOUNT),2) AS AMT FROM t_trans_log t JOIN t_org o ON o.ORG_ID = t.ORG_ID WHERE UPPER(t.STATUS) = 'SUCCESS' AND t.TRANS_TIME &gt;= NOW() - INTERVAL 90 DAY GROUP BY o.REGION ORDER BY AMT DESC，并给出结论（共 6 个地区，合计约 1.67 万笔 / 16.86 亿元，深圳金额最高）；随后点击「填入编辑器」将 SQL 回填到工作台编辑器，再点右上角「▶ 执行」得到结果集，最后点右上角「收藏」，命名为「近90天各地区的成功交易统计」并保存成功（出现「已收藏」提示）；</a:t>
            </a:r>
          </a:p>
          <a:p xmlns:a="http://schemas.openxmlformats.org/drawingml/2006/main">
            <a:r>
              <a:t>结尾依次切换左侧「历史」页签（本次两条 SQL 的执行记录，含行数与耗时）与「收藏」页签（新增的收藏项排在首位）。</a:t>
            </a:r>
          </a:p>
          <a:p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视频为本地运行实例的录屏；数据源为 OceanBase CE 4.4.2.1（bank_db，T_ORG 55 行 / T_TRANS_LOG 10 万行）；Agent 生成 SQL 的模型为 openai · deepseek-v4-flash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播放视频（约 52 秒），三个写操作场景均需人工确认：</a:t>
            </a:r>
          </a:p>
          <a:p xmlns:a="http://schemas.openxmlformats.org/drawingml/2006/main">
            <a:r>
              <a:t>案例一（工作台发起 DML）：数据源选「OceanBase（本地）」，执行 UPDATE `t_user` SET `GENDER` = 'F', `UPDATED_AT` = NOW() WHERE `USER_NAME` = '乔华';，弹出「写操作确认」（DML · warning，预览待执行 SQL），点「确认执行」后生效（影响 2 行）；</a:t>
            </a:r>
          </a:p>
          <a:p xmlns:a="http://schemas.openxmlformats.org/drawingml/2006/main">
            <a:r>
              <a:t>案例二（Agent 发起 DDL）：展开右侧 AI Agent、新建会话，输入「把用户表的用户名称字段长度改成300」，Agent 生成 ALTER TABLE `t_user` MODIFY COLUMN `USER_NAME` VARCHAR(300); 并弹出红色「危险操作确认」（DDL · danger），确认后执行；</a:t>
            </a:r>
          </a:p>
          <a:p xmlns:a="http://schemas.openxmlformats.org/drawingml/2006/main">
            <a:r>
              <a:t>案例三（高危操作被拦下）：继续输入「删除用户表」，Agent 生成 DROP TABLE `t_user`，同样红色高危提示，点「取消」后提示「已取消执行」，表未被删除。</a:t>
            </a:r>
          </a:p>
          <a:p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视频为本地运行实例的录屏；数据源为 OceanBase CE 4.4.2.1 bank_db（T_USER）；READ 自动执行、DML/DDL 待确认以及 5 分钟过期机制见 services/sql_service.py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播放视频（约 32 秒），四个监控能力依次演示：</a:t>
            </a:r>
          </a:p>
          <a:p xmlns:a="http://schemas.openxmlformats.org/drawingml/2006/main">
            <a:r>
              <a:t>第一步：打开「连接概览」，基于执行历史（query_history）统计累计查询 336 次、今日 103 次、 10 个数据源，并列出各库的查询次数、平均/最大耗时、成功率与最近执行时间；</a:t>
            </a:r>
          </a:p>
          <a:p xmlns:a="http://schemas.openxmlformats.org/drawingml/2006/main">
            <a:r>
              <a:t>第二步：切到「审计日志」，查看登录与执行 SQL 的全量记录（含操作类型、风险类型、数据源、用户、IP、SQL），可见上一页演示中被拒绝的 DROP TABLE 也被如实记下（rejected）；</a:t>
            </a:r>
          </a:p>
          <a:p xmlns:a="http://schemas.openxmlformats.org/drawingml/2006/main">
            <a:r>
              <a:t>第三步：切到「慢查询」，把耗时阈值从默认 1000ms 改为 100ms 并点击「查询」，列出超过阈值的慢 SQL（含数据源、耗时、行数、状态、SQL、时间）；</a:t>
            </a:r>
          </a:p>
          <a:p xmlns:a="http://schemas.openxmlformats.org/drawingml/2006/main">
            <a:r>
              <a:t>第四步：切到「表结构对比」，源数据源选 Oracle（SIT）、目标数据源选 Oracle（UAT），点「对比」得到差异：T_ORG 在目标库多出 CREATED_AT 列，T_USER.USER_NAME 由 varchar2(300) 变为 varchar2(100)。</a:t>
            </a:r>
          </a:p>
          <a:p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视频为本地运行实例的录屏；数据来自 query_history / audit_logs 与远端 Oracle SIT、UAT 库；慢查询阈值、连接概览与 schema diff 实现见 routers/monitor.py 与 services/metadata_service.py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播放视频（约 23 秒），两步验证连接可用性：</a:t>
            </a:r>
          </a:p>
          <a:p xmlns:a="http://schemas.openxmlformats.org/drawingml/2006/main">
            <a:r>
              <a:t>第一步：打开「设置 · 数据库连接配置」，在连接列表里点击第一个数据源「OceanBase（本地）」的「测试」按钮，弹出「连接测试结果」弹窗，反馈「连接成功」（底层调 POST /api/connections/{id}/connect）；</a:t>
            </a:r>
          </a:p>
          <a:p xmlns:a="http://schemas.openxmlformats.org/drawingml/2006/main">
            <a:r>
              <a:t>第二步：切到「大模型连接配置」，点击第二个模型「Ollama（本地）· qwen3.8:27b」的「测试」按钮，右上角提示「连接成功，模型 qwen3.8:27b 响应正常（2301 ms）」。</a:t>
            </a:r>
          </a:p>
          <a:p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视频为本地运行实例的录屏；数据库连接见 routers/connections.py（POST /api/connections/{id}/connect），大模型测试见 routers/system.py（POST /api/config/ai/test）；API Key 经 Fernet 加密存储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播放视频（约 23 秒），从用户到角色依次演示：</a:t>
            </a:r>
          </a:p>
          <a:p xmlns:a="http://schemas.openxmlformats.org/drawingml/2006/main">
            <a:r>
              <a:t>第一步：从左侧菜单打开「用户管理」，列出账号、显示名、角色、状态与最后登录时间，操作列可编辑、重置密码、禁用/删除（当前 5 个账号：管理员 与 技术/业务各两类账号）；</a:t>
            </a:r>
          </a:p>
          <a:p xmlns:a="http://schemas.openxmlformats.org/drawingml/2006/main">
            <a:r>
              <a:t>第二步：切到「角色管理」，左侧列出 5 个内置角色（管理员 / 技术管理 / 技术查询 / 业务管理 / 业务查询）；</a:t>
            </a:r>
          </a:p>
          <a:p xmlns:a="http://schemas.openxmlformats.org/drawingml/2006/main">
            <a:r>
              <a:t>第三步：依次点击「技术管理」「技术查询」「业务查询」三个角色，右侧实时切换该角色的名称/编码/说明、「功能权限」按模块分组的勾选状态与角色成员（技术管理 12 项、技术查询 6 项、业务查询 4 项权限，选中行会高亮）。</a:t>
            </a:r>
          </a:p>
          <a:p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视频为本地运行实例的录屏；角色与权限码定义见 backend/app/permissions.py（BUILTIN_ROLES / PERMISSIONS），前端路由守卫与菜单按 meta.permission 控制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先给观众一个清晰的路线图：从为什么做，到产品能力、技术亮点，再到工程治理。</a:t>
            </a:r>
          </a:p>
          <a:p xmlns:a="http://schemas.openxmlformats.org/drawingml/2006/main">
            <a:r>
              <a:t>说明后续每一部分都服务于同一个判断：这是一个可运行、可测试、可部署的完整产品。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强调 Agent 能力的层次：不只是生成 SQL，还包括 Schema 感知、多轮对话、解释优化和流式输出。</a:t>
            </a:r>
          </a:p>
          <a:p xmlns:a="http://schemas.openxmlformats.org/drawingml/2006/main">
            <a:r>
              <a:t>下一页会展开工程实现中的工具调用与失败重试。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重点讲“工具调用 + 失败重试 + few-shot”，这是 AI 编程竞赛最看重的工程深度。</a:t>
            </a:r>
          </a:p>
          <a:p xmlns:a="http://schemas.openxmlformats.org/drawingml/2006/main">
            <a:r>
              <a:t>现场演示：输入“查询本月新增用户数并按日分组”，展示思考过程、SQL、结果和图表生成。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这是项目的信任基础：让 AI 能生成 SQL，但不让 AI 拥有不受控的写权限。</a:t>
            </a:r>
          </a:p>
          <a:p xmlns:a="http://schemas.openxmlformats.org/drawingml/2006/main">
            <a:r>
              <a:t>可对比“直接给 AI 数据库权限”的传统做法，突出安全设计。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章节 04 对应目录里的「工程与治理」：工程质量、安全合规、审计监控、落地推广。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审计与监控是系统可治理的体现，也是企业级部署的关键。</a:t>
            </a:r>
          </a:p>
          <a:p xmlns:a="http://schemas.openxmlformats.org/drawingml/2006/main">
            <a:r>
              <a:t>强调审计导出与自动清理，以及 Prometheus 指标对运维友好。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原「技术亮点 ③」与「审计与监控」内容重叠，现改为安全合规视角：密钥托管、分级授权、审计保留期与交付方式。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数据来源：backend/app/services（三层分层）、backend/tests（167 项 pytest 用例）、backend/pyproject.toml（ruff）、backend/migrations、Dockerfile。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数据来源：Dockerfile/docker-compose（单机单端口）、backend/app/config.py（DEFAULT_DB_TYPES 共 7 类）、backend/app/adapters（统一适配层）。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收尾回到用户价值，并给出下一步计划。</a:t>
            </a:r>
          </a:p>
          <a:p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来源：仓库 需求说明书V2.0/V3.0.md、AGENTS.md、README.md；界面截图取自本地运行实例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应答要点均可回溯到实现：backend/app/services/sql_service.py（确认机制）、backend/app/security.py（Fernet/pbkdf2）、backend/app/adapters/registry.py、backend/app/services/agent_service.py（结果截断）。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7f5b875d0074522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e328e2210034941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c643c0d6c7748ed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853b5b215c14948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1f31612c35346f6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a70ff976d1647b3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3140cf082ad24645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adafc177fcbb46c7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c1c1eb70e01c49a7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f2984ebdf2da4833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07bfad8cf35b4645" /></Relationships>
</file>

<file path=ppt/slideLayouts/_rels/slideLayout12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ae44fe5fe0014e1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1EAA06A7-9197-4BB0-AAD7-489398BAAC5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2F02D52F-3D8B-49DA-860D-CD2DF9B6C9D6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123ADEDE-B669-4C47-BAD1-62D54CF44BF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152A7363-EAF5-4F1B-841F-AE5EBDBE49A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8948684C-13E6-4F82-9666-EDA4E9D1511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13941F1F-A1AA-4B8F-BAAB-59A5E9ACA8A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15CE35AF-28E6-4416-937A-51695DB5EE2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873660CA-DF56-459A-83F6-7834608229BE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F67BF0F0-03FB-46AB-A7F1-79EA35F219A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97B30A46-CE3C-46D1-BBB0-D1E075EFB38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7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2A7AB76E-9D41-4414-BB7F-2B1E85CF54C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556E669A-FC85-4A5A-8567-E5886F23ED6C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8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4DBF757B-F9AC-4A6B-9499-142A21372EA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9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36928315-A78D-4FC8-A6AB-846B99225E0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16ABFD6B-5772-493F-9DAD-1A5CA8098B6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10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82AC4394-E391-452E-B764-FDF6F790FDE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3F76EC73-8794-4B2F-B640-27EA99411A6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99B29C93-C40B-438D-B5CD-2E27B4F5DC8B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11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AAEDE9DC-0F8B-44F2-9417-329A865C30D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F8CD5FFE-DDB7-4BDE-8BBD-941A84EAC35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12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64c0e2e71734f36" /><Relationship Type="http://schemas.openxmlformats.org/officeDocument/2006/relationships/slideLayout" Target="/ppt/slideLayouts/slideLayout1.xml" Id="Rea63a1ebd6ec49d5" /><Relationship Type="http://schemas.openxmlformats.org/officeDocument/2006/relationships/slideLayout" Target="/ppt/slideLayouts/slideLayout2.xml" Id="R73887cca050043a6" /><Relationship Type="http://schemas.openxmlformats.org/officeDocument/2006/relationships/slideLayout" Target="/ppt/slideLayouts/slideLayout3.xml" Id="R7ece2ea6ada64c75" /><Relationship Type="http://schemas.openxmlformats.org/officeDocument/2006/relationships/slideLayout" Target="/ppt/slideLayouts/slideLayout4.xml" Id="R42697e15289e4be3" /><Relationship Type="http://schemas.openxmlformats.org/officeDocument/2006/relationships/slideLayout" Target="/ppt/slideLayouts/slideLayout5.xml" Id="Rd90665d825304966" /><Relationship Type="http://schemas.openxmlformats.org/officeDocument/2006/relationships/slideLayout" Target="/ppt/slideLayouts/slideLayout6.xml" Id="R8ac9a14c44b746b4" /></Relationships>
</file>

<file path=ppt/slideMasters/_rels/slideMaster2.xml.rels>&#65279;<?xml version="1.0" encoding="utf-8"?><Relationships xmlns="http://schemas.openxmlformats.org/package/2006/relationships"><Relationship Type="http://schemas.openxmlformats.org/officeDocument/2006/relationships/theme" Target="/ppt/slideMasters/theme/theme3.xml" Id="Rb45f49a09c8340a0" /><Relationship Type="http://schemas.openxmlformats.org/officeDocument/2006/relationships/slideLayout" Target="/ppt/slideLayouts/slideLayout7.xml" Id="Ra84c6d0f855345e6" /><Relationship Type="http://schemas.openxmlformats.org/officeDocument/2006/relationships/slideLayout" Target="/ppt/slideLayouts/slideLayout8.xml" Id="R3480940531aa4e1d" /><Relationship Type="http://schemas.openxmlformats.org/officeDocument/2006/relationships/slideLayout" Target="/ppt/slideLayouts/slideLayout9.xml" Id="R640bff0b3e134c3e" /><Relationship Type="http://schemas.openxmlformats.org/officeDocument/2006/relationships/slideLayout" Target="/ppt/slideLayouts/slideLayout10.xml" Id="R9cd3e286eb2446a5" /><Relationship Type="http://schemas.openxmlformats.org/officeDocument/2006/relationships/slideLayout" Target="/ppt/slideLayouts/slideLayout11.xml" Id="R7cf97b01419440bf" /><Relationship Type="http://schemas.openxmlformats.org/officeDocument/2006/relationships/slideLayout" Target="/ppt/slideLayouts/slideLayout12.xml" Id="R66a656a1a45649f8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a63a1ebd6ec49d5"/>
    <p:sldLayoutId xmlns:r="http://schemas.openxmlformats.org/officeDocument/2006/relationships" id="2147483650" r:id="R73887cca050043a6"/>
    <p:sldLayoutId xmlns:r="http://schemas.openxmlformats.org/officeDocument/2006/relationships" id="2147483651" r:id="R7ece2ea6ada64c75"/>
    <p:sldLayoutId xmlns:r="http://schemas.openxmlformats.org/officeDocument/2006/relationships" id="2147483652" r:id="R42697e15289e4be3"/>
    <p:sldLayoutId xmlns:r="http://schemas.openxmlformats.org/officeDocument/2006/relationships" id="2147483653" r:id="Rd90665d825304966"/>
    <p:sldLayoutId xmlns:r="http://schemas.openxmlformats.org/officeDocument/2006/relationships" id="2147483654" r:id="R8ac9a14c44b746b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2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56" r:id="Ra84c6d0f855345e6"/>
    <p:sldLayoutId xmlns:r="http://schemas.openxmlformats.org/officeDocument/2006/relationships" id="2147483657" r:id="R3480940531aa4e1d"/>
    <p:sldLayoutId xmlns:r="http://schemas.openxmlformats.org/officeDocument/2006/relationships" id="2147483658" r:id="R640bff0b3e134c3e"/>
    <p:sldLayoutId xmlns:r="http://schemas.openxmlformats.org/officeDocument/2006/relationships" id="2147483659" r:id="R9cd3e286eb2446a5"/>
    <p:sldLayoutId xmlns:r="http://schemas.openxmlformats.org/officeDocument/2006/relationships" id="2147483660" r:id="R7cf97b01419440bf"/>
    <p:sldLayoutId xmlns:r="http://schemas.openxmlformats.org/officeDocument/2006/relationships" id="2147483661" r:id="R66a656a1a45649f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theme3.xml><?xml version="1.0" encoding="utf-8"?>
<a:theme xmlns:a="http://schemas.openxmlformats.org/drawingml/2006/main" name="1_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d20e6cdd304425e" /><Relationship Type="http://schemas.openxmlformats.org/officeDocument/2006/relationships/notesSlide" Target="/ppt/notesSlides/notesSlide1.xml" Id="R1f25898d6ebc420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eab3f87fce44425" /><Relationship Type="http://schemas.openxmlformats.org/officeDocument/2006/relationships/notesSlide" Target="/ppt/notesSlides/notesSlide2.xml" Id="R7b97be272d22473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4d84bf3c006f4bf5" /><Relationship Type="http://schemas.openxmlformats.org/officeDocument/2006/relationships/notesSlide" Target="/ppt/notesSlides/notesSlide3.xml" Id="R75964acf95c2493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ac8c397e01c4ed1" /><Relationship Type="http://schemas.openxmlformats.org/officeDocument/2006/relationships/notesSlide" Target="/ppt/notesSlides/notesSlide4.xml" Id="R80a6467912c24f4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0a44ce391444a19" /><Relationship Type="http://schemas.openxmlformats.org/officeDocument/2006/relationships/notesSlide" Target="/ppt/notesSlides/notesSlide5.xml" Id="R071a5082ef9949e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0f4dab48bc04054" /><Relationship Type="http://schemas.openxmlformats.org/officeDocument/2006/relationships/notesSlide" Target="/ppt/notesSlides/notesSlide6.xml" Id="Re39db1177d2145c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b5ff3458ce67458f" /><Relationship Type="http://schemas.openxmlformats.org/officeDocument/2006/relationships/notesSlide" Target="/ppt/notesSlides/notesSlide7.xml" Id="Rd0591dbf3dae4b0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bca2a110928434e" /><Relationship Type="http://schemas.openxmlformats.org/officeDocument/2006/relationships/notesSlide" Target="/ppt/notesSlides/notesSlide8.xml" Id="R27aad2e0c7f84f5f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fd8fe326cf54694" /><Relationship Type="http://schemas.openxmlformats.org/officeDocument/2006/relationships/image" Target="/ppt/media/image.png" Id="R9b3dd3e59e494655" /><Relationship Type="http://schemas.openxmlformats.org/officeDocument/2006/relationships/notesSlide" Target="/ppt/notesSlides/notesSlide9.xml" Id="R67c26bdbfeba4291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7add18657a9455f" /><Relationship Type="http://schemas.openxmlformats.org/officeDocument/2006/relationships/image" Target="/ppt/media/image2.png" Id="Rc6372e4ca46c43be" /><Relationship Type="http://schemas.openxmlformats.org/officeDocument/2006/relationships/notesSlide" Target="/ppt/notesSlides/notesSlide10.xml" Id="R04d05863819d42eb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c9270ea0ee14906" /><Relationship Type="http://schemas.openxmlformats.org/officeDocument/2006/relationships/image" Target="/ppt/media/image3.png" Id="R632ac817d5264b52" /><Relationship Type="http://schemas.openxmlformats.org/officeDocument/2006/relationships/notesSlide" Target="/ppt/notesSlides/notesSlide11.xml" Id="Re36533a5a6f44c29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bde6952aea04eeb" /><Relationship Type="http://schemas.openxmlformats.org/officeDocument/2006/relationships/image" Target="/ppt/media/image4.png" Id="Re81f10bf6a074492" /><Relationship Type="http://schemas.openxmlformats.org/officeDocument/2006/relationships/notesSlide" Target="/ppt/notesSlides/notesSlide12.xml" Id="Rdf35d9fe189242c9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0d4155970e9402f" /><Relationship Type="http://schemas.openxmlformats.org/officeDocument/2006/relationships/image" Target="/ppt/media/image5.png" Id="Rc89441acdfb7475f" /><Relationship Type="http://schemas.openxmlformats.org/officeDocument/2006/relationships/notesSlide" Target="/ppt/notesSlides/notesSlide13.xml" Id="R87b43f108d104e2f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d6ae31d56684e35" /><Relationship Type="http://schemas.openxmlformats.org/officeDocument/2006/relationships/image" Target="/ppt/media/image6.png" Id="R4593d98e9c464b8b" /><Relationship Type="http://schemas.openxmlformats.org/officeDocument/2006/relationships/notesSlide" Target="/ppt/notesSlides/notesSlide14.xml" Id="R994545591b134aa9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2fd0cf3cab940cd" /><Relationship Type="http://schemas.openxmlformats.org/officeDocument/2006/relationships/image" Target="/ppt/media/image7.png" Id="R74d4cb90c20b42c7" /><Relationship Type="http://schemas.openxmlformats.org/officeDocument/2006/relationships/notesSlide" Target="/ppt/notesSlides/notesSlide15.xml" Id="Rc8c70b6442a144b5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bd10131ce3d741fd" /><Relationship Type="http://schemas.openxmlformats.org/officeDocument/2006/relationships/notesSlide" Target="/ppt/notesSlides/notesSlide16.xml" Id="Rfe131ba8eada40a7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e924c5eab8f4a95" /><Relationship Type="http://schemas.openxmlformats.org/officeDocument/2006/relationships/notesSlide" Target="/ppt/notesSlides/notesSlide17.xml" Id="R536b735a87244a56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cdfba5999eb4eab" /><Relationship Type="http://schemas.openxmlformats.org/officeDocument/2006/relationships/notesSlide" Target="/ppt/notesSlides/notesSlide18.xml" Id="R758ab264fc344859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5f0262090e84b40" /><Relationship Type="http://schemas.openxmlformats.org/officeDocument/2006/relationships/notesSlide" Target="/ppt/notesSlides/notesSlide19.xml" Id="Rec28183ace3b4aa4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7269256b7f1849a4" /><Relationship Type="http://schemas.openxmlformats.org/officeDocument/2006/relationships/notesSlide" Target="/ppt/notesSlides/notesSlide20.xml" Id="Rc7110f76a4e24345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b0c16fd31d84eb2" /><Relationship Type="http://schemas.openxmlformats.org/officeDocument/2006/relationships/notesSlide" Target="/ppt/notesSlides/notesSlide21.xml" Id="R25c53a6943d54158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2e81428792548af" /><Relationship Type="http://schemas.openxmlformats.org/officeDocument/2006/relationships/notesSlide" Target="/ppt/notesSlides/notesSlide22.xml" Id="R294a505d4ef24af3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938df8558b54cd7" /><Relationship Type="http://schemas.openxmlformats.org/officeDocument/2006/relationships/notesSlide" Target="/ppt/notesSlides/notesSlide23.xml" Id="Rac4d5c1006604c1c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d417ac089b848ed" /><Relationship Type="http://schemas.openxmlformats.org/officeDocument/2006/relationships/notesSlide" Target="/ppt/notesSlides/notesSlide24.xml" Id="Rd1ad53bcd26c4deb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e8c04f48dea4043" /><Relationship Type="http://schemas.openxmlformats.org/officeDocument/2006/relationships/notesSlide" Target="/ppt/notesSlides/notesSlide25.xml" Id="R9211ced372fa40ef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9943a74b159448e" /><Relationship Type="http://schemas.openxmlformats.org/officeDocument/2006/relationships/notesSlide" Target="/ppt/notesSlides/notesSlide26.xml" Id="R15e55afda73d4e5a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cover-glow">
            <a:extLst xmlns:a="http://schemas.openxmlformats.org/drawingml/2006/main">
              <a:ext uri="{FF2B5EF4-FFF2-40B4-BE49-F238E27FC236}">
                <a16:creationId xmlns:a16="http://schemas.microsoft.com/office/drawing/2014/main" id="{96475DF0-91FA-4D83-9202-93F2D60F0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571500"/>
            <a:ext cx="4095750" cy="409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2C55E">
              <a:alpha val="8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cover-title">
            <a:extLst xmlns:a="http://schemas.openxmlformats.org/drawingml/2006/main">
              <a:ext uri="{FF2B5EF4-FFF2-40B4-BE49-F238E27FC236}">
                <a16:creationId xmlns:a16="http://schemas.microsoft.com/office/drawing/2014/main" id="{B786BED7-C868-4930-86E0-74535282E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95450"/>
            <a:ext cx="6858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4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4800" b="1">
                <a:solidFill>
                  <a:schemeClr val="tx1"/>
                </a:solidFill>
                <a:latin typeface="微软雅黑"/>
                <a:ea typeface="微软雅黑"/>
                <a:cs typeface="微软雅黑"/>
              </a:rPr>
              <a:t>DataMind</a:t>
            </a:r>
            <a:endParaRPr sz="4800" b="1">
              <a:solidFill>
                <a:schemeClr val="tx1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55FA2DB7-9453-448D-B45E-2970BCB07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81300"/>
            <a:ext cx="685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anchor="t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22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22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数据库 Agent Web 应用</a:t>
            </a:r>
            <a:endParaRPr sz="2250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" name="cover-claim">
            <a:extLst xmlns:a="http://schemas.openxmlformats.org/drawingml/2006/main">
              <a:ext uri="{FF2B5EF4-FFF2-40B4-BE49-F238E27FC236}">
                <a16:creationId xmlns:a16="http://schemas.microsoft.com/office/drawing/2014/main" id="{BE95F843-07A9-4CE2-8C6D-AED90FDBB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352800"/>
            <a:ext cx="7239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anchor="t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500" b="0">
                <a:solidFill>
                  <a:srgbClr val="DBEAFE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0">
                <a:solidFill>
                  <a:srgbClr val="DBEAFE"/>
                </a:solidFill>
                <a:latin typeface="微软雅黑"/>
                <a:ea typeface="微软雅黑"/>
                <a:cs typeface="微软雅黑"/>
              </a:rPr>
              <a:t>让不会写 </a:t>
            </a:r>
            <a:r>
              <a:rPr sz="1500" b="0">
                <a:solidFill>
                  <a:srgbClr val="DBEAFE"/>
                </a:solidFill>
                <a:latin typeface="微软雅黑"/>
                <a:ea typeface="微软雅黑"/>
                <a:cs typeface="微软雅黑"/>
              </a:rPr>
              <a:t>SQL </a:t>
            </a:r>
            <a:r>
              <a:rPr sz="1500" b="0">
                <a:solidFill>
                  <a:srgbClr val="DBEAFE"/>
                </a:solidFill>
                <a:latin typeface="微软雅黑"/>
                <a:ea typeface="微软雅黑"/>
                <a:cs typeface="微软雅黑"/>
              </a:rPr>
              <a:t>的业务人员也能安全地查数据，会写 </a:t>
            </a:r>
            <a:r>
              <a:rPr sz="1500" b="0">
                <a:solidFill>
                  <a:srgbClr val="DBEAFE"/>
                </a:solidFill>
                <a:latin typeface="微软雅黑"/>
                <a:ea typeface="微软雅黑"/>
                <a:cs typeface="微软雅黑"/>
              </a:rPr>
              <a:t>SQL </a:t>
            </a:r>
            <a:r>
              <a:rPr sz="1500" b="0">
                <a:solidFill>
                  <a:srgbClr val="DBEAFE"/>
                </a:solidFill>
                <a:latin typeface="微软雅黑"/>
                <a:ea typeface="微软雅黑"/>
                <a:cs typeface="微软雅黑"/>
              </a:rPr>
              <a:t>的技术人员更</a:t>
            </a:r>
            <a:r>
              <a:rPr sz="1500" b="0">
                <a:solidFill>
                  <a:srgbClr val="DBEAFE"/>
                </a:solidFill>
                <a:latin typeface="微软雅黑"/>
                <a:ea typeface="微软雅黑"/>
                <a:cs typeface="微软雅黑"/>
              </a:rPr>
              <a:t>高效。</a:t>
            </a:r>
            <a:endParaRPr sz="1500" b="0">
              <a:solidFill>
                <a:srgbClr val="DBEAFE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6" name="cover-tag-0">
            <a:extLst xmlns:a="http://schemas.openxmlformats.org/drawingml/2006/main">
              <a:ext uri="{FF2B5EF4-FFF2-40B4-BE49-F238E27FC236}">
                <a16:creationId xmlns:a16="http://schemas.microsoft.com/office/drawing/2014/main" id="{DCB7573E-0096-4C4F-80C3-0B2998C35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5290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anchor="t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200" b="1">
                <a:solidFill>
                  <a:srgbClr val="93C5FD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1">
                <a:solidFill>
                  <a:srgbClr val="93C5FD"/>
                </a:solidFill>
                <a:latin typeface="微软雅黑"/>
                <a:ea typeface="微软雅黑"/>
                <a:cs typeface="微软雅黑"/>
              </a:rPr>
              <a:t>AI Agent</a:t>
            </a:r>
            <a:endParaRPr sz="1200" b="1">
              <a:solidFill>
                <a:srgbClr val="93C5FD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7" name="cover-tag-line-0">
            <a:extLst xmlns:a="http://schemas.openxmlformats.org/drawingml/2006/main">
              <a:ext uri="{FF2B5EF4-FFF2-40B4-BE49-F238E27FC236}">
                <a16:creationId xmlns:a16="http://schemas.microsoft.com/office/drawing/2014/main" id="{5677942D-344D-4456-9949-87234BCDF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76750"/>
            <a:ext cx="381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5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cover-tag-1">
            <a:extLst xmlns:a="http://schemas.openxmlformats.org/drawingml/2006/main">
              <a:ext uri="{FF2B5EF4-FFF2-40B4-BE49-F238E27FC236}">
                <a16:creationId xmlns:a16="http://schemas.microsoft.com/office/drawing/2014/main" id="{22330EBB-127F-49F3-8FF7-9A170A8FF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415290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anchor="t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200" b="1">
                <a:solidFill>
                  <a:srgbClr val="93C5FD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1">
                <a:solidFill>
                  <a:srgbClr val="93C5FD"/>
                </a:solidFill>
                <a:latin typeface="微软雅黑"/>
                <a:ea typeface="微软雅黑"/>
                <a:cs typeface="微软雅黑"/>
              </a:rPr>
              <a:t>Multi-Database</a:t>
            </a:r>
            <a:endParaRPr sz="1200" b="1">
              <a:solidFill>
                <a:srgbClr val="93C5FD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9" name="cover-tag-line-1">
            <a:extLst xmlns:a="http://schemas.openxmlformats.org/drawingml/2006/main">
              <a:ext uri="{FF2B5EF4-FFF2-40B4-BE49-F238E27FC236}">
                <a16:creationId xmlns:a16="http://schemas.microsoft.com/office/drawing/2014/main" id="{5D5DFA16-70A3-4BE7-A528-56B0CC2AC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4476750"/>
            <a:ext cx="381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5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cover-tag-2">
            <a:extLst xmlns:a="http://schemas.openxmlformats.org/drawingml/2006/main">
              <a:ext uri="{FF2B5EF4-FFF2-40B4-BE49-F238E27FC236}">
                <a16:creationId xmlns:a16="http://schemas.microsoft.com/office/drawing/2014/main" id="{22584E74-B731-447C-B78D-952BF97BA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415290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anchor="t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200" b="1">
                <a:solidFill>
                  <a:srgbClr val="93C5FD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1">
                <a:solidFill>
                  <a:srgbClr val="93C5FD"/>
                </a:solidFill>
                <a:latin typeface="微软雅黑"/>
                <a:ea typeface="微软雅黑"/>
                <a:cs typeface="微软雅黑"/>
              </a:rPr>
              <a:t>Security First</a:t>
            </a:r>
            <a:endParaRPr sz="1200" b="1">
              <a:solidFill>
                <a:srgbClr val="93C5FD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1" name="cover-tag-line-2">
            <a:extLst xmlns:a="http://schemas.openxmlformats.org/drawingml/2006/main">
              <a:ext uri="{FF2B5EF4-FFF2-40B4-BE49-F238E27FC236}">
                <a16:creationId xmlns:a16="http://schemas.microsoft.com/office/drawing/2014/main" id="{02DE3F7A-8423-4CE5-A349-33BDFF5CF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4476750"/>
            <a:ext cx="381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C55E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1142034824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C80EEFF3-99BD-4193-996A-72CD053CA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1047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anchor="t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2625" b="1">
                <a:solidFill>
                  <a:srgbClr val="0F172A"/>
                </a:solidFill>
                <a:latin typeface="微软雅黑"/>
                <a:ea typeface="微软雅黑"/>
                <a:cs typeface="微软雅黑"/>
              </a:defRPr>
            </a:pPr>
            <a:r>
              <a:rPr sz="2625" b="1">
                <a:solidFill>
                  <a:srgbClr val="0F172A"/>
                </a:solidFill>
                <a:latin typeface="微软雅黑"/>
                <a:ea typeface="微软雅黑"/>
                <a:cs typeface="微软雅黑"/>
              </a:rPr>
              <a:t>目</a:t>
            </a:r>
            <a:r>
              <a:rPr sz="2625" b="1">
                <a:solidFill>
                  <a:srgbClr val="0F172A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2625" b="1">
                <a:solidFill>
                  <a:srgbClr val="0F172A"/>
                </a:solidFill>
                <a:latin typeface="微软雅黑"/>
                <a:ea typeface="微软雅黑"/>
                <a:cs typeface="微软雅黑"/>
              </a:rPr>
              <a:t>录</a:t>
            </a:r>
            <a:endParaRPr sz="2625" b="1">
              <a:solidFill>
                <a:srgbClr val="0F172A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" name="title-accent">
            <a:extLst xmlns:a="http://schemas.openxmlformats.org/drawingml/2006/main">
              <a:ext uri="{FF2B5EF4-FFF2-40B4-BE49-F238E27FC236}">
                <a16:creationId xmlns:a16="http://schemas.microsoft.com/office/drawing/2014/main" id="{564F2C69-6218-46C2-8E41-6D26584D8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38250"/>
            <a:ext cx="5334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5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footer-line">
            <a:extLst xmlns:a="http://schemas.openxmlformats.org/drawingml/2006/main">
              <a:ext uri="{FF2B5EF4-FFF2-40B4-BE49-F238E27FC236}">
                <a16:creationId xmlns:a16="http://schemas.microsoft.com/office/drawing/2014/main" id="{90A19B6F-735F-448D-8804-3DA168951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footer-left">
            <a:extLst xmlns:a="http://schemas.openxmlformats.org/drawingml/2006/main">
              <a:ext uri="{FF2B5EF4-FFF2-40B4-BE49-F238E27FC236}">
                <a16:creationId xmlns:a16="http://schemas.microsoft.com/office/drawing/2014/main" id="{C81FFD42-F8E6-4D30-B15A-52FA7C507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anchor="t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900" b="0">
                <a:solidFill>
                  <a:srgbClr val="94A3B8"/>
                </a:solidFill>
                <a:latin typeface="微软雅黑"/>
                <a:ea typeface="微软雅黑"/>
                <a:cs typeface="微软雅黑"/>
              </a:defRPr>
            </a:pPr>
            <a:r>
              <a:rPr sz="900" b="0">
                <a:solidFill>
                  <a:srgbClr val="94A3B8"/>
                </a:solidFill>
                <a:latin typeface="微软雅黑"/>
                <a:ea typeface="微软雅黑"/>
                <a:cs typeface="微软雅黑"/>
              </a:rPr>
              <a:t>DataMind · 数据库 Agent Web 应用</a:t>
            </a:r>
            <a:endParaRPr sz="900" b="0">
              <a:solidFill>
                <a:srgbClr val="94A3B8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6" name="footer-page">
            <a:extLst xmlns:a="http://schemas.openxmlformats.org/drawingml/2006/main">
              <a:ext uri="{FF2B5EF4-FFF2-40B4-BE49-F238E27FC236}">
                <a16:creationId xmlns:a16="http://schemas.microsoft.com/office/drawing/2014/main" id="{C4D03CF3-57D5-4A69-942B-4C77711B8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0" y="6534150"/>
            <a:ext cx="95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anchor="t"/>
          <a:lstStyle xmlns:a="http://schemas.openxmlformats.org/drawingml/2006/main"/>
          <a:p xmlns:a="http://schemas.openxmlformats.org/drawingml/2006/main">
            <a:pPr algn="r">
              <a:lnSpc>
                <a:spcPct val="125000"/>
              </a:lnSpc>
              <a:buNone/>
              <a:defRPr sz="900" b="0">
                <a:solidFill>
                  <a:srgbClr val="94A3B8"/>
                </a:solidFill>
                <a:latin typeface="微软雅黑"/>
                <a:ea typeface="微软雅黑"/>
                <a:cs typeface="微软雅黑"/>
              </a:defRPr>
            </a:pPr>
            <a:r>
              <a:rPr sz="900" b="0">
                <a:solidFill>
                  <a:srgbClr val="94A3B8"/>
                </a:solidFill>
                <a:latin typeface="微软雅黑"/>
                <a:ea typeface="微软雅黑"/>
                <a:cs typeface="微软雅黑"/>
              </a:rPr>
              <a:t>2</a:t>
            </a:r>
            <a:endParaRPr sz="900" b="0">
              <a:solidFill>
                <a:srgbClr val="94A3B8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7" name="agenda-num-0">
            <a:extLst xmlns:a="http://schemas.openxmlformats.org/drawingml/2006/main">
              <a:ext uri="{FF2B5EF4-FFF2-40B4-BE49-F238E27FC236}">
                <a16:creationId xmlns:a16="http://schemas.microsoft.com/office/drawing/2014/main" id="{CF0D2F01-8E46-456F-9475-7A08FDBC1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95450"/>
            <a:ext cx="1047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anchor="t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3450" b="1">
                <a:solidFill>
                  <a:srgbClr val="0B5FFF"/>
                </a:solidFill>
                <a:latin typeface="微软雅黑"/>
                <a:ea typeface="微软雅黑"/>
                <a:cs typeface="微软雅黑"/>
              </a:defRPr>
            </a:pPr>
            <a:r>
              <a:rPr sz="3450" b="1">
                <a:solidFill>
                  <a:srgbClr val="0B5FFF"/>
                </a:solidFill>
                <a:latin typeface="微软雅黑"/>
                <a:ea typeface="微软雅黑"/>
                <a:cs typeface="微软雅黑"/>
              </a:rPr>
              <a:t>01</a:t>
            </a:r>
            <a:endParaRPr sz="3450" b="1">
              <a:solidFill>
                <a:srgbClr val="0B5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8" name="agenda-title-0">
            <a:extLst xmlns:a="http://schemas.openxmlformats.org/drawingml/2006/main">
              <a:ext uri="{FF2B5EF4-FFF2-40B4-BE49-F238E27FC236}">
                <a16:creationId xmlns:a16="http://schemas.microsoft.com/office/drawing/2014/main" id="{2A0A11B6-D1DD-47AC-8958-A80E4279F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1752600"/>
            <a:ext cx="285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anchor="t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950" b="1">
                <a:solidFill>
                  <a:srgbClr val="0B1830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1">
                <a:solidFill>
                  <a:srgbClr val="0B1830"/>
                </a:solidFill>
                <a:latin typeface="微软雅黑"/>
                <a:ea typeface="微软雅黑"/>
                <a:cs typeface="微软雅黑"/>
              </a:rPr>
              <a:t>项目背景</a:t>
            </a:r>
            <a:endParaRPr sz="1950" b="1">
              <a:solidFill>
                <a:srgbClr val="0B183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9" name="agenda-desc-0">
            <a:extLst xmlns:a="http://schemas.openxmlformats.org/drawingml/2006/main">
              <a:ext uri="{FF2B5EF4-FFF2-40B4-BE49-F238E27FC236}">
                <a16:creationId xmlns:a16="http://schemas.microsoft.com/office/drawing/2014/main" id="{050CA851-76F2-4D79-A801-D3A1F614F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2133600"/>
            <a:ext cx="762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anchor="t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275" b="0">
                <a:solidFill>
                  <a:srgbClr val="475569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0">
                <a:solidFill>
                  <a:srgbClr val="475569"/>
                </a:solidFill>
                <a:latin typeface="微软雅黑"/>
                <a:ea typeface="微软雅黑"/>
                <a:cs typeface="微软雅黑"/>
              </a:rPr>
              <a:t>痛点</a:t>
            </a:r>
            <a:r>
              <a:rPr sz="1275" b="0">
                <a:solidFill>
                  <a:srgbClr val="475569"/>
                </a:solidFill>
                <a:latin typeface="微软雅黑"/>
                <a:ea typeface="微软雅黑"/>
                <a:cs typeface="微软雅黑"/>
              </a:rPr>
              <a:t>、</a:t>
            </a:r>
            <a:r>
              <a:t>定位、目标用户</a:t>
            </a:r>
            <a:endParaRPr sz="1275" b="0">
              <a:solidFill>
                <a:srgbClr val="475569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0" name="agenda-line-0">
            <a:extLst xmlns:a="http://schemas.openxmlformats.org/drawingml/2006/main">
              <a:ext uri="{FF2B5EF4-FFF2-40B4-BE49-F238E27FC236}">
                <a16:creationId xmlns:a16="http://schemas.microsoft.com/office/drawing/2014/main" id="{B4AC9968-589D-45D4-918D-666556EF2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552700"/>
            <a:ext cx="9334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agenda-num-1">
            <a:extLst xmlns:a="http://schemas.openxmlformats.org/drawingml/2006/main">
              <a:ext uri="{FF2B5EF4-FFF2-40B4-BE49-F238E27FC236}">
                <a16:creationId xmlns:a16="http://schemas.microsoft.com/office/drawing/2014/main" id="{24C606F9-FFCB-4EDE-A866-D8C198582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62250"/>
            <a:ext cx="1047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anchor="t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3450" b="1">
                <a:solidFill>
                  <a:srgbClr val="0B5FFF"/>
                </a:solidFill>
                <a:latin typeface="微软雅黑"/>
                <a:ea typeface="微软雅黑"/>
                <a:cs typeface="微软雅黑"/>
              </a:defRPr>
            </a:pPr>
            <a:r>
              <a:rPr sz="3450" b="1">
                <a:solidFill>
                  <a:srgbClr val="0B5FFF"/>
                </a:solidFill>
                <a:latin typeface="微软雅黑"/>
                <a:ea typeface="微软雅黑"/>
                <a:cs typeface="微软雅黑"/>
              </a:rPr>
              <a:t>02</a:t>
            </a:r>
            <a:endParaRPr sz="3450" b="1">
              <a:solidFill>
                <a:srgbClr val="0B5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2" name="agenda-title-1">
            <a:extLst xmlns:a="http://schemas.openxmlformats.org/drawingml/2006/main">
              <a:ext uri="{FF2B5EF4-FFF2-40B4-BE49-F238E27FC236}">
                <a16:creationId xmlns:a16="http://schemas.microsoft.com/office/drawing/2014/main" id="{4AF6C35E-0EBA-4438-AB2B-695379C9D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2819400"/>
            <a:ext cx="285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anchor="t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950" b="1">
                <a:solidFill>
                  <a:srgbClr val="0B1830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1">
                <a:solidFill>
                  <a:srgbClr val="0B1830"/>
                </a:solidFill>
                <a:latin typeface="微软雅黑"/>
                <a:ea typeface="微软雅黑"/>
                <a:cs typeface="微软雅黑"/>
              </a:rPr>
              <a:t>系统</a:t>
            </a:r>
            <a:r>
              <a:rPr sz="1950" b="1">
                <a:solidFill>
                  <a:srgbClr val="0B1830"/>
                </a:solidFill>
                <a:latin typeface="微软雅黑"/>
                <a:ea typeface="微软雅黑"/>
                <a:cs typeface="微软雅黑"/>
              </a:rPr>
              <a:t>功能</a:t>
            </a:r>
            <a:endParaRPr sz="1950" b="1">
              <a:solidFill>
                <a:srgbClr val="0B183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3" name="agenda-desc-1">
            <a:extLst xmlns:a="http://schemas.openxmlformats.org/drawingml/2006/main">
              <a:ext uri="{FF2B5EF4-FFF2-40B4-BE49-F238E27FC236}">
                <a16:creationId xmlns:a16="http://schemas.microsoft.com/office/drawing/2014/main" id="{30446F87-7F5C-4D14-871F-982872318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3200400"/>
            <a:ext cx="762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anchor="t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275" b="0">
                <a:solidFill>
                  <a:srgbClr val="475569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0">
                <a:solidFill>
                  <a:srgbClr val="475569"/>
                </a:solidFill>
                <a:latin typeface="微软雅黑"/>
                <a:ea typeface="微软雅黑"/>
                <a:cs typeface="微软雅黑"/>
              </a:rPr>
              <a:t>AI 查询、SQL 工作台、报表、元数据</a:t>
            </a:r>
            <a:endParaRPr sz="1275" b="0">
              <a:solidFill>
                <a:srgbClr val="475569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4" name="agenda-line-1">
            <a:extLst xmlns:a="http://schemas.openxmlformats.org/drawingml/2006/main">
              <a:ext uri="{FF2B5EF4-FFF2-40B4-BE49-F238E27FC236}">
                <a16:creationId xmlns:a16="http://schemas.microsoft.com/office/drawing/2014/main" id="{8AA52654-942A-42D6-9EE5-96F4ECC1B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619500"/>
            <a:ext cx="9334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agenda-num-2">
            <a:extLst xmlns:a="http://schemas.openxmlformats.org/drawingml/2006/main">
              <a:ext uri="{FF2B5EF4-FFF2-40B4-BE49-F238E27FC236}">
                <a16:creationId xmlns:a16="http://schemas.microsoft.com/office/drawing/2014/main" id="{3AD9FE69-807F-4A83-A1D4-7A0C68F55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29050"/>
            <a:ext cx="1047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anchor="t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3450" b="1">
                <a:solidFill>
                  <a:srgbClr val="0B5FFF"/>
                </a:solidFill>
                <a:latin typeface="微软雅黑"/>
                <a:ea typeface="微软雅黑"/>
                <a:cs typeface="微软雅黑"/>
              </a:defRPr>
            </a:pPr>
            <a:r>
              <a:rPr sz="3450" b="1">
                <a:solidFill>
                  <a:srgbClr val="0B5FFF"/>
                </a:solidFill>
                <a:latin typeface="微软雅黑"/>
                <a:ea typeface="微软雅黑"/>
                <a:cs typeface="微软雅黑"/>
              </a:rPr>
              <a:t>03</a:t>
            </a:r>
            <a:endParaRPr sz="3450" b="1">
              <a:solidFill>
                <a:srgbClr val="0B5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6" name="agenda-title-2">
            <a:extLst xmlns:a="http://schemas.openxmlformats.org/drawingml/2006/main">
              <a:ext uri="{FF2B5EF4-FFF2-40B4-BE49-F238E27FC236}">
                <a16:creationId xmlns:a16="http://schemas.microsoft.com/office/drawing/2014/main" id="{C175F5B5-5EBB-4DCF-BB40-C0D93C098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3886200"/>
            <a:ext cx="285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anchor="t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950" b="1">
                <a:solidFill>
                  <a:srgbClr val="0B1830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1">
                <a:solidFill>
                  <a:srgbClr val="0B1830"/>
                </a:solidFill>
                <a:latin typeface="微软雅黑"/>
                <a:ea typeface="微软雅黑"/>
                <a:cs typeface="微软雅黑"/>
              </a:rPr>
              <a:t>技术亮点</a:t>
            </a:r>
            <a:endParaRPr sz="1950" b="1">
              <a:solidFill>
                <a:srgbClr val="0B183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7" name="agenda-desc-2">
            <a:extLst xmlns:a="http://schemas.openxmlformats.org/drawingml/2006/main">
              <a:ext uri="{FF2B5EF4-FFF2-40B4-BE49-F238E27FC236}">
                <a16:creationId xmlns:a16="http://schemas.microsoft.com/office/drawing/2014/main" id="{7C5CF6CC-F218-4988-8737-4511F20DF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4267200"/>
            <a:ext cx="762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anchor="t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275" b="0">
                <a:solidFill>
                  <a:srgbClr val="475569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0">
                <a:solidFill>
                  <a:srgbClr val="475569"/>
                </a:solidFill>
                <a:latin typeface="微软雅黑"/>
                <a:ea typeface="微软雅黑"/>
                <a:cs typeface="微软雅黑"/>
              </a:rPr>
              <a:t>Agent 工具调用、安全执行、跨库适配</a:t>
            </a:r>
            <a:endParaRPr sz="1275" b="0">
              <a:solidFill>
                <a:srgbClr val="475569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8" name="agenda-line-2">
            <a:extLst xmlns:a="http://schemas.openxmlformats.org/drawingml/2006/main">
              <a:ext uri="{FF2B5EF4-FFF2-40B4-BE49-F238E27FC236}">
                <a16:creationId xmlns:a16="http://schemas.microsoft.com/office/drawing/2014/main" id="{84C8F81C-36EF-41B7-9C26-C2B476B72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686300"/>
            <a:ext cx="9334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agenda-num-3">
            <a:extLst xmlns:a="http://schemas.openxmlformats.org/drawingml/2006/main">
              <a:ext uri="{FF2B5EF4-FFF2-40B4-BE49-F238E27FC236}">
                <a16:creationId xmlns:a16="http://schemas.microsoft.com/office/drawing/2014/main" id="{68520EF8-7F9C-4269-B7F7-705F473CA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895850"/>
            <a:ext cx="1047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anchor="t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3450" b="1">
                <a:solidFill>
                  <a:srgbClr val="0B5FFF"/>
                </a:solidFill>
                <a:latin typeface="微软雅黑"/>
                <a:ea typeface="微软雅黑"/>
                <a:cs typeface="微软雅黑"/>
              </a:defRPr>
            </a:pPr>
            <a:r>
              <a:rPr sz="3450" b="1">
                <a:solidFill>
                  <a:srgbClr val="0B5FFF"/>
                </a:solidFill>
                <a:latin typeface="微软雅黑"/>
                <a:ea typeface="微软雅黑"/>
                <a:cs typeface="微软雅黑"/>
              </a:rPr>
              <a:t>04</a:t>
            </a:r>
            <a:endParaRPr sz="3450" b="1">
              <a:solidFill>
                <a:srgbClr val="0B5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0" name="agenda-title-3">
            <a:extLst xmlns:a="http://schemas.openxmlformats.org/drawingml/2006/main">
              <a:ext uri="{FF2B5EF4-FFF2-40B4-BE49-F238E27FC236}">
                <a16:creationId xmlns:a16="http://schemas.microsoft.com/office/drawing/2014/main" id="{96E34BEF-E9AB-4C1D-8F13-890F80A56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4953000"/>
            <a:ext cx="285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anchor="t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950" b="1">
                <a:solidFill>
                  <a:srgbClr val="0B1830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1">
                <a:solidFill>
                  <a:srgbClr val="0B1830"/>
                </a:solidFill>
                <a:latin typeface="微软雅黑"/>
                <a:ea typeface="微软雅黑"/>
                <a:cs typeface="微软雅黑"/>
              </a:rPr>
              <a:t>工程与治理</a:t>
            </a:r>
            <a:endParaRPr sz="1950" b="1">
              <a:solidFill>
                <a:srgbClr val="0B183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1" name="agenda-desc-3">
            <a:extLst xmlns:a="http://schemas.openxmlformats.org/drawingml/2006/main">
              <a:ext uri="{FF2B5EF4-FFF2-40B4-BE49-F238E27FC236}">
                <a16:creationId xmlns:a16="http://schemas.microsoft.com/office/drawing/2014/main" id="{A6889C72-7345-4D0B-B16E-7D02E0259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5334000"/>
            <a:ext cx="762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anchor="t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275" b="0">
                <a:solidFill>
                  <a:srgbClr val="475569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0">
                <a:solidFill>
                  <a:srgbClr val="475569"/>
                </a:solidFill>
                <a:latin typeface="微软雅黑"/>
                <a:ea typeface="微软雅黑"/>
                <a:cs typeface="微软雅黑"/>
              </a:rPr>
              <a:t>RBAC、审计、监控</a:t>
            </a:r>
            <a:endParaRPr sz="1275" b="0">
              <a:solidFill>
                <a:srgbClr val="475569"/>
              </a:solidFill>
              <a:latin typeface="微软雅黑"/>
              <a:ea typeface="微软雅黑"/>
              <a:cs typeface="微软雅黑"/>
            </a:endParaRPr>
          </a:p>
        </p:txBody>
      </p:sp>
    </p:spTree>
    <p:extLst>
      <p:ext uri="{BB962C8B-B14F-4D97-AF65-F5344CB8AC3E}">
        <p14:creationId xmlns:p14="http://schemas.microsoft.com/office/powerpoint/2010/main" val="194312702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agenda-num-0">
            <a:extLst xmlns:a="http://schemas.openxmlformats.org/drawingml/2006/main">
              <a:ext uri="{FF2B5EF4-FFF2-40B4-BE49-F238E27FC236}">
                <a16:creationId xmlns:a16="http://schemas.microsoft.com/office/drawing/2014/main" id="{82CD866D-25EF-48E0-9AB2-B12609553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95450"/>
            <a:ext cx="1047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anchor="t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3450" b="1">
                <a:solidFill>
                  <a:srgbClr val="0B5FFF"/>
                </a:solidFill>
                <a:latin typeface="微软雅黑"/>
                <a:ea typeface="微软雅黑"/>
                <a:cs typeface="微软雅黑"/>
              </a:defRPr>
            </a:pPr>
            <a:r>
              <a:rPr sz="3450" b="1">
                <a:solidFill>
                  <a:srgbClr val="0B5FFF"/>
                </a:solidFill>
                <a:latin typeface="微软雅黑"/>
                <a:ea typeface="微软雅黑"/>
                <a:cs typeface="微软雅黑"/>
              </a:rPr>
              <a:t>01</a:t>
            </a:r>
            <a:endParaRPr sz="3450" b="1">
              <a:solidFill>
                <a:srgbClr val="0B5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8" name="agenda-title-0">
            <a:extLst xmlns:a="http://schemas.openxmlformats.org/drawingml/2006/main">
              <a:ext uri="{FF2B5EF4-FFF2-40B4-BE49-F238E27FC236}">
                <a16:creationId xmlns:a16="http://schemas.microsoft.com/office/drawing/2014/main" id="{86DCE1E0-76AC-4F1E-8BFF-BC8B88DD7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1752600"/>
            <a:ext cx="285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anchor="t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950" b="1">
                <a:solidFill>
                  <a:srgbClr val="0B1830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1">
                <a:solidFill>
                  <a:srgbClr val="0B1830"/>
                </a:solidFill>
                <a:latin typeface="微软雅黑"/>
                <a:ea typeface="微软雅黑"/>
                <a:cs typeface="微软雅黑"/>
              </a:rPr>
              <a:t>项目背景</a:t>
            </a:r>
            <a:endParaRPr sz="1950" b="1">
              <a:solidFill>
                <a:srgbClr val="0B183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9" name="agenda-desc-0">
            <a:extLst xmlns:a="http://schemas.openxmlformats.org/drawingml/2006/main">
              <a:ext uri="{FF2B5EF4-FFF2-40B4-BE49-F238E27FC236}">
                <a16:creationId xmlns:a16="http://schemas.microsoft.com/office/drawing/2014/main" id="{5C3F9D9C-1D2C-4601-BFF8-E6DF01A04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2133600"/>
            <a:ext cx="762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anchor="t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275" b="0">
                <a:solidFill>
                  <a:srgbClr val="475569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0">
                <a:solidFill>
                  <a:srgbClr val="475569"/>
                </a:solidFill>
                <a:latin typeface="微软雅黑"/>
                <a:ea typeface="微软雅黑"/>
                <a:cs typeface="微软雅黑"/>
              </a:rPr>
              <a:t>痛点</a:t>
            </a:r>
            <a:r>
              <a:rPr sz="1275" b="0">
                <a:solidFill>
                  <a:srgbClr val="475569"/>
                </a:solidFill>
                <a:latin typeface="微软雅黑"/>
                <a:ea typeface="微软雅黑"/>
                <a:cs typeface="微软雅黑"/>
              </a:rPr>
              <a:t>、</a:t>
            </a:r>
            <a:r>
              <a:t>定位、目标用户</a:t>
            </a:r>
            <a:endParaRPr sz="1275" b="0">
              <a:solidFill>
                <a:srgbClr val="475569"/>
              </a:solidFill>
              <a:latin typeface="微软雅黑"/>
              <a:ea typeface="微软雅黑"/>
              <a:cs typeface="微软雅黑"/>
            </a:endParaRPr>
          </a:p>
        </p:txBody>
      </p:sp>
    </p:spTree>
    <p:extLst>
      <p:ext uri="{BB962C8B-B14F-4D97-AF65-F5344CB8AC3E}">
        <p14:creationId xmlns:p14="http://schemas.microsoft.com/office/powerpoint/2010/main" val="1507881772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kicker">
            <a:extLst xmlns:a="http://schemas.openxmlformats.org/drawingml/2006/main">
              <a:ext uri="{FF2B5EF4-FFF2-40B4-BE49-F238E27FC236}">
                <a16:creationId xmlns:a16="http://schemas.microsoft.com/office/drawing/2014/main" id="{744C685A-BA3B-4879-AEA7-5621121E0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anchor="t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050" b="1">
                <a:solidFill>
                  <a:srgbClr val="0B5FFF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1">
                <a:solidFill>
                  <a:srgbClr val="0B5FFF"/>
                </a:solidFill>
                <a:latin typeface="微软雅黑"/>
                <a:ea typeface="微软雅黑"/>
                <a:cs typeface="微软雅黑"/>
              </a:rPr>
              <a:t>项目背景 · 取数痛点</a:t>
            </a:r>
            <a:endParaRPr sz="1050" b="1">
              <a:solidFill>
                <a:srgbClr val="0B5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75C27475-C7D1-4BAF-9E45-C1A69C799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1047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anchor="t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2625" b="1">
                <a:solidFill>
                  <a:srgbClr val="0F172A"/>
                </a:solidFill>
                <a:latin typeface="微软雅黑"/>
                <a:ea typeface="微软雅黑"/>
                <a:cs typeface="微软雅黑"/>
              </a:defRPr>
            </a:pPr>
            <a:r>
              <a:rPr sz="2625" b="1">
                <a:solidFill>
                  <a:srgbClr val="0F172A"/>
                </a:solidFill>
                <a:latin typeface="微软雅黑"/>
                <a:ea typeface="微软雅黑"/>
                <a:cs typeface="微软雅黑"/>
              </a:rPr>
              <a:t>三类角色的取数痛点</a:t>
            </a:r>
            <a:endParaRPr sz="2625" b="1">
              <a:solidFill>
                <a:srgbClr val="0F172A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" name="title-accent">
            <a:extLst xmlns:a="http://schemas.openxmlformats.org/drawingml/2006/main">
              <a:ext uri="{FF2B5EF4-FFF2-40B4-BE49-F238E27FC236}">
                <a16:creationId xmlns:a16="http://schemas.microsoft.com/office/drawing/2014/main" id="{302E1779-7AE5-467C-BE43-8901B5F9D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38250"/>
            <a:ext cx="5334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5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footer-line">
            <a:extLst xmlns:a="http://schemas.openxmlformats.org/drawingml/2006/main">
              <a:ext uri="{FF2B5EF4-FFF2-40B4-BE49-F238E27FC236}">
                <a16:creationId xmlns:a16="http://schemas.microsoft.com/office/drawing/2014/main" id="{0FA10220-6C16-49F8-9EC1-06B086DA1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footer-left">
            <a:extLst xmlns:a="http://schemas.openxmlformats.org/drawingml/2006/main">
              <a:ext uri="{FF2B5EF4-FFF2-40B4-BE49-F238E27FC236}">
                <a16:creationId xmlns:a16="http://schemas.microsoft.com/office/drawing/2014/main" id="{5DBA5C7D-62C0-44DD-9EA9-3E0472AAE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anchor="t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900" b="0">
                <a:solidFill>
                  <a:srgbClr val="94A3B8"/>
                </a:solidFill>
                <a:latin typeface="微软雅黑"/>
                <a:ea typeface="微软雅黑"/>
                <a:cs typeface="微软雅黑"/>
              </a:defRPr>
            </a:pPr>
            <a:r>
              <a:rPr sz="900" b="0">
                <a:solidFill>
                  <a:srgbClr val="94A3B8"/>
                </a:solidFill>
                <a:latin typeface="微软雅黑"/>
                <a:ea typeface="微软雅黑"/>
                <a:cs typeface="微软雅黑"/>
              </a:rPr>
              <a:t>DataMind · 数据库 Agent Web 应用</a:t>
            </a:r>
            <a:endParaRPr sz="900" b="0">
              <a:solidFill>
                <a:srgbClr val="94A3B8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6" name="footer-page">
            <a:extLst xmlns:a="http://schemas.openxmlformats.org/drawingml/2006/main">
              <a:ext uri="{FF2B5EF4-FFF2-40B4-BE49-F238E27FC236}">
                <a16:creationId xmlns:a16="http://schemas.microsoft.com/office/drawing/2014/main" id="{3BAE2020-F4AA-4091-897D-72D95E44E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0" y="6534150"/>
            <a:ext cx="95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anchor="t"/>
          <a:lstStyle xmlns:a="http://schemas.openxmlformats.org/drawingml/2006/main"/>
          <a:p xmlns:a="http://schemas.openxmlformats.org/drawingml/2006/main">
            <a:pPr algn="r">
              <a:lnSpc>
                <a:spcPct val="125000"/>
              </a:lnSpc>
              <a:buNone/>
              <a:defRPr sz="900" b="0">
                <a:solidFill>
                  <a:srgbClr val="94A3B8"/>
                </a:solidFill>
                <a:latin typeface="微软雅黑"/>
                <a:ea typeface="微软雅黑"/>
                <a:cs typeface="微软雅黑"/>
              </a:defRPr>
            </a:pPr>
            <a:r>
              <a:rPr sz="900" b="0">
                <a:solidFill>
                  <a:srgbClr val="94A3B8"/>
                </a:solidFill>
                <a:latin typeface="微软雅黑"/>
                <a:ea typeface="微软雅黑"/>
                <a:cs typeface="微软雅黑"/>
              </a:rPr>
              <a:t>4</a:t>
            </a:r>
            <a:endParaRPr sz="900" b="0">
              <a:solidFill>
                <a:srgbClr val="94A3B8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9" name="矩形 28">
            <a:extLst xmlns:a="http://schemas.openxmlformats.org/drawingml/2006/main">
              <a:ext uri="{FF2B5EF4-FFF2-40B4-BE49-F238E27FC236}">
                <a16:creationId xmlns:a16="http://schemas.microsoft.com/office/drawing/2014/main" id="{7603D951-9ED2-4AE8-8264-2ED6AAB4F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635062"/>
            <a:ext cx="3568732" cy="2971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0" name="矩形 29">
            <a:extLst xmlns:a="http://schemas.openxmlformats.org/drawingml/2006/main">
              <a:ext uri="{FF2B5EF4-FFF2-40B4-BE49-F238E27FC236}">
                <a16:creationId xmlns:a16="http://schemas.microsoft.com/office/drawing/2014/main" id="{67FD7E00-3067-4FD6-AE37-4D5D0C75A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218" y="1825562"/>
            <a:ext cx="3149632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4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业务人员 · 拿不到</a:t>
            </a:r>
            <a:endParaRPr sz="24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31" name="矩形 30">
            <a:extLst xmlns:a="http://schemas.openxmlformats.org/drawingml/2006/main">
              <a:ext uri="{FF2B5EF4-FFF2-40B4-BE49-F238E27FC236}">
                <a16:creationId xmlns:a16="http://schemas.microsoft.com/office/drawing/2014/main" id="{E7A209E6-CEEA-44DD-9062-B3AEDD51D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218" y="2225612"/>
            <a:ext cx="3149632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· 取数靠排队，等排期</a:t>
            </a:r>
            <a:endParaRPr sz="16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  <a:p xmlns:a="http://schemas.openxmlformats.org/drawingml/2006/main"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· 不懂 SQL，没有自助入口</a:t>
            </a:r>
            <a:endParaRPr sz="16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  <a:p xmlns:a="http://schemas.openxmlformats.org/drawingml/2006/main"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· 口径不一致，数据对不上</a:t>
            </a:r>
            <a:endParaRPr sz="16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  <a:p xmlns:a="http://schemas.openxmlformats.org/drawingml/2006/main"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· 只能拿到数字，拿不到图</a:t>
            </a:r>
            <a:endParaRPr sz="16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  <a:p xmlns:a="http://schemas.openxmlformats.org/drawingml/2006/main"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· 结果不可复用，反复重问</a:t>
            </a:r>
            <a:endParaRPr sz="16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32" name="矩形 31">
            <a:extLst xmlns:a="http://schemas.openxmlformats.org/drawingml/2006/main">
              <a:ext uri="{FF2B5EF4-FFF2-40B4-BE49-F238E27FC236}">
                <a16:creationId xmlns:a16="http://schemas.microsoft.com/office/drawing/2014/main" id="{0595DE18-33A1-4DFC-9304-52DB02699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1682" y="1635062"/>
            <a:ext cx="3568732" cy="2971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3" name="矩形 32">
            <a:extLst xmlns:a="http://schemas.openxmlformats.org/drawingml/2006/main">
              <a:ext uri="{FF2B5EF4-FFF2-40B4-BE49-F238E27FC236}">
                <a16:creationId xmlns:a16="http://schemas.microsoft.com/office/drawing/2014/main" id="{E685C848-33EA-49B2-B63D-6CB281D70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1232" y="1825562"/>
            <a:ext cx="3149632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4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开发人员 · 拿得慢</a:t>
            </a:r>
            <a:endParaRPr sz="24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34" name="矩形 33">
            <a:extLst xmlns:a="http://schemas.openxmlformats.org/drawingml/2006/main">
              <a:ext uri="{FF2B5EF4-FFF2-40B4-BE49-F238E27FC236}">
                <a16:creationId xmlns:a16="http://schemas.microsoft.com/office/drawing/2014/main" id="{F1937B58-07E9-4E1A-BE67-DD0148DA6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1232" y="2225612"/>
            <a:ext cx="3149632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· 多数据库客户端来回切换</a:t>
            </a:r>
            <a:endParaRPr sz="16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  <a:p xmlns:a="http://schemas.openxmlformats.org/drawingml/2006/main"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· 查线上数据先搭隧道环境</a:t>
            </a:r>
            <a:endParaRPr sz="16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  <a:p xmlns:a="http://schemas.openxmlformats.org/drawingml/2006/main"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· 简单 SQL 也要重复手写</a:t>
            </a:r>
            <a:endParaRPr sz="16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  <a:p xmlns:a="http://schemas.openxmlformats.org/drawingml/2006/main"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· 误操作没有二次确认</a:t>
            </a:r>
            <a:endParaRPr sz="16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  <a:p xmlns:a="http://schemas.openxmlformats.org/drawingml/2006/main"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· 查完只能截图贴群，难复现</a:t>
            </a:r>
            <a:endParaRPr sz="16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35" name="矩形 34">
            <a:extLst xmlns:a="http://schemas.openxmlformats.org/drawingml/2006/main">
              <a:ext uri="{FF2B5EF4-FFF2-40B4-BE49-F238E27FC236}">
                <a16:creationId xmlns:a16="http://schemas.microsoft.com/office/drawing/2014/main" id="{2FC48B98-D5CE-4118-B3E2-9A65AAA1F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95" y="1635062"/>
            <a:ext cx="3568732" cy="2971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6" name="矩形 35">
            <a:extLst xmlns:a="http://schemas.openxmlformats.org/drawingml/2006/main">
              <a:ext uri="{FF2B5EF4-FFF2-40B4-BE49-F238E27FC236}">
                <a16:creationId xmlns:a16="http://schemas.microsoft.com/office/drawing/2014/main" id="{5AF1C15B-D480-4FEA-A7E2-3926E84A1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245" y="1825562"/>
            <a:ext cx="3149632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4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运维 / DBA · 管不住</a:t>
            </a:r>
            <a:endParaRPr sz="24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37" name="矩形 36">
            <a:extLst xmlns:a="http://schemas.openxmlformats.org/drawingml/2006/main">
              <a:ext uri="{FF2B5EF4-FFF2-40B4-BE49-F238E27FC236}">
                <a16:creationId xmlns:a16="http://schemas.microsoft.com/office/drawing/2014/main" id="{5CEC9FE2-501B-43D6-B3AB-3038367CF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245" y="2225612"/>
            <a:ext cx="3149632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· 多环境连接靠文档维护</a:t>
            </a:r>
            <a:endParaRPr sz="16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  <a:p xmlns:a="http://schemas.openxmlformats.org/drawingml/2006/main"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· 变更前靠人眼比对结构</a:t>
            </a:r>
            <a:endParaRPr sz="16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  <a:p xmlns:a="http://schemas.openxmlformats.org/drawingml/2006/main"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· 慢查询只能逐台登录排查</a:t>
            </a:r>
            <a:endParaRPr sz="16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  <a:p xmlns:a="http://schemas.openxmlformats.org/drawingml/2006/main"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· 权限靠人肉维护，粒度粗</a:t>
            </a:r>
            <a:endParaRPr sz="16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  <a:p xmlns:a="http://schemas.openxmlformats.org/drawingml/2006/main"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· 审计留痕与导出都很困难</a:t>
            </a:r>
            <a:endParaRPr sz="16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</p:spTree>
    <p:extLst>
      <p:ext uri="{BB962C8B-B14F-4D97-AF65-F5344CB8AC3E}">
        <p14:creationId xmlns:p14="http://schemas.microsoft.com/office/powerpoint/2010/main" val="794588537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kicker">
            <a:extLst xmlns:a="http://schemas.openxmlformats.org/drawingml/2006/main">
              <a:ext uri="{FF2B5EF4-FFF2-40B4-BE49-F238E27FC236}">
                <a16:creationId xmlns:a16="http://schemas.microsoft.com/office/drawing/2014/main" id="{9DA76F08-A7D2-4F18-813E-5CE6907AC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anchor="t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050" b="1">
                <a:solidFill>
                  <a:srgbClr val="0B5FFF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1">
                <a:solidFill>
                  <a:srgbClr val="0B5FFF"/>
                </a:solidFill>
                <a:latin typeface="微软雅黑"/>
                <a:ea typeface="微软雅黑"/>
                <a:cs typeface="微软雅黑"/>
              </a:rPr>
              <a:t>为什么需要 DataMind</a:t>
            </a:r>
            <a:endParaRPr sz="1050" b="1">
              <a:solidFill>
                <a:srgbClr val="0B5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48C2500B-0AAB-474C-BDFA-29C594392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1047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anchor="t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2625" b="1">
                <a:solidFill>
                  <a:srgbClr val="0F172A"/>
                </a:solidFill>
                <a:latin typeface="微软雅黑"/>
                <a:ea typeface="微软雅黑"/>
                <a:cs typeface="微软雅黑"/>
              </a:defRPr>
            </a:pPr>
            <a:r>
              <a:rPr sz="2625" b="1">
                <a:solidFill>
                  <a:srgbClr val="0F172A"/>
                </a:solidFill>
                <a:latin typeface="微软雅黑"/>
                <a:ea typeface="微软雅黑"/>
                <a:cs typeface="微软雅黑"/>
              </a:rPr>
              <a:t>把高门槛、高风险的数据工作，变成安全可控的对话</a:t>
            </a:r>
            <a:endParaRPr sz="2625" b="1">
              <a:solidFill>
                <a:srgbClr val="0F172A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" name="title-accent">
            <a:extLst xmlns:a="http://schemas.openxmlformats.org/drawingml/2006/main">
              <a:ext uri="{FF2B5EF4-FFF2-40B4-BE49-F238E27FC236}">
                <a16:creationId xmlns:a16="http://schemas.microsoft.com/office/drawing/2014/main" id="{FE30F57C-EAA0-4786-BCB3-09715CED6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38250"/>
            <a:ext cx="5334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5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footer-line">
            <a:extLst xmlns:a="http://schemas.openxmlformats.org/drawingml/2006/main">
              <a:ext uri="{FF2B5EF4-FFF2-40B4-BE49-F238E27FC236}">
                <a16:creationId xmlns:a16="http://schemas.microsoft.com/office/drawing/2014/main" id="{AEEB4E77-1312-4550-A6BC-B8C690B4F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footer-left">
            <a:extLst xmlns:a="http://schemas.openxmlformats.org/drawingml/2006/main">
              <a:ext uri="{FF2B5EF4-FFF2-40B4-BE49-F238E27FC236}">
                <a16:creationId xmlns:a16="http://schemas.microsoft.com/office/drawing/2014/main" id="{0782AE01-979F-4C5E-9717-3050A7B61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anchor="t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900" b="0">
                <a:solidFill>
                  <a:srgbClr val="94A3B8"/>
                </a:solidFill>
                <a:latin typeface="微软雅黑"/>
                <a:ea typeface="微软雅黑"/>
                <a:cs typeface="微软雅黑"/>
              </a:defRPr>
            </a:pPr>
            <a:r>
              <a:rPr sz="900" b="0">
                <a:solidFill>
                  <a:srgbClr val="94A3B8"/>
                </a:solidFill>
                <a:latin typeface="微软雅黑"/>
                <a:ea typeface="微软雅黑"/>
                <a:cs typeface="微软雅黑"/>
              </a:rPr>
              <a:t>DataMind · 数据库 Agent Web 应用</a:t>
            </a:r>
            <a:endParaRPr sz="900" b="0">
              <a:solidFill>
                <a:srgbClr val="94A3B8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6" name="footer-page">
            <a:extLst xmlns:a="http://schemas.openxmlformats.org/drawingml/2006/main">
              <a:ext uri="{FF2B5EF4-FFF2-40B4-BE49-F238E27FC236}">
                <a16:creationId xmlns:a16="http://schemas.microsoft.com/office/drawing/2014/main" id="{B045262C-CA61-425F-AAF0-BD221AB88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0" y="6534150"/>
            <a:ext cx="95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anchor="t"/>
          <a:lstStyle xmlns:a="http://schemas.openxmlformats.org/drawingml/2006/main"/>
          <a:p xmlns:a="http://schemas.openxmlformats.org/drawingml/2006/main">
            <a:pPr algn="r">
              <a:lnSpc>
                <a:spcPct val="125000"/>
              </a:lnSpc>
              <a:buNone/>
              <a:defRPr sz="900" b="0">
                <a:solidFill>
                  <a:srgbClr val="94A3B8"/>
                </a:solidFill>
                <a:latin typeface="微软雅黑"/>
                <a:ea typeface="微软雅黑"/>
                <a:cs typeface="微软雅黑"/>
              </a:defRPr>
            </a:pPr>
            <a:r>
              <a:rPr sz="900" b="0">
                <a:solidFill>
                  <a:srgbClr val="94A3B8"/>
                </a:solidFill>
                <a:latin typeface="微软雅黑"/>
                <a:ea typeface="微软雅黑"/>
                <a:cs typeface="微软雅黑"/>
              </a:rPr>
              <a:t>5</a:t>
            </a:r>
            <a:endParaRPr sz="900" b="0">
              <a:solidFill>
                <a:srgbClr val="94A3B8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7" name="pain-surface">
            <a:extLst xmlns:a="http://schemas.openxmlformats.org/drawingml/2006/main">
              <a:ext uri="{FF2B5EF4-FFF2-40B4-BE49-F238E27FC236}">
                <a16:creationId xmlns:a16="http://schemas.microsoft.com/office/drawing/2014/main" id="{90E5EDB2-0EAB-4CC2-B7F3-9D4CCFDF3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5219700" cy="4495800"/>
          </a:xfrm>
          <a:prstGeom xmlns:a="http://schemas.openxmlformats.org/drawingml/2006/main" prst="roundRect">
            <a:avLst>
              <a:gd name="adj" fmla="val 33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style>
          <a:lnRef xmlns:a="http://schemas.openxmlformats.org/drawingml/2006/main" idx="0">
            <a:srgbClr val="FFFFFF"/>
          </a:lnRef>
          <a:fillRef xmlns:a="http://schemas.openxmlformats.org/drawingml/2006/main" idx="0">
            <a:srgbClr val="FFFFFF"/>
          </a:fillRef>
          <a:effectRef xmlns:a="http://schemas.openxmlformats.org/drawingml/2006/main" idx="4">
            <a:srgbClr val="FFFFFF"/>
          </a:effectRef>
          <a:fontRef xmlns:a="http://schemas.openxmlformats.org/drawingml/2006/main" idx="major"/>
        </p:style>
      </p:sp>
      <p:sp>
        <p:nvSpPr>
          <p:cNvPr id="8" name="pain-title">
            <a:extLst xmlns:a="http://schemas.openxmlformats.org/drawingml/2006/main">
              <a:ext uri="{FF2B5EF4-FFF2-40B4-BE49-F238E27FC236}">
                <a16:creationId xmlns:a16="http://schemas.microsoft.com/office/drawing/2014/main" id="{A139869C-91DC-4846-A97E-723A1BF0F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809750"/>
            <a:ext cx="285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anchor="t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800" b="1">
                <a:solidFill>
                  <a:srgbClr val="B91C1C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B91C1C"/>
                </a:solidFill>
                <a:latin typeface="微软雅黑"/>
                <a:ea typeface="微软雅黑"/>
                <a:cs typeface="微软雅黑"/>
              </a:rPr>
              <a:t>常见痛点</a:t>
            </a:r>
            <a:endParaRPr sz="1800" b="1">
              <a:solidFill>
                <a:srgbClr val="B91C1C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9" name="pain-list">
            <a:extLst xmlns:a="http://schemas.openxmlformats.org/drawingml/2006/main">
              <a:ext uri="{FF2B5EF4-FFF2-40B4-BE49-F238E27FC236}">
                <a16:creationId xmlns:a16="http://schemas.microsoft.com/office/drawing/2014/main" id="{408216ED-D0D8-4B82-A9BC-F3B1DFD94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324100"/>
            <a:ext cx="4610100" cy="3333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indent="0" algn="l">
              <a:lnSpc>
                <a:spcPct val="150000"/>
              </a:lnSpc>
              <a:spcBef>
                <a:spcPts val="0"/>
              </a:spcBef>
              <a:buChar char="•"/>
              <a:defRPr sz="1275" b="0">
                <a:solidFill>
                  <a:srgbClr val="334155"/>
                </a:solidFill>
                <a:latin typeface="微软雅黑"/>
                <a:ea typeface="微软雅黑"/>
                <a:cs typeface="微软雅黑"/>
              </a:defRPr>
            </a:pPr>
            <a:r>
              <a:rPr sz="1600"/>
              <a:t>业务人员不会写 SQL，取数依赖技术同事</a:t>
            </a:r>
            <a:endParaRPr sz="1600"/>
          </a:p>
          <a:p xmlns:a="http://schemas.openxmlformats.org/drawingml/2006/main">
            <a:pPr indent="0" algn="l">
              <a:lnSpc>
                <a:spcPct val="150000"/>
              </a:lnSpc>
              <a:spcBef>
                <a:spcPts val="0"/>
              </a:spcBef>
              <a:buChar char="•"/>
              <a:defRPr sz="1275" b="0">
                <a:solidFill>
                  <a:srgbClr val="334155"/>
                </a:solidFill>
                <a:latin typeface="微软雅黑"/>
                <a:ea typeface="微软雅黑"/>
                <a:cs typeface="微软雅黑"/>
              </a:defRPr>
            </a:pPr>
            <a:r>
              <a:rPr sz="1600"/>
              <a:t>报表开发和维护</a:t>
            </a:r>
            <a:r>
              <a:rPr sz="1600"/>
              <a:t>：</a:t>
            </a:r>
            <a:r>
              <a:rPr sz="1600"/>
              <a:t>需要提需求排期</a:t>
            </a:r>
            <a:r>
              <a:rPr sz="1600"/>
              <a:t>、</a:t>
            </a:r>
            <a:r>
              <a:rPr sz="1600"/>
              <a:t>开发</a:t>
            </a:r>
            <a:r>
              <a:rPr sz="1600"/>
              <a:t>、</a:t>
            </a:r>
            <a:r>
              <a:rPr sz="1600"/>
              <a:t>测试</a:t>
            </a:r>
            <a:r>
              <a:rPr sz="1600"/>
              <a:t>、</a:t>
            </a:r>
            <a:r>
              <a:rPr sz="1600"/>
              <a:t>上线</a:t>
            </a:r>
            <a:endParaRPr sz="1600"/>
          </a:p>
          <a:p xmlns:a="http://schemas.openxmlformats.org/drawingml/2006/main">
            <a:pPr indent="0" algn="l">
              <a:lnSpc>
                <a:spcPct val="150000"/>
              </a:lnSpc>
              <a:spcBef>
                <a:spcPts val="0"/>
              </a:spcBef>
              <a:buChar char="•"/>
              <a:defRPr sz="1275" b="0">
                <a:solidFill>
                  <a:srgbClr val="334155"/>
                </a:solidFill>
                <a:latin typeface="微软雅黑"/>
                <a:ea typeface="微软雅黑"/>
                <a:cs typeface="微软雅黑"/>
              </a:defRPr>
            </a:pPr>
            <a:r>
              <a:rPr sz="1600"/>
              <a:t>数据库切换</a:t>
            </a:r>
            <a:r>
              <a:rPr sz="1600"/>
              <a:t>：</a:t>
            </a:r>
            <a:r>
              <a:rPr sz="1600"/>
              <a:t>不同</a:t>
            </a:r>
            <a:r>
              <a:rPr sz="1600"/>
              <a:t>数据库</a:t>
            </a:r>
            <a:r>
              <a:rPr sz="1600"/>
              <a:t>各有各的客户端</a:t>
            </a:r>
            <a:r>
              <a:rPr sz="1600"/>
              <a:t>，</a:t>
            </a:r>
            <a:r>
              <a:rPr sz="1600"/>
              <a:t>安装切换繁琐</a:t>
            </a:r>
            <a:endParaRPr sz="1600"/>
          </a:p>
          <a:p xmlns:a="http://schemas.openxmlformats.org/drawingml/2006/main">
            <a:pPr indent="0" algn="l">
              <a:lnSpc>
                <a:spcPct val="150000"/>
              </a:lnSpc>
              <a:spcBef>
                <a:spcPts val="0"/>
              </a:spcBef>
              <a:buChar char="•"/>
              <a:defRPr sz="1275" b="0">
                <a:solidFill>
                  <a:srgbClr val="334155"/>
                </a:solidFill>
                <a:latin typeface="微软雅黑"/>
                <a:ea typeface="微软雅黑"/>
                <a:cs typeface="微软雅黑"/>
              </a:defRPr>
            </a:pPr>
            <a:r>
              <a:rPr sz="1600"/>
              <a:t>AI 生成 SQL 存在误操作与越权风险</a:t>
            </a:r>
            <a:endParaRPr sz="1600"/>
          </a:p>
          <a:p xmlns:a="http://schemas.openxmlformats.org/drawingml/2006/main">
            <a:pPr indent="0" algn="l">
              <a:lnSpc>
                <a:spcPct val="150000"/>
              </a:lnSpc>
              <a:spcBef>
                <a:spcPts val="0"/>
              </a:spcBef>
              <a:buChar char="•"/>
              <a:defRPr sz="1275" b="0">
                <a:solidFill>
                  <a:srgbClr val="334155"/>
                </a:solidFill>
                <a:latin typeface="微软雅黑"/>
                <a:ea typeface="微软雅黑"/>
                <a:cs typeface="微软雅黑"/>
              </a:defRPr>
            </a:pPr>
            <a:r>
              <a:rPr sz="1600"/>
              <a:t>查询结果难以沉淀为报表与文档</a:t>
            </a:r>
            <a:endParaRPr sz="1600"/>
          </a:p>
          <a:p xmlns:a="http://schemas.openxmlformats.org/drawingml/2006/main">
            <a:pPr indent="0" algn="l">
              <a:lnSpc>
                <a:spcPct val="150000"/>
              </a:lnSpc>
              <a:spcBef>
                <a:spcPts val="0"/>
              </a:spcBef>
              <a:buChar char="•"/>
              <a:defRPr sz="1275" b="0">
                <a:solidFill>
                  <a:srgbClr val="334155"/>
                </a:solidFill>
                <a:latin typeface="微软雅黑"/>
                <a:ea typeface="微软雅黑"/>
                <a:cs typeface="微软雅黑"/>
              </a:defRPr>
            </a:pPr>
            <a:r>
              <a:rPr sz="1600"/>
              <a:t>用户操作缺少权限和审计</a:t>
            </a:r>
            <a:endParaRPr sz="1600"/>
          </a:p>
        </p:txBody>
      </p:sp>
      <p:sp>
        <p:nvSpPr>
          <p:cNvPr id="10" name="solution-surface">
            <a:extLst xmlns:a="http://schemas.openxmlformats.org/drawingml/2006/main">
              <a:ext uri="{FF2B5EF4-FFF2-40B4-BE49-F238E27FC236}">
                <a16:creationId xmlns:a16="http://schemas.microsoft.com/office/drawing/2014/main" id="{1A1677ED-27FD-4A81-A436-462B97F2C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524000"/>
            <a:ext cx="5219700" cy="4495800"/>
          </a:xfrm>
          <a:prstGeom xmlns:a="http://schemas.openxmlformats.org/drawingml/2006/main" prst="roundRect">
            <a:avLst>
              <a:gd name="adj" fmla="val 33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FDBFE"/>
            </a:solidFill>
            <a:prstDash val="solid"/>
          </a:ln>
        </p:spPr>
        <p:style>
          <a:lnRef xmlns:a="http://schemas.openxmlformats.org/drawingml/2006/main" idx="0">
            <a:srgbClr val="FFFFFF"/>
          </a:lnRef>
          <a:fillRef xmlns:a="http://schemas.openxmlformats.org/drawingml/2006/main" idx="0">
            <a:srgbClr val="FFFFFF"/>
          </a:fillRef>
          <a:effectRef xmlns:a="http://schemas.openxmlformats.org/drawingml/2006/main" idx="4">
            <a:srgbClr val="FFFFFF"/>
          </a:effectRef>
          <a:fontRef xmlns:a="http://schemas.openxmlformats.org/drawingml/2006/main" idx="major"/>
        </p:style>
      </p:sp>
      <p:sp>
        <p:nvSpPr>
          <p:cNvPr id="11" name="solution-title">
            <a:extLst xmlns:a="http://schemas.openxmlformats.org/drawingml/2006/main">
              <a:ext uri="{FF2B5EF4-FFF2-40B4-BE49-F238E27FC236}">
                <a16:creationId xmlns:a16="http://schemas.microsoft.com/office/drawing/2014/main" id="{63BA5013-4245-424D-8DB6-022DFCA3F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1809750"/>
            <a:ext cx="285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anchor="t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800" b="1">
                <a:solidFill>
                  <a:srgbClr val="0B5FFF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0B5FFF"/>
                </a:solidFill>
                <a:latin typeface="微软雅黑"/>
                <a:ea typeface="微软雅黑"/>
                <a:cs typeface="微软雅黑"/>
              </a:rPr>
              <a:t>DataMind 的解法</a:t>
            </a:r>
            <a:endParaRPr sz="1800" b="1">
              <a:solidFill>
                <a:srgbClr val="0B5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2" name="solution-list">
            <a:extLst xmlns:a="http://schemas.openxmlformats.org/drawingml/2006/main">
              <a:ext uri="{FF2B5EF4-FFF2-40B4-BE49-F238E27FC236}">
                <a16:creationId xmlns:a16="http://schemas.microsoft.com/office/drawing/2014/main" id="{D1981E38-750D-4F26-B024-734916EDB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324100"/>
            <a:ext cx="4610100" cy="3333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indent="0" algn="l">
              <a:lnSpc>
                <a:spcPct val="150000"/>
              </a:lnSpc>
              <a:spcBef>
                <a:spcPts val="0"/>
              </a:spcBef>
              <a:buChar char="•"/>
              <a:defRPr sz="1275" b="0">
                <a:solidFill>
                  <a:srgbClr val="0F172A"/>
                </a:solidFill>
                <a:latin typeface="微软雅黑"/>
                <a:ea typeface="微软雅黑"/>
                <a:cs typeface="微软雅黑"/>
              </a:defRPr>
            </a:pPr>
            <a:r>
              <a:rPr sz="1600" b="1">
                <a:solidFill>
                  <a:srgbClr val="0B5FFF"/>
                </a:solidFill>
              </a:rPr>
              <a:t>自然语言查询：</a:t>
            </a:r>
            <a:r>
              <a:rPr sz="1600">
                <a:solidFill>
                  <a:srgbClr val="334155"/>
                </a:solidFill>
              </a:rPr>
              <a:t>输入</a:t>
            </a:r>
            <a:r>
              <a:rPr sz="1600">
                <a:solidFill>
                  <a:srgbClr val="334155"/>
                </a:solidFill>
              </a:rPr>
              <a:t>自然语言</a:t>
            </a:r>
            <a:r>
              <a:rPr sz="1600">
                <a:solidFill>
                  <a:srgbClr val="334155"/>
                </a:solidFill>
              </a:rPr>
              <a:t>，自动生成 SQL</a:t>
            </a:r>
            <a:r>
              <a:rPr sz="1600">
                <a:solidFill>
                  <a:srgbClr val="334155"/>
                </a:solidFill>
              </a:rPr>
              <a:t>并查询数据</a:t>
            </a:r>
            <a:endParaRPr sz="1600">
              <a:solidFill>
                <a:srgbClr val="334155"/>
              </a:solidFill>
            </a:endParaRPr>
          </a:p>
          <a:p xmlns:a="http://schemas.openxmlformats.org/drawingml/2006/main">
            <a:pPr indent="0" algn="l">
              <a:lnSpc>
                <a:spcPct val="150000"/>
              </a:lnSpc>
              <a:spcBef>
                <a:spcPts val="0"/>
              </a:spcBef>
              <a:buChar char="•"/>
              <a:defRPr sz="1275" b="0">
                <a:solidFill>
                  <a:srgbClr val="0F172A"/>
                </a:solidFill>
                <a:latin typeface="微软雅黑"/>
                <a:ea typeface="微软雅黑"/>
                <a:cs typeface="微软雅黑"/>
              </a:defRPr>
            </a:pPr>
            <a:r>
              <a:rPr sz="1600" b="1">
                <a:solidFill>
                  <a:srgbClr val="0B5FFF"/>
                </a:solidFill>
              </a:rPr>
              <a:t>自然语言生成报表</a:t>
            </a:r>
            <a:r>
              <a:rPr sz="1600" b="1">
                <a:solidFill>
                  <a:srgbClr val="0B5FFF"/>
                </a:solidFill>
              </a:rPr>
              <a:t>：</a:t>
            </a:r>
            <a:r>
              <a:rPr sz="1600">
                <a:solidFill>
                  <a:srgbClr val="334155"/>
                </a:solidFill>
              </a:rPr>
              <a:t>结果一键沉淀为图表、仪表盘、分享页</a:t>
            </a:r>
            <a:endParaRPr sz="1600">
              <a:solidFill>
                <a:srgbClr val="334155"/>
              </a:solidFill>
            </a:endParaRPr>
          </a:p>
          <a:p xmlns:a="http://schemas.openxmlformats.org/drawingml/2006/main">
            <a:pPr indent="0" algn="l">
              <a:lnSpc>
                <a:spcPct val="150000"/>
              </a:lnSpc>
              <a:spcBef>
                <a:spcPts val="0"/>
              </a:spcBef>
              <a:buChar char="•"/>
              <a:defRPr sz="1275" b="0">
                <a:solidFill>
                  <a:srgbClr val="0F172A"/>
                </a:solidFill>
                <a:latin typeface="微软雅黑"/>
                <a:ea typeface="微软雅黑"/>
                <a:cs typeface="微软雅黑"/>
              </a:defRPr>
            </a:pPr>
            <a:endParaRPr sz="1600">
              <a:solidFill>
                <a:srgbClr val="334155"/>
              </a:solidFill>
            </a:endParaRPr>
          </a:p>
          <a:p xmlns:a="http://schemas.openxmlformats.org/drawingml/2006/main">
            <a:pPr indent="0" algn="l">
              <a:lnSpc>
                <a:spcPct val="150000"/>
              </a:lnSpc>
              <a:spcBef>
                <a:spcPts val="0"/>
              </a:spcBef>
              <a:buChar char="•"/>
              <a:defRPr sz="1275" b="0">
                <a:solidFill>
                  <a:srgbClr val="0F172A"/>
                </a:solidFill>
                <a:latin typeface="微软雅黑"/>
                <a:ea typeface="微软雅黑"/>
                <a:cs typeface="微软雅黑"/>
              </a:defRPr>
            </a:pPr>
            <a:r>
              <a:rPr sz="1600" b="1">
                <a:solidFill>
                  <a:srgbClr val="0B5FFF"/>
                </a:solidFill>
              </a:rPr>
              <a:t>统一适配层：</a:t>
            </a:r>
            <a:r>
              <a:rPr sz="1600">
                <a:solidFill>
                  <a:srgbClr val="334155"/>
                </a:solidFill>
              </a:rPr>
              <a:t>屏蔽多数据库方言差异</a:t>
            </a:r>
            <a:endParaRPr sz="1600">
              <a:solidFill>
                <a:srgbClr val="334155"/>
              </a:solidFill>
            </a:endParaRPr>
          </a:p>
          <a:p xmlns:a="http://schemas.openxmlformats.org/drawingml/2006/main">
            <a:pPr indent="0" algn="l">
              <a:lnSpc>
                <a:spcPct val="150000"/>
              </a:lnSpc>
              <a:spcBef>
                <a:spcPts val="0"/>
              </a:spcBef>
              <a:buChar char="•"/>
              <a:defRPr sz="1275" b="0">
                <a:solidFill>
                  <a:srgbClr val="0F172A"/>
                </a:solidFill>
                <a:latin typeface="微软雅黑"/>
                <a:ea typeface="微软雅黑"/>
                <a:cs typeface="微软雅黑"/>
              </a:defRPr>
            </a:pPr>
            <a:r>
              <a:rPr sz="1600" b="1">
                <a:solidFill>
                  <a:srgbClr val="0B5FFF"/>
                </a:solidFill>
              </a:rPr>
              <a:t>分级安全执行：</a:t>
            </a:r>
            <a:r>
              <a:rPr sz="1600">
                <a:solidFill>
                  <a:srgbClr val="334155"/>
                </a:solidFill>
              </a:rPr>
              <a:t>只读自动、写操作确认、DDL 高危提示</a:t>
            </a:r>
            <a:endParaRPr sz="1600">
              <a:solidFill>
                <a:srgbClr val="334155"/>
              </a:solidFill>
            </a:endParaRPr>
          </a:p>
          <a:p xmlns:a="http://schemas.openxmlformats.org/drawingml/2006/main">
            <a:pPr indent="0" algn="l">
              <a:lnSpc>
                <a:spcPct val="150000"/>
              </a:lnSpc>
              <a:spcBef>
                <a:spcPts val="0"/>
              </a:spcBef>
              <a:buChar char="•"/>
              <a:defRPr sz="1275" b="0">
                <a:solidFill>
                  <a:srgbClr val="0F172A"/>
                </a:solidFill>
                <a:latin typeface="微软雅黑"/>
                <a:ea typeface="微软雅黑"/>
                <a:cs typeface="微软雅黑"/>
              </a:defRPr>
            </a:pPr>
            <a:r>
              <a:rPr sz="1600" b="1">
                <a:solidFill>
                  <a:srgbClr val="0B5FFF"/>
                </a:solidFill>
              </a:rPr>
              <a:t>RBAC + 审计：</a:t>
            </a:r>
            <a:r>
              <a:rPr sz="1600">
                <a:solidFill>
                  <a:srgbClr val="334155"/>
                </a:solidFill>
              </a:rPr>
              <a:t>细粒度权限、全量留痕、可导出</a:t>
            </a:r>
            <a:endParaRPr sz="1600">
              <a:solidFill>
                <a:srgbClr val="33415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4639698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7255EB10-479F-41A2-8D88-A8EBBF839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33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产品定位与目标用户</a:t>
            </a:r>
            <a:endParaRPr sz="33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16F022D8-F289-40EF-B98B-746668835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>
            <a:defPPr algn="r">
              <a:defRPr sz="10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10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6</a:t>
            </a:r>
            <a:endParaRPr sz="10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191EB8D9-661E-4807-8A37-562958919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504950"/>
            <a:ext cx="11404568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DataMind 把「连接 → 查询 → 分析 → 报表 → 权限审计」串成一个 Web 工作台，用 AI Agent 降低取数门槛。</a:t>
            </a:r>
            <a:endParaRPr sz="16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F4E33FA6-42B9-4BBF-A68C-BA3BB8F7C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495550"/>
            <a:ext cx="228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用户</a:t>
            </a:r>
            <a:endParaRPr sz="1600" b="1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CDE63953-BCE7-454D-96AB-D0812D49C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495550"/>
            <a:ext cx="3238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核心需求</a:t>
            </a:r>
            <a:endParaRPr sz="1600" b="1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C46DF7A1-B4DD-4A3F-B635-7F9A7D3DA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495550"/>
            <a:ext cx="552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典型场景</a:t>
            </a:r>
            <a:endParaRPr sz="1600" b="1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7" name="rule">
            <a:extLst xmlns:a="http://schemas.openxmlformats.org/drawingml/2006/main">
              <a:ext uri="{FF2B5EF4-FFF2-40B4-BE49-F238E27FC236}">
                <a16:creationId xmlns:a16="http://schemas.microsoft.com/office/drawing/2014/main" id="{6C0F1C28-00E7-47AF-A5A1-D9071071E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857500"/>
            <a:ext cx="11404568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26B53B7F-A487-49DE-9772-119EBACEF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06705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后端开发者</a:t>
            </a:r>
            <a:endParaRPr sz="16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EA858319-AC29-43FD-B6A3-4BD12C27B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067050"/>
            <a:ext cx="323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快速查数、写与优化 SQL</a:t>
            </a:r>
            <a:endParaRPr sz="16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D210D648-D317-46E1-878F-807DE1975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067050"/>
            <a:ext cx="552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日常开发、线上排障</a:t>
            </a:r>
            <a:endParaRPr sz="16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11" name="rule">
            <a:extLst xmlns:a="http://schemas.openxmlformats.org/drawingml/2006/main">
              <a:ext uri="{FF2B5EF4-FFF2-40B4-BE49-F238E27FC236}">
                <a16:creationId xmlns:a16="http://schemas.microsoft.com/office/drawing/2014/main" id="{EC50338D-BEC3-4977-80A4-E52170498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86150"/>
            <a:ext cx="11404568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43E9EB07-844A-4267-9A76-86867C7E6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65760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DBA / 运维</a:t>
            </a:r>
            <a:endParaRPr sz="16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B1E611DD-D229-46C0-BD95-982D01F86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657600"/>
            <a:ext cx="323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多实例管理、结构变更、审计</a:t>
            </a:r>
            <a:endParaRPr sz="16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78AD30EC-172E-40B8-8A3C-A48C688A3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657600"/>
            <a:ext cx="552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变更前对比、慢查询定位</a:t>
            </a:r>
            <a:endParaRPr sz="16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15" name="rule">
            <a:extLst xmlns:a="http://schemas.openxmlformats.org/drawingml/2006/main">
              <a:ext uri="{FF2B5EF4-FFF2-40B4-BE49-F238E27FC236}">
                <a16:creationId xmlns:a16="http://schemas.microsoft.com/office/drawing/2014/main" id="{8192618A-8AA0-490D-B8B4-D4376591E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076700"/>
            <a:ext cx="11404568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矩形 15">
            <a:extLst xmlns:a="http://schemas.openxmlformats.org/drawingml/2006/main">
              <a:ext uri="{FF2B5EF4-FFF2-40B4-BE49-F238E27FC236}">
                <a16:creationId xmlns:a16="http://schemas.microsoft.com/office/drawing/2014/main" id="{0F6329AA-B85F-4F52-B914-ECD3CEB82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24815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数据分析师</a:t>
            </a:r>
            <a:endParaRPr sz="16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59D60CF1-3462-4372-8567-EF61015DF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248150"/>
            <a:ext cx="323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自然语言取数、快速做报表</a:t>
            </a:r>
            <a:endParaRPr sz="16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18" name="矩形 17">
            <a:extLst xmlns:a="http://schemas.openxmlformats.org/drawingml/2006/main">
              <a:ext uri="{FF2B5EF4-FFF2-40B4-BE49-F238E27FC236}">
                <a16:creationId xmlns:a16="http://schemas.microsoft.com/office/drawing/2014/main" id="{68130955-62F9-41D0-9231-9B6A13A6F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248150"/>
            <a:ext cx="552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数据探索、临时分析</a:t>
            </a:r>
            <a:endParaRPr sz="16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19" name="rule">
            <a:extLst xmlns:a="http://schemas.openxmlformats.org/drawingml/2006/main">
              <a:ext uri="{FF2B5EF4-FFF2-40B4-BE49-F238E27FC236}">
                <a16:creationId xmlns:a16="http://schemas.microsoft.com/office/drawing/2014/main" id="{3A76199D-4C99-4B1A-9DAE-BB6B03E31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667250"/>
            <a:ext cx="11404568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矩形 19">
            <a:extLst xmlns:a="http://schemas.openxmlformats.org/drawingml/2006/main">
              <a:ext uri="{FF2B5EF4-FFF2-40B4-BE49-F238E27FC236}">
                <a16:creationId xmlns:a16="http://schemas.microsoft.com/office/drawing/2014/main" id="{B70DDB52-E035-46C0-A998-C4169167E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83870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业务 / 产品</a:t>
            </a:r>
            <a:endParaRPr sz="16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21" name="矩形 20">
            <a:extLst xmlns:a="http://schemas.openxmlformats.org/drawingml/2006/main">
              <a:ext uri="{FF2B5EF4-FFF2-40B4-BE49-F238E27FC236}">
                <a16:creationId xmlns:a16="http://schemas.microsoft.com/office/drawing/2014/main" id="{D946C177-3C27-4D4A-9906-3654F6D7A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838700"/>
            <a:ext cx="323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完全不会 SQL 也要看数</a:t>
            </a:r>
            <a:endParaRPr sz="16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22" name="矩形 21">
            <a:extLst xmlns:a="http://schemas.openxmlformats.org/drawingml/2006/main">
              <a:ext uri="{FF2B5EF4-FFF2-40B4-BE49-F238E27FC236}">
                <a16:creationId xmlns:a16="http://schemas.microsoft.com/office/drawing/2014/main" id="{E9DE3274-0EBD-40EA-BA17-2ECD6CE14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838700"/>
            <a:ext cx="552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辅助决策、快速核对</a:t>
            </a:r>
            <a:endParaRPr sz="16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23" name="矩形 22">
            <a:extLst xmlns:a="http://schemas.openxmlformats.org/drawingml/2006/main">
              <a:ext uri="{FF2B5EF4-FFF2-40B4-BE49-F238E27FC236}">
                <a16:creationId xmlns:a16="http://schemas.microsoft.com/office/drawing/2014/main" id="{AC34D7D1-842C-4759-B54B-E59E398A7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5715000"/>
            <a:ext cx="11404568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1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一句话：让数据获取从「排队等」变成「自己动手」。</a:t>
            </a:r>
            <a:endParaRPr sz="21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</p:spTree>
    <p:extLst>
      <p:ext uri="{BB962C8B-B14F-4D97-AF65-F5344CB8AC3E}">
        <p14:creationId xmlns:p14="http://schemas.microsoft.com/office/powerpoint/2010/main" val="1313630999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agenda-num-1">
            <a:extLst xmlns:a="http://schemas.openxmlformats.org/drawingml/2006/main">
              <a:ext uri="{FF2B5EF4-FFF2-40B4-BE49-F238E27FC236}">
                <a16:creationId xmlns:a16="http://schemas.microsoft.com/office/drawing/2014/main" id="{EB85339D-B843-4889-B9E3-B47B01F7D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62250"/>
            <a:ext cx="1047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anchor="t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3450" b="1">
                <a:solidFill>
                  <a:srgbClr val="0B5FFF"/>
                </a:solidFill>
                <a:latin typeface="微软雅黑"/>
                <a:ea typeface="微软雅黑"/>
                <a:cs typeface="微软雅黑"/>
              </a:defRPr>
            </a:pPr>
            <a:r>
              <a:rPr sz="3450" b="1">
                <a:solidFill>
                  <a:srgbClr val="0B5FFF"/>
                </a:solidFill>
                <a:latin typeface="微软雅黑"/>
                <a:ea typeface="微软雅黑"/>
                <a:cs typeface="微软雅黑"/>
              </a:rPr>
              <a:t>02</a:t>
            </a:r>
            <a:endParaRPr sz="3450" b="1">
              <a:solidFill>
                <a:srgbClr val="0B5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2" name="agenda-title-1">
            <a:extLst xmlns:a="http://schemas.openxmlformats.org/drawingml/2006/main">
              <a:ext uri="{FF2B5EF4-FFF2-40B4-BE49-F238E27FC236}">
                <a16:creationId xmlns:a16="http://schemas.microsoft.com/office/drawing/2014/main" id="{0FE2BDAC-87F7-49B8-AB3F-C9A4423A3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2819400"/>
            <a:ext cx="285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anchor="t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950" b="1">
                <a:solidFill>
                  <a:srgbClr val="0B1830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1">
                <a:solidFill>
                  <a:srgbClr val="0B1830"/>
                </a:solidFill>
                <a:latin typeface="微软雅黑"/>
                <a:ea typeface="微软雅黑"/>
                <a:cs typeface="微软雅黑"/>
              </a:rPr>
              <a:t>系统</a:t>
            </a:r>
            <a:r>
              <a:rPr sz="1950" b="1">
                <a:solidFill>
                  <a:srgbClr val="0B1830"/>
                </a:solidFill>
                <a:latin typeface="微软雅黑"/>
                <a:ea typeface="微软雅黑"/>
                <a:cs typeface="微软雅黑"/>
              </a:rPr>
              <a:t>功能</a:t>
            </a:r>
            <a:endParaRPr sz="1950" b="1">
              <a:solidFill>
                <a:srgbClr val="0B183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3" name="agenda-desc-1">
            <a:extLst xmlns:a="http://schemas.openxmlformats.org/drawingml/2006/main">
              <a:ext uri="{FF2B5EF4-FFF2-40B4-BE49-F238E27FC236}">
                <a16:creationId xmlns:a16="http://schemas.microsoft.com/office/drawing/2014/main" id="{5DB8879D-AA4B-4581-A934-13DACE6A9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3200400"/>
            <a:ext cx="762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anchor="t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275" b="0">
                <a:solidFill>
                  <a:srgbClr val="475569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0">
                <a:solidFill>
                  <a:srgbClr val="475569"/>
                </a:solidFill>
                <a:latin typeface="微软雅黑"/>
                <a:ea typeface="微软雅黑"/>
                <a:cs typeface="微软雅黑"/>
              </a:rPr>
              <a:t>功能全景</a:t>
            </a:r>
            <a:r>
              <a:rPr sz="1275" b="0">
                <a:solidFill>
                  <a:srgbClr val="475569"/>
                </a:solidFill>
                <a:latin typeface="微软雅黑"/>
                <a:ea typeface="微软雅黑"/>
                <a:cs typeface="微软雅黑"/>
              </a:rPr>
              <a:t>、</a:t>
            </a:r>
            <a:r>
              <a:rPr sz="1275" b="0">
                <a:solidFill>
                  <a:srgbClr val="475569"/>
                </a:solidFill>
                <a:latin typeface="微软雅黑"/>
                <a:ea typeface="微软雅黑"/>
                <a:cs typeface="微软雅黑"/>
              </a:rPr>
              <a:t>功能</a:t>
            </a:r>
            <a:r>
              <a:rPr sz="1275" b="0">
                <a:solidFill>
                  <a:srgbClr val="475569"/>
                </a:solidFill>
                <a:latin typeface="微软雅黑"/>
                <a:ea typeface="微软雅黑"/>
                <a:cs typeface="微软雅黑"/>
              </a:rPr>
              <a:t>演示</a:t>
            </a:r>
            <a:endParaRPr sz="1275" b="0">
              <a:solidFill>
                <a:srgbClr val="475569"/>
              </a:solidFill>
              <a:latin typeface="微软雅黑"/>
              <a:ea typeface="微软雅黑"/>
              <a:cs typeface="微软雅黑"/>
            </a:endParaRPr>
          </a:p>
        </p:txBody>
      </p:sp>
    </p:spTree>
    <p:extLst>
      <p:ext uri="{BB962C8B-B14F-4D97-AF65-F5344CB8AC3E}">
        <p14:creationId xmlns:p14="http://schemas.microsoft.com/office/powerpoint/2010/main" val="147590115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slide-title">
            <a:extLst xmlns:a="http://schemas.openxmlformats.org/drawingml/2006/main">
              <a:ext uri="{FF2B5EF4-FFF2-40B4-BE49-F238E27FC236}">
                <a16:creationId xmlns:a16="http://schemas.microsoft.com/office/drawing/2014/main" id="{1D5B9609-9B19-451E-BFB2-356304742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33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功能</a:t>
            </a:r>
            <a:r>
              <a:rPr sz="33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全景</a:t>
            </a:r>
            <a:endParaRPr sz="33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B658462B-A47B-41EA-B4BB-E335B5257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>
            <a:defPPr algn="r">
              <a:defRPr sz="10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10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8</a:t>
            </a:r>
            <a:endParaRPr sz="10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9C125138-FD7C-4186-9B81-EDB891AE8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504950"/>
            <a:ext cx="11404568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多个</a:t>
            </a: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功能模块围绕「连接 → 查询 → 分析 → 报表 → 管理」闭环组织。</a:t>
            </a:r>
            <a:endParaRPr sz="16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4" name="rule">
            <a:extLst xmlns:a="http://schemas.openxmlformats.org/drawingml/2006/main">
              <a:ext uri="{FF2B5EF4-FFF2-40B4-BE49-F238E27FC236}">
                <a16:creationId xmlns:a16="http://schemas.microsoft.com/office/drawing/2014/main" id="{4FE06379-74DB-46ED-80AB-1803731D6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124075"/>
            <a:ext cx="266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441E3C99-3AE3-4637-87E0-1D8646FEA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333625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1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连接管理</a:t>
            </a:r>
            <a:endParaRPr sz="21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CED67D41-DB52-4215-984B-965E09EFB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752725"/>
            <a:ext cx="2628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7 类数据源、SSH 隧道、多环境标签</a:t>
            </a:r>
            <a:endParaRPr sz="16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7" name="rule">
            <a:extLst xmlns:a="http://schemas.openxmlformats.org/drawingml/2006/main">
              <a:ext uri="{FF2B5EF4-FFF2-40B4-BE49-F238E27FC236}">
                <a16:creationId xmlns:a16="http://schemas.microsoft.com/office/drawing/2014/main" id="{6CF3C829-AEA3-41B1-8F2A-95195CDF5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124075"/>
            <a:ext cx="266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BA68D41C-26DD-4E85-9001-94689A722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333625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1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SQL 工作台</a:t>
            </a:r>
            <a:endParaRPr sz="21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2364A0A5-E7BD-4BC4-BEC2-189B831D5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752725"/>
            <a:ext cx="2628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多 Tab 编辑、对象树、结果集直编</a:t>
            </a:r>
            <a:endParaRPr sz="16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10" name="rule">
            <a:extLst xmlns:a="http://schemas.openxmlformats.org/drawingml/2006/main">
              <a:ext uri="{FF2B5EF4-FFF2-40B4-BE49-F238E27FC236}">
                <a16:creationId xmlns:a16="http://schemas.microsoft.com/office/drawing/2014/main" id="{94B03EBE-9503-4D68-B1B4-A0E3068C6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5732" y="2124075"/>
            <a:ext cx="266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6D06B776-AFD8-4915-9014-033108C8B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5732" y="2333625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1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元数据管理</a:t>
            </a:r>
            <a:endParaRPr sz="21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02BB5D7E-2316-43C4-903A-5B02EF1C5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5732" y="2752725"/>
            <a:ext cx="2628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表/索引/DDL/视图/函数、结构对比</a:t>
            </a:r>
            <a:endParaRPr sz="16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13" name="rule">
            <a:extLst xmlns:a="http://schemas.openxmlformats.org/drawingml/2006/main">
              <a:ext uri="{FF2B5EF4-FFF2-40B4-BE49-F238E27FC236}">
                <a16:creationId xmlns:a16="http://schemas.microsoft.com/office/drawing/2014/main" id="{2CA042E3-27AF-426F-B8B6-BEF7EC03D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6764" y="2124075"/>
            <a:ext cx="266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C97EE86D-4187-47F8-9939-4C3AE646F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6764" y="2333625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1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AI 智能查询</a:t>
            </a:r>
            <a:endParaRPr sz="21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7AA72AA1-9BAA-430B-809C-AE2C7D41F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6764" y="2752725"/>
            <a:ext cx="2628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自然语言转 SQL、多轮会话、图表</a:t>
            </a:r>
            <a:endParaRPr sz="16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16" name="rule">
            <a:extLst xmlns:a="http://schemas.openxmlformats.org/drawingml/2006/main">
              <a:ext uri="{FF2B5EF4-FFF2-40B4-BE49-F238E27FC236}">
                <a16:creationId xmlns:a16="http://schemas.microsoft.com/office/drawing/2014/main" id="{C8570E45-54B4-4F95-AE16-4EF6477CF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219575"/>
            <a:ext cx="266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BDA65D0B-39FC-4666-A5BF-B9EE963A4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429125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1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可视化报表</a:t>
            </a:r>
            <a:endParaRPr sz="21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18" name="矩形 17">
            <a:extLst xmlns:a="http://schemas.openxmlformats.org/drawingml/2006/main">
              <a:ext uri="{FF2B5EF4-FFF2-40B4-BE49-F238E27FC236}">
                <a16:creationId xmlns:a16="http://schemas.microsoft.com/office/drawing/2014/main" id="{C127351D-0624-4C4E-8D24-561F71425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848225"/>
            <a:ext cx="2628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11 种图表、仪表盘、分享大屏</a:t>
            </a:r>
            <a:endParaRPr sz="16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19" name="rule">
            <a:extLst xmlns:a="http://schemas.openxmlformats.org/drawingml/2006/main">
              <a:ext uri="{FF2B5EF4-FFF2-40B4-BE49-F238E27FC236}">
                <a16:creationId xmlns:a16="http://schemas.microsoft.com/office/drawing/2014/main" id="{017BE1E6-CE02-4F5D-8993-094221B8B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4219575"/>
            <a:ext cx="266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矩形 19">
            <a:extLst xmlns:a="http://schemas.openxmlformats.org/drawingml/2006/main">
              <a:ext uri="{FF2B5EF4-FFF2-40B4-BE49-F238E27FC236}">
                <a16:creationId xmlns:a16="http://schemas.microsoft.com/office/drawing/2014/main" id="{252A610D-0DC1-445A-9D50-6FFF73210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4429125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1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文档导出</a:t>
            </a:r>
            <a:endParaRPr sz="21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21" name="矩形 20">
            <a:extLst xmlns:a="http://schemas.openxmlformats.org/drawingml/2006/main">
              <a:ext uri="{FF2B5EF4-FFF2-40B4-BE49-F238E27FC236}">
                <a16:creationId xmlns:a16="http://schemas.microsoft.com/office/drawing/2014/main" id="{CCAA1067-709E-49EE-8143-D342BAABD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4848225"/>
            <a:ext cx="2628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CSV/Excel/JSON、库文档导出</a:t>
            </a:r>
            <a:endParaRPr sz="16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22" name="rule">
            <a:extLst xmlns:a="http://schemas.openxmlformats.org/drawingml/2006/main">
              <a:ext uri="{FF2B5EF4-FFF2-40B4-BE49-F238E27FC236}">
                <a16:creationId xmlns:a16="http://schemas.microsoft.com/office/drawing/2014/main" id="{17500F90-0971-400A-B722-C532AC60B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5732" y="4219575"/>
            <a:ext cx="266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矩形 22">
            <a:extLst xmlns:a="http://schemas.openxmlformats.org/drawingml/2006/main">
              <a:ext uri="{FF2B5EF4-FFF2-40B4-BE49-F238E27FC236}">
                <a16:creationId xmlns:a16="http://schemas.microsoft.com/office/drawing/2014/main" id="{3158D9F4-82C8-49C4-AC90-7CC3E5DE8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5732" y="4429125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1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用户与角色</a:t>
            </a:r>
            <a:endParaRPr sz="21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24" name="矩形 23">
            <a:extLst xmlns:a="http://schemas.openxmlformats.org/drawingml/2006/main">
              <a:ext uri="{FF2B5EF4-FFF2-40B4-BE49-F238E27FC236}">
                <a16:creationId xmlns:a16="http://schemas.microsoft.com/office/drawing/2014/main" id="{077E2A43-E1A0-4A72-8CF8-F60A00667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5732" y="4848225"/>
            <a:ext cx="2628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RBAC 5 内置角色 + 自定义角色</a:t>
            </a:r>
            <a:endParaRPr sz="16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25" name="rule">
            <a:extLst xmlns:a="http://schemas.openxmlformats.org/drawingml/2006/main">
              <a:ext uri="{FF2B5EF4-FFF2-40B4-BE49-F238E27FC236}">
                <a16:creationId xmlns:a16="http://schemas.microsoft.com/office/drawing/2014/main" id="{650AC370-374E-4294-A82D-E29CF9F7F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6764" y="4219575"/>
            <a:ext cx="266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矩形 25">
            <a:extLst xmlns:a="http://schemas.openxmlformats.org/drawingml/2006/main">
              <a:ext uri="{FF2B5EF4-FFF2-40B4-BE49-F238E27FC236}">
                <a16:creationId xmlns:a16="http://schemas.microsoft.com/office/drawing/2014/main" id="{ABF4EEC2-3543-43D2-AF90-CB3DCB8AA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6764" y="4429125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1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运维监控</a:t>
            </a:r>
            <a:endParaRPr sz="21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27" name="矩形 26">
            <a:extLst xmlns:a="http://schemas.openxmlformats.org/drawingml/2006/main">
              <a:ext uri="{FF2B5EF4-FFF2-40B4-BE49-F238E27FC236}">
                <a16:creationId xmlns:a16="http://schemas.microsoft.com/office/drawing/2014/main" id="{00441335-D201-4EA6-8E86-2977D1A70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6764" y="4848225"/>
            <a:ext cx="2628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慢查询、连接概览、审计、指标</a:t>
            </a:r>
            <a:endParaRPr sz="16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</p:spTree>
    <p:extLst>
      <p:ext uri="{BB962C8B-B14F-4D97-AF65-F5344CB8AC3E}">
        <p14:creationId xmlns:p14="http://schemas.microsoft.com/office/powerpoint/2010/main" val="193410888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E614F934-C54D-4DCB-BDF5-1C2D70799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33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功能演示 ：自然语言查询数据库</a:t>
            </a:r>
            <a:endParaRPr sz="33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EFA5F9E4-BB65-4F52-88AB-DE64C6E1D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>
            <a:defPPr algn="r">
              <a:defRPr sz="10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10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9</a:t>
            </a:r>
            <a:endParaRPr sz="10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3" name="video-frame">
            <a:extLst xmlns:a="http://schemas.openxmlformats.org/drawingml/2006/main">
              <a:ext uri="{FF2B5EF4-FFF2-40B4-BE49-F238E27FC236}">
                <a16:creationId xmlns:a16="http://schemas.microsoft.com/office/drawing/2014/main" id="{DF3596EB-F080-4EB5-8437-135D1EE6E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618" y="1647825"/>
            <a:ext cx="7467600" cy="42171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16" name="video-poster">
            <a:extLst xmlns:a="http://schemas.openxmlformats.org/drawingml/2006/main">
              <a:ext uri="{FF2B5EF4-FFF2-40B4-BE49-F238E27FC236}">
                <a16:creationId xmlns:a16="http://schemas.microsoft.com/office/drawing/2014/main" id="{40F09EE6-D547-4444-94D3-291DE790AB0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b3dd3e59e49465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93668" y="1666875"/>
            <a:ext cx="7429500" cy="4179094"/>
          </a:xfrm>
          <a:prstGeom xmlns:a="http://schemas.openxmlformats.org/drawingml/2006/main" prst="rect">
            <a:avLst/>
          </a:prstGeom>
        </p:spPr>
      </p:pic>
      <p:pic>
        <p:nvPicPr>
          <p:cNvPr id="4" name="video">
            <a:extLst xmlns:a="http://schemas.openxmlformats.org/drawingml/2006/main">
              <a:ext uri="{FF2B5EF4-FFF2-40B4-BE49-F238E27FC236}">
                <a16:creationId xmlns:a16="http://schemas.microsoft.com/office/drawing/2014/main" id="{853B2809-659F-4ADD-AD75-90F2D58F696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b3dd3e59e49465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93668" y="1666875"/>
            <a:ext cx="7429500" cy="4179094"/>
          </a:xfrm>
          <a:prstGeom xmlns:a="http://schemas.openxmlformats.org/drawingml/2006/main" prst="rect">
            <a:avLst/>
          </a:prstGeom>
        </p:spPr>
      </p:pic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40F63F88-5D4A-486B-9C70-EF4C3B921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5941219"/>
            <a:ext cx="742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00" b="0">
                <a:solidFill>
                  <a:srgbClr val="5A5F66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000" b="0">
                <a:solidFill>
                  <a:srgbClr val="5A5F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00" b="0">
                <a:solidFill>
                  <a:srgbClr val="5A5F66"/>
                </a:solidFill>
                <a:latin typeface="Helvetica Neue"/>
                <a:ea typeface="Helvetica Neue"/>
                <a:cs typeface="Helvetica Neue"/>
              </a:rPr>
              <a:t>▶ 点击画面播放演示视频（约 40 秒）：演示库查用户 → Oracle（UAT）查机构 → 导出 CSV</a:t>
            </a:r>
            <a:endParaRPr sz="1000" b="0">
              <a:solidFill>
                <a:srgbClr val="5A5F66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F5114A3A-052B-47AC-B3EA-7AB264D98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695450"/>
            <a:ext cx="3679317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1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提问即得结果</a:t>
            </a:r>
            <a:endParaRPr sz="21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7" name="marker">
            <a:extLst xmlns:a="http://schemas.openxmlformats.org/drawingml/2006/main">
              <a:ext uri="{FF2B5EF4-FFF2-40B4-BE49-F238E27FC236}">
                <a16:creationId xmlns:a16="http://schemas.microsoft.com/office/drawing/2014/main" id="{D945409B-77CC-4612-AAB9-4A4F00A52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43840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9846F2ED-D4A1-4433-B9A1-66C265C30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324100"/>
            <a:ext cx="3429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一句话生成 SQL，无需手写语句</a:t>
            </a:r>
            <a:endParaRPr sz="16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9" name="marker">
            <a:extLst xmlns:a="http://schemas.openxmlformats.org/drawingml/2006/main">
              <a:ext uri="{FF2B5EF4-FFF2-40B4-BE49-F238E27FC236}">
                <a16:creationId xmlns:a16="http://schemas.microsoft.com/office/drawing/2014/main" id="{50C34D88-3DFE-48D1-BF6A-6B523A5E4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02895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B953EEAF-D71F-412F-9FA3-A0F359E50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914650"/>
            <a:ext cx="3429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SSE 流式回传思考过程与 SQL</a:t>
            </a:r>
            <a:endParaRPr sz="16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11" name="marker">
            <a:extLst xmlns:a="http://schemas.openxmlformats.org/drawingml/2006/main">
              <a:ext uri="{FF2B5EF4-FFF2-40B4-BE49-F238E27FC236}">
                <a16:creationId xmlns:a16="http://schemas.microsoft.com/office/drawing/2014/main" id="{AE17AB5F-1B2F-448A-9DD3-E7B87DBB0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61950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4D31FB66-666A-4F19-8CE3-EF531D573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3505200"/>
            <a:ext cx="3429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切换数据源即可跨库查询</a:t>
            </a:r>
            <a:endParaRPr sz="16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13" name="marker">
            <a:extLst xmlns:a="http://schemas.openxmlformats.org/drawingml/2006/main">
              <a:ext uri="{FF2B5EF4-FFF2-40B4-BE49-F238E27FC236}">
                <a16:creationId xmlns:a16="http://schemas.microsoft.com/office/drawing/2014/main" id="{8AE14BBF-671F-41BA-9E6B-951F0EB61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21005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F850AAF0-2327-47B6-8E49-7463F6988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4095750"/>
            <a:ext cx="3429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结果一键导出 CSV / Excel / JSON</a:t>
            </a:r>
            <a:endParaRPr sz="16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</p:spTree>
    <p:extLst>
      <p:ext uri="{BB962C8B-B14F-4D97-AF65-F5344CB8AC3E}">
        <p14:creationId xmlns:p14="http://schemas.microsoft.com/office/powerpoint/2010/main" val="147236605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1DEB7112-161A-47EB-82DF-3A2341AFE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33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功能演示 ：自然语言生成图表</a:t>
            </a:r>
            <a:endParaRPr sz="33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9051E3BC-A113-4F47-A6D2-9BDE75658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>
            <a:defPPr algn="r">
              <a:defRPr sz="10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10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10</a:t>
            </a:r>
            <a:endParaRPr sz="10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3" name="video-frame">
            <a:extLst xmlns:a="http://schemas.openxmlformats.org/drawingml/2006/main">
              <a:ext uri="{FF2B5EF4-FFF2-40B4-BE49-F238E27FC236}">
                <a16:creationId xmlns:a16="http://schemas.microsoft.com/office/drawing/2014/main" id="{08DAF0C9-2B7D-456B-91FB-94E4F3C50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618" y="1647825"/>
            <a:ext cx="7467600" cy="42171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16" name="video-poster">
            <a:extLst xmlns:a="http://schemas.openxmlformats.org/drawingml/2006/main">
              <a:ext uri="{FF2B5EF4-FFF2-40B4-BE49-F238E27FC236}">
                <a16:creationId xmlns:a16="http://schemas.microsoft.com/office/drawing/2014/main" id="{8D2CFA39-70F9-4CDA-843B-C8ABC8464F3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6372e4ca46c43b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93668" y="1666875"/>
            <a:ext cx="7429500" cy="4179094"/>
          </a:xfrm>
          <a:prstGeom xmlns:a="http://schemas.openxmlformats.org/drawingml/2006/main" prst="rect">
            <a:avLst/>
          </a:prstGeom>
        </p:spPr>
      </p:pic>
      <p:pic>
        <p:nvPicPr>
          <p:cNvPr id="4" name="video">
            <a:extLst xmlns:a="http://schemas.openxmlformats.org/drawingml/2006/main">
              <a:ext uri="{FF2B5EF4-FFF2-40B4-BE49-F238E27FC236}">
                <a16:creationId xmlns:a16="http://schemas.microsoft.com/office/drawing/2014/main" id="{CA0AFABC-1DFB-4CF0-BE59-6CA9B9D2358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6372e4ca46c43b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93668" y="1666875"/>
            <a:ext cx="7429500" cy="4179094"/>
          </a:xfrm>
          <a:prstGeom xmlns:a="http://schemas.openxmlformats.org/drawingml/2006/main" prst="rect">
            <a:avLst/>
          </a:prstGeom>
        </p:spPr>
      </p:pic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93C35AAA-C1C9-42BB-8276-D82BAF1DC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5941219"/>
            <a:ext cx="742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00" b="0">
                <a:solidFill>
                  <a:srgbClr val="5A5F66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000" b="0">
                <a:solidFill>
                  <a:srgbClr val="5A5F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00" b="0">
                <a:solidFill>
                  <a:srgbClr val="5A5F66"/>
                </a:solidFill>
                <a:latin typeface="Helvetica Neue"/>
                <a:ea typeface="Helvetica Neue"/>
                <a:cs typeface="Helvetica Neue"/>
              </a:rPr>
              <a:t>▶ 点击画面播放演示视频（约 60 秒）：Oracle 查分行笔数/金额 → 自动出图 → 保存报表，再看近 30 天成功交易笔数与金额趋势</a:t>
            </a:r>
            <a:endParaRPr sz="1000" b="0">
              <a:solidFill>
                <a:srgbClr val="5A5F66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0C58980F-99CB-49A5-93B2-F628411A2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695450"/>
            <a:ext cx="3679317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1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从查询到图表</a:t>
            </a:r>
            <a:endParaRPr sz="21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7" name="marker">
            <a:extLst xmlns:a="http://schemas.openxmlformats.org/drawingml/2006/main">
              <a:ext uri="{FF2B5EF4-FFF2-40B4-BE49-F238E27FC236}">
                <a16:creationId xmlns:a16="http://schemas.microsoft.com/office/drawing/2014/main" id="{141CFC07-CDA3-49AB-B186-0DD3F9416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43840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80E5C373-324C-4E4C-B250-4317AA4B3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324100"/>
            <a:ext cx="3429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案例一：各分行笔数与金额柱状图</a:t>
            </a:r>
            <a:endParaRPr sz="16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9" name="marker">
            <a:extLst xmlns:a="http://schemas.openxmlformats.org/drawingml/2006/main">
              <a:ext uri="{FF2B5EF4-FFF2-40B4-BE49-F238E27FC236}">
                <a16:creationId xmlns:a16="http://schemas.microsoft.com/office/drawing/2014/main" id="{A37A10F2-8D40-4851-ABE8-CD56BBD1B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02895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B77E2A82-9FE4-41DC-AE62-52AF51618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914650"/>
            <a:ext cx="3429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案例二：近30天交易趋势折线图</a:t>
            </a:r>
            <a:endParaRPr sz="16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11" name="marker">
            <a:extLst xmlns:a="http://schemas.openxmlformats.org/drawingml/2006/main">
              <a:ext uri="{FF2B5EF4-FFF2-40B4-BE49-F238E27FC236}">
                <a16:creationId xmlns:a16="http://schemas.microsoft.com/office/drawing/2014/main" id="{B4937C79-7C98-4940-BB94-141F14D1A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61950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58C2E196-329F-421C-B33B-979259520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3505200"/>
            <a:ext cx="3429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双指标量级差异大时自动分双 Y 轴</a:t>
            </a:r>
            <a:endParaRPr sz="16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13" name="marker">
            <a:extLst xmlns:a="http://schemas.openxmlformats.org/drawingml/2006/main">
              <a:ext uri="{FF2B5EF4-FFF2-40B4-BE49-F238E27FC236}">
                <a16:creationId xmlns:a16="http://schemas.microsoft.com/office/drawing/2014/main" id="{E152463A-7969-4DDC-9C15-6DD0C76F3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21005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2AC6A105-A74A-4178-92B3-8BCC747EF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4095750"/>
            <a:ext cx="3429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一键保存到可视化报表复用</a:t>
            </a:r>
            <a:endParaRPr sz="16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</p:spTree>
    <p:extLst>
      <p:ext uri="{BB962C8B-B14F-4D97-AF65-F5344CB8AC3E}">
        <p14:creationId xmlns:p14="http://schemas.microsoft.com/office/powerpoint/2010/main" val="7325513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F1CF1C5C-9E08-46DC-BED3-05ECFDF2F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33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功能演示 ：SQL 工作台</a:t>
            </a:r>
            <a:endParaRPr sz="33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7BA366E1-E019-4103-9B6C-0DD65792A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>
            <a:defPPr algn="r">
              <a:defRPr sz="10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10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11</a:t>
            </a:r>
            <a:endParaRPr sz="10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3" name="video-frame">
            <a:extLst xmlns:a="http://schemas.openxmlformats.org/drawingml/2006/main">
              <a:ext uri="{FF2B5EF4-FFF2-40B4-BE49-F238E27FC236}">
                <a16:creationId xmlns:a16="http://schemas.microsoft.com/office/drawing/2014/main" id="{A2BA5F91-CCAA-4F86-ABAD-9E1710A4C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618" y="1647825"/>
            <a:ext cx="7467600" cy="42171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16" name="video-poster">
            <a:extLst xmlns:a="http://schemas.openxmlformats.org/drawingml/2006/main">
              <a:ext uri="{FF2B5EF4-FFF2-40B4-BE49-F238E27FC236}">
                <a16:creationId xmlns:a16="http://schemas.microsoft.com/office/drawing/2014/main" id="{D8D84F04-5301-4A04-9568-593992F44B7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32ac817d5264b5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93668" y="1666875"/>
            <a:ext cx="7429500" cy="4179094"/>
          </a:xfrm>
          <a:prstGeom xmlns:a="http://schemas.openxmlformats.org/drawingml/2006/main" prst="rect">
            <a:avLst/>
          </a:prstGeom>
        </p:spPr>
      </p:pic>
      <p:pic>
        <p:nvPicPr>
          <p:cNvPr id="4" name="video">
            <a:extLst xmlns:a="http://schemas.openxmlformats.org/drawingml/2006/main">
              <a:ext uri="{FF2B5EF4-FFF2-40B4-BE49-F238E27FC236}">
                <a16:creationId xmlns:a16="http://schemas.microsoft.com/office/drawing/2014/main" id="{15AFD589-770D-4F5C-9E01-811E87D1A09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32ac817d5264b5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93668" y="1666875"/>
            <a:ext cx="7429500" cy="4179094"/>
          </a:xfrm>
          <a:prstGeom xmlns:a="http://schemas.openxmlformats.org/drawingml/2006/main" prst="rect">
            <a:avLst/>
          </a:prstGeom>
        </p:spPr>
      </p:pic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DA378C98-1DD3-4333-8CE5-EF1E81514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5941219"/>
            <a:ext cx="742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00" b="0">
                <a:solidFill>
                  <a:srgbClr val="5A5F66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000" b="0">
                <a:solidFill>
                  <a:srgbClr val="5A5F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00" b="0">
                <a:solidFill>
                  <a:srgbClr val="5A5F66"/>
                </a:solidFill>
                <a:latin typeface="Helvetica Neue"/>
                <a:ea typeface="Helvetica Neue"/>
                <a:cs typeface="Helvetica Neue"/>
              </a:rPr>
              <a:t>▶ 点击画面播放演示视频（约 55 秒）：OceanBase 执行 SQL → Agent 生成聚合 SQL → 填入编辑器执行 → 收藏命名 → 历史 / 收藏页签</a:t>
            </a:r>
            <a:endParaRPr sz="1000" b="0">
              <a:solidFill>
                <a:srgbClr val="5A5F66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4FA5AC3F-3019-4F24-BF4A-0A0F83A11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695450"/>
            <a:ext cx="3679317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1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专业查询体验</a:t>
            </a:r>
            <a:endParaRPr sz="21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7" name="marker">
            <a:extLst xmlns:a="http://schemas.openxmlformats.org/drawingml/2006/main">
              <a:ext uri="{FF2B5EF4-FFF2-40B4-BE49-F238E27FC236}">
                <a16:creationId xmlns:a16="http://schemas.microsoft.com/office/drawing/2014/main" id="{C8DF141D-1086-4AAA-83F0-4FD1FEE48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43840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972A322E-AA3F-492C-807D-F792AD387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324100"/>
            <a:ext cx="3429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OceanBase 数据源即连即查</a:t>
            </a:r>
            <a:endParaRPr sz="16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9" name="marker">
            <a:extLst xmlns:a="http://schemas.openxmlformats.org/drawingml/2006/main">
              <a:ext uri="{FF2B5EF4-FFF2-40B4-BE49-F238E27FC236}">
                <a16:creationId xmlns:a16="http://schemas.microsoft.com/office/drawing/2014/main" id="{5FA6638D-B8B0-487E-995B-6468DDF24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02895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AA20B1B0-3F14-4FA1-A68C-4429032CE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914650"/>
            <a:ext cx="3429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Agent 一句话生成聚合 SQL</a:t>
            </a:r>
            <a:endParaRPr sz="16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11" name="marker">
            <a:extLst xmlns:a="http://schemas.openxmlformats.org/drawingml/2006/main">
              <a:ext uri="{FF2B5EF4-FFF2-40B4-BE49-F238E27FC236}">
                <a16:creationId xmlns:a16="http://schemas.microsoft.com/office/drawing/2014/main" id="{2153DBFD-311F-46A5-8DF4-E2D6CA955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61950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3A74C849-285D-4804-A9A7-55E984A92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3505200"/>
            <a:ext cx="3429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填入编辑器后一键执行</a:t>
            </a:r>
            <a:endParaRPr sz="16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13" name="marker">
            <a:extLst xmlns:a="http://schemas.openxmlformats.org/drawingml/2006/main">
              <a:ext uri="{FF2B5EF4-FFF2-40B4-BE49-F238E27FC236}">
                <a16:creationId xmlns:a16="http://schemas.microsoft.com/office/drawing/2014/main" id="{D418C0AC-DAEB-434E-8A59-C2BC211AB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21005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2BBDDD62-2799-45B5-BB84-7C0D13612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4095750"/>
            <a:ext cx="3429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执行历史留痕 + SQL 收藏复用</a:t>
            </a:r>
            <a:endParaRPr sz="16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</p:spTree>
    <p:extLst>
      <p:ext uri="{BB962C8B-B14F-4D97-AF65-F5344CB8AC3E}">
        <p14:creationId xmlns:p14="http://schemas.microsoft.com/office/powerpoint/2010/main" val="1889476173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C5EE651E-F024-46D2-8DB1-FADC94E34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33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功能演示 ：数据操作安全控制</a:t>
            </a:r>
            <a:endParaRPr sz="33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0FA5EFBB-1B0A-462D-88AC-43DA2F178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>
            <a:defPPr algn="r">
              <a:defRPr sz="10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10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12</a:t>
            </a:r>
            <a:endParaRPr sz="10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3" name="video-frame">
            <a:extLst xmlns:a="http://schemas.openxmlformats.org/drawingml/2006/main">
              <a:ext uri="{FF2B5EF4-FFF2-40B4-BE49-F238E27FC236}">
                <a16:creationId xmlns:a16="http://schemas.microsoft.com/office/drawing/2014/main" id="{E6CEF5FF-6CB8-4809-B505-5C73893F9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618" y="1647825"/>
            <a:ext cx="7467600" cy="42171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16" name="video-poster">
            <a:extLst xmlns:a="http://schemas.openxmlformats.org/drawingml/2006/main">
              <a:ext uri="{FF2B5EF4-FFF2-40B4-BE49-F238E27FC236}">
                <a16:creationId xmlns:a16="http://schemas.microsoft.com/office/drawing/2014/main" id="{FA63E4B9-0466-45B1-813C-D2B453D4F94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81f10bf6a07449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93668" y="1666875"/>
            <a:ext cx="7429500" cy="4179094"/>
          </a:xfrm>
          <a:prstGeom xmlns:a="http://schemas.openxmlformats.org/drawingml/2006/main" prst="rect">
            <a:avLst/>
          </a:prstGeom>
        </p:spPr>
      </p:pic>
      <p:pic>
        <p:nvPicPr>
          <p:cNvPr id="4" name="video">
            <a:extLst xmlns:a="http://schemas.openxmlformats.org/drawingml/2006/main">
              <a:ext uri="{FF2B5EF4-FFF2-40B4-BE49-F238E27FC236}">
                <a16:creationId xmlns:a16="http://schemas.microsoft.com/office/drawing/2014/main" id="{DED3B4F4-176B-4B90-936A-2AA88E5280B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81f10bf6a07449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93668" y="1666875"/>
            <a:ext cx="7429500" cy="4179094"/>
          </a:xfrm>
          <a:prstGeom xmlns:a="http://schemas.openxmlformats.org/drawingml/2006/main" prst="rect">
            <a:avLst/>
          </a:prstGeom>
        </p:spPr>
      </p:pic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ACB4628A-DB90-4057-B243-59FFBA792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5941219"/>
            <a:ext cx="742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00" b="0">
                <a:solidFill>
                  <a:srgbClr val="5A5F66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000" b="0">
                <a:solidFill>
                  <a:srgbClr val="5A5F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00" b="0">
                <a:solidFill>
                  <a:srgbClr val="5A5F66"/>
                </a:solidFill>
                <a:latin typeface="Helvetica Neue"/>
                <a:ea typeface="Helvetica Neue"/>
                <a:cs typeface="Helvetica Neue"/>
              </a:rPr>
              <a:t>▶ 点击画面播放演示视频（约 52 秒）：UPDATE 确认执行 → Agent 修改字段长度确认执行 → 删除表取消执行</a:t>
            </a:r>
            <a:endParaRPr sz="1000" b="0">
              <a:solidFill>
                <a:srgbClr val="5A5F66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1A8A0552-D1E3-404E-BFFC-7AA910A0F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695450"/>
            <a:ext cx="3679317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1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分级授权</a:t>
            </a:r>
            <a:endParaRPr sz="21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7" name="marker">
            <a:extLst xmlns:a="http://schemas.openxmlformats.org/drawingml/2006/main">
              <a:ext uri="{FF2B5EF4-FFF2-40B4-BE49-F238E27FC236}">
                <a16:creationId xmlns:a16="http://schemas.microsoft.com/office/drawing/2014/main" id="{9D6FBBF7-B961-49AF-95C7-27F3D4148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43840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229883CD-AB14-495D-9C89-2F018752D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324100"/>
            <a:ext cx="3429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READ：只读查询自动执行</a:t>
            </a:r>
            <a:endParaRPr sz="16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9" name="marker">
            <a:extLst xmlns:a="http://schemas.openxmlformats.org/drawingml/2006/main">
              <a:ext uri="{FF2B5EF4-FFF2-40B4-BE49-F238E27FC236}">
                <a16:creationId xmlns:a16="http://schemas.microsoft.com/office/drawing/2014/main" id="{D6514522-DBB4-4EDB-BBEC-B29F3BD82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02895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F1DE538D-F7D4-43D0-B6D7-36D153461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914650"/>
            <a:ext cx="3429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DML：UPDATE 确认后才生效</a:t>
            </a:r>
            <a:endParaRPr sz="16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11" name="marker">
            <a:extLst xmlns:a="http://schemas.openxmlformats.org/drawingml/2006/main">
              <a:ext uri="{FF2B5EF4-FFF2-40B4-BE49-F238E27FC236}">
                <a16:creationId xmlns:a16="http://schemas.microsoft.com/office/drawing/2014/main" id="{64A0E71F-C8D1-4BD9-88FE-32A1D0B08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61950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52D7A641-5AAD-4DEB-875B-3522B7004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3505200"/>
            <a:ext cx="3429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DDL：红色危险提示 + 逐条确认</a:t>
            </a:r>
            <a:endParaRPr sz="16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13" name="marker">
            <a:extLst xmlns:a="http://schemas.openxmlformats.org/drawingml/2006/main">
              <a:ext uri="{FF2B5EF4-FFF2-40B4-BE49-F238E27FC236}">
                <a16:creationId xmlns:a16="http://schemas.microsoft.com/office/drawing/2014/main" id="{185B5CAC-17B4-44A1-AC7B-F39374810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21005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F7193E88-B55D-4BBE-A124-D7692EE71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4095750"/>
            <a:ext cx="3429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取消即中止，全部写入审计日志</a:t>
            </a:r>
            <a:endParaRPr sz="16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</p:spTree>
    <p:extLst>
      <p:ext uri="{BB962C8B-B14F-4D97-AF65-F5344CB8AC3E}">
        <p14:creationId xmlns:p14="http://schemas.microsoft.com/office/powerpoint/2010/main" val="1409905993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CA9E9D9F-45E5-4025-B10B-3283B3B99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33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功能演示 ：运维监控与日志</a:t>
            </a:r>
            <a:endParaRPr sz="33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534E70D2-B00F-46FB-ABB1-2A4AAFD78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>
            <a:defPPr algn="r">
              <a:defRPr sz="10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10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13</a:t>
            </a:r>
            <a:endParaRPr sz="10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3" name="video-frame">
            <a:extLst xmlns:a="http://schemas.openxmlformats.org/drawingml/2006/main">
              <a:ext uri="{FF2B5EF4-FFF2-40B4-BE49-F238E27FC236}">
                <a16:creationId xmlns:a16="http://schemas.microsoft.com/office/drawing/2014/main" id="{CD85A6CB-C42A-4F4F-B371-7D4863237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618" y="1647825"/>
            <a:ext cx="7467600" cy="42171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16" name="video-poster">
            <a:extLst xmlns:a="http://schemas.openxmlformats.org/drawingml/2006/main">
              <a:ext uri="{FF2B5EF4-FFF2-40B4-BE49-F238E27FC236}">
                <a16:creationId xmlns:a16="http://schemas.microsoft.com/office/drawing/2014/main" id="{078FD63B-07D7-4161-862C-9E181D5EDAF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89441acdfb7475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93668" y="1666875"/>
            <a:ext cx="7429500" cy="4179094"/>
          </a:xfrm>
          <a:prstGeom xmlns:a="http://schemas.openxmlformats.org/drawingml/2006/main" prst="rect">
            <a:avLst/>
          </a:prstGeom>
        </p:spPr>
      </p:pic>
      <p:pic>
        <p:nvPicPr>
          <p:cNvPr id="4" name="video">
            <a:extLst xmlns:a="http://schemas.openxmlformats.org/drawingml/2006/main">
              <a:ext uri="{FF2B5EF4-FFF2-40B4-BE49-F238E27FC236}">
                <a16:creationId xmlns:a16="http://schemas.microsoft.com/office/drawing/2014/main" id="{1E5207CD-2659-485E-8726-65A3F1C3356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89441acdfb7475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93668" y="1666875"/>
            <a:ext cx="7429500" cy="4179094"/>
          </a:xfrm>
          <a:prstGeom xmlns:a="http://schemas.openxmlformats.org/drawingml/2006/main" prst="rect">
            <a:avLst/>
          </a:prstGeom>
        </p:spPr>
      </p:pic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7ECEF888-6A37-4179-8BF7-449B3E4E3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5941219"/>
            <a:ext cx="742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00" b="0">
                <a:solidFill>
                  <a:srgbClr val="5A5F66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000" b="0">
                <a:solidFill>
                  <a:srgbClr val="5A5F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00" b="0">
                <a:solidFill>
                  <a:srgbClr val="5A5F66"/>
                </a:solidFill>
                <a:latin typeface="Helvetica Neue"/>
                <a:ea typeface="Helvetica Neue"/>
                <a:cs typeface="Helvetica Neue"/>
              </a:rPr>
              <a:t>▶ 点击画面播放演示视频（约 32 秒）：连接概览 → 审计日志 → 慢查询（耗时 ≥ 100ms） → 表结构对比（Oracle SIT vs UAT）</a:t>
            </a:r>
            <a:endParaRPr sz="1000" b="0">
              <a:solidFill>
                <a:srgbClr val="5A5F66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BF3DCC74-C37B-443C-A94C-E351B6ECE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695450"/>
            <a:ext cx="3679317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1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运维与合规</a:t>
            </a:r>
            <a:endParaRPr sz="21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7" name="marker">
            <a:extLst xmlns:a="http://schemas.openxmlformats.org/drawingml/2006/main">
              <a:ext uri="{FF2B5EF4-FFF2-40B4-BE49-F238E27FC236}">
                <a16:creationId xmlns:a16="http://schemas.microsoft.com/office/drawing/2014/main" id="{492DD000-E94E-4044-9E7E-C52F252D5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43840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73CE1A3C-4A2F-4544-81F1-838F0108A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324100"/>
            <a:ext cx="3429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连接概览：查询量 / 耗时 / 成功率</a:t>
            </a:r>
            <a:endParaRPr sz="16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9" name="marker">
            <a:extLst xmlns:a="http://schemas.openxmlformats.org/drawingml/2006/main">
              <a:ext uri="{FF2B5EF4-FFF2-40B4-BE49-F238E27FC236}">
                <a16:creationId xmlns:a16="http://schemas.microsoft.com/office/drawing/2014/main" id="{5C940110-F46B-494C-8E6E-497606AE6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02895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0B26EBB9-43A2-42F8-B555-820809A85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914650"/>
            <a:ext cx="3429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审计日志：登录与 SQL 全量留痕</a:t>
            </a:r>
            <a:endParaRPr sz="16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11" name="marker">
            <a:extLst xmlns:a="http://schemas.openxmlformats.org/drawingml/2006/main">
              <a:ext uri="{FF2B5EF4-FFF2-40B4-BE49-F238E27FC236}">
                <a16:creationId xmlns:a16="http://schemas.microsoft.com/office/drawing/2014/main" id="{1AF26B7E-05AE-497F-BD0B-EE076925A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61950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8F2727EE-A833-4D86-BB31-FDF54B4A6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3505200"/>
            <a:ext cx="3429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慢查询：阈值可调（演示 100ms）</a:t>
            </a:r>
            <a:endParaRPr sz="16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13" name="marker">
            <a:extLst xmlns:a="http://schemas.openxmlformats.org/drawingml/2006/main">
              <a:ext uri="{FF2B5EF4-FFF2-40B4-BE49-F238E27FC236}">
                <a16:creationId xmlns:a16="http://schemas.microsoft.com/office/drawing/2014/main" id="{D2D8F67C-AD88-4128-AA9F-3977B05E0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21005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348189E2-B096-44D8-A92C-780DD323C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4095750"/>
            <a:ext cx="3429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表结构对比：SIT vs UAT 差异</a:t>
            </a:r>
            <a:endParaRPr sz="16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</p:spTree>
    <p:extLst>
      <p:ext uri="{BB962C8B-B14F-4D97-AF65-F5344CB8AC3E}">
        <p14:creationId xmlns:p14="http://schemas.microsoft.com/office/powerpoint/2010/main" val="1728864902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1F1157EF-8690-47EF-B30E-62EA61782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33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功能演示 ：数据库与大模型连接管理</a:t>
            </a:r>
            <a:endParaRPr sz="33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74EFAC21-5F2C-443F-9F5F-280FBB438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>
            <a:defPPr algn="r">
              <a:defRPr sz="10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10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14</a:t>
            </a:r>
            <a:endParaRPr sz="10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3" name="video-frame">
            <a:extLst xmlns:a="http://schemas.openxmlformats.org/drawingml/2006/main">
              <a:ext uri="{FF2B5EF4-FFF2-40B4-BE49-F238E27FC236}">
                <a16:creationId xmlns:a16="http://schemas.microsoft.com/office/drawing/2014/main" id="{A5EF1957-45ED-4EA6-B273-C279690D7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618" y="1647825"/>
            <a:ext cx="7467600" cy="42171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16" name="video-poster">
            <a:extLst xmlns:a="http://schemas.openxmlformats.org/drawingml/2006/main">
              <a:ext uri="{FF2B5EF4-FFF2-40B4-BE49-F238E27FC236}">
                <a16:creationId xmlns:a16="http://schemas.microsoft.com/office/drawing/2014/main" id="{9147F46B-E11E-49A2-8E87-2A0117808CB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593d98e9c464b8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93668" y="1666875"/>
            <a:ext cx="7429500" cy="4179094"/>
          </a:xfrm>
          <a:prstGeom xmlns:a="http://schemas.openxmlformats.org/drawingml/2006/main" prst="rect">
            <a:avLst/>
          </a:prstGeom>
        </p:spPr>
      </p:pic>
      <p:pic>
        <p:nvPicPr>
          <p:cNvPr id="4" name="video">
            <a:extLst xmlns:a="http://schemas.openxmlformats.org/drawingml/2006/main">
              <a:ext uri="{FF2B5EF4-FFF2-40B4-BE49-F238E27FC236}">
                <a16:creationId xmlns:a16="http://schemas.microsoft.com/office/drawing/2014/main" id="{66B7E0C6-D359-4B31-B37C-563E48DC70A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593d98e9c464b8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93668" y="1666875"/>
            <a:ext cx="7429500" cy="4179094"/>
          </a:xfrm>
          <a:prstGeom xmlns:a="http://schemas.openxmlformats.org/drawingml/2006/main" prst="rect">
            <a:avLst/>
          </a:prstGeom>
        </p:spPr>
      </p:pic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114792DD-2DD5-4FEE-BB81-5163D878C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5941219"/>
            <a:ext cx="742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00" b="0">
                <a:solidFill>
                  <a:srgbClr val="5A5F66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000" b="0">
                <a:solidFill>
                  <a:srgbClr val="5A5F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00" b="0">
                <a:solidFill>
                  <a:srgbClr val="5A5F66"/>
                </a:solidFill>
                <a:latin typeface="Helvetica Neue"/>
                <a:ea typeface="Helvetica Neue"/>
                <a:cs typeface="Helvetica Neue"/>
              </a:rPr>
              <a:t>▶ 点击画面播放演示视频（约 23 秒）：数据库连接配置一键测连 → 大模型连接配置测试第二个模型</a:t>
            </a:r>
            <a:endParaRPr sz="1000" b="0">
              <a:solidFill>
                <a:srgbClr val="5A5F66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774E1537-538A-447F-8E25-3D6EFD5ED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695450"/>
            <a:ext cx="3679317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1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连接即资产</a:t>
            </a:r>
            <a:endParaRPr sz="21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7" name="marker">
            <a:extLst xmlns:a="http://schemas.openxmlformats.org/drawingml/2006/main">
              <a:ext uri="{FF2B5EF4-FFF2-40B4-BE49-F238E27FC236}">
                <a16:creationId xmlns:a16="http://schemas.microsoft.com/office/drawing/2014/main" id="{9E8BF6C7-D264-4795-A607-3D6C5866E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43840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A3255BDA-1563-469B-B48E-945355A91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324100"/>
            <a:ext cx="3429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数据库连接：一键「测试」即返回连通性</a:t>
            </a:r>
            <a:endParaRPr sz="16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9" name="marker">
            <a:extLst xmlns:a="http://schemas.openxmlformats.org/drawingml/2006/main">
              <a:ext uri="{FF2B5EF4-FFF2-40B4-BE49-F238E27FC236}">
                <a16:creationId xmlns:a16="http://schemas.microsoft.com/office/drawing/2014/main" id="{EC616243-4FE1-442C-98DC-983F17B0E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02895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AB16BBA1-7CBC-4B58-8551-F5E19BA4E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914650"/>
            <a:ext cx="3429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覆盖 SQLite / Oracle / MySQL / OceanBase</a:t>
            </a:r>
            <a:endParaRPr sz="16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11" name="marker">
            <a:extLst xmlns:a="http://schemas.openxmlformats.org/drawingml/2006/main">
              <a:ext uri="{FF2B5EF4-FFF2-40B4-BE49-F238E27FC236}">
                <a16:creationId xmlns:a16="http://schemas.microsoft.com/office/drawing/2014/main" id="{B8D01140-CDE2-4CD9-AAE9-7533C1A8B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61950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F207B59E-89B6-454A-867A-2ED10565D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3505200"/>
            <a:ext cx="3429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大模型：OpenAI、Claude、Ollama 三类提供方</a:t>
            </a:r>
            <a:endParaRPr sz="16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13" name="marker">
            <a:extLst xmlns:a="http://schemas.openxmlformats.org/drawingml/2006/main">
              <a:ext uri="{FF2B5EF4-FFF2-40B4-BE49-F238E27FC236}">
                <a16:creationId xmlns:a16="http://schemas.microsoft.com/office/drawing/2014/main" id="{8C4934E2-69C5-4BF3-BB71-B577B4CDF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21005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C6CD81B9-E37D-44B7-9823-FA5EA6F8D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4095750"/>
            <a:ext cx="3429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API Key 加密存储，可指定默认模型</a:t>
            </a:r>
            <a:endParaRPr sz="16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</p:spTree>
    <p:extLst>
      <p:ext uri="{BB962C8B-B14F-4D97-AF65-F5344CB8AC3E}">
        <p14:creationId xmlns:p14="http://schemas.microsoft.com/office/powerpoint/2010/main" val="2073680016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F2906107-FF2F-4015-AD54-8E3B2F684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33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功能演示 ：用户与角色管理</a:t>
            </a:r>
            <a:endParaRPr sz="33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5BF88583-E484-4E99-B916-AC8D6E30B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>
            <a:defPPr algn="r">
              <a:defRPr sz="10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10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15</a:t>
            </a:r>
            <a:endParaRPr sz="10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3" name="video-frame">
            <a:extLst xmlns:a="http://schemas.openxmlformats.org/drawingml/2006/main">
              <a:ext uri="{FF2B5EF4-FFF2-40B4-BE49-F238E27FC236}">
                <a16:creationId xmlns:a16="http://schemas.microsoft.com/office/drawing/2014/main" id="{8EA2E8C6-4D7B-4360-9B5F-10BD1912C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618" y="1647825"/>
            <a:ext cx="7467600" cy="42171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16" name="video-poster">
            <a:extLst xmlns:a="http://schemas.openxmlformats.org/drawingml/2006/main">
              <a:ext uri="{FF2B5EF4-FFF2-40B4-BE49-F238E27FC236}">
                <a16:creationId xmlns:a16="http://schemas.microsoft.com/office/drawing/2014/main" id="{050132AC-B8A4-48F7-BDE9-178DCF7986D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4d4cb90c20b42c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93668" y="1666875"/>
            <a:ext cx="7429500" cy="4179094"/>
          </a:xfrm>
          <a:prstGeom xmlns:a="http://schemas.openxmlformats.org/drawingml/2006/main" prst="rect">
            <a:avLst/>
          </a:prstGeom>
        </p:spPr>
      </p:pic>
      <p:pic>
        <p:nvPicPr>
          <p:cNvPr id="4" name="video">
            <a:extLst xmlns:a="http://schemas.openxmlformats.org/drawingml/2006/main">
              <a:ext uri="{FF2B5EF4-FFF2-40B4-BE49-F238E27FC236}">
                <a16:creationId xmlns:a16="http://schemas.microsoft.com/office/drawing/2014/main" id="{AC79FD8F-90EE-4436-9768-C1F15A7217B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4d4cb90c20b42c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93668" y="1666875"/>
            <a:ext cx="7429500" cy="4179094"/>
          </a:xfrm>
          <a:prstGeom xmlns:a="http://schemas.openxmlformats.org/drawingml/2006/main" prst="rect">
            <a:avLst/>
          </a:prstGeom>
        </p:spPr>
      </p:pic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EAED3CE2-1701-4E96-B000-4EF9BAE6B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5941219"/>
            <a:ext cx="742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00" b="0">
                <a:solidFill>
                  <a:srgbClr val="5A5F66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000" b="0">
                <a:solidFill>
                  <a:srgbClr val="5A5F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00" b="0">
                <a:solidFill>
                  <a:srgbClr val="5A5F66"/>
                </a:solidFill>
                <a:latin typeface="Helvetica Neue"/>
                <a:ea typeface="Helvetica Neue"/>
                <a:cs typeface="Helvetica Neue"/>
              </a:rPr>
              <a:t>▶ 点击画面播放演示视频（约 23 秒）：用户管理 → 角色管理 → 依次查看技术管理 / 技术查询 / 业务查询</a:t>
            </a:r>
            <a:endParaRPr sz="1000" b="0">
              <a:solidFill>
                <a:srgbClr val="5A5F66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E2F7C4B4-EE2D-40A5-AD54-E5FBF5267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695450"/>
            <a:ext cx="3679317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1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权限可控</a:t>
            </a:r>
            <a:endParaRPr sz="21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7" name="marker">
            <a:extLst xmlns:a="http://schemas.openxmlformats.org/drawingml/2006/main">
              <a:ext uri="{FF2B5EF4-FFF2-40B4-BE49-F238E27FC236}">
                <a16:creationId xmlns:a16="http://schemas.microsoft.com/office/drawing/2014/main" id="{44F004ED-A34B-4A05-86E6-21C8BB706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43840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536A696D-4BAE-414A-95C9-EE8F70193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324100"/>
            <a:ext cx="3429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用户管理：账号 / 角色 / 状态 / 重置密码</a:t>
            </a:r>
            <a:endParaRPr sz="16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9" name="marker">
            <a:extLst xmlns:a="http://schemas.openxmlformats.org/drawingml/2006/main">
              <a:ext uri="{FF2B5EF4-FFF2-40B4-BE49-F238E27FC236}">
                <a16:creationId xmlns:a16="http://schemas.microsoft.com/office/drawing/2014/main" id="{ED2834A3-3309-4FA5-ADDA-BE54F6569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02895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AB88F649-4880-48E2-9F92-3ADF68B13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914650"/>
            <a:ext cx="3429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角色管理：</a:t>
            </a: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按角色控制</a:t>
            </a: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权限</a:t>
            </a:r>
            <a:endParaRPr sz="16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11" name="marker">
            <a:extLst xmlns:a="http://schemas.openxmlformats.org/drawingml/2006/main">
              <a:ext uri="{FF2B5EF4-FFF2-40B4-BE49-F238E27FC236}">
                <a16:creationId xmlns:a16="http://schemas.microsoft.com/office/drawing/2014/main" id="{9E0FADD5-4A18-40ED-8F7A-B9691C826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61950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28043C8E-4823-4F91-AE8E-AF66DEC63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3505200"/>
            <a:ext cx="3429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功能权限按模块分组勾选</a:t>
            </a:r>
            <a:endParaRPr sz="16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13" name="marker">
            <a:extLst xmlns:a="http://schemas.openxmlformats.org/drawingml/2006/main">
              <a:ext uri="{FF2B5EF4-FFF2-40B4-BE49-F238E27FC236}">
                <a16:creationId xmlns:a16="http://schemas.microsoft.com/office/drawing/2014/main" id="{6D13E7DA-B2C7-480A-AF17-BB3AE5970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21005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799B4E22-350D-4328-85F8-ECF3F6C78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4095750"/>
            <a:ext cx="3429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先勾选权限，再由路由守卫拦截：前端菜单与后端接口双重校验</a:t>
            </a:r>
            <a:endParaRPr sz="16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</p:spTree>
    <p:extLst>
      <p:ext uri="{BB962C8B-B14F-4D97-AF65-F5344CB8AC3E}">
        <p14:creationId xmlns:p14="http://schemas.microsoft.com/office/powerpoint/2010/main" val="2142548677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agenda-num-2">
            <a:extLst xmlns:a="http://schemas.openxmlformats.org/drawingml/2006/main">
              <a:ext uri="{FF2B5EF4-FFF2-40B4-BE49-F238E27FC236}">
                <a16:creationId xmlns:a16="http://schemas.microsoft.com/office/drawing/2014/main" id="{C010A56C-2050-4E9F-BB10-4039813C7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29050"/>
            <a:ext cx="1047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anchor="t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3450" b="1">
                <a:solidFill>
                  <a:srgbClr val="0B5FFF"/>
                </a:solidFill>
                <a:latin typeface="微软雅黑"/>
                <a:ea typeface="微软雅黑"/>
                <a:cs typeface="微软雅黑"/>
              </a:defRPr>
            </a:pPr>
            <a:r>
              <a:rPr sz="3450" b="1">
                <a:solidFill>
                  <a:srgbClr val="0B5FFF"/>
                </a:solidFill>
                <a:latin typeface="微软雅黑"/>
                <a:ea typeface="微软雅黑"/>
                <a:cs typeface="微软雅黑"/>
              </a:rPr>
              <a:t>03</a:t>
            </a:r>
            <a:endParaRPr sz="3450" b="1">
              <a:solidFill>
                <a:srgbClr val="0B5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6" name="agenda-title-2">
            <a:extLst xmlns:a="http://schemas.openxmlformats.org/drawingml/2006/main">
              <a:ext uri="{FF2B5EF4-FFF2-40B4-BE49-F238E27FC236}">
                <a16:creationId xmlns:a16="http://schemas.microsoft.com/office/drawing/2014/main" id="{DE62D92A-9D62-4087-A62D-FC2EDFC72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3886200"/>
            <a:ext cx="285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anchor="t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950" b="1">
                <a:solidFill>
                  <a:srgbClr val="0B1830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1">
                <a:solidFill>
                  <a:srgbClr val="0B1830"/>
                </a:solidFill>
                <a:latin typeface="微软雅黑"/>
                <a:ea typeface="微软雅黑"/>
                <a:cs typeface="微软雅黑"/>
              </a:rPr>
              <a:t>技术亮点</a:t>
            </a:r>
            <a:endParaRPr sz="1950" b="1">
              <a:solidFill>
                <a:srgbClr val="0B183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7" name="agenda-desc-2">
            <a:extLst xmlns:a="http://schemas.openxmlformats.org/drawingml/2006/main">
              <a:ext uri="{FF2B5EF4-FFF2-40B4-BE49-F238E27FC236}">
                <a16:creationId xmlns:a16="http://schemas.microsoft.com/office/drawing/2014/main" id="{2B588EA7-A1EB-4385-BE3F-EAC4B8792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4267200"/>
            <a:ext cx="762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anchor="t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275" b="0">
                <a:solidFill>
                  <a:srgbClr val="475569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0">
                <a:solidFill>
                  <a:srgbClr val="475569"/>
                </a:solidFill>
                <a:latin typeface="微软雅黑"/>
                <a:ea typeface="微软雅黑"/>
                <a:cs typeface="微软雅黑"/>
              </a:rPr>
              <a:t>AI </a:t>
            </a:r>
            <a:r>
              <a:rPr sz="1275" b="0">
                <a:solidFill>
                  <a:srgbClr val="475569"/>
                </a:solidFill>
                <a:latin typeface="微软雅黑"/>
                <a:ea typeface="微软雅黑"/>
                <a:cs typeface="微软雅黑"/>
              </a:rPr>
              <a:t>Agent 工具调用、安全执行、跨库适配</a:t>
            </a:r>
            <a:endParaRPr sz="1275" b="0">
              <a:solidFill>
                <a:srgbClr val="475569"/>
              </a:solidFill>
              <a:latin typeface="微软雅黑"/>
              <a:ea typeface="微软雅黑"/>
              <a:cs typeface="微软雅黑"/>
            </a:endParaRPr>
          </a:p>
        </p:txBody>
      </p:sp>
    </p:spTree>
    <p:extLst>
      <p:ext uri="{BB962C8B-B14F-4D97-AF65-F5344CB8AC3E}">
        <p14:creationId xmlns:p14="http://schemas.microsoft.com/office/powerpoint/2010/main" val="91365247"/>
      </p:ext>
    </p:extLst>
  </p:cSld>
</p:sld>
</file>

<file path=ppt/slides/slide1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kicker">
            <a:extLst xmlns:a="http://schemas.openxmlformats.org/drawingml/2006/main">
              <a:ext uri="{FF2B5EF4-FFF2-40B4-BE49-F238E27FC236}">
                <a16:creationId xmlns:a16="http://schemas.microsoft.com/office/drawing/2014/main" id="{EF8CD424-3F67-496C-94DF-B8D9AAA6D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anchor="t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050" b="1">
                <a:solidFill>
                  <a:srgbClr val="0B5FFF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1">
                <a:solidFill>
                  <a:srgbClr val="0B5FFF"/>
                </a:solidFill>
                <a:latin typeface="微软雅黑"/>
                <a:ea typeface="微软雅黑"/>
                <a:cs typeface="微软雅黑"/>
              </a:rPr>
              <a:t>核心亮点 · AI Agent</a:t>
            </a:r>
            <a:endParaRPr sz="1050" b="1">
              <a:solidFill>
                <a:srgbClr val="0B5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D7616B21-0478-4718-8345-B298BB224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1047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anchor="t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2625" b="1">
                <a:solidFill>
                  <a:srgbClr val="0F172A"/>
                </a:solidFill>
                <a:latin typeface="微软雅黑"/>
                <a:ea typeface="微软雅黑"/>
                <a:cs typeface="微软雅黑"/>
              </a:defRPr>
            </a:pPr>
            <a:r>
              <a:rPr sz="2625" b="1">
                <a:solidFill>
                  <a:srgbClr val="0F172A"/>
                </a:solidFill>
                <a:latin typeface="微软雅黑"/>
                <a:ea typeface="微软雅黑"/>
                <a:cs typeface="微软雅黑"/>
              </a:rPr>
              <a:t>把自然语言变成可信、可解释、可执行的 SQL</a:t>
            </a:r>
            <a:endParaRPr sz="2625" b="1">
              <a:solidFill>
                <a:srgbClr val="0F172A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" name="title-accent">
            <a:extLst xmlns:a="http://schemas.openxmlformats.org/drawingml/2006/main">
              <a:ext uri="{FF2B5EF4-FFF2-40B4-BE49-F238E27FC236}">
                <a16:creationId xmlns:a16="http://schemas.microsoft.com/office/drawing/2014/main" id="{D1E89406-837C-479E-8BCF-DB861C9DF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38250"/>
            <a:ext cx="5334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5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footer-line">
            <a:extLst xmlns:a="http://schemas.openxmlformats.org/drawingml/2006/main">
              <a:ext uri="{FF2B5EF4-FFF2-40B4-BE49-F238E27FC236}">
                <a16:creationId xmlns:a16="http://schemas.microsoft.com/office/drawing/2014/main" id="{061491C8-3EFA-4F1B-AFF6-A05E15410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footer-left">
            <a:extLst xmlns:a="http://schemas.openxmlformats.org/drawingml/2006/main">
              <a:ext uri="{FF2B5EF4-FFF2-40B4-BE49-F238E27FC236}">
                <a16:creationId xmlns:a16="http://schemas.microsoft.com/office/drawing/2014/main" id="{8EA40A87-0814-4BBD-A27A-433FB0C3F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anchor="t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900" b="0">
                <a:solidFill>
                  <a:srgbClr val="94A3B8"/>
                </a:solidFill>
                <a:latin typeface="微软雅黑"/>
                <a:ea typeface="微软雅黑"/>
                <a:cs typeface="微软雅黑"/>
              </a:defRPr>
            </a:pPr>
            <a:r>
              <a:rPr sz="900" b="0">
                <a:solidFill>
                  <a:srgbClr val="94A3B8"/>
                </a:solidFill>
                <a:latin typeface="微软雅黑"/>
                <a:ea typeface="微软雅黑"/>
                <a:cs typeface="微软雅黑"/>
              </a:rPr>
              <a:t>DataMind · 数据库 Agent Web 应用</a:t>
            </a:r>
            <a:endParaRPr sz="900" b="0">
              <a:solidFill>
                <a:srgbClr val="94A3B8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6" name="footer-page">
            <a:extLst xmlns:a="http://schemas.openxmlformats.org/drawingml/2006/main">
              <a:ext uri="{FF2B5EF4-FFF2-40B4-BE49-F238E27FC236}">
                <a16:creationId xmlns:a16="http://schemas.microsoft.com/office/drawing/2014/main" id="{9FD3C3DF-F924-464D-ADF5-1E1670718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0" y="6534150"/>
            <a:ext cx="95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anchor="t"/>
          <a:lstStyle xmlns:a="http://schemas.openxmlformats.org/drawingml/2006/main"/>
          <a:p xmlns:a="http://schemas.openxmlformats.org/drawingml/2006/main">
            <a:pPr algn="r">
              <a:lnSpc>
                <a:spcPct val="125000"/>
              </a:lnSpc>
              <a:buNone/>
              <a:defRPr sz="900" b="0">
                <a:solidFill>
                  <a:srgbClr val="94A3B8"/>
                </a:solidFill>
                <a:latin typeface="微软雅黑"/>
                <a:ea typeface="微软雅黑"/>
                <a:cs typeface="微软雅黑"/>
              </a:defRPr>
            </a:pPr>
            <a:r>
              <a:rPr sz="900" b="0">
                <a:solidFill>
                  <a:srgbClr val="94A3B8"/>
                </a:solidFill>
                <a:latin typeface="微软雅黑"/>
                <a:ea typeface="微软雅黑"/>
                <a:cs typeface="微软雅黑"/>
              </a:rPr>
              <a:t>17</a:t>
            </a:r>
            <a:endParaRPr sz="900" b="0">
              <a:solidFill>
                <a:srgbClr val="94A3B8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7" name="agent-overview-intro">
            <a:extLst xmlns:a="http://schemas.openxmlformats.org/drawingml/2006/main">
              <a:ext uri="{FF2B5EF4-FFF2-40B4-BE49-F238E27FC236}">
                <a16:creationId xmlns:a16="http://schemas.microsoft.com/office/drawing/2014/main" id="{E339B070-8EB3-4623-8914-F2F776F36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10820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anchor="t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350" b="0">
                <a:solidFill>
                  <a:srgbClr val="475569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475569"/>
                </a:solidFill>
                <a:latin typeface="微软雅黑"/>
                <a:ea typeface="微软雅黑"/>
                <a:cs typeface="微软雅黑"/>
              </a:rPr>
              <a:t>Agent 不是简单调用大模型，而是围绕 Schema、工具与安全策略构建的查询推理系统。</a:t>
            </a:r>
            <a:endParaRPr sz="1350" b="0">
              <a:solidFill>
                <a:srgbClr val="475569"/>
              </a:solidFill>
              <a:latin typeface="微软雅黑"/>
              <a:ea typeface="微软雅黑"/>
              <a:cs typeface="微软雅黑"/>
            </a:endParaRPr>
          </a:p>
        </p:txBody>
      </p:sp>
      <p:graphicFrame>
        <p:nvGraphicFramePr>
          <p:cNvPr id="16" name="表格 15">
            <a:extLst xmlns:a="http://schemas.openxmlformats.org/drawingml/2006/main">
              <a:ext uri="{FF2B5EF4-FFF2-40B4-BE49-F238E27FC236}">
                <a16:creationId xmlns:a16="http://schemas.microsoft.com/office/drawing/2014/main" id="{613D18DD-D38A-49DB-81EC-022D03051E60}"/>
              </a:ext>
            </a:extLst>
          </p:cNvPr>
          <p:cNvGraphicFramePr/>
          <p:nvPr/>
        </p:nvGraphicFramePr>
        <p:xfrm>
          <a:off xmlns:a="http://schemas.openxmlformats.org/drawingml/2006/main" x="685800" y="2095500"/>
          <a:ext xmlns:a="http://schemas.openxmlformats.org/drawingml/2006/main" cx="10820400" cy="342900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3606800"/>
                <a:gridCol w="3606800"/>
                <a:gridCol w="3606800"/>
              </a:tblGrid>
              <a:tr h="5715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能力</a:t>
                      </a:r>
                      <a:endParaRPr sz="1200" b="1">
                        <a:solidFill>
                          <a:srgbClr val="FFFFFF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33350" marR="133350" marT="66675" marB="66675" anchor="ctr">
                    <a:solidFill>
                      <a:srgbClr val="0B5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说明</a:t>
                      </a:r>
                      <a:endParaRPr sz="1200" b="1">
                        <a:solidFill>
                          <a:srgbClr val="FFFFFF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33350" marR="133350" marT="66675" marB="66675" anchor="ctr">
                    <a:solidFill>
                      <a:srgbClr val="0B5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价值</a:t>
                      </a:r>
                      <a:endParaRPr sz="1200" b="1">
                        <a:solidFill>
                          <a:srgbClr val="FFFFFF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33350" marR="133350" marT="66675" marB="66675" anchor="ctr">
                    <a:solidFill>
                      <a:srgbClr val="0B5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0F172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自然语言 → SQL</a:t>
                      </a:r>
                      <a:endParaRPr sz="1200">
                        <a:solidFill>
                          <a:srgbClr val="0F172A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33350" marR="133350" marT="57150" marB="5715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0F172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输入问题，自动生成对应 SQL</a:t>
                      </a:r>
                      <a:endParaRPr sz="1200">
                        <a:solidFill>
                          <a:srgbClr val="0F172A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33350" marR="133350" marT="57150" marB="5715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0F172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降低取数门槛</a:t>
                      </a:r>
                      <a:endParaRPr sz="1200">
                        <a:solidFill>
                          <a:srgbClr val="0F172A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33350" marR="133350" marT="57150" marB="57150" anchor="ctr"/>
                </a:tc>
              </a:tr>
              <a:tr h="5715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0F172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Schema 感知</a:t>
                      </a:r>
                      <a:endParaRPr sz="1200">
                        <a:solidFill>
                          <a:srgbClr val="0F172A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33350" marR="133350" marT="57150" marB="5715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0F172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自动获取表结构作为上下文</a:t>
                      </a:r>
                      <a:endParaRPr sz="1200">
                        <a:solidFill>
                          <a:srgbClr val="0F172A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33350" marR="133350" marT="57150" marB="5715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0F172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提升生成准确率</a:t>
                      </a:r>
                      <a:endParaRPr sz="1200">
                        <a:solidFill>
                          <a:srgbClr val="0F172A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33350" marR="133350" marT="57150" marB="57150" anchor="ctr"/>
                </a:tc>
              </a:tr>
              <a:tr h="5715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0F172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多轮对话</a:t>
                      </a:r>
                      <a:endParaRPr sz="1200">
                        <a:solidFill>
                          <a:srgbClr val="0F172A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33350" marR="133350" marT="57150" marB="5715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0F172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保留上下文，可追问与调整</a:t>
                      </a:r>
                      <a:endParaRPr sz="1200">
                        <a:solidFill>
                          <a:srgbClr val="0F172A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33350" marR="133350" marT="57150" marB="5715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0F172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更自然的交互</a:t>
                      </a:r>
                      <a:endParaRPr sz="1200">
                        <a:solidFill>
                          <a:srgbClr val="0F172A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33350" marR="133350" marT="57150" marB="57150" anchor="ctr"/>
                </a:tc>
              </a:tr>
              <a:tr h="5715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0F172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SQL 解释与优化</a:t>
                      </a:r>
                      <a:endParaRPr sz="1200">
                        <a:solidFill>
                          <a:srgbClr val="0F172A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33350" marR="133350" marT="57150" marB="5715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0F172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解释含义、分析执行计划</a:t>
                      </a:r>
                      <a:endParaRPr sz="1200">
                        <a:solidFill>
                          <a:srgbClr val="0F172A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33350" marR="133350" marT="57150" marB="5715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0F172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帮助理解与调优</a:t>
                      </a:r>
                      <a:endParaRPr sz="1200">
                        <a:solidFill>
                          <a:srgbClr val="0F172A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33350" marR="133350" marT="57150" marB="57150" anchor="ctr"/>
                </a:tc>
              </a:tr>
              <a:tr h="5715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0F172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流式输出</a:t>
                      </a:r>
                      <a:endParaRPr sz="1200">
                        <a:solidFill>
                          <a:srgbClr val="0F172A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33350" marR="133350" marT="57150" marB="5715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0F172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SSE 实时返回思考过程与结果</a:t>
                      </a:r>
                      <a:endParaRPr sz="1200">
                        <a:solidFill>
                          <a:srgbClr val="0F172A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33350" marR="133350" marT="57150" marB="5715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0F172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体验透明</a:t>
                      </a:r>
                      <a:endParaRPr sz="1200">
                        <a:solidFill>
                          <a:srgbClr val="0F172A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33350" marR="133350" marT="57150" marB="57150" anchor="ctr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3744307"/>
      </p:ext>
    </p:extLst>
  </p:cSld>
</p:sld>
</file>

<file path=ppt/slides/slide1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kicker">
            <a:extLst xmlns:a="http://schemas.openxmlformats.org/drawingml/2006/main">
              <a:ext uri="{FF2B5EF4-FFF2-40B4-BE49-F238E27FC236}">
                <a16:creationId xmlns:a16="http://schemas.microsoft.com/office/drawing/2014/main" id="{744C685A-BA3B-4879-AEA7-5621121E0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anchor="t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050" b="1">
                <a:solidFill>
                  <a:srgbClr val="0B5FFF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1">
                <a:solidFill>
                  <a:srgbClr val="0B5FFF"/>
                </a:solidFill>
                <a:latin typeface="微软雅黑"/>
                <a:ea typeface="微软雅黑"/>
                <a:cs typeface="微软雅黑"/>
              </a:rPr>
              <a:t>Agent 执行链路</a:t>
            </a:r>
            <a:endParaRPr sz="1050" b="1">
              <a:solidFill>
                <a:srgbClr val="0B5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75C27475-C7D1-4BAF-9E45-C1A69C799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1047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anchor="t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2625" b="1">
                <a:solidFill>
                  <a:srgbClr val="0F172A"/>
                </a:solidFill>
                <a:latin typeface="微软雅黑"/>
                <a:ea typeface="微软雅黑"/>
                <a:cs typeface="微软雅黑"/>
              </a:defRPr>
            </a:pPr>
            <a:r>
              <a:rPr sz="2625" b="1">
                <a:solidFill>
                  <a:srgbClr val="0F172A"/>
                </a:solidFill>
                <a:latin typeface="微软雅黑"/>
                <a:ea typeface="微软雅黑"/>
                <a:cs typeface="微软雅黑"/>
              </a:rPr>
              <a:t>工具调用 + 失败重试 + few-shot，让结果更可靠</a:t>
            </a:r>
            <a:endParaRPr sz="2625" b="1">
              <a:solidFill>
                <a:srgbClr val="0F172A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" name="title-accent">
            <a:extLst xmlns:a="http://schemas.openxmlformats.org/drawingml/2006/main">
              <a:ext uri="{FF2B5EF4-FFF2-40B4-BE49-F238E27FC236}">
                <a16:creationId xmlns:a16="http://schemas.microsoft.com/office/drawing/2014/main" id="{302E1779-7AE5-467C-BE43-8901B5F9D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38250"/>
            <a:ext cx="5334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5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footer-line">
            <a:extLst xmlns:a="http://schemas.openxmlformats.org/drawingml/2006/main">
              <a:ext uri="{FF2B5EF4-FFF2-40B4-BE49-F238E27FC236}">
                <a16:creationId xmlns:a16="http://schemas.microsoft.com/office/drawing/2014/main" id="{0FA10220-6C16-49F8-9EC1-06B086DA1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footer-left">
            <a:extLst xmlns:a="http://schemas.openxmlformats.org/drawingml/2006/main">
              <a:ext uri="{FF2B5EF4-FFF2-40B4-BE49-F238E27FC236}">
                <a16:creationId xmlns:a16="http://schemas.microsoft.com/office/drawing/2014/main" id="{5DBA5C7D-62C0-44DD-9EA9-3E0472AAE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anchor="t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900" b="0">
                <a:solidFill>
                  <a:srgbClr val="94A3B8"/>
                </a:solidFill>
                <a:latin typeface="微软雅黑"/>
                <a:ea typeface="微软雅黑"/>
                <a:cs typeface="微软雅黑"/>
              </a:defRPr>
            </a:pPr>
            <a:r>
              <a:rPr sz="900" b="0">
                <a:solidFill>
                  <a:srgbClr val="94A3B8"/>
                </a:solidFill>
                <a:latin typeface="微软雅黑"/>
                <a:ea typeface="微软雅黑"/>
                <a:cs typeface="微软雅黑"/>
              </a:rPr>
              <a:t>DataMind · 数据库 Agent Web 应用</a:t>
            </a:r>
            <a:endParaRPr sz="900" b="0">
              <a:solidFill>
                <a:srgbClr val="94A3B8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6" name="footer-page">
            <a:extLst xmlns:a="http://schemas.openxmlformats.org/drawingml/2006/main">
              <a:ext uri="{FF2B5EF4-FFF2-40B4-BE49-F238E27FC236}">
                <a16:creationId xmlns:a16="http://schemas.microsoft.com/office/drawing/2014/main" id="{3BAE2020-F4AA-4091-897D-72D95E44E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0" y="6534150"/>
            <a:ext cx="95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anchor="t"/>
          <a:lstStyle xmlns:a="http://schemas.openxmlformats.org/drawingml/2006/main"/>
          <a:p xmlns:a="http://schemas.openxmlformats.org/drawingml/2006/main">
            <a:pPr algn="r">
              <a:lnSpc>
                <a:spcPct val="125000"/>
              </a:lnSpc>
              <a:buNone/>
              <a:defRPr sz="900" b="0">
                <a:solidFill>
                  <a:srgbClr val="94A3B8"/>
                </a:solidFill>
                <a:latin typeface="微软雅黑"/>
                <a:ea typeface="微软雅黑"/>
                <a:cs typeface="微软雅黑"/>
              </a:defRPr>
            </a:pPr>
            <a:r>
              <a:rPr sz="900" b="0">
                <a:solidFill>
                  <a:srgbClr val="94A3B8"/>
                </a:solidFill>
                <a:latin typeface="微软雅黑"/>
                <a:ea typeface="微软雅黑"/>
                <a:cs typeface="微软雅黑"/>
              </a:rPr>
              <a:t>18</a:t>
            </a:r>
            <a:endParaRPr sz="900" b="0">
              <a:solidFill>
                <a:srgbClr val="94A3B8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7" name="agent-node-0">
            <a:extLst xmlns:a="http://schemas.openxmlformats.org/drawingml/2006/main">
              <a:ext uri="{FF2B5EF4-FFF2-40B4-BE49-F238E27FC236}">
                <a16:creationId xmlns:a16="http://schemas.microsoft.com/office/drawing/2014/main" id="{E3B206FA-DE51-4FDA-BB32-2DD056534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37665"/>
            <a:ext cx="1809750" cy="704850"/>
          </a:xfrm>
          <a:prstGeom xmlns:a="http://schemas.openxmlformats.org/drawingml/2006/main" prst="roundRect">
            <a:avLst>
              <a:gd name="adj" fmla="val 16216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BFDBFE"/>
            </a:solidFill>
            <a:prstDash val="solid"/>
          </a:ln>
        </p:spPr>
        <p:style>
          <a:lnRef xmlns:a="http://schemas.openxmlformats.org/drawingml/2006/main" idx="0">
            <a:srgbClr val="FFFFFF"/>
          </a:lnRef>
          <a:fillRef xmlns:a="http://schemas.openxmlformats.org/drawingml/2006/main" idx="0">
            <a:srgbClr val="FFFFFF"/>
          </a:fillRef>
          <a:effectRef xmlns:a="http://schemas.openxmlformats.org/drawingml/2006/main" idx="4">
            <a:srgbClr val="FFFFFF"/>
          </a:effectRef>
          <a:fontRef xmlns:a="http://schemas.openxmlformats.org/drawingml/2006/main" idx="major"/>
        </p:style>
      </p:sp>
      <p:sp>
        <p:nvSpPr>
          <p:cNvPr id="8" name="agent-node-title-0">
            <a:extLst xmlns:a="http://schemas.openxmlformats.org/drawingml/2006/main">
              <a:ext uri="{FF2B5EF4-FFF2-40B4-BE49-F238E27FC236}">
                <a16:creationId xmlns:a16="http://schemas.microsoft.com/office/drawing/2014/main" id="{E168D5AD-69AE-496E-9149-D024D1630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771015"/>
            <a:ext cx="1581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anchor="t"/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1500" b="1">
                <a:solidFill>
                  <a:srgbClr val="0B1830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0B1830"/>
                </a:solidFill>
                <a:latin typeface="微软雅黑"/>
                <a:ea typeface="微软雅黑"/>
                <a:cs typeface="微软雅黑"/>
              </a:rPr>
              <a:t>用户提问</a:t>
            </a:r>
            <a:endParaRPr sz="1500" b="1">
              <a:solidFill>
                <a:srgbClr val="0B183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9" name="agent-node-desc-0">
            <a:extLst xmlns:a="http://schemas.openxmlformats.org/drawingml/2006/main">
              <a:ext uri="{FF2B5EF4-FFF2-40B4-BE49-F238E27FC236}">
                <a16:creationId xmlns:a16="http://schemas.microsoft.com/office/drawing/2014/main" id="{9BA60F3A-EF17-42AD-B467-D3C77CE75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75815"/>
            <a:ext cx="161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anchor="t"/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975" b="0">
                <a:solidFill>
                  <a:srgbClr val="475569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475569"/>
                </a:solidFill>
                <a:latin typeface="微软雅黑"/>
                <a:ea typeface="微软雅黑"/>
                <a:cs typeface="微软雅黑"/>
              </a:rPr>
              <a:t>自然语言描述需求</a:t>
            </a:r>
            <a:endParaRPr sz="975" b="0">
              <a:solidFill>
                <a:srgbClr val="475569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0" name="agent-arrow-0">
            <a:extLst xmlns:a="http://schemas.openxmlformats.org/drawingml/2006/main">
              <a:ext uri="{FF2B5EF4-FFF2-40B4-BE49-F238E27FC236}">
                <a16:creationId xmlns:a16="http://schemas.microsoft.com/office/drawing/2014/main" id="{83E11C4D-04AD-4383-BCDB-8EB60C0E4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1866265"/>
            <a:ext cx="209550" cy="2476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B5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agent-node-1">
            <a:extLst xmlns:a="http://schemas.openxmlformats.org/drawingml/2006/main">
              <a:ext uri="{FF2B5EF4-FFF2-40B4-BE49-F238E27FC236}">
                <a16:creationId xmlns:a16="http://schemas.microsoft.com/office/drawing/2014/main" id="{D70F42FF-1916-4692-B73B-3061AB545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1637665"/>
            <a:ext cx="1809750" cy="704850"/>
          </a:xfrm>
          <a:prstGeom xmlns:a="http://schemas.openxmlformats.org/drawingml/2006/main" prst="roundRect">
            <a:avLst>
              <a:gd name="adj" fmla="val 16216"/>
            </a:avLst>
          </a:prstGeom>
          <a:solidFill xmlns:a="http://schemas.openxmlformats.org/drawingml/2006/main">
            <a:srgbClr val="0B5FFF"/>
          </a:solidFill>
          <a:ln xmlns:a="http://schemas.openxmlformats.org/drawingml/2006/main" w="9525">
            <a:noFill/>
            <a:prstDash val="solid"/>
          </a:ln>
        </p:spPr>
        <p:style>
          <a:lnRef xmlns:a="http://schemas.openxmlformats.org/drawingml/2006/main" idx="0">
            <a:srgbClr val="FFFFFF"/>
          </a:lnRef>
          <a:fillRef xmlns:a="http://schemas.openxmlformats.org/drawingml/2006/main" idx="0">
            <a:srgbClr val="FFFFFF"/>
          </a:fillRef>
          <a:effectRef xmlns:a="http://schemas.openxmlformats.org/drawingml/2006/main" idx="4">
            <a:srgbClr val="FFFFFF"/>
          </a:effectRef>
          <a:fontRef xmlns:a="http://schemas.openxmlformats.org/drawingml/2006/main" idx="major"/>
        </p:style>
      </p:sp>
      <p:sp>
        <p:nvSpPr>
          <p:cNvPr id="12" name="agent-node-title-1">
            <a:extLst xmlns:a="http://schemas.openxmlformats.org/drawingml/2006/main">
              <a:ext uri="{FF2B5EF4-FFF2-40B4-BE49-F238E27FC236}">
                <a16:creationId xmlns:a16="http://schemas.microsoft.com/office/drawing/2014/main" id="{92DCADA7-8153-4D60-A8CB-9043670B9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771015"/>
            <a:ext cx="1581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anchor="t"/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Agent 推理</a:t>
            </a:r>
            <a:endParaRPr sz="1500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3" name="agent-node-desc-1">
            <a:extLst xmlns:a="http://schemas.openxmlformats.org/drawingml/2006/main">
              <a:ext uri="{FF2B5EF4-FFF2-40B4-BE49-F238E27FC236}">
                <a16:creationId xmlns:a16="http://schemas.microsoft.com/office/drawing/2014/main" id="{71F89F85-B710-4A71-AE4C-60BFC5215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2075815"/>
            <a:ext cx="161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anchor="t"/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975" b="0">
                <a:solidFill>
                  <a:srgbClr val="DBEAFE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DBEAFE"/>
                </a:solidFill>
                <a:latin typeface="微软雅黑"/>
                <a:ea typeface="微软雅黑"/>
                <a:cs typeface="微软雅黑"/>
              </a:rPr>
              <a:t>Schema 感知 + 历史 few-shot</a:t>
            </a:r>
            <a:endParaRPr sz="975" b="0">
              <a:solidFill>
                <a:srgbClr val="DBEAFE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4" name="agent-arrow-1">
            <a:extLst xmlns:a="http://schemas.openxmlformats.org/drawingml/2006/main">
              <a:ext uri="{FF2B5EF4-FFF2-40B4-BE49-F238E27FC236}">
                <a16:creationId xmlns:a16="http://schemas.microsoft.com/office/drawing/2014/main" id="{F56A9021-B64B-44CC-9FD7-C91043D07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1866265"/>
            <a:ext cx="209550" cy="2476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B5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agent-node-2">
            <a:extLst xmlns:a="http://schemas.openxmlformats.org/drawingml/2006/main">
              <a:ext uri="{FF2B5EF4-FFF2-40B4-BE49-F238E27FC236}">
                <a16:creationId xmlns:a16="http://schemas.microsoft.com/office/drawing/2014/main" id="{98FF4A43-1009-44A9-B913-58CBA95B6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1637665"/>
            <a:ext cx="1809750" cy="704850"/>
          </a:xfrm>
          <a:prstGeom xmlns:a="http://schemas.openxmlformats.org/drawingml/2006/main" prst="roundRect">
            <a:avLst>
              <a:gd name="adj" fmla="val 16216"/>
            </a:avLst>
          </a:prstGeom>
          <a:solidFill xmlns:a="http://schemas.openxmlformats.org/drawingml/2006/main">
            <a:srgbClr val="0B5FFF"/>
          </a:solidFill>
          <a:ln xmlns:a="http://schemas.openxmlformats.org/drawingml/2006/main" w="9525">
            <a:noFill/>
            <a:prstDash val="solid"/>
          </a:ln>
        </p:spPr>
        <p:style>
          <a:lnRef xmlns:a="http://schemas.openxmlformats.org/drawingml/2006/main" idx="0">
            <a:srgbClr val="FFFFFF"/>
          </a:lnRef>
          <a:fillRef xmlns:a="http://schemas.openxmlformats.org/drawingml/2006/main" idx="0">
            <a:srgbClr val="FFFFFF"/>
          </a:fillRef>
          <a:effectRef xmlns:a="http://schemas.openxmlformats.org/drawingml/2006/main" idx="4">
            <a:srgbClr val="FFFFFF"/>
          </a:effectRef>
          <a:fontRef xmlns:a="http://schemas.openxmlformats.org/drawingml/2006/main" idx="major"/>
        </p:style>
      </p:sp>
      <p:sp>
        <p:nvSpPr>
          <p:cNvPr id="16" name="agent-node-title-2">
            <a:extLst xmlns:a="http://schemas.openxmlformats.org/drawingml/2006/main">
              <a:ext uri="{FF2B5EF4-FFF2-40B4-BE49-F238E27FC236}">
                <a16:creationId xmlns:a16="http://schemas.microsoft.com/office/drawing/2014/main" id="{9FA23F0C-87B6-4C23-9C4D-5D6C280BF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1771015"/>
            <a:ext cx="1581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anchor="t"/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工具调用</a:t>
            </a:r>
            <a:endParaRPr sz="1500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7" name="agent-node-desc-2">
            <a:extLst xmlns:a="http://schemas.openxmlformats.org/drawingml/2006/main">
              <a:ext uri="{FF2B5EF4-FFF2-40B4-BE49-F238E27FC236}">
                <a16:creationId xmlns:a16="http://schemas.microsoft.com/office/drawing/2014/main" id="{EA32FCDF-BE5D-4846-B326-8E62C03F8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2075815"/>
            <a:ext cx="161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anchor="t"/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975" b="0">
                <a:solidFill>
                  <a:srgbClr val="DBEAFE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DBEAFE"/>
                </a:solidFill>
                <a:latin typeface="微软雅黑"/>
                <a:ea typeface="微软雅黑"/>
                <a:cs typeface="微软雅黑"/>
              </a:rPr>
              <a:t>表结构 / 采样 / EXPLAIN</a:t>
            </a:r>
            <a:endParaRPr sz="975" b="0">
              <a:solidFill>
                <a:srgbClr val="DBEAFE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8" name="agent-arrow-2">
            <a:extLst xmlns:a="http://schemas.openxmlformats.org/drawingml/2006/main">
              <a:ext uri="{FF2B5EF4-FFF2-40B4-BE49-F238E27FC236}">
                <a16:creationId xmlns:a16="http://schemas.microsoft.com/office/drawing/2014/main" id="{86400DC4-580C-4AF0-9CCC-3671BDE9A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1866265"/>
            <a:ext cx="209550" cy="2476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B5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agent-node-3">
            <a:extLst xmlns:a="http://schemas.openxmlformats.org/drawingml/2006/main">
              <a:ext uri="{FF2B5EF4-FFF2-40B4-BE49-F238E27FC236}">
                <a16:creationId xmlns:a16="http://schemas.microsoft.com/office/drawing/2014/main" id="{4093B9B8-D6C2-408C-9E9C-F20EE1527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1637665"/>
            <a:ext cx="1809750" cy="704850"/>
          </a:xfrm>
          <a:prstGeom xmlns:a="http://schemas.openxmlformats.org/drawingml/2006/main" prst="roundRect">
            <a:avLst>
              <a:gd name="adj" fmla="val 16216"/>
            </a:avLst>
          </a:prstGeom>
          <a:solidFill xmlns:a="http://schemas.openxmlformats.org/drawingml/2006/main">
            <a:srgbClr val="0B5FFF"/>
          </a:solidFill>
          <a:ln xmlns:a="http://schemas.openxmlformats.org/drawingml/2006/main" w="9525">
            <a:noFill/>
            <a:prstDash val="solid"/>
          </a:ln>
        </p:spPr>
        <p:style>
          <a:lnRef xmlns:a="http://schemas.openxmlformats.org/drawingml/2006/main" idx="0">
            <a:srgbClr val="FFFFFF"/>
          </a:lnRef>
          <a:fillRef xmlns:a="http://schemas.openxmlformats.org/drawingml/2006/main" idx="0">
            <a:srgbClr val="FFFFFF"/>
          </a:fillRef>
          <a:effectRef xmlns:a="http://schemas.openxmlformats.org/drawingml/2006/main" idx="4">
            <a:srgbClr val="FFFFFF"/>
          </a:effectRef>
          <a:fontRef xmlns:a="http://schemas.openxmlformats.org/drawingml/2006/main" idx="major"/>
        </p:style>
      </p:sp>
      <p:sp>
        <p:nvSpPr>
          <p:cNvPr id="20" name="agent-node-title-3">
            <a:extLst xmlns:a="http://schemas.openxmlformats.org/drawingml/2006/main">
              <a:ext uri="{FF2B5EF4-FFF2-40B4-BE49-F238E27FC236}">
                <a16:creationId xmlns:a16="http://schemas.microsoft.com/office/drawing/2014/main" id="{1F232630-932A-4114-BFFB-31D146D4D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1771015"/>
            <a:ext cx="1581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anchor="t"/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生成 SQL</a:t>
            </a:r>
            <a:endParaRPr sz="1500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1" name="agent-node-desc-3">
            <a:extLst xmlns:a="http://schemas.openxmlformats.org/drawingml/2006/main">
              <a:ext uri="{FF2B5EF4-FFF2-40B4-BE49-F238E27FC236}">
                <a16:creationId xmlns:a16="http://schemas.microsoft.com/office/drawing/2014/main" id="{D3A19887-3C43-4CC0-A508-946E38AF2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2075815"/>
            <a:ext cx="161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anchor="t"/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975" b="0">
                <a:solidFill>
                  <a:srgbClr val="DBEAFE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DBEAFE"/>
                </a:solidFill>
                <a:latin typeface="微软雅黑"/>
                <a:ea typeface="微软雅黑"/>
                <a:cs typeface="微软雅黑"/>
              </a:rPr>
              <a:t>只读查询或写操作</a:t>
            </a:r>
            <a:endParaRPr sz="975" b="0">
              <a:solidFill>
                <a:srgbClr val="DBEAFE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2" name="agent-arrow-3">
            <a:extLst xmlns:a="http://schemas.openxmlformats.org/drawingml/2006/main">
              <a:ext uri="{FF2B5EF4-FFF2-40B4-BE49-F238E27FC236}">
                <a16:creationId xmlns:a16="http://schemas.microsoft.com/office/drawing/2014/main" id="{6C3A02B7-4A9F-49A6-8DB6-CD28ECFE8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1866265"/>
            <a:ext cx="209550" cy="2476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B5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agent-node-4">
            <a:extLst xmlns:a="http://schemas.openxmlformats.org/drawingml/2006/main">
              <a:ext uri="{FF2B5EF4-FFF2-40B4-BE49-F238E27FC236}">
                <a16:creationId xmlns:a16="http://schemas.microsoft.com/office/drawing/2014/main" id="{6632FA9B-34F7-42D2-AF96-331702689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637665"/>
            <a:ext cx="1809750" cy="704850"/>
          </a:xfrm>
          <a:prstGeom xmlns:a="http://schemas.openxmlformats.org/drawingml/2006/main" prst="roundRect">
            <a:avLst>
              <a:gd name="adj" fmla="val 16216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BFDBFE"/>
            </a:solidFill>
            <a:prstDash val="solid"/>
          </a:ln>
        </p:spPr>
        <p:style>
          <a:lnRef xmlns:a="http://schemas.openxmlformats.org/drawingml/2006/main" idx="0">
            <a:srgbClr val="FFFFFF"/>
          </a:lnRef>
          <a:fillRef xmlns:a="http://schemas.openxmlformats.org/drawingml/2006/main" idx="0">
            <a:srgbClr val="FFFFFF"/>
          </a:fillRef>
          <a:effectRef xmlns:a="http://schemas.openxmlformats.org/drawingml/2006/main" idx="4">
            <a:srgbClr val="FFFFFF"/>
          </a:effectRef>
          <a:fontRef xmlns:a="http://schemas.openxmlformats.org/drawingml/2006/main" idx="major"/>
        </p:style>
      </p:sp>
      <p:sp>
        <p:nvSpPr>
          <p:cNvPr id="24" name="agent-node-title-4">
            <a:extLst xmlns:a="http://schemas.openxmlformats.org/drawingml/2006/main">
              <a:ext uri="{FF2B5EF4-FFF2-40B4-BE49-F238E27FC236}">
                <a16:creationId xmlns:a16="http://schemas.microsoft.com/office/drawing/2014/main" id="{85A37348-B443-4DA9-996C-FFB2D5FF3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1771015"/>
            <a:ext cx="1581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anchor="t"/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1500" b="1">
                <a:solidFill>
                  <a:srgbClr val="0B1830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0B1830"/>
                </a:solidFill>
                <a:latin typeface="微软雅黑"/>
                <a:ea typeface="微软雅黑"/>
                <a:cs typeface="微软雅黑"/>
              </a:rPr>
              <a:t>安全执行</a:t>
            </a:r>
            <a:endParaRPr sz="1500" b="1">
              <a:solidFill>
                <a:srgbClr val="0B183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5" name="agent-node-desc-4">
            <a:extLst xmlns:a="http://schemas.openxmlformats.org/drawingml/2006/main">
              <a:ext uri="{FF2B5EF4-FFF2-40B4-BE49-F238E27FC236}">
                <a16:creationId xmlns:a16="http://schemas.microsoft.com/office/drawing/2014/main" id="{AEDD5386-4503-483B-BED0-847523E9B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2075815"/>
            <a:ext cx="161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anchor="t"/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975" b="0">
                <a:solidFill>
                  <a:srgbClr val="475569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475569"/>
                </a:solidFill>
                <a:latin typeface="微软雅黑"/>
                <a:ea typeface="微软雅黑"/>
                <a:cs typeface="微软雅黑"/>
              </a:rPr>
              <a:t>结果 / 图表 / 解释</a:t>
            </a:r>
            <a:endParaRPr sz="975" b="0">
              <a:solidFill>
                <a:srgbClr val="475569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9" name="矩形 28">
            <a:extLst xmlns:a="http://schemas.openxmlformats.org/drawingml/2006/main">
              <a:ext uri="{FF2B5EF4-FFF2-40B4-BE49-F238E27FC236}">
                <a16:creationId xmlns:a16="http://schemas.microsoft.com/office/drawing/2014/main" id="{7603D951-9ED2-4AE8-8264-2ED6AAB4F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663793"/>
            <a:ext cx="3568732" cy="2971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0" name="矩形 29">
            <a:extLst xmlns:a="http://schemas.openxmlformats.org/drawingml/2006/main">
              <a:ext uri="{FF2B5EF4-FFF2-40B4-BE49-F238E27FC236}">
                <a16:creationId xmlns:a16="http://schemas.microsoft.com/office/drawing/2014/main" id="{67FD7E00-3067-4FD6-AE37-4D5D0C75A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218" y="2854293"/>
            <a:ext cx="3149632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4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工具调用</a:t>
            </a:r>
            <a:endParaRPr sz="24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31" name="矩形 30">
            <a:extLst xmlns:a="http://schemas.openxmlformats.org/drawingml/2006/main">
              <a:ext uri="{FF2B5EF4-FFF2-40B4-BE49-F238E27FC236}">
                <a16:creationId xmlns:a16="http://schemas.microsoft.com/office/drawing/2014/main" id="{E7A209E6-CEEA-44DD-9062-B3AEDD51D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218" y="3254343"/>
            <a:ext cx="3149632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list_tables、get_columns、sample_data、explain 四个工具按需调用，最多 3 轮。</a:t>
            </a:r>
            <a:endParaRPr sz="16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32" name="矩形 31">
            <a:extLst xmlns:a="http://schemas.openxmlformats.org/drawingml/2006/main">
              <a:ext uri="{FF2B5EF4-FFF2-40B4-BE49-F238E27FC236}">
                <a16:creationId xmlns:a16="http://schemas.microsoft.com/office/drawing/2014/main" id="{0595DE18-33A1-4DFC-9304-52DB02699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1682" y="2663793"/>
            <a:ext cx="3568732" cy="2971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3" name="矩形 32">
            <a:extLst xmlns:a="http://schemas.openxmlformats.org/drawingml/2006/main">
              <a:ext uri="{FF2B5EF4-FFF2-40B4-BE49-F238E27FC236}">
                <a16:creationId xmlns:a16="http://schemas.microsoft.com/office/drawing/2014/main" id="{E685C848-33EA-49B2-B63D-6CB281D70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1232" y="2854293"/>
            <a:ext cx="3149632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4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失败</a:t>
            </a:r>
            <a:r>
              <a:rPr sz="24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重试</a:t>
            </a:r>
            <a:endParaRPr sz="24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34" name="矩形 33">
            <a:extLst xmlns:a="http://schemas.openxmlformats.org/drawingml/2006/main">
              <a:ext uri="{FF2B5EF4-FFF2-40B4-BE49-F238E27FC236}">
                <a16:creationId xmlns:a16="http://schemas.microsoft.com/office/drawing/2014/main" id="{F1937B58-07E9-4E1A-BE67-DD0148DA6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1232" y="3254343"/>
            <a:ext cx="3149632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READ 查询执行失败时，自动把错误回传给 LLM 修正并重试</a:t>
            </a: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（</a:t>
            </a: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默认最多重试</a:t>
            </a: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3</a:t>
            </a: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次</a:t>
            </a: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，</a:t>
            </a: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可设置</a:t>
            </a: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）</a:t>
            </a: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。</a:t>
            </a:r>
            <a:endParaRPr sz="16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35" name="矩形 34">
            <a:extLst xmlns:a="http://schemas.openxmlformats.org/drawingml/2006/main">
              <a:ext uri="{FF2B5EF4-FFF2-40B4-BE49-F238E27FC236}">
                <a16:creationId xmlns:a16="http://schemas.microsoft.com/office/drawing/2014/main" id="{2FC48B98-D5CE-4118-B3E2-9A65AAA1F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95" y="2663793"/>
            <a:ext cx="3568732" cy="2971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6" name="矩形 35">
            <a:extLst xmlns:a="http://schemas.openxmlformats.org/drawingml/2006/main">
              <a:ext uri="{FF2B5EF4-FFF2-40B4-BE49-F238E27FC236}">
                <a16:creationId xmlns:a16="http://schemas.microsoft.com/office/drawing/2014/main" id="{5AF1C15B-D480-4FEA-A7E2-3926E84A1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245" y="2854293"/>
            <a:ext cx="3149632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4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经验复用</a:t>
            </a:r>
            <a:endParaRPr sz="24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37" name="矩形 36">
            <a:extLst xmlns:a="http://schemas.openxmlformats.org/drawingml/2006/main">
              <a:ext uri="{FF2B5EF4-FFF2-40B4-BE49-F238E27FC236}">
                <a16:creationId xmlns:a16="http://schemas.microsoft.com/office/drawing/2014/main" id="{5CEC9FE2-501B-43D6-B3AB-3038367CF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245" y="3254343"/>
            <a:ext cx="3149632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历史成功 SQL 作为 few-shot</a:t>
            </a: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（</a:t>
            </a: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少量示例</a:t>
            </a: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）</a:t>
            </a: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 注入新会话，越用越准。</a:t>
            </a:r>
            <a:endParaRPr sz="16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38" name="矩形 37">
            <a:extLst xmlns:a="http://schemas.openxmlformats.org/drawingml/2006/main">
              <a:ext uri="{FF2B5EF4-FFF2-40B4-BE49-F238E27FC236}">
                <a16:creationId xmlns:a16="http://schemas.microsoft.com/office/drawing/2014/main" id="{4B8C3787-9F0B-4BCE-ADD3-622C79D3E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493" y="5922645"/>
            <a:ext cx="11404568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不是简单调用大模型，而是把「工具调用、失败自愈、经验复用」做成工程闭环；一次对话通过 SSE 推送 thought / tool / sql / retry / result / chart 等事件，前端逐段渲染。</a:t>
            </a:r>
            <a:endParaRPr sz="16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</p:spTree>
    <p:extLst>
      <p:ext uri="{BB962C8B-B14F-4D97-AF65-F5344CB8AC3E}">
        <p14:creationId xmlns:p14="http://schemas.microsoft.com/office/powerpoint/2010/main" val="794588537"/>
      </p:ext>
    </p:extLst>
  </p:cSld>
</p:sld>
</file>

<file path=ppt/slides/slide1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kicker">
            <a:extLst xmlns:a="http://schemas.openxmlformats.org/drawingml/2006/main">
              <a:ext uri="{FF2B5EF4-FFF2-40B4-BE49-F238E27FC236}">
                <a16:creationId xmlns:a16="http://schemas.microsoft.com/office/drawing/2014/main" id="{2520BB21-39A4-450B-A74E-207C5EA05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anchor="t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050" b="1">
                <a:solidFill>
                  <a:srgbClr val="0B5FFF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1">
                <a:solidFill>
                  <a:srgbClr val="0B5FFF"/>
                </a:solidFill>
                <a:latin typeface="微软雅黑"/>
                <a:ea typeface="微软雅黑"/>
                <a:cs typeface="微软雅黑"/>
              </a:rPr>
              <a:t>核心亮点 · 安全执行</a:t>
            </a:r>
            <a:endParaRPr sz="1050" b="1">
              <a:solidFill>
                <a:srgbClr val="0B5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085EC280-1DE3-4C78-AFD2-DFE00392C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1047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anchor="t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2625" b="1">
                <a:solidFill>
                  <a:srgbClr val="0F172A"/>
                </a:solidFill>
                <a:latin typeface="微软雅黑"/>
                <a:ea typeface="微软雅黑"/>
                <a:cs typeface="微软雅黑"/>
              </a:defRPr>
            </a:pPr>
            <a:r>
              <a:rPr sz="2625" b="1">
                <a:solidFill>
                  <a:srgbClr val="0F172A"/>
                </a:solidFill>
                <a:latin typeface="微软雅黑"/>
                <a:ea typeface="微软雅黑"/>
                <a:cs typeface="微软雅黑"/>
              </a:rPr>
              <a:t>AI 可以生成 SQL，但不会拥有不受控的写权限</a:t>
            </a:r>
            <a:endParaRPr sz="2625" b="1">
              <a:solidFill>
                <a:srgbClr val="0F172A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" name="title-accent">
            <a:extLst xmlns:a="http://schemas.openxmlformats.org/drawingml/2006/main">
              <a:ext uri="{FF2B5EF4-FFF2-40B4-BE49-F238E27FC236}">
                <a16:creationId xmlns:a16="http://schemas.microsoft.com/office/drawing/2014/main" id="{B2EE8EE6-B7E6-4C09-8AC4-BAF279906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38250"/>
            <a:ext cx="5334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5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footer-line">
            <a:extLst xmlns:a="http://schemas.openxmlformats.org/drawingml/2006/main">
              <a:ext uri="{FF2B5EF4-FFF2-40B4-BE49-F238E27FC236}">
                <a16:creationId xmlns:a16="http://schemas.microsoft.com/office/drawing/2014/main" id="{1C21CFE8-C2E9-4A00-AD00-D6FBEC135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footer-left">
            <a:extLst xmlns:a="http://schemas.openxmlformats.org/drawingml/2006/main">
              <a:ext uri="{FF2B5EF4-FFF2-40B4-BE49-F238E27FC236}">
                <a16:creationId xmlns:a16="http://schemas.microsoft.com/office/drawing/2014/main" id="{EA8BB8A3-80A5-46AE-988B-59EBA7E68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anchor="t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900" b="0">
                <a:solidFill>
                  <a:srgbClr val="94A3B8"/>
                </a:solidFill>
                <a:latin typeface="微软雅黑"/>
                <a:ea typeface="微软雅黑"/>
                <a:cs typeface="微软雅黑"/>
              </a:defRPr>
            </a:pPr>
            <a:r>
              <a:rPr sz="900" b="0">
                <a:solidFill>
                  <a:srgbClr val="94A3B8"/>
                </a:solidFill>
                <a:latin typeface="微软雅黑"/>
                <a:ea typeface="微软雅黑"/>
                <a:cs typeface="微软雅黑"/>
              </a:rPr>
              <a:t>DataMind · 数据库 Agent Web 应用</a:t>
            </a:r>
            <a:endParaRPr sz="900" b="0">
              <a:solidFill>
                <a:srgbClr val="94A3B8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6" name="footer-page">
            <a:extLst xmlns:a="http://schemas.openxmlformats.org/drawingml/2006/main">
              <a:ext uri="{FF2B5EF4-FFF2-40B4-BE49-F238E27FC236}">
                <a16:creationId xmlns:a16="http://schemas.microsoft.com/office/drawing/2014/main" id="{CCC4F6E0-FFD9-447C-BF8B-E08AD4340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0" y="6534150"/>
            <a:ext cx="95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anchor="t"/>
          <a:lstStyle xmlns:a="http://schemas.openxmlformats.org/drawingml/2006/main"/>
          <a:p xmlns:a="http://schemas.openxmlformats.org/drawingml/2006/main">
            <a:pPr algn="r">
              <a:lnSpc>
                <a:spcPct val="125000"/>
              </a:lnSpc>
              <a:buNone/>
              <a:defRPr sz="900" b="0">
                <a:solidFill>
                  <a:srgbClr val="94A3B8"/>
                </a:solidFill>
                <a:latin typeface="微软雅黑"/>
                <a:ea typeface="微软雅黑"/>
                <a:cs typeface="微软雅黑"/>
              </a:defRPr>
            </a:pPr>
            <a:r>
              <a:rPr sz="900" b="0">
                <a:solidFill>
                  <a:srgbClr val="94A3B8"/>
                </a:solidFill>
                <a:latin typeface="微软雅黑"/>
                <a:ea typeface="微软雅黑"/>
                <a:cs typeface="微软雅黑"/>
              </a:rPr>
              <a:t>19</a:t>
            </a:r>
            <a:endParaRPr sz="900" b="0">
              <a:solidFill>
                <a:srgbClr val="94A3B8"/>
              </a:solidFill>
              <a:latin typeface="微软雅黑"/>
              <a:ea typeface="微软雅黑"/>
              <a:cs typeface="微软雅黑"/>
            </a:endParaRPr>
          </a:p>
        </p:txBody>
      </p:sp>
      <p:graphicFrame>
        <p:nvGraphicFramePr>
          <p:cNvPr id="15" name="表格 14">
            <a:extLst xmlns:a="http://schemas.openxmlformats.org/drawingml/2006/main">
              <a:ext uri="{FF2B5EF4-FFF2-40B4-BE49-F238E27FC236}">
                <a16:creationId xmlns:a16="http://schemas.microsoft.com/office/drawing/2014/main" id="{611D624E-65D3-4A1B-BA03-EFAE9603B4DC}"/>
              </a:ext>
            </a:extLst>
          </p:cNvPr>
          <p:cNvGraphicFramePr/>
          <p:nvPr/>
        </p:nvGraphicFramePr>
        <p:xfrm>
          <a:off xmlns:a="http://schemas.openxmlformats.org/drawingml/2006/main" x="685800" y="1638300"/>
          <a:ext xmlns:a="http://schemas.openxmlformats.org/drawingml/2006/main" cx="10820400" cy="285750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3606800"/>
                <a:gridCol w="3606800"/>
                <a:gridCol w="3606800"/>
              </a:tblGrid>
              <a:tr h="5715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操作类型</a:t>
                      </a:r>
                      <a:endParaRPr sz="1200" b="1">
                        <a:solidFill>
                          <a:srgbClr val="FFFFFF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33350" marR="133350" marT="66675" marB="66675" anchor="ctr">
                    <a:solidFill>
                      <a:srgbClr val="0B183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授权方式</a:t>
                      </a:r>
                      <a:endParaRPr sz="1200" b="1">
                        <a:solidFill>
                          <a:srgbClr val="FFFFFF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33350" marR="133350" marT="66675" marB="66675" anchor="ctr">
                    <a:solidFill>
                      <a:srgbClr val="0B183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执行说明</a:t>
                      </a:r>
                      <a:endParaRPr sz="1200" b="1">
                        <a:solidFill>
                          <a:srgbClr val="FFFFFF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33350" marR="133350" marT="66675" marB="66675" anchor="ctr">
                    <a:solidFill>
                      <a:srgbClr val="0B1830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75">
                          <a:solidFill>
                            <a:srgbClr val="0F172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SELECT / SHOW / DESC / EXPLAIN</a:t>
                      </a:r>
                      <a:endParaRPr sz="1275">
                        <a:solidFill>
                          <a:srgbClr val="0F172A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33350" marR="133350" marT="57150" marB="5715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75">
                          <a:solidFill>
                            <a:srgbClr val="0F172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自动执行</a:t>
                      </a:r>
                      <a:endParaRPr sz="1275">
                        <a:solidFill>
                          <a:srgbClr val="0F172A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33350" marR="133350" marT="57150" marB="5715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75">
                          <a:solidFill>
                            <a:srgbClr val="0F172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只读查询直接返回结果</a:t>
                      </a:r>
                      <a:endParaRPr sz="1275">
                        <a:solidFill>
                          <a:srgbClr val="0F172A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33350" marR="133350" marT="57150" marB="57150" anchor="ctr"/>
                </a:tc>
              </a:tr>
              <a:tr h="5715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75">
                          <a:solidFill>
                            <a:srgbClr val="0F172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INSERT / UPDATE / DELETE</a:t>
                      </a:r>
                      <a:endParaRPr sz="1275">
                        <a:solidFill>
                          <a:srgbClr val="0F172A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33350" marR="133350" marT="57150" marB="5715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75">
                          <a:solidFill>
                            <a:srgbClr val="0F172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手动确认</a:t>
                      </a:r>
                      <a:endParaRPr sz="1275">
                        <a:solidFill>
                          <a:srgbClr val="0F172A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33350" marR="133350" marT="57150" marB="5715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75">
                          <a:solidFill>
                            <a:srgbClr val="0F172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返回影响预览与 execution_id</a:t>
                      </a:r>
                      <a:endParaRPr sz="1275">
                        <a:solidFill>
                          <a:srgbClr val="0F172A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33350" marR="133350" marT="57150" marB="57150" anchor="ctr"/>
                </a:tc>
              </a:tr>
              <a:tr h="5715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75">
                          <a:solidFill>
                            <a:srgbClr val="0F172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CREATE / ALTER / DROP / TRUNCATE</a:t>
                      </a:r>
                      <a:endParaRPr sz="1275">
                        <a:solidFill>
                          <a:srgbClr val="0F172A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33350" marR="133350" marT="57150" marB="5715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75">
                          <a:solidFill>
                            <a:srgbClr val="0F172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高危确认</a:t>
                      </a:r>
                      <a:endParaRPr sz="1275">
                        <a:solidFill>
                          <a:srgbClr val="0F172A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33350" marR="133350" marT="57150" marB="5715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75">
                          <a:solidFill>
                            <a:srgbClr val="0F172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红色警告并展示完整 DDL</a:t>
                      </a:r>
                      <a:endParaRPr sz="1275">
                        <a:solidFill>
                          <a:srgbClr val="0F172A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33350" marR="133350" marT="57150" marB="57150" anchor="ctr"/>
                </a:tc>
              </a:tr>
              <a:tr h="5715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75">
                          <a:solidFill>
                            <a:srgbClr val="0F172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多条混合 SQL</a:t>
                      </a:r>
                      <a:endParaRPr sz="1275">
                        <a:solidFill>
                          <a:srgbClr val="0F172A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33350" marR="133350" marT="57150" marB="5715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75">
                          <a:solidFill>
                            <a:srgbClr val="0F172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逐条确认</a:t>
                      </a:r>
                      <a:endParaRPr sz="1275">
                        <a:solidFill>
                          <a:srgbClr val="0F172A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33350" marR="133350" marT="57150" marB="5715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75">
                          <a:solidFill>
                            <a:srgbClr val="0F172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按 SQL 类型分别处理</a:t>
                      </a:r>
                      <a:endParaRPr sz="1275">
                        <a:solidFill>
                          <a:srgbClr val="0F172A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33350" marR="133350" marT="57150" marB="57150" anchor="ctr"/>
                </a:tc>
              </a:tr>
            </a:tbl>
          </a:graphicData>
        </a:graphic>
      </p:graphicFrame>
      <p:sp>
        <p:nvSpPr>
          <p:cNvPr id="8" name="security-callout">
            <a:extLst xmlns:a="http://schemas.openxmlformats.org/drawingml/2006/main">
              <a:ext uri="{FF2B5EF4-FFF2-40B4-BE49-F238E27FC236}">
                <a16:creationId xmlns:a16="http://schemas.microsoft.com/office/drawing/2014/main" id="{A8DB2E57-DDEA-4818-A925-35C7E30C4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81550"/>
            <a:ext cx="10820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anchor="t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200" b="1">
                <a:solidFill>
                  <a:srgbClr val="B45309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1">
                <a:solidFill>
                  <a:srgbClr val="B45309"/>
                </a:solidFill>
                <a:latin typeface="微软雅黑"/>
                <a:ea typeface="微软雅黑"/>
                <a:cs typeface="微软雅黑"/>
              </a:rPr>
              <a:t>execution_id 暂存待确认执行，5 分钟过期；用户确认后再次鉴权，全程审计。</a:t>
            </a:r>
            <a:endParaRPr sz="1200" b="1">
              <a:solidFill>
                <a:srgbClr val="B45309"/>
              </a:solidFill>
              <a:latin typeface="微软雅黑"/>
              <a:ea typeface="微软雅黑"/>
              <a:cs typeface="微软雅黑"/>
            </a:endParaRPr>
          </a:p>
        </p:txBody>
      </p:sp>
    </p:spTree>
    <p:extLst>
      <p:ext uri="{BB962C8B-B14F-4D97-AF65-F5344CB8AC3E}">
        <p14:creationId xmlns:p14="http://schemas.microsoft.com/office/powerpoint/2010/main" val="276648019"/>
      </p:ext>
    </p:extLst>
  </p:cSld>
</p:sld>
</file>

<file path=ppt/slides/slide2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agenda-num-2">
            <a:extLst xmlns:a="http://schemas.openxmlformats.org/drawingml/2006/main">
              <a:ext uri="{FF2B5EF4-FFF2-40B4-BE49-F238E27FC236}">
                <a16:creationId xmlns:a16="http://schemas.microsoft.com/office/drawing/2014/main" id="{C010A56C-2050-4E9F-BB10-4039813C7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29050"/>
            <a:ext cx="1047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anchor="t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3450" b="1">
                <a:solidFill>
                  <a:srgbClr val="0B5FFF"/>
                </a:solidFill>
                <a:latin typeface="微软雅黑"/>
                <a:ea typeface="微软雅黑"/>
                <a:cs typeface="微软雅黑"/>
              </a:defRPr>
            </a:pPr>
            <a:r>
              <a:rPr sz="3450" b="1">
                <a:solidFill>
                  <a:srgbClr val="0B5FFF"/>
                </a:solidFill>
                <a:latin typeface="微软雅黑"/>
                <a:ea typeface="微软雅黑"/>
                <a:cs typeface="微软雅黑"/>
              </a:rPr>
              <a:t>04</a:t>
            </a:r>
            <a:endParaRPr sz="3450" b="1">
              <a:solidFill>
                <a:srgbClr val="0B5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6" name="agenda-title-2">
            <a:extLst xmlns:a="http://schemas.openxmlformats.org/drawingml/2006/main">
              <a:ext uri="{FF2B5EF4-FFF2-40B4-BE49-F238E27FC236}">
                <a16:creationId xmlns:a16="http://schemas.microsoft.com/office/drawing/2014/main" id="{DE62D92A-9D62-4087-A62D-FC2EDFC72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3886200"/>
            <a:ext cx="285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anchor="t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950" b="1">
                <a:solidFill>
                  <a:srgbClr val="0B1830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1">
                <a:solidFill>
                  <a:srgbClr val="0B1830"/>
                </a:solidFill>
                <a:latin typeface="微软雅黑"/>
                <a:ea typeface="微软雅黑"/>
                <a:cs typeface="微软雅黑"/>
              </a:rPr>
              <a:t>工程与治理</a:t>
            </a:r>
            <a:endParaRPr sz="1950" b="1">
              <a:solidFill>
                <a:srgbClr val="0B183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7" name="agenda-desc-2">
            <a:extLst xmlns:a="http://schemas.openxmlformats.org/drawingml/2006/main">
              <a:ext uri="{FF2B5EF4-FFF2-40B4-BE49-F238E27FC236}">
                <a16:creationId xmlns:a16="http://schemas.microsoft.com/office/drawing/2014/main" id="{2B588EA7-A1EB-4385-BE3F-EAC4B8792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4267200"/>
            <a:ext cx="762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anchor="t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275" b="0">
                <a:solidFill>
                  <a:srgbClr val="475569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0">
                <a:solidFill>
                  <a:srgbClr val="475569"/>
                </a:solidFill>
                <a:latin typeface="微软雅黑"/>
                <a:ea typeface="微软雅黑"/>
                <a:cs typeface="微软雅黑"/>
              </a:rPr>
              <a:t>架构与质量、安全合规、落地与推广</a:t>
            </a:r>
            <a:endParaRPr sz="1275" b="0">
              <a:solidFill>
                <a:srgbClr val="475569"/>
              </a:solidFill>
              <a:latin typeface="微软雅黑"/>
              <a:ea typeface="微软雅黑"/>
              <a:cs typeface="微软雅黑"/>
            </a:endParaRPr>
          </a:p>
        </p:txBody>
      </p:sp>
    </p:spTree>
    <p:extLst>
      <p:ext uri="{BB962C8B-B14F-4D97-AF65-F5344CB8AC3E}">
        <p14:creationId xmlns:p14="http://schemas.microsoft.com/office/powerpoint/2010/main" val="91365247"/>
      </p:ext>
    </p:extLst>
  </p:cSld>
</p:sld>
</file>

<file path=ppt/slides/slide2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kicker">
            <a:extLst xmlns:a="http://schemas.openxmlformats.org/drawingml/2006/main">
              <a:ext uri="{FF2B5EF4-FFF2-40B4-BE49-F238E27FC236}">
                <a16:creationId xmlns:a16="http://schemas.microsoft.com/office/drawing/2014/main" id="{ABD56B4D-41EB-42D2-8561-966BB77B8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anchor="t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050" b="1">
                <a:solidFill>
                  <a:srgbClr val="0B5FFF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1">
                <a:solidFill>
                  <a:srgbClr val="0B5FFF"/>
                </a:solidFill>
                <a:latin typeface="微软雅黑"/>
                <a:ea typeface="微软雅黑"/>
                <a:cs typeface="微软雅黑"/>
              </a:rPr>
              <a:t>审计与监控</a:t>
            </a:r>
            <a:endParaRPr sz="1050" b="1">
              <a:solidFill>
                <a:srgbClr val="0B5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7C2A023D-297D-4537-9E39-191B21C35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1047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anchor="t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2625" b="1">
                <a:solidFill>
                  <a:srgbClr val="0F172A"/>
                </a:solidFill>
                <a:latin typeface="微软雅黑"/>
                <a:ea typeface="微软雅黑"/>
                <a:cs typeface="微软雅黑"/>
              </a:defRPr>
            </a:pPr>
            <a:r>
              <a:rPr sz="2625" b="1">
                <a:solidFill>
                  <a:srgbClr val="0F172A"/>
                </a:solidFill>
                <a:latin typeface="微软雅黑"/>
                <a:ea typeface="微软雅黑"/>
                <a:cs typeface="微软雅黑"/>
              </a:rPr>
              <a:t>让每一次操作都可追溯、可观察</a:t>
            </a:r>
            <a:endParaRPr sz="2625" b="1">
              <a:solidFill>
                <a:srgbClr val="0F172A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" name="title-accent">
            <a:extLst xmlns:a="http://schemas.openxmlformats.org/drawingml/2006/main">
              <a:ext uri="{FF2B5EF4-FFF2-40B4-BE49-F238E27FC236}">
                <a16:creationId xmlns:a16="http://schemas.microsoft.com/office/drawing/2014/main" id="{772966D2-E9B9-4E75-B19C-302A91AD4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38250"/>
            <a:ext cx="5334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5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footer-line">
            <a:extLst xmlns:a="http://schemas.openxmlformats.org/drawingml/2006/main">
              <a:ext uri="{FF2B5EF4-FFF2-40B4-BE49-F238E27FC236}">
                <a16:creationId xmlns:a16="http://schemas.microsoft.com/office/drawing/2014/main" id="{D5C880DA-850D-4A4F-A5A1-5F70246E2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footer-left">
            <a:extLst xmlns:a="http://schemas.openxmlformats.org/drawingml/2006/main">
              <a:ext uri="{FF2B5EF4-FFF2-40B4-BE49-F238E27FC236}">
                <a16:creationId xmlns:a16="http://schemas.microsoft.com/office/drawing/2014/main" id="{6F8D1D6F-F302-44F9-A94D-FC5B04CE3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anchor="t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900" b="0">
                <a:solidFill>
                  <a:srgbClr val="94A3B8"/>
                </a:solidFill>
                <a:latin typeface="微软雅黑"/>
                <a:ea typeface="微软雅黑"/>
                <a:cs typeface="微软雅黑"/>
              </a:defRPr>
            </a:pPr>
            <a:r>
              <a:rPr sz="900" b="0">
                <a:solidFill>
                  <a:srgbClr val="94A3B8"/>
                </a:solidFill>
                <a:latin typeface="微软雅黑"/>
                <a:ea typeface="微软雅黑"/>
                <a:cs typeface="微软雅黑"/>
              </a:rPr>
              <a:t>DataMind · 数据库 Agent Web 应用</a:t>
            </a:r>
            <a:endParaRPr sz="900" b="0">
              <a:solidFill>
                <a:srgbClr val="94A3B8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6" name="footer-page">
            <a:extLst xmlns:a="http://schemas.openxmlformats.org/drawingml/2006/main">
              <a:ext uri="{FF2B5EF4-FFF2-40B4-BE49-F238E27FC236}">
                <a16:creationId xmlns:a16="http://schemas.microsoft.com/office/drawing/2014/main" id="{052AE83B-8627-42A9-8EFB-3A153721B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0" y="6534150"/>
            <a:ext cx="95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anchor="t"/>
          <a:lstStyle xmlns:a="http://schemas.openxmlformats.org/drawingml/2006/main"/>
          <a:p xmlns:a="http://schemas.openxmlformats.org/drawingml/2006/main">
            <a:pPr algn="r">
              <a:lnSpc>
                <a:spcPct val="125000"/>
              </a:lnSpc>
              <a:buNone/>
              <a:defRPr sz="900" b="0">
                <a:solidFill>
                  <a:srgbClr val="94A3B8"/>
                </a:solidFill>
                <a:latin typeface="微软雅黑"/>
                <a:ea typeface="微软雅黑"/>
                <a:cs typeface="微软雅黑"/>
              </a:defRPr>
            </a:pPr>
            <a:r>
              <a:rPr sz="900" b="0">
                <a:solidFill>
                  <a:srgbClr val="94A3B8"/>
                </a:solidFill>
                <a:latin typeface="微软雅黑"/>
                <a:ea typeface="微软雅黑"/>
                <a:cs typeface="微软雅黑"/>
              </a:rPr>
              <a:t>21</a:t>
            </a:r>
            <a:endParaRPr sz="900" b="0">
              <a:solidFill>
                <a:srgbClr val="94A3B8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7" name="audit-surface">
            <a:extLst xmlns:a="http://schemas.openxmlformats.org/drawingml/2006/main">
              <a:ext uri="{FF2B5EF4-FFF2-40B4-BE49-F238E27FC236}">
                <a16:creationId xmlns:a16="http://schemas.microsoft.com/office/drawing/2014/main" id="{06C6E5FD-2058-4C96-9074-DE3ECE56D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5219700" cy="4495800"/>
          </a:xfrm>
          <a:prstGeom xmlns:a="http://schemas.openxmlformats.org/drawingml/2006/main" prst="roundRect">
            <a:avLst>
              <a:gd name="adj" fmla="val 33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style>
          <a:lnRef xmlns:a="http://schemas.openxmlformats.org/drawingml/2006/main" idx="0">
            <a:srgbClr val="FFFFFF"/>
          </a:lnRef>
          <a:fillRef xmlns:a="http://schemas.openxmlformats.org/drawingml/2006/main" idx="0">
            <a:srgbClr val="FFFFFF"/>
          </a:fillRef>
          <a:effectRef xmlns:a="http://schemas.openxmlformats.org/drawingml/2006/main" idx="4">
            <a:srgbClr val="FFFFFF"/>
          </a:effectRef>
          <a:fontRef xmlns:a="http://schemas.openxmlformats.org/drawingml/2006/main" idx="major"/>
        </p:style>
      </p:sp>
      <p:sp>
        <p:nvSpPr>
          <p:cNvPr id="8" name="audit-title">
            <a:extLst xmlns:a="http://schemas.openxmlformats.org/drawingml/2006/main">
              <a:ext uri="{FF2B5EF4-FFF2-40B4-BE49-F238E27FC236}">
                <a16:creationId xmlns:a16="http://schemas.microsoft.com/office/drawing/2014/main" id="{C0EA438D-AD2C-48C5-ACE1-271E888D7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809750"/>
            <a:ext cx="285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anchor="t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800" b="1">
                <a:solidFill>
                  <a:srgbClr val="B45309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B45309"/>
                </a:solidFill>
                <a:latin typeface="微软雅黑"/>
                <a:ea typeface="微软雅黑"/>
                <a:cs typeface="微软雅黑"/>
              </a:rPr>
              <a:t>审计日志</a:t>
            </a:r>
            <a:endParaRPr sz="1800" b="1">
              <a:solidFill>
                <a:srgbClr val="B45309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9" name="audit-list">
            <a:extLst xmlns:a="http://schemas.openxmlformats.org/drawingml/2006/main">
              <a:ext uri="{FF2B5EF4-FFF2-40B4-BE49-F238E27FC236}">
                <a16:creationId xmlns:a16="http://schemas.microsoft.com/office/drawing/2014/main" id="{621AB5F6-228D-4164-BB33-19673A11D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324100"/>
            <a:ext cx="4610100" cy="3333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indent="0" algn="l">
              <a:lnSpc>
                <a:spcPct val="200000"/>
              </a:lnSpc>
              <a:spcBef>
                <a:spcPts val="0"/>
              </a:spcBef>
              <a:buChar char="•"/>
              <a:defRPr sz="1275" b="0">
                <a:solidFill>
                  <a:srgbClr val="334155"/>
                </a:solidFill>
                <a:latin typeface="微软雅黑"/>
                <a:ea typeface="微软雅黑"/>
                <a:cs typeface="微软雅黑"/>
              </a:defRPr>
            </a:pPr>
            <a:r>
              <a:t>登录、SQL 执行、Agent 动作全量留痕</a:t>
            </a:r>
          </a:p>
          <a:p xmlns:a="http://schemas.openxmlformats.org/drawingml/2006/main">
            <a:pPr indent="0" algn="l">
              <a:lnSpc>
                <a:spcPct val="200000"/>
              </a:lnSpc>
              <a:spcBef>
                <a:spcPts val="0"/>
              </a:spcBef>
              <a:buChar char="•"/>
              <a:defRPr sz="1275" b="0">
                <a:solidFill>
                  <a:srgbClr val="334155"/>
                </a:solidFill>
                <a:latin typeface="微软雅黑"/>
                <a:ea typeface="微软雅黑"/>
                <a:cs typeface="微软雅黑"/>
              </a:defRPr>
            </a:pPr>
            <a:r>
              <a:t>操作类型、SQL 文本、状态可追溯</a:t>
            </a:r>
          </a:p>
          <a:p xmlns:a="http://schemas.openxmlformats.org/drawingml/2006/main">
            <a:pPr indent="0" algn="l">
              <a:lnSpc>
                <a:spcPct val="200000"/>
              </a:lnSpc>
              <a:spcBef>
                <a:spcPts val="0"/>
              </a:spcBef>
              <a:buChar char="•"/>
              <a:defRPr sz="1275" b="0">
                <a:solidFill>
                  <a:srgbClr val="334155"/>
                </a:solidFill>
                <a:latin typeface="微软雅黑"/>
                <a:ea typeface="微软雅黑"/>
                <a:cs typeface="微软雅黑"/>
              </a:defRPr>
            </a:pPr>
            <a:r>
              <a:t>导出 CSV / XLSX</a:t>
            </a:r>
          </a:p>
          <a:p xmlns:a="http://schemas.openxmlformats.org/drawingml/2006/main">
            <a:pPr indent="0" algn="l">
              <a:lnSpc>
                <a:spcPct val="200000"/>
              </a:lnSpc>
              <a:spcBef>
                <a:spcPts val="0"/>
              </a:spcBef>
              <a:buChar char="•"/>
              <a:defRPr sz="1275" b="0">
                <a:solidFill>
                  <a:srgbClr val="334155"/>
                </a:solidFill>
                <a:latin typeface="微软雅黑"/>
                <a:ea typeface="微软雅黑"/>
                <a:cs typeface="微软雅黑"/>
              </a:defRPr>
            </a:pPr>
            <a:r>
              <a:t>audit_retention_days 默认 180 天自动清理</a:t>
            </a:r>
          </a:p>
        </p:txBody>
      </p:sp>
      <p:sp>
        <p:nvSpPr>
          <p:cNvPr id="10" name="monitor-surface">
            <a:extLst xmlns:a="http://schemas.openxmlformats.org/drawingml/2006/main">
              <a:ext uri="{FF2B5EF4-FFF2-40B4-BE49-F238E27FC236}">
                <a16:creationId xmlns:a16="http://schemas.microsoft.com/office/drawing/2014/main" id="{6C3EFDE2-02D4-4162-B160-4C0E4337A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524000"/>
            <a:ext cx="5219700" cy="4495800"/>
          </a:xfrm>
          <a:prstGeom xmlns:a="http://schemas.openxmlformats.org/drawingml/2006/main" prst="roundRect">
            <a:avLst>
              <a:gd name="adj" fmla="val 33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style>
          <a:lnRef xmlns:a="http://schemas.openxmlformats.org/drawingml/2006/main" idx="0">
            <a:srgbClr val="FFFFFF"/>
          </a:lnRef>
          <a:fillRef xmlns:a="http://schemas.openxmlformats.org/drawingml/2006/main" idx="0">
            <a:srgbClr val="FFFFFF"/>
          </a:fillRef>
          <a:effectRef xmlns:a="http://schemas.openxmlformats.org/drawingml/2006/main" idx="4">
            <a:srgbClr val="FFFFFF"/>
          </a:effectRef>
          <a:fontRef xmlns:a="http://schemas.openxmlformats.org/drawingml/2006/main" idx="major"/>
        </p:style>
      </p:sp>
      <p:sp>
        <p:nvSpPr>
          <p:cNvPr id="11" name="monitor-title">
            <a:extLst xmlns:a="http://schemas.openxmlformats.org/drawingml/2006/main">
              <a:ext uri="{FF2B5EF4-FFF2-40B4-BE49-F238E27FC236}">
                <a16:creationId xmlns:a16="http://schemas.microsoft.com/office/drawing/2014/main" id="{A3FB7A0A-992B-43D6-87E2-E46446953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1809750"/>
            <a:ext cx="285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anchor="t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800" b="1">
                <a:solidFill>
                  <a:srgbClr val="0B5FFF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0B5FFF"/>
                </a:solidFill>
                <a:latin typeface="微软雅黑"/>
                <a:ea typeface="微软雅黑"/>
                <a:cs typeface="微软雅黑"/>
              </a:rPr>
              <a:t>运维监控</a:t>
            </a:r>
            <a:endParaRPr sz="1800" b="1">
              <a:solidFill>
                <a:srgbClr val="0B5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2" name="monitor-list">
            <a:extLst xmlns:a="http://schemas.openxmlformats.org/drawingml/2006/main">
              <a:ext uri="{FF2B5EF4-FFF2-40B4-BE49-F238E27FC236}">
                <a16:creationId xmlns:a16="http://schemas.microsoft.com/office/drawing/2014/main" id="{1A199833-F4E2-4EC6-B44E-A5327A952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324100"/>
            <a:ext cx="4610100" cy="3333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indent="0" algn="l">
              <a:lnSpc>
                <a:spcPct val="200000"/>
              </a:lnSpc>
              <a:spcBef>
                <a:spcPts val="0"/>
              </a:spcBef>
              <a:buChar char="•"/>
              <a:defRPr sz="1275" b="0">
                <a:solidFill>
                  <a:srgbClr val="334155"/>
                </a:solidFill>
                <a:latin typeface="微软雅黑"/>
                <a:ea typeface="微软雅黑"/>
                <a:cs typeface="微软雅黑"/>
              </a:defRPr>
            </a:pPr>
            <a:r>
              <a:t>连接概览与慢查询统计</a:t>
            </a:r>
          </a:p>
          <a:p xmlns:a="http://schemas.openxmlformats.org/drawingml/2006/main">
            <a:pPr indent="0" algn="l">
              <a:lnSpc>
                <a:spcPct val="200000"/>
              </a:lnSpc>
              <a:spcBef>
                <a:spcPts val="0"/>
              </a:spcBef>
              <a:buChar char="•"/>
              <a:defRPr sz="1275" b="0">
                <a:solidFill>
                  <a:srgbClr val="334155"/>
                </a:solidFill>
                <a:latin typeface="微软雅黑"/>
                <a:ea typeface="微软雅黑"/>
                <a:cs typeface="微软雅黑"/>
              </a:defRPr>
            </a:pPr>
            <a:r>
              <a:t>不同环境表结构对比</a:t>
            </a:r>
          </a:p>
          <a:p xmlns:a="http://schemas.openxmlformats.org/drawingml/2006/main">
            <a:pPr indent="0" algn="l">
              <a:lnSpc>
                <a:spcPct val="200000"/>
              </a:lnSpc>
              <a:spcBef>
                <a:spcPts val="0"/>
              </a:spcBef>
              <a:buChar char="•"/>
              <a:defRPr sz="1275" b="0">
                <a:solidFill>
                  <a:srgbClr val="334155"/>
                </a:solidFill>
                <a:latin typeface="微软雅黑"/>
                <a:ea typeface="微软雅黑"/>
                <a:cs typeface="微软雅黑"/>
              </a:defRPr>
            </a:pPr>
            <a:r>
              <a:t>定时导出任务状态</a:t>
            </a:r>
          </a:p>
          <a:p xmlns:a="http://schemas.openxmlformats.org/drawingml/2006/main">
            <a:pPr indent="0" algn="l">
              <a:lnSpc>
                <a:spcPct val="200000"/>
              </a:lnSpc>
              <a:spcBef>
                <a:spcPts val="0"/>
              </a:spcBef>
              <a:buChar char="•"/>
              <a:defRPr sz="1275" b="0">
                <a:solidFill>
                  <a:srgbClr val="334155"/>
                </a:solidFill>
                <a:latin typeface="微软雅黑"/>
                <a:ea typeface="微软雅黑"/>
                <a:cs typeface="微软雅黑"/>
              </a:defRPr>
            </a:pPr>
            <a:r>
              <a:t>/metrics 暴露 Prometheus 指标</a:t>
            </a:r>
          </a:p>
        </p:txBody>
      </p:sp>
    </p:spTree>
    <p:extLst>
      <p:ext uri="{BB962C8B-B14F-4D97-AF65-F5344CB8AC3E}">
        <p14:creationId xmlns:p14="http://schemas.microsoft.com/office/powerpoint/2010/main" val="742728998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18215B41-8487-48B8-A663-FE41EFC7F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33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安全与合规</a:t>
            </a:r>
            <a:endParaRPr sz="33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4F895B40-9AAD-4126-96ED-BF734BA13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>
            <a:defPPr algn="r">
              <a:defRPr sz="10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10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22</a:t>
            </a:r>
            <a:endParaRPr sz="10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6AA70C55-0830-4DB6-9033-9FD439BD1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466850"/>
            <a:ext cx="11404568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数据不落盘、密钥可托管、操作可追溯：让这套 Agent 能通过企业安全评审。</a:t>
            </a:r>
            <a:endParaRPr sz="16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8BD221DB-CE9F-435A-AED7-94C27D69C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022568"/>
            <a:ext cx="3568732" cy="2971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E18F1ADD-8853-4EEA-AD77-370904655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218" y="3213068"/>
            <a:ext cx="3149632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4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加密与认证</a:t>
            </a:r>
            <a:endParaRPr sz="24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04B42D9C-F928-4DB7-88E0-3FA0D980D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218" y="3613118"/>
            <a:ext cx="3149632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数据库密码、SSH 私钥、AI Key 经 Fernet 加密入库，接口只返回 has_password / has_key；</a:t>
            </a:r>
            <a:endParaRPr sz="16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  <a:p xmlns:a="http://schemas.openxmlformats.org/drawingml/2006/main"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登录密码 pbkdf2 哈希，会话使用 httponly Cookie。</a:t>
            </a:r>
            <a:endParaRPr sz="16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ACC49319-E66D-4B12-B002-8B3CD85EF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1682" y="3022568"/>
            <a:ext cx="3568732" cy="2971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568E3272-A1BF-4A41-BAF6-28380C4A7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1232" y="3213068"/>
            <a:ext cx="3149632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4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权限与审计</a:t>
            </a:r>
            <a:endParaRPr sz="24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A3340258-A260-47E2-BCAA-1551824CC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1232" y="3613118"/>
            <a:ext cx="3149632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按角色控制权限，READ / DML / DDL 分级授权；</a:t>
            </a:r>
            <a:endParaRPr sz="16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  <a:p xmlns:a="http://schemas.openxmlformats.org/drawingml/2006/main"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登录、SQL、Agent 动作全量留痕，操作类型、SQL 文本与状态都可追溯。</a:t>
            </a:r>
            <a:endParaRPr sz="16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C679202A-BBDB-4380-9D4A-E8434E7F3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95" y="3022568"/>
            <a:ext cx="3568732" cy="2971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9314C1F1-A501-49AF-AEE7-CA759CD10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245" y="3213068"/>
            <a:ext cx="3149632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4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合规与交付</a:t>
            </a:r>
            <a:endParaRPr sz="24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50BB133F-82A9-40F4-BFB5-E52F3E045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245" y="3613118"/>
            <a:ext cx="3149632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密钥支持环境变量或独立密钥文件注入，密钥文件不入库；</a:t>
            </a:r>
            <a:endParaRPr sz="16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  <a:p xmlns:a="http://schemas.openxmlformats.org/drawingml/2006/main"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审计日志按保留期（默认 180 天）自动清理；导出文件统一落盘管理。</a:t>
            </a:r>
            <a:endParaRPr sz="16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</p:spTree>
    <p:extLst>
      <p:ext uri="{BB962C8B-B14F-4D97-AF65-F5344CB8AC3E}">
        <p14:creationId xmlns:p14="http://schemas.microsoft.com/office/powerpoint/2010/main" val="955025417"/>
      </p:ext>
    </p:extLst>
  </p:cSld>
</p:sld>
</file>

<file path=ppt/slides/slide2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kicker">
            <a:extLst xmlns:a="http://schemas.openxmlformats.org/drawingml/2006/main">
              <a:ext uri="{FF2B5EF4-FFF2-40B4-BE49-F238E27FC236}">
                <a16:creationId xmlns:a16="http://schemas.microsoft.com/office/drawing/2014/main" id="{744C685A-BA3B-4879-AEA7-5621121E0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anchor="t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050" b="1">
                <a:solidFill>
                  <a:srgbClr val="0B5FFF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1">
                <a:solidFill>
                  <a:srgbClr val="0B5FFF"/>
                </a:solidFill>
                <a:latin typeface="微软雅黑"/>
                <a:ea typeface="微软雅黑"/>
                <a:cs typeface="微软雅黑"/>
              </a:rPr>
              <a:t>工程质量与架构</a:t>
            </a:r>
            <a:endParaRPr sz="1050" b="1">
              <a:solidFill>
                <a:srgbClr val="0B5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75C27475-C7D1-4BAF-9E45-C1A69C799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1047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anchor="t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2625" b="1">
                <a:solidFill>
                  <a:srgbClr val="0F172A"/>
                </a:solidFill>
                <a:latin typeface="微软雅黑"/>
                <a:ea typeface="微软雅黑"/>
                <a:cs typeface="微软雅黑"/>
              </a:defRPr>
            </a:pPr>
            <a:r>
              <a:rPr sz="2625" b="1">
                <a:solidFill>
                  <a:srgbClr val="0F172A"/>
                </a:solidFill>
                <a:latin typeface="微软雅黑"/>
                <a:ea typeface="微软雅黑"/>
                <a:cs typeface="微软雅黑"/>
              </a:rPr>
              <a:t>分层解耦 + 测试覆盖，交付可维护的系统</a:t>
            </a:r>
            <a:endParaRPr sz="2625" b="1">
              <a:solidFill>
                <a:srgbClr val="0F172A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" name="title-accent">
            <a:extLst xmlns:a="http://schemas.openxmlformats.org/drawingml/2006/main">
              <a:ext uri="{FF2B5EF4-FFF2-40B4-BE49-F238E27FC236}">
                <a16:creationId xmlns:a16="http://schemas.microsoft.com/office/drawing/2014/main" id="{302E1779-7AE5-467C-BE43-8901B5F9D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38250"/>
            <a:ext cx="5334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5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footer-line">
            <a:extLst xmlns:a="http://schemas.openxmlformats.org/drawingml/2006/main">
              <a:ext uri="{FF2B5EF4-FFF2-40B4-BE49-F238E27FC236}">
                <a16:creationId xmlns:a16="http://schemas.microsoft.com/office/drawing/2014/main" id="{0FA10220-6C16-49F8-9EC1-06B086DA1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footer-left">
            <a:extLst xmlns:a="http://schemas.openxmlformats.org/drawingml/2006/main">
              <a:ext uri="{FF2B5EF4-FFF2-40B4-BE49-F238E27FC236}">
                <a16:creationId xmlns:a16="http://schemas.microsoft.com/office/drawing/2014/main" id="{5DBA5C7D-62C0-44DD-9EA9-3E0472AAE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anchor="t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900" b="0">
                <a:solidFill>
                  <a:srgbClr val="94A3B8"/>
                </a:solidFill>
                <a:latin typeface="微软雅黑"/>
                <a:ea typeface="微软雅黑"/>
                <a:cs typeface="微软雅黑"/>
              </a:defRPr>
            </a:pPr>
            <a:r>
              <a:rPr sz="900" b="0">
                <a:solidFill>
                  <a:srgbClr val="94A3B8"/>
                </a:solidFill>
                <a:latin typeface="微软雅黑"/>
                <a:ea typeface="微软雅黑"/>
                <a:cs typeface="微软雅黑"/>
              </a:rPr>
              <a:t>DataMind · 数据库 Agent Web 应用</a:t>
            </a:r>
            <a:endParaRPr sz="900" b="0">
              <a:solidFill>
                <a:srgbClr val="94A3B8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6" name="footer-page">
            <a:extLst xmlns:a="http://schemas.openxmlformats.org/drawingml/2006/main">
              <a:ext uri="{FF2B5EF4-FFF2-40B4-BE49-F238E27FC236}">
                <a16:creationId xmlns:a16="http://schemas.microsoft.com/office/drawing/2014/main" id="{3BAE2020-F4AA-4091-897D-72D95E44E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0" y="6534150"/>
            <a:ext cx="95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anchor="t"/>
          <a:lstStyle xmlns:a="http://schemas.openxmlformats.org/drawingml/2006/main"/>
          <a:p xmlns:a="http://schemas.openxmlformats.org/drawingml/2006/main">
            <a:pPr algn="r">
              <a:lnSpc>
                <a:spcPct val="125000"/>
              </a:lnSpc>
              <a:buNone/>
              <a:defRPr sz="900" b="0">
                <a:solidFill>
                  <a:srgbClr val="94A3B8"/>
                </a:solidFill>
                <a:latin typeface="微软雅黑"/>
                <a:ea typeface="微软雅黑"/>
                <a:cs typeface="微软雅黑"/>
              </a:defRPr>
            </a:pPr>
            <a:r>
              <a:rPr sz="900" b="0">
                <a:solidFill>
                  <a:srgbClr val="94A3B8"/>
                </a:solidFill>
                <a:latin typeface="微软雅黑"/>
                <a:ea typeface="微软雅黑"/>
                <a:cs typeface="微软雅黑"/>
              </a:rPr>
              <a:t>23</a:t>
            </a:r>
            <a:endParaRPr sz="900" b="0">
              <a:solidFill>
                <a:srgbClr val="94A3B8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9" name="矩形 28">
            <a:extLst xmlns:a="http://schemas.openxmlformats.org/drawingml/2006/main">
              <a:ext uri="{FF2B5EF4-FFF2-40B4-BE49-F238E27FC236}">
                <a16:creationId xmlns:a16="http://schemas.microsoft.com/office/drawing/2014/main" id="{7603D951-9ED2-4AE8-8264-2ED6AAB4F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635062"/>
            <a:ext cx="3568732" cy="2971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0" name="矩形 29">
            <a:extLst xmlns:a="http://schemas.openxmlformats.org/drawingml/2006/main">
              <a:ext uri="{FF2B5EF4-FFF2-40B4-BE49-F238E27FC236}">
                <a16:creationId xmlns:a16="http://schemas.microsoft.com/office/drawing/2014/main" id="{67FD7E00-3067-4FD6-AE37-4D5D0C75A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218" y="1825562"/>
            <a:ext cx="3149632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4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架构与扩展性</a:t>
            </a:r>
            <a:endParaRPr sz="24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31" name="矩形 30">
            <a:extLst xmlns:a="http://schemas.openxmlformats.org/drawingml/2006/main">
              <a:ext uri="{FF2B5EF4-FFF2-40B4-BE49-F238E27FC236}">
                <a16:creationId xmlns:a16="http://schemas.microsoft.com/office/drawing/2014/main" id="{E7A209E6-CEEA-44DD-9062-B3AEDD51D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218" y="2225612"/>
            <a:ext cx="3149632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routers → services → adapters 三层解耦，新增数据库只需实现适配器并注册；</a:t>
            </a:r>
            <a:endParaRPr sz="16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  <a:p xmlns:a="http://schemas.openxmlformats.org/drawingml/2006/main"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LLM 统一抽象 OpenAI / Claude / Ollama。</a:t>
            </a:r>
            <a:endParaRPr sz="16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32" name="矩形 31">
            <a:extLst xmlns:a="http://schemas.openxmlformats.org/drawingml/2006/main">
              <a:ext uri="{FF2B5EF4-FFF2-40B4-BE49-F238E27FC236}">
                <a16:creationId xmlns:a16="http://schemas.microsoft.com/office/drawing/2014/main" id="{0595DE18-33A1-4DFC-9304-52DB02699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1682" y="1635062"/>
            <a:ext cx="3568732" cy="2971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3" name="矩形 32">
            <a:extLst xmlns:a="http://schemas.openxmlformats.org/drawingml/2006/main">
              <a:ext uri="{FF2B5EF4-FFF2-40B4-BE49-F238E27FC236}">
                <a16:creationId xmlns:a16="http://schemas.microsoft.com/office/drawing/2014/main" id="{E685C848-33EA-49B2-B63D-6CB281D70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1232" y="1825562"/>
            <a:ext cx="3149632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4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代码质量保障</a:t>
            </a:r>
            <a:endParaRPr sz="24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34" name="矩形 33">
            <a:extLst xmlns:a="http://schemas.openxmlformats.org/drawingml/2006/main">
              <a:ext uri="{FF2B5EF4-FFF2-40B4-BE49-F238E27FC236}">
                <a16:creationId xmlns:a16="http://schemas.microsoft.com/office/drawing/2014/main" id="{F1937B58-07E9-4E1A-BE67-DD0148DA6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1232" y="2225612"/>
            <a:ext cx="3149632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167 项后端测试覆盖 SQL 分级、连接池、权限、审计、分页等关键路径；</a:t>
            </a:r>
            <a:endParaRPr sz="16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  <a:p xmlns:a="http://schemas.openxmlformats.org/drawingml/2006/main"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ruff 静态检查 + 前端 vue-tsc 类型校验。</a:t>
            </a:r>
            <a:endParaRPr sz="16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35" name="矩形 34">
            <a:extLst xmlns:a="http://schemas.openxmlformats.org/drawingml/2006/main">
              <a:ext uri="{FF2B5EF4-FFF2-40B4-BE49-F238E27FC236}">
                <a16:creationId xmlns:a16="http://schemas.microsoft.com/office/drawing/2014/main" id="{2FC48B98-D5CE-4118-B3E2-9A65AAA1F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95" y="1635062"/>
            <a:ext cx="3568732" cy="2971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6" name="矩形 35">
            <a:extLst xmlns:a="http://schemas.openxmlformats.org/drawingml/2006/main">
              <a:ext uri="{FF2B5EF4-FFF2-40B4-BE49-F238E27FC236}">
                <a16:creationId xmlns:a16="http://schemas.microsoft.com/office/drawing/2014/main" id="{5AF1C15B-D480-4FEA-A7E2-3926E84A1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245" y="1825562"/>
            <a:ext cx="3149632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4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工程复杂度</a:t>
            </a:r>
            <a:endParaRPr sz="24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37" name="矩形 36">
            <a:extLst xmlns:a="http://schemas.openxmlformats.org/drawingml/2006/main">
              <a:ext uri="{FF2B5EF4-FFF2-40B4-BE49-F238E27FC236}">
                <a16:creationId xmlns:a16="http://schemas.microsoft.com/office/drawing/2014/main" id="{5CEC9FE2-501B-43D6-B3AB-3038367CF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245" y="2225612"/>
            <a:ext cx="3149632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统一 {code, message, data} 响应与全局异常处理；</a:t>
            </a:r>
            <a:endParaRPr sz="16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  <a:p xmlns:a="http://schemas.openxmlformats.org/drawingml/2006/main"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结构变更走 Alembic 迁移，Docker 多阶段构建交付单镜像。</a:t>
            </a:r>
            <a:endParaRPr sz="16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</p:spTree>
    <p:extLst>
      <p:ext uri="{BB962C8B-B14F-4D97-AF65-F5344CB8AC3E}">
        <p14:creationId xmlns:p14="http://schemas.microsoft.com/office/powerpoint/2010/main" val="794588537"/>
      </p:ext>
    </p:extLst>
  </p:cSld>
</p:sld>
</file>

<file path=ppt/slides/slide2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kicker">
            <a:extLst xmlns:a="http://schemas.openxmlformats.org/drawingml/2006/main">
              <a:ext uri="{FF2B5EF4-FFF2-40B4-BE49-F238E27FC236}">
                <a16:creationId xmlns:a16="http://schemas.microsoft.com/office/drawing/2014/main" id="{744C685A-BA3B-4879-AEA7-5621121E0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anchor="t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050" b="1">
                <a:solidFill>
                  <a:srgbClr val="0B5FFF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1">
                <a:solidFill>
                  <a:srgbClr val="0B5FFF"/>
                </a:solidFill>
                <a:latin typeface="微软雅黑"/>
                <a:ea typeface="微软雅黑"/>
                <a:cs typeface="微软雅黑"/>
              </a:rPr>
              <a:t>落地与推广</a:t>
            </a:r>
            <a:endParaRPr sz="1050" b="1">
              <a:solidFill>
                <a:srgbClr val="0B5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75C27475-C7D1-4BAF-9E45-C1A69C799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1047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anchor="t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2625" b="1">
                <a:solidFill>
                  <a:srgbClr val="0F172A"/>
                </a:solidFill>
                <a:latin typeface="微软雅黑"/>
                <a:ea typeface="微软雅黑"/>
                <a:cs typeface="微软雅黑"/>
              </a:defRPr>
            </a:pPr>
            <a:r>
              <a:rPr sz="2625" b="1">
                <a:solidFill>
                  <a:srgbClr val="0F172A"/>
                </a:solidFill>
                <a:latin typeface="微软雅黑"/>
                <a:ea typeface="微软雅黑"/>
                <a:cs typeface="微软雅黑"/>
              </a:rPr>
              <a:t>不改业务系统，单机即可部署、按需复用</a:t>
            </a:r>
            <a:endParaRPr sz="2625" b="1">
              <a:solidFill>
                <a:srgbClr val="0F172A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" name="title-accent">
            <a:extLst xmlns:a="http://schemas.openxmlformats.org/drawingml/2006/main">
              <a:ext uri="{FF2B5EF4-FFF2-40B4-BE49-F238E27FC236}">
                <a16:creationId xmlns:a16="http://schemas.microsoft.com/office/drawing/2014/main" id="{302E1779-7AE5-467C-BE43-8901B5F9D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38250"/>
            <a:ext cx="5334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5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footer-line">
            <a:extLst xmlns:a="http://schemas.openxmlformats.org/drawingml/2006/main">
              <a:ext uri="{FF2B5EF4-FFF2-40B4-BE49-F238E27FC236}">
                <a16:creationId xmlns:a16="http://schemas.microsoft.com/office/drawing/2014/main" id="{0FA10220-6C16-49F8-9EC1-06B086DA1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footer-left">
            <a:extLst xmlns:a="http://schemas.openxmlformats.org/drawingml/2006/main">
              <a:ext uri="{FF2B5EF4-FFF2-40B4-BE49-F238E27FC236}">
                <a16:creationId xmlns:a16="http://schemas.microsoft.com/office/drawing/2014/main" id="{5DBA5C7D-62C0-44DD-9EA9-3E0472AAE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anchor="t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900" b="0">
                <a:solidFill>
                  <a:srgbClr val="94A3B8"/>
                </a:solidFill>
                <a:latin typeface="微软雅黑"/>
                <a:ea typeface="微软雅黑"/>
                <a:cs typeface="微软雅黑"/>
              </a:defRPr>
            </a:pPr>
            <a:r>
              <a:rPr sz="900" b="0">
                <a:solidFill>
                  <a:srgbClr val="94A3B8"/>
                </a:solidFill>
                <a:latin typeface="微软雅黑"/>
                <a:ea typeface="微软雅黑"/>
                <a:cs typeface="微软雅黑"/>
              </a:rPr>
              <a:t>DataMind · 数据库 Agent Web 应用</a:t>
            </a:r>
            <a:endParaRPr sz="900" b="0">
              <a:solidFill>
                <a:srgbClr val="94A3B8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6" name="footer-page">
            <a:extLst xmlns:a="http://schemas.openxmlformats.org/drawingml/2006/main">
              <a:ext uri="{FF2B5EF4-FFF2-40B4-BE49-F238E27FC236}">
                <a16:creationId xmlns:a16="http://schemas.microsoft.com/office/drawing/2014/main" id="{3BAE2020-F4AA-4091-897D-72D95E44E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0" y="6534150"/>
            <a:ext cx="95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anchor="t"/>
          <a:lstStyle xmlns:a="http://schemas.openxmlformats.org/drawingml/2006/main"/>
          <a:p xmlns:a="http://schemas.openxmlformats.org/drawingml/2006/main">
            <a:pPr algn="r">
              <a:lnSpc>
                <a:spcPct val="125000"/>
              </a:lnSpc>
              <a:buNone/>
              <a:defRPr sz="900" b="0">
                <a:solidFill>
                  <a:srgbClr val="94A3B8"/>
                </a:solidFill>
                <a:latin typeface="微软雅黑"/>
                <a:ea typeface="微软雅黑"/>
                <a:cs typeface="微软雅黑"/>
              </a:defRPr>
            </a:pPr>
            <a:r>
              <a:rPr sz="900" b="0">
                <a:solidFill>
                  <a:srgbClr val="94A3B8"/>
                </a:solidFill>
                <a:latin typeface="微软雅黑"/>
                <a:ea typeface="微软雅黑"/>
                <a:cs typeface="微软雅黑"/>
              </a:rPr>
              <a:t>24</a:t>
            </a:r>
            <a:endParaRPr sz="900" b="0">
              <a:solidFill>
                <a:srgbClr val="94A3B8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9" name="矩形 28">
            <a:extLst xmlns:a="http://schemas.openxmlformats.org/drawingml/2006/main">
              <a:ext uri="{FF2B5EF4-FFF2-40B4-BE49-F238E27FC236}">
                <a16:creationId xmlns:a16="http://schemas.microsoft.com/office/drawing/2014/main" id="{7603D951-9ED2-4AE8-8264-2ED6AAB4F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635062"/>
            <a:ext cx="3568732" cy="2971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0" name="矩形 29">
            <a:extLst xmlns:a="http://schemas.openxmlformats.org/drawingml/2006/main">
              <a:ext uri="{FF2B5EF4-FFF2-40B4-BE49-F238E27FC236}">
                <a16:creationId xmlns:a16="http://schemas.microsoft.com/office/drawing/2014/main" id="{67FD7E00-3067-4FD6-AE37-4D5D0C75A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218" y="1825562"/>
            <a:ext cx="3149632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4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部署成本</a:t>
            </a:r>
            <a:endParaRPr sz="24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31" name="矩形 30">
            <a:extLst xmlns:a="http://schemas.openxmlformats.org/drawingml/2006/main">
              <a:ext uri="{FF2B5EF4-FFF2-40B4-BE49-F238E27FC236}">
                <a16:creationId xmlns:a16="http://schemas.microsoft.com/office/drawing/2014/main" id="{E7A209E6-CEEA-44DD-9062-B3AEDD51D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218" y="2225612"/>
            <a:ext cx="3149632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不动业务系统，单机 Docker 一键启动、单端口对外；</a:t>
            </a:r>
            <a:endParaRPr sz="16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  <a:p xmlns:a="http://schemas.openxmlformats.org/drawingml/2006/main"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不需要消息队列、缓存等额外中间件。</a:t>
            </a:r>
            <a:endParaRPr sz="16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32" name="矩形 31">
            <a:extLst xmlns:a="http://schemas.openxmlformats.org/drawingml/2006/main">
              <a:ext uri="{FF2B5EF4-FFF2-40B4-BE49-F238E27FC236}">
                <a16:creationId xmlns:a16="http://schemas.microsoft.com/office/drawing/2014/main" id="{0595DE18-33A1-4DFC-9304-52DB02699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1682" y="1635062"/>
            <a:ext cx="3568732" cy="2971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3" name="矩形 32">
            <a:extLst xmlns:a="http://schemas.openxmlformats.org/drawingml/2006/main">
              <a:ext uri="{FF2B5EF4-FFF2-40B4-BE49-F238E27FC236}">
                <a16:creationId xmlns:a16="http://schemas.microsoft.com/office/drawing/2014/main" id="{E685C848-33EA-49B2-B63D-6CB281D70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1232" y="1825562"/>
            <a:ext cx="3149632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4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运维与兼容</a:t>
            </a:r>
            <a:endParaRPr sz="24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34" name="矩形 33">
            <a:extLst xmlns:a="http://schemas.openxmlformats.org/drawingml/2006/main">
              <a:ext uri="{FF2B5EF4-FFF2-40B4-BE49-F238E27FC236}">
                <a16:creationId xmlns:a16="http://schemas.microsoft.com/office/drawing/2014/main" id="{F1937B58-07E9-4E1A-BE67-DD0148DA6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1232" y="2225612"/>
            <a:ext cx="3149632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统一适配层屏蔽方言差异，已支持 7 类数据源；</a:t>
            </a:r>
            <a:endParaRPr sz="16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  <a:p xmlns:a="http://schemas.openxmlformats.org/drawingml/2006/main"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权限、审计、监控沿用企业现有体系。</a:t>
            </a:r>
            <a:endParaRPr sz="16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35" name="矩形 34">
            <a:extLst xmlns:a="http://schemas.openxmlformats.org/drawingml/2006/main">
              <a:ext uri="{FF2B5EF4-FFF2-40B4-BE49-F238E27FC236}">
                <a16:creationId xmlns:a16="http://schemas.microsoft.com/office/drawing/2014/main" id="{2FC48B98-D5CE-4118-B3E2-9A65AAA1F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95" y="1635062"/>
            <a:ext cx="3568732" cy="2971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6" name="矩形 35">
            <a:extLst xmlns:a="http://schemas.openxmlformats.org/drawingml/2006/main">
              <a:ext uri="{FF2B5EF4-FFF2-40B4-BE49-F238E27FC236}">
                <a16:creationId xmlns:a16="http://schemas.microsoft.com/office/drawing/2014/main" id="{5AF1C15B-D480-4FEA-A7E2-3926E84A1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245" y="1825562"/>
            <a:ext cx="3149632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4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复用与推广</a:t>
            </a:r>
            <a:endParaRPr sz="24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37" name="矩形 36">
            <a:extLst xmlns:a="http://schemas.openxmlformats.org/drawingml/2006/main">
              <a:ext uri="{FF2B5EF4-FFF2-40B4-BE49-F238E27FC236}">
                <a16:creationId xmlns:a16="http://schemas.microsoft.com/office/drawing/2014/main" id="{5CEC9FE2-501B-43D6-B3AB-3038367CF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245" y="2225612"/>
            <a:ext cx="3149632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连接、权限、报表全部配置化：</a:t>
            </a:r>
            <a:endParaRPr sz="16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  <a:p xmlns:a="http://schemas.openxmlformats.org/drawingml/2006/main"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换一套数据库、换一个团队即可复用，推广成本低。</a:t>
            </a:r>
            <a:endParaRPr sz="16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</p:spTree>
    <p:extLst>
      <p:ext uri="{BB962C8B-B14F-4D97-AF65-F5344CB8AC3E}">
        <p14:creationId xmlns:p14="http://schemas.microsoft.com/office/powerpoint/2010/main" val="794588537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page-number">
            <a:extLst xmlns:a="http://schemas.openxmlformats.org/drawingml/2006/main">
              <a:ext uri="{FF2B5EF4-FFF2-40B4-BE49-F238E27FC236}">
                <a16:creationId xmlns:a16="http://schemas.microsoft.com/office/drawing/2014/main" id="{96C180E3-19B3-47EE-8BFE-3565AA92C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>
            <a:defPPr algn="r">
              <a:defRPr sz="10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10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25</a:t>
            </a:r>
            <a:endParaRPr sz="10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F22A0302-B2D1-4354-A077-7F131DD16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428750"/>
            <a:ext cx="10953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3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让每个人都能安全、高效地与数据对话</a:t>
            </a:r>
            <a:endParaRPr sz="36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3" name="rule">
            <a:extLst xmlns:a="http://schemas.openxmlformats.org/drawingml/2006/main">
              <a:ext uri="{FF2B5EF4-FFF2-40B4-BE49-F238E27FC236}">
                <a16:creationId xmlns:a16="http://schemas.microsoft.com/office/drawing/2014/main" id="{C046B15D-A373-46CB-9EDA-00C94FA54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571750"/>
            <a:ext cx="11404568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B261622F-BACB-47F5-9DC1-C70BBAE71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905250"/>
            <a:ext cx="10953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下一步：补齐更多数据库对象支持，扩展 Agent 工具（索引建议、慢查询根因分析），增加团队协作与报表订阅。</a:t>
            </a:r>
            <a:endParaRPr sz="16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</p:spTree>
    <p:extLst>
      <p:ext uri="{BB962C8B-B14F-4D97-AF65-F5344CB8AC3E}">
        <p14:creationId xmlns:p14="http://schemas.microsoft.com/office/powerpoint/2010/main" val="1714239460"/>
      </p:ext>
    </p:extLst>
  </p:cSld>
</p:sld>
</file>

<file path=ppt/slides/slide2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kicker">
            <a:extLst xmlns:a="http://schemas.openxmlformats.org/drawingml/2006/main">
              <a:ext uri="{FF2B5EF4-FFF2-40B4-BE49-F238E27FC236}">
                <a16:creationId xmlns:a16="http://schemas.microsoft.com/office/drawing/2014/main" id="{EF8CD424-3F67-496C-94DF-B8D9AAA6D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anchor="t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050" b="1">
                <a:solidFill>
                  <a:srgbClr val="0B5FFF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1">
                <a:solidFill>
                  <a:srgbClr val="0B5FFF"/>
                </a:solidFill>
                <a:latin typeface="微软雅黑"/>
                <a:ea typeface="微软雅黑"/>
                <a:cs typeface="微软雅黑"/>
              </a:rPr>
              <a:t>附录 · 答辩准备</a:t>
            </a:r>
            <a:endParaRPr sz="1050" b="1">
              <a:solidFill>
                <a:srgbClr val="0B5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D7616B21-0478-4718-8345-B298BB224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1047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anchor="t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2625" b="1">
                <a:solidFill>
                  <a:srgbClr val="0F172A"/>
                </a:solidFill>
                <a:latin typeface="微软雅黑"/>
                <a:ea typeface="微软雅黑"/>
                <a:cs typeface="微软雅黑"/>
              </a:defRPr>
            </a:pPr>
            <a:r>
              <a:rPr sz="2625" b="1">
                <a:solidFill>
                  <a:srgbClr val="0F172A"/>
                </a:solidFill>
                <a:latin typeface="微软雅黑"/>
                <a:ea typeface="微软雅黑"/>
                <a:cs typeface="微软雅黑"/>
              </a:rPr>
              <a:t>评委常问的问题，先给出可验证的答案</a:t>
            </a:r>
            <a:endParaRPr sz="2625" b="1">
              <a:solidFill>
                <a:srgbClr val="0F172A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" name="title-accent">
            <a:extLst xmlns:a="http://schemas.openxmlformats.org/drawingml/2006/main">
              <a:ext uri="{FF2B5EF4-FFF2-40B4-BE49-F238E27FC236}">
                <a16:creationId xmlns:a16="http://schemas.microsoft.com/office/drawing/2014/main" id="{D1E89406-837C-479E-8BCF-DB861C9DF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38250"/>
            <a:ext cx="5334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5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footer-line">
            <a:extLst xmlns:a="http://schemas.openxmlformats.org/drawingml/2006/main">
              <a:ext uri="{FF2B5EF4-FFF2-40B4-BE49-F238E27FC236}">
                <a16:creationId xmlns:a16="http://schemas.microsoft.com/office/drawing/2014/main" id="{061491C8-3EFA-4F1B-AFF6-A05E15410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footer-left">
            <a:extLst xmlns:a="http://schemas.openxmlformats.org/drawingml/2006/main">
              <a:ext uri="{FF2B5EF4-FFF2-40B4-BE49-F238E27FC236}">
                <a16:creationId xmlns:a16="http://schemas.microsoft.com/office/drawing/2014/main" id="{8EA40A87-0814-4BBD-A27A-433FB0C3F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anchor="t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900" b="0">
                <a:solidFill>
                  <a:srgbClr val="94A3B8"/>
                </a:solidFill>
                <a:latin typeface="微软雅黑"/>
                <a:ea typeface="微软雅黑"/>
                <a:cs typeface="微软雅黑"/>
              </a:defRPr>
            </a:pPr>
            <a:r>
              <a:rPr sz="900" b="0">
                <a:solidFill>
                  <a:srgbClr val="94A3B8"/>
                </a:solidFill>
                <a:latin typeface="微软雅黑"/>
                <a:ea typeface="微软雅黑"/>
                <a:cs typeface="微软雅黑"/>
              </a:rPr>
              <a:t>DataMind · 数据库 Agent Web 应用</a:t>
            </a:r>
            <a:endParaRPr sz="900" b="0">
              <a:solidFill>
                <a:srgbClr val="94A3B8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6" name="footer-page">
            <a:extLst xmlns:a="http://schemas.openxmlformats.org/drawingml/2006/main">
              <a:ext uri="{FF2B5EF4-FFF2-40B4-BE49-F238E27FC236}">
                <a16:creationId xmlns:a16="http://schemas.microsoft.com/office/drawing/2014/main" id="{9FD3C3DF-F924-464D-ADF5-1E1670718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0" y="6534150"/>
            <a:ext cx="95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anchor="t"/>
          <a:lstStyle xmlns:a="http://schemas.openxmlformats.org/drawingml/2006/main"/>
          <a:p xmlns:a="http://schemas.openxmlformats.org/drawingml/2006/main">
            <a:pPr algn="r">
              <a:lnSpc>
                <a:spcPct val="125000"/>
              </a:lnSpc>
              <a:buNone/>
              <a:defRPr sz="900" b="0">
                <a:solidFill>
                  <a:srgbClr val="94A3B8"/>
                </a:solidFill>
                <a:latin typeface="微软雅黑"/>
                <a:ea typeface="微软雅黑"/>
                <a:cs typeface="微软雅黑"/>
              </a:defRPr>
            </a:pPr>
            <a:r>
              <a:rPr sz="900" b="0">
                <a:solidFill>
                  <a:srgbClr val="94A3B8"/>
                </a:solidFill>
                <a:latin typeface="微软雅黑"/>
                <a:ea typeface="微软雅黑"/>
                <a:cs typeface="微软雅黑"/>
              </a:rPr>
              <a:t>26</a:t>
            </a:r>
            <a:endParaRPr sz="900" b="0">
              <a:solidFill>
                <a:srgbClr val="94A3B8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7" name="agent-overview-intro">
            <a:extLst xmlns:a="http://schemas.openxmlformats.org/drawingml/2006/main">
              <a:ext uri="{FF2B5EF4-FFF2-40B4-BE49-F238E27FC236}">
                <a16:creationId xmlns:a16="http://schemas.microsoft.com/office/drawing/2014/main" id="{E339B070-8EB3-4623-8914-F2F776F36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10820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anchor="t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350" b="0">
                <a:solidFill>
                  <a:srgbClr val="475569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475569"/>
                </a:solidFill>
                <a:latin typeface="微软雅黑"/>
                <a:ea typeface="微软雅黑"/>
                <a:cs typeface="微软雅黑"/>
              </a:rPr>
              <a:t>以下问题覆盖安全、扩展性、性能与落地成本，答案都对应产品里已经实现的能力。</a:t>
            </a:r>
            <a:endParaRPr sz="1350" b="0">
              <a:solidFill>
                <a:srgbClr val="475569"/>
              </a:solidFill>
              <a:latin typeface="微软雅黑"/>
              <a:ea typeface="微软雅黑"/>
              <a:cs typeface="微软雅黑"/>
            </a:endParaRPr>
          </a:p>
        </p:txBody>
      </p:sp>
      <p:graphicFrame>
        <p:nvGraphicFramePr>
          <p:cNvPr id="16" name="表格 15">
            <a:extLst xmlns:a="http://schemas.openxmlformats.org/drawingml/2006/main">
              <a:ext uri="{FF2B5EF4-FFF2-40B4-BE49-F238E27FC236}">
                <a16:creationId xmlns:a16="http://schemas.microsoft.com/office/drawing/2014/main" id="{613D18DD-D38A-49DB-81EC-022D03051E60}"/>
              </a:ext>
            </a:extLst>
          </p:cNvPr>
          <p:cNvGraphicFramePr/>
          <p:nvPr/>
        </p:nvGraphicFramePr>
        <p:xfrm>
          <a:off xmlns:a="http://schemas.openxmlformats.org/drawingml/2006/main" x="685800" y="2095500"/>
          <a:ext xmlns:a="http://schemas.openxmlformats.org/drawingml/2006/main" cx="10820400" cy="342900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3606800"/>
                <a:gridCol w="3606800"/>
                <a:gridCol w="3606800"/>
              </a:tblGrid>
              <a:tr h="5715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评委追问</a:t>
                      </a:r>
                      <a:endParaRPr sz="1200" b="1">
                        <a:solidFill>
                          <a:srgbClr val="FFFFFF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33350" marR="133350" marT="66675" marB="66675" anchor="ctr">
                    <a:solidFill>
                      <a:srgbClr val="0B5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应答要点</a:t>
                      </a:r>
                      <a:endParaRPr sz="1200" b="1">
                        <a:solidFill>
                          <a:srgbClr val="FFFFFF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33350" marR="133350" marT="66675" marB="66675" anchor="ctr">
                    <a:solidFill>
                      <a:srgbClr val="0B5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对应能力</a:t>
                      </a:r>
                      <a:endParaRPr sz="1200" b="1">
                        <a:solidFill>
                          <a:srgbClr val="FFFFFF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33350" marR="133350" marT="66675" marB="66675" anchor="ctr">
                    <a:solidFill>
                      <a:srgbClr val="0B5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0F172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AI 会误删数据吗？</a:t>
                      </a:r>
                      <a:endParaRPr sz="1200">
                        <a:solidFill>
                          <a:srgbClr val="0F172A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33350" marR="133350" marT="57150" marB="5715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0F172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写操作一律二次确认，DDL 额外高危提示；确认记录 5 分钟过期、只能消费一次</a:t>
                      </a:r>
                      <a:endParaRPr sz="1200">
                        <a:solidFill>
                          <a:srgbClr val="0F172A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33350" marR="133350" marT="57150" marB="5715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0F172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分级授权 + 确认机制</a:t>
                      </a:r>
                      <a:endParaRPr sz="1200">
                        <a:solidFill>
                          <a:srgbClr val="0F172A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33350" marR="133350" marT="57150" marB="57150" anchor="ctr"/>
                </a:tc>
              </a:tr>
              <a:tr h="5715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0F172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数据库密码怎么保护？</a:t>
                      </a:r>
                      <a:endParaRPr sz="1200">
                        <a:solidFill>
                          <a:srgbClr val="0F172A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33350" marR="133350" marT="57150" marB="5715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0F172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密码、SSH 私钥、AI Key 均为 Fernet 加密入库，接口只返回 has_key</a:t>
                      </a:r>
                      <a:endParaRPr sz="1200">
                        <a:solidFill>
                          <a:srgbClr val="0F172A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33350" marR="133350" marT="57150" marB="5715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0F172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密钥可环境变量注入</a:t>
                      </a:r>
                      <a:endParaRPr sz="1200">
                        <a:solidFill>
                          <a:srgbClr val="0F172A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33350" marR="133350" marT="57150" marB="57150" anchor="ctr"/>
                </a:tc>
              </a:tr>
              <a:tr h="5715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0F172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支持哪些数据库？</a:t>
                      </a:r>
                      <a:endParaRPr sz="1200">
                        <a:solidFill>
                          <a:srgbClr val="0F172A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33350" marR="133350" marT="57150" marB="5715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0F172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7 类数据源；OceanBase、GoldenDB 复用 MySQL 协议</a:t>
                      </a:r>
                      <a:endParaRPr sz="1200">
                        <a:solidFill>
                          <a:srgbClr val="0F172A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33350" marR="133350" marT="57150" marB="5715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0F172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适配器层可直接扩展</a:t>
                      </a:r>
                      <a:endParaRPr sz="1200">
                        <a:solidFill>
                          <a:srgbClr val="0F172A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33350" marR="133350" marT="57150" marB="57150" anchor="ctr"/>
                </a:tc>
              </a:tr>
              <a:tr h="5715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0F172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大结果集会不会卡住？</a:t>
                      </a:r>
                      <a:endParaRPr sz="1200">
                        <a:solidFill>
                          <a:srgbClr val="0F172A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33350" marR="133350" marT="57150" marB="5715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0F172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分页 + 最大行数限制，Agent 结果超限时截断提示，前端虚拟滚动</a:t>
                      </a:r>
                      <a:endParaRPr sz="1200">
                        <a:solidFill>
                          <a:srgbClr val="0F172A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33350" marR="133350" marT="57150" marB="5715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0F172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端到端限流</a:t>
                      </a:r>
                      <a:endParaRPr sz="1200">
                        <a:solidFill>
                          <a:srgbClr val="0F172A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33350" marR="133350" marT="57150" marB="57150" anchor="ctr"/>
                </a:tc>
              </a:tr>
              <a:tr h="5715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0F172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部署与运维成本高吗？</a:t>
                      </a:r>
                      <a:endParaRPr sz="1200">
                        <a:solidFill>
                          <a:srgbClr val="0F172A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33350" marR="133350" marT="57150" marB="5715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0F172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单机 Docker 一键启动、单端口，/metrics 可接入现有监控</a:t>
                      </a:r>
                      <a:endParaRPr sz="1200">
                        <a:solidFill>
                          <a:srgbClr val="0F172A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33350" marR="133350" marT="57150" marB="5715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0F172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无外部中间件依赖</a:t>
                      </a:r>
                      <a:endParaRPr sz="1200">
                        <a:solidFill>
                          <a:srgbClr val="0F172A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33350" marR="133350" marT="57150" marB="57150" anchor="ctr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374430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2026-10-14T09:22:51.1050000Z</dcterms:created>
  <dcterms:modified xsi:type="dcterms:W3CDTF">2026-10-14T09:22:51.1050000Z</dcterms:modified>
</coreProperties>
</file>