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50697238a8477a" /><Relationship Type="http://schemas.openxmlformats.org/officeDocument/2006/relationships/extended-properties" Target="/docProps/app.xml" Id="Ref1071c9fad845dd" /><Relationship Type="http://schemas.openxmlformats.org/officeDocument/2006/relationships/officeDocument" Target="/ppt/presentation.xml" Id="R21f5f7f54d8842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44c8dbc8a6497a"/>
    <p:sldMasterId xmlns:r="http://schemas.openxmlformats.org/officeDocument/2006/relationships" id="2147483655" r:id="R7286e2b2c0874c35"/>
  </p:sldMasterIdLst>
  <p:notesMasterIdLst>
    <p:notesMasterId xmlns:r="http://schemas.openxmlformats.org/officeDocument/2006/relationships" r:id="R28eedd4f272248ae"/>
  </p:notesMasterIdLst>
  <p:sldIdLst>
    <p:sldId xmlns:r="http://schemas.openxmlformats.org/officeDocument/2006/relationships" id="256" r:id="R47684011887845b5"/>
    <p:sldId xmlns:r="http://schemas.openxmlformats.org/officeDocument/2006/relationships" id="257" r:id="Re67288399b1747fa"/>
    <p:sldId xmlns:r="http://schemas.openxmlformats.org/officeDocument/2006/relationships" id="258" r:id="R4dbb7e5b3de34c34"/>
    <p:sldId xmlns:r="http://schemas.openxmlformats.org/officeDocument/2006/relationships" id="259" r:id="R6d3256046032496e"/>
    <p:sldId xmlns:r="http://schemas.openxmlformats.org/officeDocument/2006/relationships" id="260" r:id="Rd131f20fa8504d46"/>
    <p:sldId xmlns:r="http://schemas.openxmlformats.org/officeDocument/2006/relationships" id="261" r:id="Rb725d145b7a743a9"/>
    <p:sldId xmlns:r="http://schemas.openxmlformats.org/officeDocument/2006/relationships" id="262" r:id="R38c860a0de064e2e"/>
    <p:sldId xmlns:r="http://schemas.openxmlformats.org/officeDocument/2006/relationships" id="263" r:id="R57e595813f114b40"/>
    <p:sldId xmlns:r="http://schemas.openxmlformats.org/officeDocument/2006/relationships" id="264" r:id="R642e600bb3f04086"/>
    <p:sldId xmlns:r="http://schemas.openxmlformats.org/officeDocument/2006/relationships" id="265" r:id="R33325383349c4711"/>
    <p:sldId xmlns:r="http://schemas.openxmlformats.org/officeDocument/2006/relationships" id="266" r:id="R15470890699a4b4d"/>
    <p:sldId xmlns:r="http://schemas.openxmlformats.org/officeDocument/2006/relationships" id="267" r:id="Rf76e4ae7101d4bc5"/>
    <p:sldId xmlns:r="http://schemas.openxmlformats.org/officeDocument/2006/relationships" id="268" r:id="Rfd01abfb3ab24c6c"/>
    <p:sldId xmlns:r="http://schemas.openxmlformats.org/officeDocument/2006/relationships" id="269" r:id="R811c8ee8bc6a467c"/>
    <p:sldId xmlns:r="http://schemas.openxmlformats.org/officeDocument/2006/relationships" id="270" r:id="Raf3fa3e89c9041d3"/>
    <p:sldId xmlns:r="http://schemas.openxmlformats.org/officeDocument/2006/relationships" id="271" r:id="R2ed30a16ab2e4544"/>
    <p:sldId xmlns:r="http://schemas.openxmlformats.org/officeDocument/2006/relationships" id="272" r:id="R682a6e4903384aae"/>
    <p:sldId xmlns:r="http://schemas.openxmlformats.org/officeDocument/2006/relationships" id="273" r:id="Rf9d501582a924075"/>
    <p:sldId xmlns:r="http://schemas.openxmlformats.org/officeDocument/2006/relationships" id="274" r:id="R1b7b8ce69c0047f2"/>
    <p:sldId xmlns:r="http://schemas.openxmlformats.org/officeDocument/2006/relationships" id="275" r:id="R3a16df0e2f134c8e"/>
    <p:sldId xmlns:r="http://schemas.openxmlformats.org/officeDocument/2006/relationships" id="276" r:id="Rb6cc6db06b6b4962"/>
    <p:sldId xmlns:r="http://schemas.openxmlformats.org/officeDocument/2006/relationships" id="277" r:id="Rde6cab42b4064fa3"/>
    <p:sldId xmlns:r="http://schemas.openxmlformats.org/officeDocument/2006/relationships" id="278" r:id="Re23aa7e0a0d64d98"/>
    <p:sldId xmlns:r="http://schemas.openxmlformats.org/officeDocument/2006/relationships" id="279" r:id="Rd6b02863496c4dc2"/>
    <p:sldId xmlns:r="http://schemas.openxmlformats.org/officeDocument/2006/relationships" id="280" r:id="R0c1d82e850d1471a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2dfd0dbad147c8" /><Relationship Type="http://schemas.openxmlformats.org/officeDocument/2006/relationships/slideMaster" Target="/ppt/slideMasters/slideMaster1.xml" Id="R4044c8dbc8a6497a" /><Relationship Type="http://schemas.openxmlformats.org/officeDocument/2006/relationships/slideMaster" Target="/ppt/slideMasters/slideMaster2.xml" Id="R7286e2b2c0874c35" /><Relationship Type="http://schemas.openxmlformats.org/officeDocument/2006/relationships/notesMaster" Target="/ppt/notesMasters/notesMaster1.xml" Id="R28eedd4f272248ae" /><Relationship Type="http://schemas.openxmlformats.org/officeDocument/2006/relationships/presProps" Target="/ppt/presProps.xml" Id="R1acd9f541db04c07" /><Relationship Type="http://schemas.openxmlformats.org/officeDocument/2006/relationships/viewProps" Target="/ppt/viewProps.xml" Id="Rd3cb39253cec4087" /><Relationship Type="http://schemas.openxmlformats.org/officeDocument/2006/relationships/tableStyles" Target="/ppt/tableStyles.xml" Id="Rbc506544184e4989" /><Relationship Type="http://schemas.openxmlformats.org/officeDocument/2006/relationships/slide" Target="/ppt/slides/slide1.xml" Id="R47684011887845b5" /><Relationship Type="http://schemas.openxmlformats.org/officeDocument/2006/relationships/slide" Target="/ppt/slides/slide2.xml" Id="Re67288399b1747fa" /><Relationship Type="http://schemas.openxmlformats.org/officeDocument/2006/relationships/slide" Target="/ppt/slides/slide3.xml" Id="R4dbb7e5b3de34c34" /><Relationship Type="http://schemas.openxmlformats.org/officeDocument/2006/relationships/slide" Target="/ppt/slides/slide4.xml" Id="R6d3256046032496e" /><Relationship Type="http://schemas.openxmlformats.org/officeDocument/2006/relationships/slide" Target="/ppt/slides/slide5.xml" Id="Rd131f20fa8504d46" /><Relationship Type="http://schemas.openxmlformats.org/officeDocument/2006/relationships/slide" Target="/ppt/slides/slide6.xml" Id="Rb725d145b7a743a9" /><Relationship Type="http://schemas.openxmlformats.org/officeDocument/2006/relationships/slide" Target="/ppt/slides/slide7.xml" Id="R38c860a0de064e2e" /><Relationship Type="http://schemas.openxmlformats.org/officeDocument/2006/relationships/slide" Target="/ppt/slides/slide8.xml" Id="R57e595813f114b40" /><Relationship Type="http://schemas.openxmlformats.org/officeDocument/2006/relationships/slide" Target="/ppt/slides/slide9.xml" Id="R642e600bb3f04086" /><Relationship Type="http://schemas.openxmlformats.org/officeDocument/2006/relationships/slide" Target="/ppt/slides/slide10.xml" Id="R33325383349c4711" /><Relationship Type="http://schemas.openxmlformats.org/officeDocument/2006/relationships/slide" Target="/ppt/slides/slide11.xml" Id="R15470890699a4b4d" /><Relationship Type="http://schemas.openxmlformats.org/officeDocument/2006/relationships/slide" Target="/ppt/slides/slide12.xml" Id="Rf76e4ae7101d4bc5" /><Relationship Type="http://schemas.openxmlformats.org/officeDocument/2006/relationships/slide" Target="/ppt/slides/slide13.xml" Id="Rfd01abfb3ab24c6c" /><Relationship Type="http://schemas.openxmlformats.org/officeDocument/2006/relationships/slide" Target="/ppt/slides/slide14.xml" Id="R811c8ee8bc6a467c" /><Relationship Type="http://schemas.openxmlformats.org/officeDocument/2006/relationships/slide" Target="/ppt/slides/slide15.xml" Id="Raf3fa3e89c9041d3" /><Relationship Type="http://schemas.openxmlformats.org/officeDocument/2006/relationships/slide" Target="/ppt/slides/slide16.xml" Id="R2ed30a16ab2e4544" /><Relationship Type="http://schemas.openxmlformats.org/officeDocument/2006/relationships/slide" Target="/ppt/slides/slide17.xml" Id="R682a6e4903384aae" /><Relationship Type="http://schemas.openxmlformats.org/officeDocument/2006/relationships/slide" Target="/ppt/slides/slide18.xml" Id="Rf9d501582a924075" /><Relationship Type="http://schemas.openxmlformats.org/officeDocument/2006/relationships/slide" Target="/ppt/slides/slide19.xml" Id="R1b7b8ce69c0047f2" /><Relationship Type="http://schemas.openxmlformats.org/officeDocument/2006/relationships/slide" Target="/ppt/slides/slide20.xml" Id="R3a16df0e2f134c8e" /><Relationship Type="http://schemas.openxmlformats.org/officeDocument/2006/relationships/slide" Target="/ppt/slides/slide21.xml" Id="Rb6cc6db06b6b4962" /><Relationship Type="http://schemas.openxmlformats.org/officeDocument/2006/relationships/slide" Target="/ppt/slides/slide22.xml" Id="Rde6cab42b4064fa3" /><Relationship Type="http://schemas.openxmlformats.org/officeDocument/2006/relationships/slide" Target="/ppt/slides/slide23.xml" Id="Re23aa7e0a0d64d98" /><Relationship Type="http://schemas.openxmlformats.org/officeDocument/2006/relationships/slide" Target="/ppt/slides/slide24.xml" Id="Rd6b02863496c4dc2" /><Relationship Type="http://schemas.openxmlformats.org/officeDocument/2006/relationships/slide" Target="/ppt/slides/slide25.xml" Id="R0c1d82e850d147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36fbc338dcb942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20f2f7cd434ae3" /><Relationship Type="http://schemas.openxmlformats.org/officeDocument/2006/relationships/notesMaster" Target="/ppt/notesMasters/notesMaster1.xml" Id="R235c0a74eff242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1a05b10e044d05" /><Relationship Type="http://schemas.openxmlformats.org/officeDocument/2006/relationships/notesMaster" Target="/ppt/notesMasters/notesMaster1.xml" Id="Rd977095d40494a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5da911e0e24609" /><Relationship Type="http://schemas.openxmlformats.org/officeDocument/2006/relationships/notesMaster" Target="/ppt/notesMasters/notesMaster1.xml" Id="R9caf8b54336d4c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47ac59b97f4feb" /><Relationship Type="http://schemas.openxmlformats.org/officeDocument/2006/relationships/notesMaster" Target="/ppt/notesMasters/notesMaster1.xml" Id="R3e06c202aeeb42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788e670b074c3c" /><Relationship Type="http://schemas.openxmlformats.org/officeDocument/2006/relationships/notesMaster" Target="/ppt/notesMasters/notesMaster1.xml" Id="Re56d6034ff2c48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69a00097b3431d" /><Relationship Type="http://schemas.openxmlformats.org/officeDocument/2006/relationships/notesMaster" Target="/ppt/notesMasters/notesMaster1.xml" Id="R7793e0fe417448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cd57d8e8654ba8" /><Relationship Type="http://schemas.openxmlformats.org/officeDocument/2006/relationships/notesMaster" Target="/ppt/notesMasters/notesMaster1.xml" Id="Rf49dcc53acb94f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06a560dcbb4e20" /><Relationship Type="http://schemas.openxmlformats.org/officeDocument/2006/relationships/notesMaster" Target="/ppt/notesMasters/notesMaster1.xml" Id="R0c330589bde948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0666d9a6ed461d" /><Relationship Type="http://schemas.openxmlformats.org/officeDocument/2006/relationships/notesMaster" Target="/ppt/notesMasters/notesMaster1.xml" Id="Re0e4f6e896c446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e38890442940e7" /><Relationship Type="http://schemas.openxmlformats.org/officeDocument/2006/relationships/notesMaster" Target="/ppt/notesMasters/notesMaster1.xml" Id="R96ff22a6397741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a40df5fe85d4bea" /><Relationship Type="http://schemas.openxmlformats.org/officeDocument/2006/relationships/notesMaster" Target="/ppt/notesMasters/notesMaster1.xml" Id="R11527a32d41147f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2a0e477d9e42c6" /><Relationship Type="http://schemas.openxmlformats.org/officeDocument/2006/relationships/notesMaster" Target="/ppt/notesMasters/notesMaster1.xml" Id="R7a686fc5f623412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01f4538866847c2" /><Relationship Type="http://schemas.openxmlformats.org/officeDocument/2006/relationships/notesMaster" Target="/ppt/notesMasters/notesMaster1.xml" Id="Re8a8a7832cdd406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8ba39ae056a4e74" /><Relationship Type="http://schemas.openxmlformats.org/officeDocument/2006/relationships/notesMaster" Target="/ppt/notesMasters/notesMaster1.xml" Id="R997e66597ae7416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f00f9afc3b94b1a" /><Relationship Type="http://schemas.openxmlformats.org/officeDocument/2006/relationships/notesMaster" Target="/ppt/notesMasters/notesMaster1.xml" Id="R620bd4c51e0f418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bee92b250224470" /><Relationship Type="http://schemas.openxmlformats.org/officeDocument/2006/relationships/notesMaster" Target="/ppt/notesMasters/notesMaster1.xml" Id="Rbcb56421cd4c4a7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ee284b80d684ddb" /><Relationship Type="http://schemas.openxmlformats.org/officeDocument/2006/relationships/notesMaster" Target="/ppt/notesMasters/notesMaster1.xml" Id="R8335886ceb424ce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0d42efe40224a2f" /><Relationship Type="http://schemas.openxmlformats.org/officeDocument/2006/relationships/notesMaster" Target="/ppt/notesMasters/notesMaster1.xml" Id="R37345b2a75b0463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fb2a0e2c3f04e91" /><Relationship Type="http://schemas.openxmlformats.org/officeDocument/2006/relationships/notesMaster" Target="/ppt/notesMasters/notesMaster1.xml" Id="R8538e03ed3b54a9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8a9a78636b24f37" /><Relationship Type="http://schemas.openxmlformats.org/officeDocument/2006/relationships/notesMaster" Target="/ppt/notesMasters/notesMaster1.xml" Id="R83955f48019e445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117aa1f64af468d" /><Relationship Type="http://schemas.openxmlformats.org/officeDocument/2006/relationships/notesMaster" Target="/ppt/notesMasters/notesMaster1.xml" Id="R5961186b4ef04c2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cfaa306417c46dd" /><Relationship Type="http://schemas.openxmlformats.org/officeDocument/2006/relationships/notesMaster" Target="/ppt/notesMasters/notesMaster1.xml" Id="R166a30af382244e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50f6a5f27404d3a" /><Relationship Type="http://schemas.openxmlformats.org/officeDocument/2006/relationships/notesMaster" Target="/ppt/notesMasters/notesMaster1.xml" Id="Ra5860975b8c2454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4f24e0fc57544e2" /><Relationship Type="http://schemas.openxmlformats.org/officeDocument/2006/relationships/notesMaster" Target="/ppt/notesMasters/notesMaster1.xml" Id="Rd221697e7c2a481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6184d4eb03949b6" /><Relationship Type="http://schemas.openxmlformats.org/officeDocument/2006/relationships/notesMaster" Target="/ppt/notesMasters/notesMaster1.xml" Id="Rc23abb03604e41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开场控制在 15 秒内：这是一个前后端分离、AI Agent 驱动的数据库查询与运维工作台。</a:t>
            </a:r>
          </a:p>
          <a:p xmlns:a="http://schemas.openxmlformats.org/drawingml/2006/main">
            <a:r>
              <a:t>一句话说清用户价值：不会 SQL 的人也能查询，会 SQL 的人更快。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先给观众一个清晰的路线图：从为什么做，到产品能力、技术亮点，再到工程治理。</a:t>
            </a:r>
          </a:p>
          <a:p xmlns:a="http://schemas.openxmlformats.org/drawingml/2006/main"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先给观众一个清晰的路线图：从为什么做，到产品能力、技术亮点，再到工程治理。</a:t>
            </a:r>
          </a:p>
          <a:p xmlns:a="http://schemas.openxmlformats.org/drawingml/2006/main"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用真实工作流举例：产品经理打开网页，输入“本月新增用户按日分组”，系统生成 SQL、返回结果，并可一键生成图表。</a:t>
            </a:r>
          </a:p>
          <a:p xmlns:a="http://schemas.openxmlformats.org/drawingml/2006/main">
            <a:r>
              <a:t>不要逐条念，重点突出从“会写 SQL”到“会描述需求”的降低门槛。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定位一句话：不会 SQL 的人也能查数，会 SQL 的人更快。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数据来源：README.md（部署方式）、backend/app/config.py（DEFAULT_DB_TYPES）、backend/app/services/connection_service.py、backend/app/database.py、backend/app/permissions.py。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先给观众一个清晰的路线图：从为什么做，到产品能力、技术亮点，再到工程治理。</a:t>
            </a:r>
          </a:p>
          <a:p xmlns:a="http://schemas.openxmlformats.org/drawingml/2006/main"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不逐条念功能，强调模块围绕工作流组织：连接、查询、分析、报表、管理。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40 秒），包含两个查询案例：</a:t>
            </a:r>
          </a:p>
          <a:p xmlns:a="http://schemas.openxmlformats.org/drawingml/2006/main">
            <a:r>
              <a:t>案例一：选择「本地演示库 (SQLite)」，提问「查询所有用户信息」，Agent 生成 SELECT id, username, email, age, created_at FROM users 并返回 8 条记录；</a:t>
            </a:r>
          </a:p>
          <a:p xmlns:a="http://schemas.openxmlformats.org/drawingml/2006/main">
            <a:r>
              <a:t>案例二：新建对话并切换到「Oracle（UAT）」，提问「查询所有机构，列出机构号、机构名称、机构层级和所在地区，按机构号排序」，Agent 生成 SELECT ORG_ID, ORG_NAME, ORG_LEVEL, REGION FROM BANK.T_ORG ORDER BY ORG_ID，返回 55 家机构（HEAD/BRANCH/SUB_BRANCH 层级）；结果出来后点击 CSV 将结果集导出（导出成功提示 + 浏览器下载，CSV 共 55 行数据）。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视频为本地运行实例的录屏；数据源为内置演示库（SQLite）与远端 Oracle UAT 库（T_ORG 表）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60 秒），数据源为 Oracle（UAT）：</a:t>
            </a:r>
          </a:p>
          <a:p xmlns:a="http://schemas.openxmlformats.org/drawingml/2006/main">
            <a:r>
              <a:t>案例一：提问「按分行层级统计近30天各个分行的交易笔数、交易总额，生成图表」，Agent 生成 SELECT o.ORG_NAME AS BRANCH_NAME, COUNT(t.LOG_ID) AS TRANS_CNT, ROUND(SUM(t.AMOUNT), 2) AS TRANS_AMT ... WHERE o.ORG_LEVEL = 'BRANCH' AND t.TRANS_TIME &gt;= TRUNC(SYSDATE) - 30 GROUP BY o.ORG_NAME，返回 6 家分行（360～1380 笔），自动渲染柱状图并点击「保存到可视化报表」；</a:t>
            </a:r>
          </a:p>
          <a:p xmlns:a="http://schemas.openxmlformats.org/drawingml/2006/main">
            <a:r>
              <a:t>案例二：新建对话后提问「近30天成功交易笔数和金额趋势，生成图表」，Agent 生成按 TRANS_TIME 逐日聚合（STATUS=SUCCESS）的 SQL，返回 31 天数据，自动选择折线图并同样保存到可视化报表；</a:t>
            </a:r>
          </a:p>
          <a:p xmlns:a="http://schemas.openxmlformats.org/drawingml/2006/main">
            <a:r>
              <a:t>结尾进入「可视化报表」页，可见刚保存的两张图表（笔数与金额量级差异大时前端自动拆分双 Y 轴）。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视频为本地运行实例的录屏；数据源为远端 Oracle UAT 库（T_TRANS_LOG / T_ORG）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55 秒），完整演示 SQL 工作台与 Agent 协同：</a:t>
            </a:r>
          </a:p>
          <a:p xmlns:a="http://schemas.openxmlformats.org/drawingml/2006/main">
            <a:r>
              <a:t>案例一：数据源切换为「OceanBase（本地）」，在编辑器输入 SELECT * FROM `t_org`; 并点击「▶ 执行」，返回 55 行机构数据；</a:t>
            </a:r>
          </a:p>
          <a:p xmlns:a="http://schemas.openxmlformats.org/drawingml/2006/main">
            <a:r>
              <a:t>案例二：点击右侧竖条展开 AI Agent 面板、新建会话，输入「统计近90天各地区的成功交易笔数和交易金额，按金额从高到低」，Agent 生成 SELECT o.REGION AS REGION, COUNT(t.LOG_ID) AS CNT, ROUND(SUM(t.AMOUNT),2) AS AMT FROM t_trans_log t JOIN t_org o ON o.ORG_ID = t.ORG_ID WHERE UPPER(t.STATUS) = 'SUCCESS' AND t.TRANS_TIME &gt;= NOW() - INTERVAL 90 DAY GROUP BY o.REGION ORDER BY AMT DESC，并给出结论（共 6 个地区，合计约 1.67 万笔 / 16.86 亿元，深圳金额最高）；随后点击「填入编辑器」将 SQL 回填到工作台编辑器，再点右上角「▶ 执行」得到结果集，最后点右上角「收藏」，命名为「近90天各地区的成功交易统计」并保存成功（出现「已收藏」提示）；</a:t>
            </a:r>
          </a:p>
          <a:p xmlns:a="http://schemas.openxmlformats.org/drawingml/2006/main">
            <a:r>
              <a:t>结尾依次切换左侧「历史」页签（本次两条 SQL 的执行记录，含行数与耗时）与「收藏」页签（新增的收藏项排在首位）。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视频为本地运行实例的录屏；数据源为 OceanBase CE 4.4.2.1（bank_db，T_ORG 55 行 / T_TRANS_LOG 10 万行）；Agent 生成 SQL 的模型为 openai · deepseek-v4-flash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52 秒），三个写操作场景均需人工确认：</a:t>
            </a:r>
          </a:p>
          <a:p xmlns:a="http://schemas.openxmlformats.org/drawingml/2006/main">
            <a:r>
              <a:t>案例一（工作台发起 DML）：数据源选「OceanBase（本地）」，执行 UPDATE `t_user` SET `GENDER` = 'F', `UPDATED_AT` = NOW() WHERE `USER_NAME` = '乔华';，弹出「写操作确认」（DML · warning，预览待执行 SQL），点「确认执行」后生效（影响 2 行）；</a:t>
            </a:r>
          </a:p>
          <a:p xmlns:a="http://schemas.openxmlformats.org/drawingml/2006/main">
            <a:r>
              <a:t>案例二（Agent 发起 DDL）：展开右侧 AI Agent、新建会话，输入「把用户表的用户名称字段长度改成300」，Agent 生成 ALTER TABLE `t_user` MODIFY COLUMN `USER_NAME` VARCHAR(300); 并弹出红色「危险操作确认」（DDL · danger），确认后执行；</a:t>
            </a:r>
          </a:p>
          <a:p xmlns:a="http://schemas.openxmlformats.org/drawingml/2006/main">
            <a:r>
              <a:t>案例三（高危操作被拦下）：继续输入「删除用户表」，Agent 生成 DROP TABLE `t_user`，同样红色高危提示，点「取消」后提示「已取消执行」，表未被删除。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视频为本地运行实例的录屏；数据源为 OceanBase CE 4.4.2.1 bank_db（T_USER）；READ 自动执行、DML/DDL 待确认以及 5 分钟过期机制见 services/sql_service.py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32 秒），四个监控能力依次演示：</a:t>
            </a:r>
          </a:p>
          <a:p xmlns:a="http://schemas.openxmlformats.org/drawingml/2006/main">
            <a:r>
              <a:t>第一步：打开「连接概览」，基于执行历史（query_history）统计累计查询 336 次、今日 103 次、 10 个数据源，并列出各库的查询次数、平均/最大耗时、成功率与最近执行时间；</a:t>
            </a:r>
          </a:p>
          <a:p xmlns:a="http://schemas.openxmlformats.org/drawingml/2006/main">
            <a:r>
              <a:t>第二步：切到「审计日志」，查看登录与执行 SQL 的全量记录（含操作类型、风险类型、数据源、用户、IP、SQL），可见上一页演示中被拒绝的 DROP TABLE 也被如实记下（rejected）；</a:t>
            </a:r>
          </a:p>
          <a:p xmlns:a="http://schemas.openxmlformats.org/drawingml/2006/main">
            <a:r>
              <a:t>第三步：切到「慢查询」，把耗时阈值从默认 1000ms 改为 100ms 并点击「查询」，列出超过阈值的慢 SQL（含数据源、耗时、行数、状态、SQL、时间）；</a:t>
            </a:r>
          </a:p>
          <a:p xmlns:a="http://schemas.openxmlformats.org/drawingml/2006/main">
            <a:r>
              <a:t>第四步：切到「表结构对比」，源数据源选 Oracle（SIT）、目标数据源选 Oracle（UAT），点「对比」得到差异：T_ORG 在目标库多出 CREATED_AT 列，T_USER.USER_NAME 由 varchar2(300) 变为 varchar2(100)。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视频为本地运行实例的录屏；数据来自 query_history / audit_logs 与远端 Oracle SIT、UAT 库；慢查询阈值、连接概览与 schema diff 实现见 routers/monitor.py 与 services/metadata_service.py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23 秒），两步验证连接可用性：</a:t>
            </a:r>
          </a:p>
          <a:p xmlns:a="http://schemas.openxmlformats.org/drawingml/2006/main">
            <a:r>
              <a:t>第一步：打开「设置 · 数据库连接配置」，在连接列表里点击第一个数据源「OceanBase（本地）」的「测试」按钮，弹出「连接测试结果」弹窗，反馈「连接成功」（底层调 POST /api/connections/{id}/connect）；</a:t>
            </a:r>
          </a:p>
          <a:p xmlns:a="http://schemas.openxmlformats.org/drawingml/2006/main">
            <a:r>
              <a:t>第二步：切到「大模型连接配置」，点击第二个模型「Ollama（本地）· qwen3.8:27b」的「测试」按钮，右上角提示「连接成功，模型 qwen3.8:27b 响应正常（2301 ms）」。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视频为本地运行实例的录屏；数据库连接见 routers/connections.py（POST /api/connections/{id}/connect），大模型测试见 routers/system.py（POST /api/config/ai/test）；API Key 经 Fernet 加密存储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23 秒），从用户到角色依次演示：</a:t>
            </a:r>
          </a:p>
          <a:p xmlns:a="http://schemas.openxmlformats.org/drawingml/2006/main">
            <a:r>
              <a:t>第一步：从左侧菜单打开「用户管理」，列出账号、显示名、角色、状态与最后登录时间，操作列可编辑、重置密码、禁用/删除（当前 5 个账号：管理员 与 技术/业务各两类账号）；</a:t>
            </a:r>
          </a:p>
          <a:p xmlns:a="http://schemas.openxmlformats.org/drawingml/2006/main">
            <a:r>
              <a:t>第二步：切到「角色管理」，左侧列出 5 个内置角色（管理员 / 技术管理 / 技术查询 / 业务管理 / 业务查询）；</a:t>
            </a:r>
          </a:p>
          <a:p xmlns:a="http://schemas.openxmlformats.org/drawingml/2006/main">
            <a:r>
              <a:t>第三步：依次点击「技术管理」「技术查询」「业务查询」三个角色，右侧实时切换该角色的名称/编码/说明、「功能权限」按模块分组的勾选状态与角色成员（技术管理 12 项、技术查询 6 项、业务查询 4 项权限，选中行会高亮）。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视频为本地运行实例的录屏；角色与权限码定义见 backend/app/permissions.py（BUILTIN_ROLES / PERMISSIONS），前端路由守卫与菜单按 meta.permission 控制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先给观众一个清晰的路线图：从为什么做，到产品能力、技术亮点，再到工程治理。</a:t>
            </a:r>
          </a:p>
          <a:p xmlns:a="http://schemas.openxmlformats.org/drawingml/2006/main"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 Agent 能力的层次：不只是生成 SQL，还包括 Schema 感知、多轮对话、解释优化和流式输出。</a:t>
            </a:r>
          </a:p>
          <a:p xmlns:a="http://schemas.openxmlformats.org/drawingml/2006/main">
            <a:r>
              <a:t>下一页会展开工程实现中的工具调用与失败重试。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重点讲“工具调用 + 失败重试 + few-shot”，这是 AI 编程竞赛最看重的工程深度。</a:t>
            </a:r>
          </a:p>
          <a:p xmlns:a="http://schemas.openxmlformats.org/drawingml/2006/main">
            <a:r>
              <a:t>现场演示：输入“查询本月新增用户数并按日分组”，展示思考过程、SQL、结果和图表生成。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这是项目的信任基础：让 AI 能生成 SQL，但不让 AI 拥有不受控的写权限。</a:t>
            </a:r>
          </a:p>
          <a:p xmlns:a="http://schemas.openxmlformats.org/drawingml/2006/main">
            <a:r>
              <a:t>可对比“直接给 AI 数据库权限”的传统做法，突出安全设计。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先给观众一个清晰的路线图：从为什么做，到产品能力、技术亮点，再到工程治理。</a:t>
            </a:r>
          </a:p>
          <a:p xmlns:a="http://schemas.openxmlformats.org/drawingml/2006/main"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数据来源：backend/app/services/（分层）、backend/tests（167 项测试，pytest 用例计数）、backend/pyproject.toml（ruff）、backend/migrations、Dockerfile。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审计与监控是系统可治理的体现，也是企业级部署的关键。</a:t>
            </a:r>
          </a:p>
          <a:p xmlns:a="http://schemas.openxmlformats.org/drawingml/2006/main">
            <a:r>
              <a:t>强调审计导出与自动清理，以及 Prometheus 指标对运维友好。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企业级完整性：加密、分级授权、全量审计、指标与测试。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backend/app/security.py、permissions.py、main.py（/metrics）；后端 117 项 pytest 用例，96 个 API 接口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收尾回到用户价值，并给出下一步计划。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数据来源：backend/app/services/sql_service.py（确认机制）、backend/app/security.py（Fernet）、backend/app/adapters/registry.py（数据源类型）、backend/app/services/agent_service.py（结果截断）。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a59286736b4c9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5e885f9a50420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6b1c3c82e4443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68529332524d5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22665f41ac49f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45a98989f6489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c05d8647e77415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41d1c3c959d4b7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5bfe12e0ee1429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32668bdfdc3421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b7d412cc0bf46a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8f2d266473443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5F63CF-A364-48FC-92C4-DBDE8CA283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537E89E-2927-4CAF-84DC-CECAE793350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B71B155-C8BD-45DF-9628-4EC22C27AD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F21EFF-C7B1-4B81-916A-E82D5DBA9D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FBBE983-D610-484B-AA84-2EAB737C0E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023243C-C65E-466C-9046-C5268D7179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9A24BBB-B131-420B-B89A-E48902775A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A9C5AE3-4F5B-4C7C-9D70-AF033F8B078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30B44E-8A04-4060-973F-1FCF68ED74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A73FCD9-FFF5-478B-9D0C-2EFA93E033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B2EBA0F-5F39-4E4A-AB0C-3386EEDC0C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0710B21-4505-4738-8702-A08174FB550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C76BB21-1789-4BB3-92B5-090881C2F3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156F28-A646-405E-BCF0-9236A9204B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442E1D9-A9BE-4897-9C05-2E2FB55EAB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E854B9E-8072-499E-AB09-501A8A90E3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613B235-84B9-4E5A-8FBD-0D44336446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0318CCD-A6F1-43AC-943D-98C4BCAC58A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C1C4DB-D427-4C39-A38C-174ECDC20B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CDFF300-9D09-44DF-B92B-388FB36DE7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d18043385b40ea" /><Relationship Type="http://schemas.openxmlformats.org/officeDocument/2006/relationships/slideLayout" Target="/ppt/slideLayouts/slideLayout1.xml" Id="R80bea94822324fcc" /><Relationship Type="http://schemas.openxmlformats.org/officeDocument/2006/relationships/slideLayout" Target="/ppt/slideLayouts/slideLayout2.xml" Id="Rabbf67d7b28c4384" /><Relationship Type="http://schemas.openxmlformats.org/officeDocument/2006/relationships/slideLayout" Target="/ppt/slideLayouts/slideLayout3.xml" Id="R76efe38b36e74f19" /><Relationship Type="http://schemas.openxmlformats.org/officeDocument/2006/relationships/slideLayout" Target="/ppt/slideLayouts/slideLayout4.xml" Id="R5e2ac8708df44a30" /><Relationship Type="http://schemas.openxmlformats.org/officeDocument/2006/relationships/slideLayout" Target="/ppt/slideLayouts/slideLayout5.xml" Id="R05b6d8a6f48f4bd9" /><Relationship Type="http://schemas.openxmlformats.org/officeDocument/2006/relationships/slideLayout" Target="/ppt/slideLayouts/slideLayout6.xml" Id="R101758755f2d469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af999474ea5d4706" /><Relationship Type="http://schemas.openxmlformats.org/officeDocument/2006/relationships/slideLayout" Target="/ppt/slideLayouts/slideLayout7.xml" Id="R91cdd87bbac64b6e" /><Relationship Type="http://schemas.openxmlformats.org/officeDocument/2006/relationships/slideLayout" Target="/ppt/slideLayouts/slideLayout8.xml" Id="R8d372f55a271404b" /><Relationship Type="http://schemas.openxmlformats.org/officeDocument/2006/relationships/slideLayout" Target="/ppt/slideLayouts/slideLayout9.xml" Id="R666f8e55c32c4023" /><Relationship Type="http://schemas.openxmlformats.org/officeDocument/2006/relationships/slideLayout" Target="/ppt/slideLayouts/slideLayout10.xml" Id="R892fe3ca858a4e3b" /><Relationship Type="http://schemas.openxmlformats.org/officeDocument/2006/relationships/slideLayout" Target="/ppt/slideLayouts/slideLayout11.xml" Id="R217338fbbca3409b" /><Relationship Type="http://schemas.openxmlformats.org/officeDocument/2006/relationships/slideLayout" Target="/ppt/slideLayouts/slideLayout12.xml" Id="R0dfb9e9b6875427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bea94822324fcc"/>
    <p:sldLayoutId xmlns:r="http://schemas.openxmlformats.org/officeDocument/2006/relationships" id="2147483650" r:id="Rabbf67d7b28c4384"/>
    <p:sldLayoutId xmlns:r="http://schemas.openxmlformats.org/officeDocument/2006/relationships" id="2147483651" r:id="R76efe38b36e74f19"/>
    <p:sldLayoutId xmlns:r="http://schemas.openxmlformats.org/officeDocument/2006/relationships" id="2147483652" r:id="R5e2ac8708df44a30"/>
    <p:sldLayoutId xmlns:r="http://schemas.openxmlformats.org/officeDocument/2006/relationships" id="2147483653" r:id="R05b6d8a6f48f4bd9"/>
    <p:sldLayoutId xmlns:r="http://schemas.openxmlformats.org/officeDocument/2006/relationships" id="2147483654" r:id="R101758755f2d46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91cdd87bbac64b6e"/>
    <p:sldLayoutId xmlns:r="http://schemas.openxmlformats.org/officeDocument/2006/relationships" id="2147483657" r:id="R8d372f55a271404b"/>
    <p:sldLayoutId xmlns:r="http://schemas.openxmlformats.org/officeDocument/2006/relationships" id="2147483658" r:id="R666f8e55c32c4023"/>
    <p:sldLayoutId xmlns:r="http://schemas.openxmlformats.org/officeDocument/2006/relationships" id="2147483659" r:id="R892fe3ca858a4e3b"/>
    <p:sldLayoutId xmlns:r="http://schemas.openxmlformats.org/officeDocument/2006/relationships" id="2147483660" r:id="R217338fbbca3409b"/>
    <p:sldLayoutId xmlns:r="http://schemas.openxmlformats.org/officeDocument/2006/relationships" id="2147483661" r:id="R0dfb9e9b687542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2c41547774f2c" /><Relationship Type="http://schemas.openxmlformats.org/officeDocument/2006/relationships/notesSlide" Target="/ppt/notesSlides/notesSlide1.xml" Id="Rd88c6c64be5643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172480da74d8a" /><Relationship Type="http://schemas.openxmlformats.org/officeDocument/2006/relationships/notesSlide" Target="/ppt/notesSlides/notesSlide2.xml" Id="Rc17379e0e9704b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4728ef329d84738" /><Relationship Type="http://schemas.openxmlformats.org/officeDocument/2006/relationships/notesSlide" Target="/ppt/notesSlides/notesSlide3.xml" Id="Rc34b29f012ce45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ba2809b4841ca" /><Relationship Type="http://schemas.openxmlformats.org/officeDocument/2006/relationships/notesSlide" Target="/ppt/notesSlides/notesSlide4.xml" Id="Rbe063284f54c47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b564d8d5044a98" /><Relationship Type="http://schemas.openxmlformats.org/officeDocument/2006/relationships/notesSlide" Target="/ppt/notesSlides/notesSlide5.xml" Id="R94c0371ee1cb4c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871decb7c84f6b" /><Relationship Type="http://schemas.openxmlformats.org/officeDocument/2006/relationships/notesSlide" Target="/ppt/notesSlides/notesSlide6.xml" Id="R4b3f3b826e0b4b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2cfceedc80b4ff8" /><Relationship Type="http://schemas.openxmlformats.org/officeDocument/2006/relationships/notesSlide" Target="/ppt/notesSlides/notesSlide7.xml" Id="Ra9591473223245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a411d944624e3e" /><Relationship Type="http://schemas.openxmlformats.org/officeDocument/2006/relationships/notesSlide" Target="/ppt/notesSlides/notesSlide8.xml" Id="Rf3570b65d1884b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0155ac23ee4f3d" /><Relationship Type="http://schemas.openxmlformats.org/officeDocument/2006/relationships/image" Target="/ppt/media/image.png" Id="Ra92369038c884937" /><Relationship Type="http://schemas.openxmlformats.org/officeDocument/2006/relationships/notesSlide" Target="/ppt/notesSlides/notesSlide9.xml" Id="R3ac55c43f5644a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e7ff6644d846cf" /><Relationship Type="http://schemas.openxmlformats.org/officeDocument/2006/relationships/image" Target="/ppt/media/image2.png" Id="R5fcc2494dbd84e06" /><Relationship Type="http://schemas.openxmlformats.org/officeDocument/2006/relationships/notesSlide" Target="/ppt/notesSlides/notesSlide10.xml" Id="Ra4edbc0c65064a3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05c52e40b347d6" /><Relationship Type="http://schemas.openxmlformats.org/officeDocument/2006/relationships/image" Target="/ppt/media/image3.png" Id="R5b0d7dca55fa4c0e" /><Relationship Type="http://schemas.openxmlformats.org/officeDocument/2006/relationships/notesSlide" Target="/ppt/notesSlides/notesSlide11.xml" Id="R052adeea9ef0493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e043d0b5c04d8b" /><Relationship Type="http://schemas.openxmlformats.org/officeDocument/2006/relationships/image" Target="/ppt/media/image4.png" Id="R1aa4928f7dac4db7" /><Relationship Type="http://schemas.openxmlformats.org/officeDocument/2006/relationships/notesSlide" Target="/ppt/notesSlides/notesSlide12.xml" Id="R3ef5f98ec5d64fd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cc3ffa025d44f6" /><Relationship Type="http://schemas.openxmlformats.org/officeDocument/2006/relationships/image" Target="/ppt/media/image5.png" Id="R0915cc2305e04f3e" /><Relationship Type="http://schemas.openxmlformats.org/officeDocument/2006/relationships/notesSlide" Target="/ppt/notesSlides/notesSlide13.xml" Id="R442e787f921b401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d43d999a2141c0" /><Relationship Type="http://schemas.openxmlformats.org/officeDocument/2006/relationships/image" Target="/ppt/media/image6.png" Id="Recc7ce84eb3f45b1" /><Relationship Type="http://schemas.openxmlformats.org/officeDocument/2006/relationships/notesSlide" Target="/ppt/notesSlides/notesSlide14.xml" Id="Rd43eac46d52e493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525019ea54480d" /><Relationship Type="http://schemas.openxmlformats.org/officeDocument/2006/relationships/image" Target="/ppt/media/image7.png" Id="R738e047dc42e4dec" /><Relationship Type="http://schemas.openxmlformats.org/officeDocument/2006/relationships/notesSlide" Target="/ppt/notesSlides/notesSlide15.xml" Id="Rc9135a0210f6479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470c2e0af224003" /><Relationship Type="http://schemas.openxmlformats.org/officeDocument/2006/relationships/notesSlide" Target="/ppt/notesSlides/notesSlide16.xml" Id="R3b706f643286413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1e3c68dea42a5" /><Relationship Type="http://schemas.openxmlformats.org/officeDocument/2006/relationships/notesSlide" Target="/ppt/notesSlides/notesSlide17.xml" Id="R765d1e43a4e148b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004bddf974674" /><Relationship Type="http://schemas.openxmlformats.org/officeDocument/2006/relationships/notesSlide" Target="/ppt/notesSlides/notesSlide18.xml" Id="R1d1ecadb7cae4d2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987d1a511b45b3" /><Relationship Type="http://schemas.openxmlformats.org/officeDocument/2006/relationships/notesSlide" Target="/ppt/notesSlides/notesSlide19.xml" Id="Rad67bb8f2ca7459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cceb2af2a0c4371" /><Relationship Type="http://schemas.openxmlformats.org/officeDocument/2006/relationships/notesSlide" Target="/ppt/notesSlides/notesSlide20.xml" Id="Rc12dc7ea1f3e450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34ead9f9024c27" /><Relationship Type="http://schemas.openxmlformats.org/officeDocument/2006/relationships/notesSlide" Target="/ppt/notesSlides/notesSlide21.xml" Id="R0d43f874a4764cb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949da803342f4" /><Relationship Type="http://schemas.openxmlformats.org/officeDocument/2006/relationships/notesSlide" Target="/ppt/notesSlides/notesSlide22.xml" Id="R01b05e079611433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9eb4d3d74d48a7" /><Relationship Type="http://schemas.openxmlformats.org/officeDocument/2006/relationships/notesSlide" Target="/ppt/notesSlides/notesSlide23.xml" Id="R5442066a4e564ce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6182ae30bf4485" /><Relationship Type="http://schemas.openxmlformats.org/officeDocument/2006/relationships/notesSlide" Target="/ppt/notesSlides/notesSlide24.xml" Id="R49d160901dce448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467a591ff4526" /><Relationship Type="http://schemas.openxmlformats.org/officeDocument/2006/relationships/notesSlide" Target="/ppt/notesSlides/notesSlide25.xml" Id="Rc391a4bb33544d5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over-glow">
            <a:extLst xmlns:a="http://schemas.openxmlformats.org/drawingml/2006/main">
              <a:ext uri="{FF2B5EF4-FFF2-40B4-BE49-F238E27FC236}">
                <a16:creationId xmlns:a16="http://schemas.microsoft.com/office/drawing/2014/main" id="{46EAB3DF-C709-4DC9-935F-A397344F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71500"/>
            <a:ext cx="4095750" cy="409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2576395-13FD-477E-B5E4-55E8993C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48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DataMind</a:t>
            </a:r>
            <a:endParaRPr sz="4800" b="1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5A1D18F-5BA2-40DA-8736-26FD7CE2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数据库 Agent Web 应用</a:t>
            </a:r>
            <a:endParaRPr sz="22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cover-claim">
            <a:extLst xmlns:a="http://schemas.openxmlformats.org/drawingml/2006/main">
              <a:ext uri="{FF2B5EF4-FFF2-40B4-BE49-F238E27FC236}">
                <a16:creationId xmlns:a16="http://schemas.microsoft.com/office/drawing/2014/main" id="{DD5559ED-1B1D-416B-B008-E7C8C070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让不会写 </a:t>
            </a: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SQL </a:t>
            </a: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的业务人员也能安全地查数据，会写 </a:t>
            </a: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SQL </a:t>
            </a: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的技术人员更</a:t>
            </a: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高效。</a:t>
            </a:r>
            <a:endParaRPr sz="1500" b="0">
              <a:solidFill>
                <a:srgbClr val="DBEAF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cover-tag-0">
            <a:extLst xmlns:a="http://schemas.openxmlformats.org/drawingml/2006/main">
              <a:ext uri="{FF2B5EF4-FFF2-40B4-BE49-F238E27FC236}">
                <a16:creationId xmlns:a16="http://schemas.microsoft.com/office/drawing/2014/main" id="{2DF477DE-407A-4471-87D8-BA675AC5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rPr>
              <a:t>AI Agent</a:t>
            </a:r>
            <a:endParaRPr sz="1200" b="1">
              <a:solidFill>
                <a:srgbClr val="93C5F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cover-tag-line-0">
            <a:extLst xmlns:a="http://schemas.openxmlformats.org/drawingml/2006/main">
              <a:ext uri="{FF2B5EF4-FFF2-40B4-BE49-F238E27FC236}">
                <a16:creationId xmlns:a16="http://schemas.microsoft.com/office/drawing/2014/main" id="{DB20FC7A-070F-4454-8C0C-5E41DAC3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tag-1">
            <a:extLst xmlns:a="http://schemas.openxmlformats.org/drawingml/2006/main">
              <a:ext uri="{FF2B5EF4-FFF2-40B4-BE49-F238E27FC236}">
                <a16:creationId xmlns:a16="http://schemas.microsoft.com/office/drawing/2014/main" id="{63FF75F2-8722-4AE3-AD39-0125372E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152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rPr>
              <a:t>Multi-Database</a:t>
            </a:r>
            <a:endParaRPr sz="1200" b="1">
              <a:solidFill>
                <a:srgbClr val="93C5F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cover-tag-line-1">
            <a:extLst xmlns:a="http://schemas.openxmlformats.org/drawingml/2006/main">
              <a:ext uri="{FF2B5EF4-FFF2-40B4-BE49-F238E27FC236}">
                <a16:creationId xmlns:a16="http://schemas.microsoft.com/office/drawing/2014/main" id="{52468FDA-CAEE-4462-9007-0E8DEA7F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767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ver-tag-2">
            <a:extLst xmlns:a="http://schemas.openxmlformats.org/drawingml/2006/main">
              <a:ext uri="{FF2B5EF4-FFF2-40B4-BE49-F238E27FC236}">
                <a16:creationId xmlns:a16="http://schemas.microsoft.com/office/drawing/2014/main" id="{43D574E3-5464-423C-BDE0-7CF2EDB8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52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rPr>
              <a:t>Security First</a:t>
            </a:r>
            <a:endParaRPr sz="1200" b="1">
              <a:solidFill>
                <a:srgbClr val="93C5F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cover-tag-line-2">
            <a:extLst xmlns:a="http://schemas.openxmlformats.org/drawingml/2006/main">
              <a:ext uri="{FF2B5EF4-FFF2-40B4-BE49-F238E27FC236}">
                <a16:creationId xmlns:a16="http://schemas.microsoft.com/office/drawing/2014/main" id="{F7D82A2F-4A60-4E82-9658-FD67E91A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767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9695440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172735D-FB71-4CF9-ABBA-C9DE4FEE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目</a:t>
            </a: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录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93200D7A-C22E-4A6E-A19E-E85E57C1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4B9E4160-497B-41DA-A472-AB1BA885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0C1754A-563A-4C21-9ECC-BFE9E487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0E9B8E7-FF47-4BC6-BD7B-60BC7FE6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genda-num-0">
            <a:extLst xmlns:a="http://schemas.openxmlformats.org/drawingml/2006/main">
              <a:ext uri="{FF2B5EF4-FFF2-40B4-BE49-F238E27FC236}">
                <a16:creationId xmlns:a16="http://schemas.microsoft.com/office/drawing/2014/main" id="{D6787714-9952-4F17-A318-47CEA80E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agenda-title-0">
            <a:extLst xmlns:a="http://schemas.openxmlformats.org/drawingml/2006/main">
              <a:ext uri="{FF2B5EF4-FFF2-40B4-BE49-F238E27FC236}">
                <a16:creationId xmlns:a16="http://schemas.microsoft.com/office/drawing/2014/main" id="{BC1EAFEF-3050-42D5-B025-AA2B4FDE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526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为什么做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agenda-desc-0">
            <a:extLst xmlns:a="http://schemas.openxmlformats.org/drawingml/2006/main">
              <a:ext uri="{FF2B5EF4-FFF2-40B4-BE49-F238E27FC236}">
                <a16:creationId xmlns:a16="http://schemas.microsoft.com/office/drawing/2014/main" id="{A940A65A-B489-4DDE-B04A-50385749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33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痛点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t>定位、目标用户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agenda-line-0">
            <a:extLst xmlns:a="http://schemas.openxmlformats.org/drawingml/2006/main">
              <a:ext uri="{FF2B5EF4-FFF2-40B4-BE49-F238E27FC236}">
                <a16:creationId xmlns:a16="http://schemas.microsoft.com/office/drawing/2014/main" id="{D54DBE29-807B-4291-B4D2-72BC9609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genda-num-1">
            <a:extLst xmlns:a="http://schemas.openxmlformats.org/drawingml/2006/main">
              <a:ext uri="{FF2B5EF4-FFF2-40B4-BE49-F238E27FC236}">
                <a16:creationId xmlns:a16="http://schemas.microsoft.com/office/drawing/2014/main" id="{06570E11-CC9F-4B74-9AE1-18AA0B72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agenda-title-1">
            <a:extLst xmlns:a="http://schemas.openxmlformats.org/drawingml/2006/main">
              <a:ext uri="{FF2B5EF4-FFF2-40B4-BE49-F238E27FC236}">
                <a16:creationId xmlns:a16="http://schemas.microsoft.com/office/drawing/2014/main" id="{655B5DE0-12F9-4B32-9243-FC17A644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194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系统</a:t>
            </a: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功能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agenda-desc-1">
            <a:extLst xmlns:a="http://schemas.openxmlformats.org/drawingml/2006/main">
              <a:ext uri="{FF2B5EF4-FFF2-40B4-BE49-F238E27FC236}">
                <a16:creationId xmlns:a16="http://schemas.microsoft.com/office/drawing/2014/main" id="{A3D05A59-1B33-4CD8-8983-105832AA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004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AI 查询、SQL 工作台、报表、元数据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agenda-line-1">
            <a:extLst xmlns:a="http://schemas.openxmlformats.org/drawingml/2006/main">
              <a:ext uri="{FF2B5EF4-FFF2-40B4-BE49-F238E27FC236}">
                <a16:creationId xmlns:a16="http://schemas.microsoft.com/office/drawing/2014/main" id="{93A704B6-D318-4F86-988C-940D5F3F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genda-num-2">
            <a:extLst xmlns:a="http://schemas.openxmlformats.org/drawingml/2006/main">
              <a:ext uri="{FF2B5EF4-FFF2-40B4-BE49-F238E27FC236}">
                <a16:creationId xmlns:a16="http://schemas.microsoft.com/office/drawing/2014/main" id="{B47EFF5A-D30F-427C-ACB8-AFC67AF0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agenda-title-2">
            <a:extLst xmlns:a="http://schemas.openxmlformats.org/drawingml/2006/main">
              <a:ext uri="{FF2B5EF4-FFF2-40B4-BE49-F238E27FC236}">
                <a16:creationId xmlns:a16="http://schemas.microsoft.com/office/drawing/2014/main" id="{15504C5F-B3EC-46C4-9905-4686FAF6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862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技术亮点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agenda-desc-2">
            <a:extLst xmlns:a="http://schemas.openxmlformats.org/drawingml/2006/main">
              <a:ext uri="{FF2B5EF4-FFF2-40B4-BE49-F238E27FC236}">
                <a16:creationId xmlns:a16="http://schemas.microsoft.com/office/drawing/2014/main" id="{ABB47F98-516F-4839-AB55-D791B991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672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Agent 工具调用、安全执行、跨库适配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agenda-line-2">
            <a:extLst xmlns:a="http://schemas.openxmlformats.org/drawingml/2006/main">
              <a:ext uri="{FF2B5EF4-FFF2-40B4-BE49-F238E27FC236}">
                <a16:creationId xmlns:a16="http://schemas.microsoft.com/office/drawing/2014/main" id="{2DEA6DF1-0585-46DA-A7D1-6630AEDC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genda-num-3">
            <a:extLst xmlns:a="http://schemas.openxmlformats.org/drawingml/2006/main">
              <a:ext uri="{FF2B5EF4-FFF2-40B4-BE49-F238E27FC236}">
                <a16:creationId xmlns:a16="http://schemas.microsoft.com/office/drawing/2014/main" id="{2D626B02-AAF9-4D94-8CD8-0E8E3550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agenda-title-3">
            <a:extLst xmlns:a="http://schemas.openxmlformats.org/drawingml/2006/main">
              <a:ext uri="{FF2B5EF4-FFF2-40B4-BE49-F238E27FC236}">
                <a16:creationId xmlns:a16="http://schemas.microsoft.com/office/drawing/2014/main" id="{A58B28A7-4795-47E5-BBC4-48FF8169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530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工程与治理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agenda-desc-3">
            <a:extLst xmlns:a="http://schemas.openxmlformats.org/drawingml/2006/main">
              <a:ext uri="{FF2B5EF4-FFF2-40B4-BE49-F238E27FC236}">
                <a16:creationId xmlns:a16="http://schemas.microsoft.com/office/drawing/2014/main" id="{291E8BEE-871A-4D73-92E3-6CC35506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架构分层、工程质量、审计监控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02299973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genda-num-0">
            <a:extLst xmlns:a="http://schemas.openxmlformats.org/drawingml/2006/main">
              <a:ext uri="{FF2B5EF4-FFF2-40B4-BE49-F238E27FC236}">
                <a16:creationId xmlns:a16="http://schemas.microsoft.com/office/drawing/2014/main" id="{59F9B3C9-C54B-4BFE-BDB7-6378BF09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agenda-title-0">
            <a:extLst xmlns:a="http://schemas.openxmlformats.org/drawingml/2006/main">
              <a:ext uri="{FF2B5EF4-FFF2-40B4-BE49-F238E27FC236}">
                <a16:creationId xmlns:a16="http://schemas.microsoft.com/office/drawing/2014/main" id="{32D5A694-A08D-4026-86F5-025B0E50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526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为什么做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agenda-desc-0">
            <a:extLst xmlns:a="http://schemas.openxmlformats.org/drawingml/2006/main">
              <a:ext uri="{FF2B5EF4-FFF2-40B4-BE49-F238E27FC236}">
                <a16:creationId xmlns:a16="http://schemas.microsoft.com/office/drawing/2014/main" id="{A55AA110-5F0E-4BBE-BC7D-72B372BB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33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痛点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t>定位、目标用户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5233146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DA2C6A95-BC0E-4C56-8204-1DA44586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为什么需要 DataMind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C6E73A5-58FA-410A-A6D5-2F0E03A1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把高门槛、高风险的数据工作，变成安全可控的对话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119B2CD-9D4A-46D3-998E-54A14EEF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A1ADE877-DBFB-4CEA-845A-11D8C2D4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A179F9D-C6B1-4A09-806E-6D9C2B34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6454377-ECEB-4D1D-90F8-1684BE2E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pain-surface">
            <a:extLst xmlns:a="http://schemas.openxmlformats.org/drawingml/2006/main">
              <a:ext uri="{FF2B5EF4-FFF2-40B4-BE49-F238E27FC236}">
                <a16:creationId xmlns:a16="http://schemas.microsoft.com/office/drawing/2014/main" id="{59630906-A8D6-4FFB-90F2-FE2B0074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219700" cy="44958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8" name="pain-title">
            <a:extLst xmlns:a="http://schemas.openxmlformats.org/drawingml/2006/main">
              <a:ext uri="{FF2B5EF4-FFF2-40B4-BE49-F238E27FC236}">
                <a16:creationId xmlns:a16="http://schemas.microsoft.com/office/drawing/2014/main" id="{4183362E-643C-41AA-856F-32B281F0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常见痛点</a:t>
            </a:r>
            <a:endParaRPr sz="1800" b="1">
              <a:solidFill>
                <a:srgbClr val="B91C1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pain-list">
            <a:extLst xmlns:a="http://schemas.openxmlformats.org/drawingml/2006/main">
              <a:ext uri="{FF2B5EF4-FFF2-40B4-BE49-F238E27FC236}">
                <a16:creationId xmlns:a16="http://schemas.microsoft.com/office/drawing/2014/main" id="{533F45A0-B7D0-49C8-9A3E-CEDA0754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46101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业务人员不会写 SQL，取数依赖技术同事</a:t>
            </a:r>
            <a:endParaRPr sz="1600"/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不同数据库各有各的客户端，安装切换繁琐</a:t>
            </a:r>
            <a:endParaRPr sz="1600"/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AI 生成 SQL 存在误操作与越权风险</a:t>
            </a:r>
            <a:endParaRPr sz="1600"/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查询结果难以沉淀为报表与文档</a:t>
            </a:r>
            <a:endParaRPr sz="1600"/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敏感数据与用户操作缺少权限和审计</a:t>
            </a:r>
            <a:endParaRPr sz="1600"/>
          </a:p>
        </p:txBody>
      </p:sp>
      <p:sp>
        <p:nvSpPr>
          <p:cNvPr id="10" name="solution-surface">
            <a:extLst xmlns:a="http://schemas.openxmlformats.org/drawingml/2006/main">
              <a:ext uri="{FF2B5EF4-FFF2-40B4-BE49-F238E27FC236}">
                <a16:creationId xmlns:a16="http://schemas.microsoft.com/office/drawing/2014/main" id="{DFB3EB25-2D6D-4C5B-97D7-F7B92503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5219700" cy="44958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11" name="solution-title">
            <a:extLst xmlns:a="http://schemas.openxmlformats.org/drawingml/2006/main">
              <a:ext uri="{FF2B5EF4-FFF2-40B4-BE49-F238E27FC236}">
                <a16:creationId xmlns:a16="http://schemas.microsoft.com/office/drawing/2014/main" id="{A5BCF023-F40B-47C5-A201-9505C981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0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DataMind 的解法</a:t>
            </a:r>
            <a:endParaRPr sz="180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solution-list">
            <a:extLst xmlns:a="http://schemas.openxmlformats.org/drawingml/2006/main">
              <a:ext uri="{FF2B5EF4-FFF2-40B4-BE49-F238E27FC236}">
                <a16:creationId xmlns:a16="http://schemas.microsoft.com/office/drawing/2014/main" id="{DDBF2D1B-105E-439E-995A-4FEA7121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24100"/>
            <a:ext cx="46101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B5FFF"/>
                </a:solidFill>
              </a:rPr>
              <a:t>自然语言查询：</a:t>
            </a:r>
            <a:r>
              <a:rPr sz="1600">
                <a:solidFill>
                  <a:srgbClr val="334155"/>
                </a:solidFill>
              </a:rPr>
              <a:t>输入问题，自动生成 SQL、执行并可视化</a:t>
            </a:r>
            <a:endParaRPr sz="1600">
              <a:solidFill>
                <a:srgbClr val="334155"/>
              </a:solidFill>
            </a:endParaRPr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B5FFF"/>
                </a:solidFill>
              </a:rPr>
              <a:t>统一适配层：</a:t>
            </a:r>
            <a:r>
              <a:rPr sz="1600">
                <a:solidFill>
                  <a:srgbClr val="334155"/>
                </a:solidFill>
              </a:rPr>
              <a:t>屏蔽多数据库方言差异</a:t>
            </a:r>
            <a:endParaRPr sz="1600">
              <a:solidFill>
                <a:srgbClr val="334155"/>
              </a:solidFill>
            </a:endParaRPr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B5FFF"/>
                </a:solidFill>
              </a:rPr>
              <a:t>分级安全执行：</a:t>
            </a:r>
            <a:r>
              <a:rPr sz="1600">
                <a:solidFill>
                  <a:srgbClr val="334155"/>
                </a:solidFill>
              </a:rPr>
              <a:t>只读自动、写操作确认、DDL 高危提示</a:t>
            </a:r>
            <a:endParaRPr sz="1600">
              <a:solidFill>
                <a:srgbClr val="334155"/>
              </a:solidFill>
            </a:endParaRPr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B5FFF"/>
                </a:solidFill>
              </a:rPr>
              <a:t>报表与大屏：</a:t>
            </a:r>
            <a:r>
              <a:rPr sz="1600">
                <a:solidFill>
                  <a:srgbClr val="334155"/>
                </a:solidFill>
              </a:rPr>
              <a:t>结果一键沉淀为图表、仪表盘、分享页</a:t>
            </a:r>
            <a:endParaRPr sz="1600">
              <a:solidFill>
                <a:srgbClr val="334155"/>
              </a:solidFill>
            </a:endParaRPr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B5FFF"/>
                </a:solidFill>
              </a:rPr>
              <a:t>RBAC + 审计：</a:t>
            </a:r>
            <a:r>
              <a:rPr sz="1600">
                <a:solidFill>
                  <a:srgbClr val="334155"/>
                </a:solidFill>
              </a:rPr>
              <a:t>细粒度权限、全量留痕、可导出</a:t>
            </a:r>
            <a:endParaRPr sz="1600">
              <a:solidFill>
                <a:srgbClr val="334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7863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7C0596-8DC1-4200-8F9F-F1B562D5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产品定位与目标用户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5BEB2AD-8F63-41D2-860C-B37523FE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03E35DE-CC13-4C10-8126-EFF0C607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11404568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DataMind 把「连接 → 查询 → 分析 → 报表 → 权限审计」串成一个 Web 工作台，用 AI Agent 降低取数门槛。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F358839-51CE-457C-83E9-E6B2B01F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4955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</a:t>
            </a:r>
            <a:endParaRPr sz="16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371DF7-AA15-44EB-80F4-1171DD75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955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核心需求</a:t>
            </a:r>
            <a:endParaRPr sz="16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60EA6C8-7048-4364-AD04-896E285C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955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典型场景</a:t>
            </a:r>
            <a:endParaRPr sz="16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8A5393CE-98A3-4E44-99CC-F67096AF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5750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4A8A7ED-5BFA-462B-9FE7-16C48A5D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670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后端开发者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B88C1B22-6CF4-470F-B109-58F19973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670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快速查数、写与优化 SQL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1D04A3B-4A34-4342-AF4D-31CEC183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日常开发、线上排障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1F2A0F2B-F87F-4DBE-8B7B-5854DD4C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8615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1C0F539-0132-41CD-83A4-9E924BA3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6576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DBA / 运维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50C3DF6-1D33-4FB0-B790-D0D36096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57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多实例管理、结构变更、审计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1DE9EEF-5A11-41E3-8265-80771B67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576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变更前对比、慢查询定位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BE695E5D-2C5B-4CEA-A25C-3D679E58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7670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8FF464AF-E2E2-421F-BC34-96FAEE94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248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数据分析师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5A82235-EC05-4AF4-A626-FACE0753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481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自然语言取数、快速做报表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D23DF93-8265-47E5-B4AE-3A5683A1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481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数据探索、临时分析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65A0FA8F-1663-4ED9-BDBA-76B5C2A8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66725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F956463-B828-413D-8AC2-DA8A271C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387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业务 / 产品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1C038EF0-3951-4B15-8FFB-11F908F4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387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完全不会 SQL 也要看数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C278FE13-0A16-4BEF-B36C-453427F8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387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辅助决策、快速核对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6E5AB73B-A228-45E4-88A9-86691643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715000"/>
            <a:ext cx="11404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一句话：让数据获取从「排队等」变成「自己动手」。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9456732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90D0AA-1B21-44A2-AE1E-0C98CB41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落地与推广：低成本、可复制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D55844F-8D33-463B-9EA8-AC0DDD00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DDA6FED-010D-473F-8A46-5A5A08B2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66850"/>
            <a:ext cx="1140456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不改动业务系统，单机即可部署；连接、权限与报表配置化，换一套数据库即可复用。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1421F81-DFF1-4C57-9402-D6431173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A9F2482-2641-43E1-AC75-7F9A3CB8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部署与运维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AFF63C8-98B1-4776-B1CE-695BC159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Docker多阶段构建、单端口一键启动；数据卷持久化应用库、演示库、驱动与导出文件，不侵入现有业务库。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70A2CC8-41AE-4E49-865A-25BFC7B6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3E0170D-77EF-49D2-B8E1-63F66CBC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兼容与迁移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A718D09-3C8D-4DC3-A996-CE3D91D4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7类数据源开箱可用；只读连接池与SSH隧道适配内网与云上环境；结构变更走Alembic迁移，老库启动自动补建缺失索引。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95EB23D-58CE-4F8C-9C73-2F379243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95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6BA278F-1680-4F1B-BCDB-650BF750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复用与推广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CDBDC25-9D86-4CF3-ACE3-CF3CBA7F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内置5个角色模板覆盖技术与业务岗位；AI模型可在OpenAI / Claude / Ollama间切换，适配不同合规环境。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25868871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agenda-num-1">
            <a:extLst xmlns:a="http://schemas.openxmlformats.org/drawingml/2006/main">
              <a:ext uri="{FF2B5EF4-FFF2-40B4-BE49-F238E27FC236}">
                <a16:creationId xmlns:a16="http://schemas.microsoft.com/office/drawing/2014/main" id="{635F3A1F-31D5-4203-8E05-EEE68569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agenda-title-1">
            <a:extLst xmlns:a="http://schemas.openxmlformats.org/drawingml/2006/main">
              <a:ext uri="{FF2B5EF4-FFF2-40B4-BE49-F238E27FC236}">
                <a16:creationId xmlns:a16="http://schemas.microsoft.com/office/drawing/2014/main" id="{B9549CE6-6318-488D-8CE2-EDC22579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194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系统</a:t>
            </a: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功能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agenda-desc-1">
            <a:extLst xmlns:a="http://schemas.openxmlformats.org/drawingml/2006/main">
              <a:ext uri="{FF2B5EF4-FFF2-40B4-BE49-F238E27FC236}">
                <a16:creationId xmlns:a16="http://schemas.microsoft.com/office/drawing/2014/main" id="{306899C7-60C6-40ED-9BDB-49D18E65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004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功能全景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功能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演示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1330279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E85303-5B6F-4564-B5A7-9D0BDE07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</a:t>
            </a: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全景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12F3EE7-DE8B-494A-ACEA-9C4BD7F0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DCEB140-E4C9-4F6E-B0B0-0E20D1BF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11404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多个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功能模块围绕「连接 → 查询 → 分析 → 报表 → 管理」闭环组织。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794A101E-FDA0-414F-822E-22B7F690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80D4EEB-C70C-4E68-81FB-ABAFC35E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连接管理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D6D8069-684C-48AF-9BE7-1E3FE7EE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 类数据源、SSH 隧道、多环境标签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5D0417ED-0165-4B78-B3C3-E52B1F7B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378DFCA-009B-4916-B6FA-5CDB7AEF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SQL 工作台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2BBAB15-9EB3-4C79-9E83-1D730B6D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 Tab 编辑、对象树、结果集直编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555B9DB6-59C4-475C-8A8D-1DFDFE2B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C672E03-D162-4544-921D-F09A3538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元数据管理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0142A84-BF99-4017-B441-9064F1DB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表/索引/DDL/视图/函数、结构对比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8EEF0FCB-4BDB-4EE7-B1FC-71FD22DE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6C876AA-1714-4F98-BBB6-2A5BAFBE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智能查询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CDE948D-D884-42E6-9537-84B7C74B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自然语言转 SQL、多轮会话、图表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44714429-F3FE-4D40-A1C7-A094F54A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D7C63EC-10BB-4D1F-A01D-C2D7CD29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可视化报表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D7CD8AC-5FED-4748-9E99-6944CF40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 种图表、仪表盘、分享大屏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1DB7EEA3-90FD-4963-B3E5-860CF8DB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78CB51A-3F06-41C2-A9A3-9564122B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文档导出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3C79626E-336A-4D18-B9A3-B649C01B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CSV/Excel/JSON、库文档导出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A758B6CD-84B3-4BDD-9846-1C92CBAA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E0A9F320-96D7-4BCF-A9B9-1B834062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用户与角色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4A08D50-CE10-43B0-9014-BD2B99B4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RBAC 5 内置角色 + 自定义角色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5" name="rule">
            <a:extLst xmlns:a="http://schemas.openxmlformats.org/drawingml/2006/main">
              <a:ext uri="{FF2B5EF4-FFF2-40B4-BE49-F238E27FC236}">
                <a16:creationId xmlns:a16="http://schemas.microsoft.com/office/drawing/2014/main" id="{610FBC39-7044-4DAA-BE30-AEF7CED1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D1CE0601-3915-4F08-AA30-0E9EBC73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运维监控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B13A13EC-3CD9-4CA9-8A6D-83036DF7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慢查询、连接概览、审计、指标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843131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AFFC4D-785D-4592-AA10-A0839C22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：自然语言查询数据库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BC7F5DC-9809-4652-B14B-6B3E7A98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98DEA90A-B019-421C-901D-7DB5307C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28C6D5C9-F195-4090-BD16-CB174E8DE8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2369038c8849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D4A9295A-134A-47B8-B2E5-E7C012AEA1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2369038c8849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81BFEC3-1923-4250-A304-1C9899D2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40 秒）：演示库查用户 → Oracle（UAT）查机构 → 导出 CSV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A29EB3E-6DC4-40C4-A8CE-D970EB92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提问即得结果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276A9115-3B32-4C64-A6EE-D0EE46CF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F6812D5-A731-4985-8CCD-D4EBC3AB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一句话生成 SQL，无需手写语句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EA9CD6FE-4B12-47B1-BCFC-B4636B15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340D926-C2BB-4780-B373-ABAD2B06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SSE 流式回传思考过程与 SQL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E74AE2F8-911D-4DCC-80E8-A3E7DB54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2D4C88F-F2A2-4E9A-97ED-F9CB3B6F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切换数据源即可跨库查询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7DE2F681-6A13-42C1-9382-6594E5CD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FA11DBF-2636-48AC-9395-53A6679A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结果一键导出 CSV / Excel / JSON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4954598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28638B-CA06-484E-A958-5590F0C2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：自然语言生成图表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A126B27-EAE6-4F4B-9D33-CCD8B9D1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FE57B085-566D-49D7-B23D-10F78444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6E5FF963-DB48-4B48-A37F-578F24EE47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cc2494dbd84e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31C44ECF-F35F-4AD4-A58D-2A7E1E3687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cc2494dbd84e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D86AF75-349B-447D-9863-DD53041B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60 秒）：Oracle 查分行笔数/金额 → 自动出图 → 保存报表，再看近 30 天成功交易笔数与金额趋势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61353F7-1F8A-4348-BD3F-4B1A764D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从查询到图表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0D96C143-6419-4B0C-AA01-CD618B09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FF796D2-8BAD-4F5E-961A-AEDFEEBB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案例一：各分行笔数与金额柱状图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B73DD7E5-8E23-4741-BEED-637E0DCE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1856E98-6B23-4A02-B6D5-00E9CEB0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案例二：近30天交易趋势折线图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8FA36371-0513-4BEB-B962-D04FEDD7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F5EDD51-C276-4675-AB73-648C0DF4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双指标量级差异大时自动分双 Y 轴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51B77DDB-E2BB-49D2-B97E-3C8C8E5A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E6EDB1D-0DC9-44D3-B118-29FE73D9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一键保存到可视化报表复用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8842407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24E0F8-E8F2-452B-8F88-1A27C60F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：SQL 工作台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050608A-6885-46D8-A4B9-9559B973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863FD8A4-03C2-4122-A3B8-8271374E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7C5764E5-DB1E-47BF-9B5F-29AD5A545C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0d7dca55fa4c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9BC4A7E2-0673-4BBE-A996-0E45491E7F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0d7dca55fa4c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E02965A-7A75-4AFA-ACD6-194623F4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55 秒）：OceanBase 执行 SQL → Agent 生成聚合 SQL → 填入编辑器执行 → 收藏命名 → 历史 / 收藏页签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58F1326-A87A-4C0A-A3B8-F26BF3AA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专业查询体验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DC8F791D-9964-4DDA-8D06-7D01141F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48C33D6-D95A-45D6-AC0A-0C9CD708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OceanBase 数据源即连即查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01D66B31-230F-4EE7-8243-E1D71057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F93F726-E0E4-405C-862F-553BB601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Agent 一句话生成聚合 SQL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AEB1A127-766A-49D0-BFBB-100201F8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0313B31-8A7E-4D9A-8E7A-E8FD796C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填入编辑器后一键执行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D424B7B4-F7C1-4937-8774-04F1ADBF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6E8B4EE-172D-4DB2-ADA2-F927A54B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执行历史留痕 + SQL 收藏复用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1345258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52FB13-FCC5-43AC-9C06-E93EC2E0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：数据操作安全控制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CDF5F0B-94AA-46EA-B94D-BF7C58D0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BC7B831B-880E-41F5-BD7A-863ACB73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5A6ECF8C-9A18-4C8A-8AA6-E39326E4D4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a4928f7dac4d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936CDE53-47AD-419F-BB2F-FE57872431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a4928f7dac4d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AB5D110-1C98-42D7-9175-CEB53D1D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52 秒）：UPDATE 确认执行 → Agent 修改字段长度确认执行 → 删除表取消执行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715464E-525B-4337-909F-026DE852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分级授权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20814F13-6AC3-4536-B6A5-7D6A6F05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2AD7337-D7E1-4DC7-8A87-409E0C89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READ：只读查询自动执行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EA3186F9-204D-45AC-9118-0FB31E9E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CE724FF-DE41-4AAD-9F96-6D1A7132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DML：UPDATE 确认后才生效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B5D3951E-BF5E-4793-8058-F15B890A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BCDA131-431F-4385-AA67-3264A0FA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DDL：红色危险提示 + 逐条确认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F37122A7-C138-4192-9B99-13DC6245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9AEB37B-32CC-40E1-8EDB-4F4C3CD9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取消即中止，全部写入审计日志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2087535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33157B0-3489-40DC-8DF3-5EA82620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：运维监控与日志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3F109C6-E336-4C26-8277-EA4D4055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13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F87416A9-335D-4EC6-9572-B5D88E4A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D79C336A-9370-4292-9EFE-57885AE410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15cc2305e04f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EE16B856-E269-490F-A2A4-9A39274EFB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15cc2305e04f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77CCAFA-F510-4259-99EE-FEF6B2F4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32 秒）：连接概览 → 审计日志 → 慢查询（耗时 ≥ 100ms） → 表结构对比（Oracle SIT vs UAT）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ABD7EE2-CA44-4303-B2AE-EF2D1838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运维与合规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11CAD89A-3CC2-4DD2-B47B-86DD6763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FE9C394-ECD2-4BF1-BFD6-2EC826F3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连接概览：查询量 / 耗时 / 成功率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F88CE3A5-9E8C-463C-910D-69D685B3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97A50B3-8A9D-4236-8326-3C0C0EC6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审计日志：登录与 SQL 全量留痕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84022611-AB13-4755-87DA-CAB01152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5E8499F-27DA-4BA2-8415-60BCBE31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慢查询：阈值可调（演示 100ms）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09ED3D8D-308C-4A9C-A396-AB477490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1AF2D28-E251-4213-AE49-2C6A0B47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表结构对比：SIT vs UAT 差异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256681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AF43A4-9087-4A28-BBCF-C745880E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：数据库与大模型连接管理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6003AC0-8CC8-4639-A97D-95DA8521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B9083717-C8D8-4480-99DC-A2A1A76E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820FA5A8-2BC0-40F0-8F88-4A1D8FA3DF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c7ce84eb3f45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13BC7E75-2866-4B3E-9414-6E5C8118E3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c7ce84eb3f45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45619F9-2F7B-47AE-9211-764C7B12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23 秒）：数据库连接配置一键测连 → 大模型连接配置测试第二个模型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16F7CAC-867B-427D-96A1-4E8B723D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连接即资产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706CD480-3943-44C3-AC21-6A8F4CCA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DB463A0-AE9C-4A51-AB9F-CFB122EF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数据库连接：一键「测试」即返回连通性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5322F7B1-5EDA-4B0B-A9B9-D4D1BC02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D497657-92A4-4A19-BA2D-FFFCCD44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覆盖 7 类数据源（MySQL、Oracle）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8E0829E9-4BA3-4181-845E-9F58EF09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2F3128D-0DFF-4B23-A2E3-56EBC088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大模型：OpenAI、Claude、Ollama 三类提供方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D277DA7C-DA87-4A97-9BCF-80F14348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BE3471D-F4E0-49E6-834F-8E38DD95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API Key 加密存储，可指定默认模型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85427219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535B81-365D-456B-906B-FF2288AC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：用户与角色管理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33E7DFF-7E10-475F-87D3-A33731E6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15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943F498E-505E-4BE3-B75E-0A1925FA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C272E18C-7C58-4FA4-82BE-2CEA8AB6D2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8e047dc42e4d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0C2284CF-EF4A-4540-B391-E7EEA4BC65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8e047dc42e4d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897B089-89DD-4060-9732-EFEDEB85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23 秒）：用户管理 → 角色管理 → 依次查看技术管理 / 技术查询 / 业务查询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EEC409F-9F94-452F-8138-23FCDE95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权限可控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E37B2B8C-F8DF-413B-B01E-7B80FEE2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BA52F20-1D3D-4250-959F-D12A0D31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用户管理：账号 / 角色 / 状态 / 重置密码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1C40981B-A6C5-4DF1-9195-1A9AEAE4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94F424F-E49B-4BF1-8102-3EB154A3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角色管理：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按角色控制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权限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0A2C41B4-09FC-4676-AF07-A8158D2E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66DA386-81DB-44D8-973C-1B550505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功能权限按模块分组勾选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8BF24006-0F30-43C1-B472-E0DEC40C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8BBE5E6-57DE-425B-8944-98824FEE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先勾选权限，再由路由守卫拦截：前端菜单与后端接口双重校验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9870370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genda-num-2">
            <a:extLst xmlns:a="http://schemas.openxmlformats.org/drawingml/2006/main">
              <a:ext uri="{FF2B5EF4-FFF2-40B4-BE49-F238E27FC236}">
                <a16:creationId xmlns:a16="http://schemas.microsoft.com/office/drawing/2014/main" id="{B6A62DE3-D957-435D-B13A-F6EC277E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agenda-title-2">
            <a:extLst xmlns:a="http://schemas.openxmlformats.org/drawingml/2006/main">
              <a:ext uri="{FF2B5EF4-FFF2-40B4-BE49-F238E27FC236}">
                <a16:creationId xmlns:a16="http://schemas.microsoft.com/office/drawing/2014/main" id="{1018F393-C0F1-4702-90E9-035DD555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862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技术亮点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agenda-desc-2">
            <a:extLst xmlns:a="http://schemas.openxmlformats.org/drawingml/2006/main">
              <a:ext uri="{FF2B5EF4-FFF2-40B4-BE49-F238E27FC236}">
                <a16:creationId xmlns:a16="http://schemas.microsoft.com/office/drawing/2014/main" id="{613525A7-8C4B-4674-BB08-1AEF12C3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672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AI 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Agent 工具调用、安全执行、跨库适配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4855733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E21A30C3-97C7-46FA-B269-1BED0C97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核心亮点 · AI Agent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B7DDE39-084D-4AEF-9042-DDCD9B2F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把自然语言变成可信、可解释、可执行的 SQL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EB238E34-3322-4912-8BBE-D373C9DC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908611D4-42E7-450A-A255-D7C8D3A8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0685CBF-EC0D-43A9-AB87-EFA3B35C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F2DC3A9-92F2-4D74-A287-2CC0E052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17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gent-overview-intro">
            <a:extLst xmlns:a="http://schemas.openxmlformats.org/drawingml/2006/main">
              <a:ext uri="{FF2B5EF4-FFF2-40B4-BE49-F238E27FC236}">
                <a16:creationId xmlns:a16="http://schemas.microsoft.com/office/drawing/2014/main" id="{45219B08-D6E4-4725-8268-53F23475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Agent 不是简单调用大模型，而是围绕 Schema、工具与安全策略构建的查询推理系统。</a:t>
            </a:r>
            <a:endParaRPr sz="1350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6" name="表格 15">
            <a:extLst xmlns:a="http://schemas.openxmlformats.org/drawingml/2006/main">
              <a:ext uri="{FF2B5EF4-FFF2-40B4-BE49-F238E27FC236}">
                <a16:creationId xmlns:a16="http://schemas.microsoft.com/office/drawing/2014/main" id="{25D4AA59-68F2-4941-8678-79B4E4E6E73E}"/>
              </a:ext>
            </a:extLst>
          </p:cNvPr>
          <p:cNvGraphicFramePr/>
          <p:nvPr/>
        </p:nvGraphicFramePr>
        <p:xfrm>
          <a:off xmlns:a="http://schemas.openxmlformats.org/drawingml/2006/main" x="685800" y="2095500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能力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价值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自然语言 → SQL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输入问题，自动生成对应 SQL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降低取数门槛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Schema 感知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自动获取表结构作为上下文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提升生成准确率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多轮对话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保留上下文，可追问与调整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更自然的交互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SQL 解释与优化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解释含义、分析执行计划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帮助理解与调优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流式输出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SSE 实时返回思考过程与结果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体验透明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94698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A853684D-9B50-4124-A6B8-E569D731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Agent 执行链路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365446A-2408-4C2B-AA64-3F7FB367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工具调用 + 失败重试 + few-shot，让结果更可靠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3780B3D-4A7C-4987-90C8-C6322C63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3FBBD792-BA48-42A7-8AED-F43C3B19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2B6F36C-4552-4F88-9EE1-2DDA3FC8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89756FE-DAD4-4F5C-B418-AA45AC32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18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gent-node-0">
            <a:extLst xmlns:a="http://schemas.openxmlformats.org/drawingml/2006/main">
              <a:ext uri="{FF2B5EF4-FFF2-40B4-BE49-F238E27FC236}">
                <a16:creationId xmlns:a16="http://schemas.microsoft.com/office/drawing/2014/main" id="{8C313E81-8C2B-4B22-A0C9-24BDD1F4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766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8" name="agent-node-title-0">
            <a:extLst xmlns:a="http://schemas.openxmlformats.org/drawingml/2006/main">
              <a:ext uri="{FF2B5EF4-FFF2-40B4-BE49-F238E27FC236}">
                <a16:creationId xmlns:a16="http://schemas.microsoft.com/office/drawing/2014/main" id="{2CA4E753-54BF-4E57-A5F6-B5C29DC5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01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用户提问</a:t>
            </a:r>
            <a:endParaRPr sz="150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agent-node-desc-0">
            <a:extLst xmlns:a="http://schemas.openxmlformats.org/drawingml/2006/main">
              <a:ext uri="{FF2B5EF4-FFF2-40B4-BE49-F238E27FC236}">
                <a16:creationId xmlns:a16="http://schemas.microsoft.com/office/drawing/2014/main" id="{2C467889-5078-43FF-A170-4BC2403D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581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自然语言描述需求</a:t>
            </a:r>
            <a:endParaRPr sz="9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agent-arrow-0">
            <a:extLst xmlns:a="http://schemas.openxmlformats.org/drawingml/2006/main">
              <a:ext uri="{FF2B5EF4-FFF2-40B4-BE49-F238E27FC236}">
                <a16:creationId xmlns:a16="http://schemas.microsoft.com/office/drawing/2014/main" id="{F767D429-7BE7-48CA-A4FE-FAEAEBF4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866265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gent-node-1">
            <a:extLst xmlns:a="http://schemas.openxmlformats.org/drawingml/2006/main">
              <a:ext uri="{FF2B5EF4-FFF2-40B4-BE49-F238E27FC236}">
                <a16:creationId xmlns:a16="http://schemas.microsoft.com/office/drawing/2014/main" id="{CFE84221-AF09-4515-8DFC-5F2A3C6A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3766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5F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12" name="agent-node-title-1">
            <a:extLst xmlns:a="http://schemas.openxmlformats.org/drawingml/2006/main">
              <a:ext uri="{FF2B5EF4-FFF2-40B4-BE49-F238E27FC236}">
                <a16:creationId xmlns:a16="http://schemas.microsoft.com/office/drawing/2014/main" id="{BE95F3E2-07CD-43A5-BFEE-85CAC9DC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7101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 推理</a:t>
            </a:r>
            <a:endParaRPr sz="15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agent-node-desc-1">
            <a:extLst xmlns:a="http://schemas.openxmlformats.org/drawingml/2006/main">
              <a:ext uri="{FF2B5EF4-FFF2-40B4-BE49-F238E27FC236}">
                <a16:creationId xmlns:a16="http://schemas.microsoft.com/office/drawing/2014/main" id="{1A546F76-02A8-4FA9-9F12-5635E036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7581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Schema 感知 + 历史 few-shot</a:t>
            </a:r>
            <a:endParaRPr sz="975" b="0">
              <a:solidFill>
                <a:srgbClr val="DBEAF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agent-arrow-1">
            <a:extLst xmlns:a="http://schemas.openxmlformats.org/drawingml/2006/main">
              <a:ext uri="{FF2B5EF4-FFF2-40B4-BE49-F238E27FC236}">
                <a16:creationId xmlns:a16="http://schemas.microsoft.com/office/drawing/2014/main" id="{0CB07CBF-6788-477C-AE67-92E40F53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66265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gent-node-2">
            <a:extLst xmlns:a="http://schemas.openxmlformats.org/drawingml/2006/main">
              <a:ext uri="{FF2B5EF4-FFF2-40B4-BE49-F238E27FC236}">
                <a16:creationId xmlns:a16="http://schemas.microsoft.com/office/drawing/2014/main" id="{E4912F01-C684-4579-88A0-D437642E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63766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5F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16" name="agent-node-title-2">
            <a:extLst xmlns:a="http://schemas.openxmlformats.org/drawingml/2006/main">
              <a:ext uri="{FF2B5EF4-FFF2-40B4-BE49-F238E27FC236}">
                <a16:creationId xmlns:a16="http://schemas.microsoft.com/office/drawing/2014/main" id="{CF55D0E7-E4B7-45C9-A5EB-1ED770BB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7101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工具调用</a:t>
            </a:r>
            <a:endParaRPr sz="15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agent-node-desc-2">
            <a:extLst xmlns:a="http://schemas.openxmlformats.org/drawingml/2006/main">
              <a:ext uri="{FF2B5EF4-FFF2-40B4-BE49-F238E27FC236}">
                <a16:creationId xmlns:a16="http://schemas.microsoft.com/office/drawing/2014/main" id="{9A4D260A-0B4F-4FD0-B219-E551D826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7581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表结构 / 采样 / EXPLAIN</a:t>
            </a:r>
            <a:endParaRPr sz="975" b="0">
              <a:solidFill>
                <a:srgbClr val="DBEAF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agent-arrow-2">
            <a:extLst xmlns:a="http://schemas.openxmlformats.org/drawingml/2006/main">
              <a:ext uri="{FF2B5EF4-FFF2-40B4-BE49-F238E27FC236}">
                <a16:creationId xmlns:a16="http://schemas.microsoft.com/office/drawing/2014/main" id="{5788D81D-2D45-4D2E-A6FE-0B2AA2A1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66265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gent-node-3">
            <a:extLst xmlns:a="http://schemas.openxmlformats.org/drawingml/2006/main">
              <a:ext uri="{FF2B5EF4-FFF2-40B4-BE49-F238E27FC236}">
                <a16:creationId xmlns:a16="http://schemas.microsoft.com/office/drawing/2014/main" id="{F9B1FBB5-F877-4B02-A64D-8F2AA0DB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63766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5F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20" name="agent-node-title-3">
            <a:extLst xmlns:a="http://schemas.openxmlformats.org/drawingml/2006/main">
              <a:ext uri="{FF2B5EF4-FFF2-40B4-BE49-F238E27FC236}">
                <a16:creationId xmlns:a16="http://schemas.microsoft.com/office/drawing/2014/main" id="{B8C51893-C3B4-4977-A632-1AFF7DC5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7101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生成 SQL</a:t>
            </a:r>
            <a:endParaRPr sz="15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agent-node-desc-3">
            <a:extLst xmlns:a="http://schemas.openxmlformats.org/drawingml/2006/main">
              <a:ext uri="{FF2B5EF4-FFF2-40B4-BE49-F238E27FC236}">
                <a16:creationId xmlns:a16="http://schemas.microsoft.com/office/drawing/2014/main" id="{9D4D509C-4EA6-48B2-BA2E-3C44D2B5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7581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只读查询或写操作</a:t>
            </a:r>
            <a:endParaRPr sz="975" b="0">
              <a:solidFill>
                <a:srgbClr val="DBEAF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agent-arrow-3">
            <a:extLst xmlns:a="http://schemas.openxmlformats.org/drawingml/2006/main">
              <a:ext uri="{FF2B5EF4-FFF2-40B4-BE49-F238E27FC236}">
                <a16:creationId xmlns:a16="http://schemas.microsoft.com/office/drawing/2014/main" id="{C42DDCD6-3CD1-4D6E-9343-30F170D2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66265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gent-node-4">
            <a:extLst xmlns:a="http://schemas.openxmlformats.org/drawingml/2006/main">
              <a:ext uri="{FF2B5EF4-FFF2-40B4-BE49-F238E27FC236}">
                <a16:creationId xmlns:a16="http://schemas.microsoft.com/office/drawing/2014/main" id="{54504742-379E-46EA-BE0A-876A4713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3766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24" name="agent-node-title-4">
            <a:extLst xmlns:a="http://schemas.openxmlformats.org/drawingml/2006/main">
              <a:ext uri="{FF2B5EF4-FFF2-40B4-BE49-F238E27FC236}">
                <a16:creationId xmlns:a16="http://schemas.microsoft.com/office/drawing/2014/main" id="{0465C842-8C24-4E0C-B3A8-5B55062C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7101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安全执行</a:t>
            </a:r>
            <a:endParaRPr sz="150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agent-node-desc-4">
            <a:extLst xmlns:a="http://schemas.openxmlformats.org/drawingml/2006/main">
              <a:ext uri="{FF2B5EF4-FFF2-40B4-BE49-F238E27FC236}">
                <a16:creationId xmlns:a16="http://schemas.microsoft.com/office/drawing/2014/main" id="{B5B79489-EE59-4568-9327-8E7AB071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7581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结果 / 图表 / 解释</a:t>
            </a:r>
            <a:endParaRPr sz="9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3F45F8AF-279E-4F4A-86A7-F6D7A498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663793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934FF8D9-F0B8-4F15-9129-8C4C1C0C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2854293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工具调用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3045EC09-0CA3-499F-9C96-E67E01EC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254343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list_tables、get_columns、sample_data、explain 四个工具按需调用，最多 3 轮。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0DC2EB50-6E4E-422C-8EE7-7D2AC533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2663793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3FA85B99-1209-4764-8EAD-02173B5F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2854293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失败</a:t>
            </a: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重试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403A77B5-EDCC-4A81-AE07-169E44CA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254343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 查询执行失败时，自动把错误回传给 LLM 修正并重试，默认最多尝试 3 次（可配置）。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82EC5048-8F4D-4AA9-85DC-D9CBE7D2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95" y="2663793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BD44F8DC-1AB9-471A-98AE-B5EEFEB9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2854293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经验复用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6F507798-4E4B-4DF9-B1DC-A7EA603B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254343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历史成功 SQL 作为 few-shot（少量示例）注入新会话，越用越准。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7A18CA39-EEB6-4471-B10A-C886EB62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493" y="5922645"/>
            <a:ext cx="1140456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不是简单调用大模型，而是把「工具调用、失败自愈、经验复用」做成工程闭环；一次对话通过 SSE 推送 thought / tool / sql / retry / result / chart 等事件，前端逐段渲染。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3686973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07435891-1C55-4694-8DF9-5AEFEAC0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核心亮点 · 安全执行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F1D935F-CAC6-4DA5-82FE-0974ED00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AI 可以生成 SQL，但不会拥有不受控的写权限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22F31FC7-A25D-4AD4-989D-426B85EB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B6E2DC07-0A73-45B5-84FC-928832FF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410922D-B713-4884-B719-EBE7C094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9AC6CE1-1275-4485-B5F1-5391D2F7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19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5" name="表格 14">
            <a:extLst xmlns:a="http://schemas.openxmlformats.org/drawingml/2006/main">
              <a:ext uri="{FF2B5EF4-FFF2-40B4-BE49-F238E27FC236}">
                <a16:creationId xmlns:a16="http://schemas.microsoft.com/office/drawing/2014/main" id="{C95727F5-9F6E-4B03-94D7-9151ABB48BE3}"/>
              </a:ext>
            </a:extLst>
          </p:cNvPr>
          <p:cNvGraphicFramePr/>
          <p:nvPr/>
        </p:nvGraphicFramePr>
        <p:xfrm>
          <a:off xmlns:a="http://schemas.openxmlformats.org/drawingml/2006/main" x="685800" y="1638300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操作类型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授权方式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执行说明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SELECT / SHOW / DESC / EXPLAIN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自动执行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只读查询直接返回结果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INSERT / UPDATE / DELETE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手动确认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返回影响预览与 execution_id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CREATE / ALTER / DROP / TRUNCATE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高危确认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红色警告并展示完整 DDL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多条混合 SQL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逐条确认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 SQL 类型分别处理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</a:tbl>
          </a:graphicData>
        </a:graphic>
      </p:graphicFrame>
      <p:sp>
        <p:nvSpPr>
          <p:cNvPr id="8" name="security-callout">
            <a:extLst xmlns:a="http://schemas.openxmlformats.org/drawingml/2006/main">
              <a:ext uri="{FF2B5EF4-FFF2-40B4-BE49-F238E27FC236}">
                <a16:creationId xmlns:a16="http://schemas.microsoft.com/office/drawing/2014/main" id="{9EF59264-1AC8-4E1B-87CC-A21078F5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execution_id 暂存待确认执行，5 分钟过期；用户确认后再次鉴权，全程审计。</a:t>
            </a:r>
            <a:endParaRPr sz="1200" b="1">
              <a:solidFill>
                <a:srgbClr val="B4530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89096075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genda-num-0">
            <a:extLst xmlns:a="http://schemas.openxmlformats.org/drawingml/2006/main">
              <a:ext uri="{FF2B5EF4-FFF2-40B4-BE49-F238E27FC236}">
                <a16:creationId xmlns:a16="http://schemas.microsoft.com/office/drawing/2014/main" id="{59F9B3C9-C54B-4BFE-BDB7-6378BF09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agenda-title-0">
            <a:extLst xmlns:a="http://schemas.openxmlformats.org/drawingml/2006/main">
              <a:ext uri="{FF2B5EF4-FFF2-40B4-BE49-F238E27FC236}">
                <a16:creationId xmlns:a16="http://schemas.microsoft.com/office/drawing/2014/main" id="{32D5A694-A08D-4026-86F5-025B0E50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526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工程与治理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agenda-desc-0">
            <a:extLst xmlns:a="http://schemas.openxmlformats.org/drawingml/2006/main">
              <a:ext uri="{FF2B5EF4-FFF2-40B4-BE49-F238E27FC236}">
                <a16:creationId xmlns:a16="http://schemas.microsoft.com/office/drawing/2014/main" id="{A55AA110-5F0E-4BBE-BC7D-72B372BB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33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架构分层、工程质量、审计与监控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5233146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90D0AA-1B21-44A2-AE1E-0C98CB41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工程质量：架构、测试与交付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D55844F-8D33-463B-9EA8-AC0DDD00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21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DDA6FED-010D-473F-8A46-5A5A08B2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66850"/>
            <a:ext cx="1140456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分层解耦、自动化测试与静态检查，保证系统长期可维护、可扩展。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1421F81-DFF1-4C57-9402-D6431173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A9F2482-2641-43E1-AC75-7F9A3CB8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架构与扩展性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AFF63C8-98B1-4776-B1CE-695BC159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routers → services → adapters三层解耦；新增数据库只需实现适配器并注册；LLM统一抽象OpenAI / Claude / Ollama。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70A2CC8-41AE-4E49-865A-25BFC7B6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3E0170D-77EF-49D2-B8E1-63F66CBC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代码质量保障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A718D09-3C8D-4DC3-A996-CE3D91D4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167项后端测试覆盖SQL分级、连接池、权限、审计与分页等关键路径；并通过ruff静态检查与前端vue-tsc类型检查。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95EB23D-58CE-4F8C-9C73-2F379243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95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6BA278F-1680-4F1B-BCDB-650BF750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一致性与交付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CDBDC25-9D86-4CF3-ACE3-CF3CBA7F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统一响应{code, message, data}格式与全局异常处理；结构变更走Alembic迁移；Docker多阶段构建交付单镜像。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25868871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5F8A6C65-99F1-49A9-BE75-2D28C333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审计与监控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A03AC2C-6367-46DE-A077-DBAEB861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让每一次操作都可追溯、可观察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D7E436B9-312C-48C7-8F72-F401D151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15358DD5-ACED-4F21-AD0D-97BFE186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D5C517A-4582-48BF-9AE1-E402092C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A724C3A-E646-42CE-87A6-50B3CF76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22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udit-surface">
            <a:extLst xmlns:a="http://schemas.openxmlformats.org/drawingml/2006/main">
              <a:ext uri="{FF2B5EF4-FFF2-40B4-BE49-F238E27FC236}">
                <a16:creationId xmlns:a16="http://schemas.microsoft.com/office/drawing/2014/main" id="{CED9E850-CF95-4127-B3BB-E1EB55A4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219700" cy="44958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8" name="audit-title">
            <a:extLst xmlns:a="http://schemas.openxmlformats.org/drawingml/2006/main">
              <a:ext uri="{FF2B5EF4-FFF2-40B4-BE49-F238E27FC236}">
                <a16:creationId xmlns:a16="http://schemas.microsoft.com/office/drawing/2014/main" id="{6794A737-EC7A-458A-AACD-A34FE685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审计日志</a:t>
            </a:r>
            <a:endParaRPr sz="1800" b="1">
              <a:solidFill>
                <a:srgbClr val="B4530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audit-list">
            <a:extLst xmlns:a="http://schemas.openxmlformats.org/drawingml/2006/main">
              <a:ext uri="{FF2B5EF4-FFF2-40B4-BE49-F238E27FC236}">
                <a16:creationId xmlns:a16="http://schemas.microsoft.com/office/drawing/2014/main" id="{2F3F6E63-965B-4DF3-ADAB-1C388ED7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46101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登录、SQL 执行、Agent 动作全量留痕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操作类型、SQL 文本、状态可追溯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导出 CSV / XLSX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audit_retention_days 默认 180 天自动清理</a:t>
            </a:r>
          </a:p>
        </p:txBody>
      </p:sp>
      <p:sp>
        <p:nvSpPr>
          <p:cNvPr id="10" name="monitor-surface">
            <a:extLst xmlns:a="http://schemas.openxmlformats.org/drawingml/2006/main">
              <a:ext uri="{FF2B5EF4-FFF2-40B4-BE49-F238E27FC236}">
                <a16:creationId xmlns:a16="http://schemas.microsoft.com/office/drawing/2014/main" id="{735ADEE9-09EE-4B4C-B823-BF53B7F1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5219700" cy="44958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11" name="monitor-title">
            <a:extLst xmlns:a="http://schemas.openxmlformats.org/drawingml/2006/main">
              <a:ext uri="{FF2B5EF4-FFF2-40B4-BE49-F238E27FC236}">
                <a16:creationId xmlns:a16="http://schemas.microsoft.com/office/drawing/2014/main" id="{067A62D4-7938-4502-81A8-71E35AA8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0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运维监控</a:t>
            </a:r>
            <a:endParaRPr sz="180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monitor-list">
            <a:extLst xmlns:a="http://schemas.openxmlformats.org/drawingml/2006/main">
              <a:ext uri="{FF2B5EF4-FFF2-40B4-BE49-F238E27FC236}">
                <a16:creationId xmlns:a16="http://schemas.microsoft.com/office/drawing/2014/main" id="{7775E032-F3F5-4A29-8675-B818B1B7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24100"/>
            <a:ext cx="46101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连接概览与慢查询统计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不同环境表结构对比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定时导出任务状态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/metrics 暴露 Prometheus 指标</a:t>
            </a:r>
          </a:p>
        </p:txBody>
      </p:sp>
    </p:spTree>
    <p:extLst>
      <p:ext uri="{BB962C8B-B14F-4D97-AF65-F5344CB8AC3E}">
        <p14:creationId xmlns:p14="http://schemas.microsoft.com/office/powerpoint/2010/main" val="49471750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90D0AA-1B21-44A2-AE1E-0C98CB41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技术亮点 ③：安全、审计与可观测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D55844F-8D33-463B-9EA8-AC0DDD00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23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DDA6FED-010D-473F-8A46-5A5A08B2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66850"/>
            <a:ext cx="1140456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密钥加密、分级授权、全量审计、指标暴露与测试覆盖，构成可交付的企业级完整性。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1421F81-DFF1-4C57-9402-D6431173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A9F2482-2641-43E1-AC75-7F9A3CB8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加密与认证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AFF63C8-98B1-4776-B1CE-695BC159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数据库密码、SSH 私钥、AI Key 经 Fernet 加密入库，接口只返回 has_password / has_key；密码 pbkdf2 哈希，会话使用 httponly Cookie。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70A2CC8-41AE-4E49-865A-25BFC7B6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3E0170D-77EF-49D2-B8E1-63F66CBC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权限与审计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A718D09-3C8D-4DC3-A996-CE3D91D4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按角色控制权限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 / DML / DDL 分级授权；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登录、SQL、Agent 动作全量留痕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操作类型、SQL 文本、状态可追溯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95EB23D-58CE-4F8C-9C73-2F379243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95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6BA278F-1680-4F1B-BCDB-650BF750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可观测与部署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CDBDC25-9D86-4CF3-ACE3-CF3CBA7F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/metrics 暴露请求数、延迟与 SQL 执行次数；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167 项后端测试 + Playwright E2E；Docker 多阶段构建，单端口一键启动。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25868871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895F354-FFAF-4A40-A754-FCB29D9B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6B1231A-6C65-4710-8C32-72D05375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287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让每个人都能安全、高效地与数据对话</a:t>
            </a:r>
            <a:endParaRPr sz="3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92409C8-7499-485D-8438-65402B0A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175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9F46C72-F311-440A-B977-34EC9745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052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下一步：补齐更多数据库对象支持，扩展 Agent 工具（索引建议、慢查询根因分析），增加团队协作与报表订阅。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89891347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E21A30C3-97C7-46FA-B269-1BED0C97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附录 · 问答准备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B7DDE39-084D-4AEF-9042-DDCD9B2F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常见提问与应答要点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EB238E34-3322-4912-8BBE-D373C9DC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908611D4-42E7-450A-A255-D7C8D3A8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0685CBF-EC0D-43A9-AB87-EFA3B35C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F2DC3A9-92F2-4D74-A287-2CC0E052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25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gent-overview-intro">
            <a:extLst xmlns:a="http://schemas.openxmlformats.org/drawingml/2006/main">
              <a:ext uri="{FF2B5EF4-FFF2-40B4-BE49-F238E27FC236}">
                <a16:creationId xmlns:a16="http://schemas.microsoft.com/office/drawing/2014/main" id="{45219B08-D6E4-4725-8268-53F23475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把评委最可能追问的问题，先给出可验证的答案。</a:t>
            </a:r>
            <a:endParaRPr sz="1350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6" name="表格 15">
            <a:extLst xmlns:a="http://schemas.openxmlformats.org/drawingml/2006/main">
              <a:ext uri="{FF2B5EF4-FFF2-40B4-BE49-F238E27FC236}">
                <a16:creationId xmlns:a16="http://schemas.microsoft.com/office/drawing/2014/main" id="{25D4AA59-68F2-4941-8678-79B4E4E6E73E}"/>
              </a:ext>
            </a:extLst>
          </p:cNvPr>
          <p:cNvGraphicFramePr/>
          <p:nvPr/>
        </p:nvGraphicFramePr>
        <p:xfrm>
          <a:off xmlns:a="http://schemas.openxmlformats.org/drawingml/2006/main" x="685800" y="2095500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评委追问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应答要点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对应能力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会不会误删数据？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写操作一律二次确认，DDL 高危提示；确认记录一次性消费、5 分钟过期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分级授权 + 确认机制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数据库密码如何保护？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密码、SSH 私钥、AI Key 均为 Fernet 加密，接口只返回 has_key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密钥可环境变量注入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支持哪些数据库？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 类数据源，OceanBase / GoldenDB 复用 MySQL 协议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适配器层可扩展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大结果集会不会卡死？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分页 + 最大行数限制，Agent 结果截断提示，前端虚拟滚动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端到端限流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部署与运维成本？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单机 Docker 一键启动、单端口，/metrics 可接入现有监控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无外部依赖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9469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2026-10-14T07:43:18.7260000Z</dcterms:created>
  <dcterms:modified xsi:type="dcterms:W3CDTF">2026-10-14T07:43:18.7260000Z</dcterms:modified>
</coreProperties>
</file>