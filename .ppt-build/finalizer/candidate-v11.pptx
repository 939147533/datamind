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a6707a3a744ad5" /><Relationship Type="http://schemas.openxmlformats.org/officeDocument/2006/relationships/extended-properties" Target="/docProps/app.xml" Id="Rfec40bfe1d8f4916" /><Relationship Type="http://schemas.openxmlformats.org/officeDocument/2006/relationships/officeDocument" Target="/ppt/presentation.xml" Id="R5e8c5a69267c46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b85553bd5b4354"/>
    <p:sldMasterId xmlns:r="http://schemas.openxmlformats.org/officeDocument/2006/relationships" id="2147483655" r:id="R26df3d4fdbe6498c"/>
  </p:sldMasterIdLst>
  <p:notesMasterIdLst>
    <p:notesMasterId xmlns:r="http://schemas.openxmlformats.org/officeDocument/2006/relationships" r:id="R5b950716560a47b7"/>
  </p:notesMasterIdLst>
  <p:sldIdLst>
    <p:sldId xmlns:r="http://schemas.openxmlformats.org/officeDocument/2006/relationships" id="256" r:id="Rd6c4f9fe10774cb1"/>
    <p:sldId xmlns:r="http://schemas.openxmlformats.org/officeDocument/2006/relationships" id="257" r:id="Rd87178f84d6a470a"/>
    <p:sldId xmlns:r="http://schemas.openxmlformats.org/officeDocument/2006/relationships" id="258" r:id="Rbcf51fd528b34046"/>
    <p:sldId xmlns:r="http://schemas.openxmlformats.org/officeDocument/2006/relationships" id="259" r:id="Ra0bc9ce956e34af4"/>
    <p:sldId xmlns:r="http://schemas.openxmlformats.org/officeDocument/2006/relationships" id="260" r:id="R8bc56140658f4024"/>
    <p:sldId xmlns:r="http://schemas.openxmlformats.org/officeDocument/2006/relationships" id="261" r:id="R71c23a5d9dd34073"/>
    <p:sldId xmlns:r="http://schemas.openxmlformats.org/officeDocument/2006/relationships" id="262" r:id="R5eb7008bb84a49b0"/>
    <p:sldId xmlns:r="http://schemas.openxmlformats.org/officeDocument/2006/relationships" id="263" r:id="R97a247d4d51b4eb4"/>
    <p:sldId xmlns:r="http://schemas.openxmlformats.org/officeDocument/2006/relationships" id="264" r:id="Ra196d2111c3a4a41"/>
    <p:sldId xmlns:r="http://schemas.openxmlformats.org/officeDocument/2006/relationships" id="265" r:id="Ra7d5c81a998d419b"/>
    <p:sldId xmlns:r="http://schemas.openxmlformats.org/officeDocument/2006/relationships" id="266" r:id="R7c637d7b319044ea"/>
    <p:sldId xmlns:r="http://schemas.openxmlformats.org/officeDocument/2006/relationships" id="267" r:id="R276be19e4e6247fb"/>
    <p:sldId xmlns:r="http://schemas.openxmlformats.org/officeDocument/2006/relationships" id="268" r:id="R8cbcd1c772f1477a"/>
    <p:sldId xmlns:r="http://schemas.openxmlformats.org/officeDocument/2006/relationships" id="269" r:id="Rbd45ad91f75b432b"/>
    <p:sldId xmlns:r="http://schemas.openxmlformats.org/officeDocument/2006/relationships" id="270" r:id="R962870e638de417d"/>
    <p:sldId xmlns:r="http://schemas.openxmlformats.org/officeDocument/2006/relationships" id="271" r:id="Rb6feab6b51ca475e"/>
    <p:sldId xmlns:r="http://schemas.openxmlformats.org/officeDocument/2006/relationships" id="272" r:id="R1aeed69499884c55"/>
    <p:sldId xmlns:r="http://schemas.openxmlformats.org/officeDocument/2006/relationships" id="273" r:id="R86a8aa9109724d61"/>
    <p:sldId xmlns:r="http://schemas.openxmlformats.org/officeDocument/2006/relationships" id="274" r:id="Rc7618738d1b4422b"/>
    <p:sldId xmlns:r="http://schemas.openxmlformats.org/officeDocument/2006/relationships" id="275" r:id="Rf8dee36997874719"/>
    <p:sldId xmlns:r="http://schemas.openxmlformats.org/officeDocument/2006/relationships" id="276" r:id="R35728578a5724cd0"/>
    <p:sldId xmlns:r="http://schemas.openxmlformats.org/officeDocument/2006/relationships" id="277" r:id="Rfae06538692c4e4e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d185d5c5d04a6f" /><Relationship Type="http://schemas.openxmlformats.org/officeDocument/2006/relationships/slideMaster" Target="/ppt/slideMasters/slideMaster1.xml" Id="R63b85553bd5b4354" /><Relationship Type="http://schemas.openxmlformats.org/officeDocument/2006/relationships/slideMaster" Target="/ppt/slideMasters/slideMaster2.xml" Id="R26df3d4fdbe6498c" /><Relationship Type="http://schemas.openxmlformats.org/officeDocument/2006/relationships/notesMaster" Target="/ppt/notesMasters/notesMaster1.xml" Id="R5b950716560a47b7" /><Relationship Type="http://schemas.openxmlformats.org/officeDocument/2006/relationships/presProps" Target="/ppt/presProps.xml" Id="Rb4a38558a2e44f0f" /><Relationship Type="http://schemas.openxmlformats.org/officeDocument/2006/relationships/viewProps" Target="/ppt/viewProps.xml" Id="R9f976398053e44a5" /><Relationship Type="http://schemas.openxmlformats.org/officeDocument/2006/relationships/tableStyles" Target="/ppt/tableStyles.xml" Id="R9e2bd78035e14d47" /><Relationship Type="http://schemas.openxmlformats.org/officeDocument/2006/relationships/slide" Target="/ppt/slides/slide1.xml" Id="Rd6c4f9fe10774cb1" /><Relationship Type="http://schemas.openxmlformats.org/officeDocument/2006/relationships/slide" Target="/ppt/slides/slide2.xml" Id="Rd87178f84d6a470a" /><Relationship Type="http://schemas.openxmlformats.org/officeDocument/2006/relationships/slide" Target="/ppt/slides/slide3.xml" Id="Rbcf51fd528b34046" /><Relationship Type="http://schemas.openxmlformats.org/officeDocument/2006/relationships/slide" Target="/ppt/slides/slide4.xml" Id="Ra0bc9ce956e34af4" /><Relationship Type="http://schemas.openxmlformats.org/officeDocument/2006/relationships/slide" Target="/ppt/slides/slide5.xml" Id="R8bc56140658f4024" /><Relationship Type="http://schemas.openxmlformats.org/officeDocument/2006/relationships/slide" Target="/ppt/slides/slide6.xml" Id="R71c23a5d9dd34073" /><Relationship Type="http://schemas.openxmlformats.org/officeDocument/2006/relationships/slide" Target="/ppt/slides/slide7.xml" Id="R5eb7008bb84a49b0" /><Relationship Type="http://schemas.openxmlformats.org/officeDocument/2006/relationships/slide" Target="/ppt/slides/slide8.xml" Id="R97a247d4d51b4eb4" /><Relationship Type="http://schemas.openxmlformats.org/officeDocument/2006/relationships/slide" Target="/ppt/slides/slide9.xml" Id="Ra196d2111c3a4a41" /><Relationship Type="http://schemas.openxmlformats.org/officeDocument/2006/relationships/slide" Target="/ppt/slides/slide10.xml" Id="Ra7d5c81a998d419b" /><Relationship Type="http://schemas.openxmlformats.org/officeDocument/2006/relationships/slide" Target="/ppt/slides/slide11.xml" Id="R7c637d7b319044ea" /><Relationship Type="http://schemas.openxmlformats.org/officeDocument/2006/relationships/slide" Target="/ppt/slides/slide12.xml" Id="R276be19e4e6247fb" /><Relationship Type="http://schemas.openxmlformats.org/officeDocument/2006/relationships/slide" Target="/ppt/slides/slide13.xml" Id="R8cbcd1c772f1477a" /><Relationship Type="http://schemas.openxmlformats.org/officeDocument/2006/relationships/slide" Target="/ppt/slides/slide14.xml" Id="Rbd45ad91f75b432b" /><Relationship Type="http://schemas.openxmlformats.org/officeDocument/2006/relationships/slide" Target="/ppt/slides/slide15.xml" Id="R962870e638de417d" /><Relationship Type="http://schemas.openxmlformats.org/officeDocument/2006/relationships/slide" Target="/ppt/slides/slide16.xml" Id="Rb6feab6b51ca475e" /><Relationship Type="http://schemas.openxmlformats.org/officeDocument/2006/relationships/slide" Target="/ppt/slides/slide17.xml" Id="R1aeed69499884c55" /><Relationship Type="http://schemas.openxmlformats.org/officeDocument/2006/relationships/slide" Target="/ppt/slides/slide18.xml" Id="R86a8aa9109724d61" /><Relationship Type="http://schemas.openxmlformats.org/officeDocument/2006/relationships/slide" Target="/ppt/slides/slide19.xml" Id="Rc7618738d1b4422b" /><Relationship Type="http://schemas.openxmlformats.org/officeDocument/2006/relationships/slide" Target="/ppt/slides/slide20.xml" Id="Rf8dee36997874719" /><Relationship Type="http://schemas.openxmlformats.org/officeDocument/2006/relationships/slide" Target="/ppt/slides/slide21.xml" Id="R35728578a5724cd0" /><Relationship Type="http://schemas.openxmlformats.org/officeDocument/2006/relationships/slide" Target="/ppt/slides/slide22.xml" Id="Rfae06538692c4e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6a916e733c7742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1417f46dbe46bd" /><Relationship Type="http://schemas.openxmlformats.org/officeDocument/2006/relationships/notesMaster" Target="/ppt/notesMasters/notesMaster1.xml" Id="Rfb6dd7cb80cb4e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a2324873ab4969" /><Relationship Type="http://schemas.openxmlformats.org/officeDocument/2006/relationships/notesMaster" Target="/ppt/notesMasters/notesMaster1.xml" Id="Ra6d27ab2e7a442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55a88952b546c4" /><Relationship Type="http://schemas.openxmlformats.org/officeDocument/2006/relationships/notesMaster" Target="/ppt/notesMasters/notesMaster1.xml" Id="R0fc549bcfe8449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e4a05115704803" /><Relationship Type="http://schemas.openxmlformats.org/officeDocument/2006/relationships/notesMaster" Target="/ppt/notesMasters/notesMaster1.xml" Id="Rccf0be0f0cc742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8ec20414254869" /><Relationship Type="http://schemas.openxmlformats.org/officeDocument/2006/relationships/notesMaster" Target="/ppt/notesMasters/notesMaster1.xml" Id="R61ea364bc77341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6dfe46f14c4fd7" /><Relationship Type="http://schemas.openxmlformats.org/officeDocument/2006/relationships/notesMaster" Target="/ppt/notesMasters/notesMaster1.xml" Id="Rd8e94ed5d3ac49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3707845f524c07" /><Relationship Type="http://schemas.openxmlformats.org/officeDocument/2006/relationships/notesMaster" Target="/ppt/notesMasters/notesMaster1.xml" Id="R28491359d76a43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b47c5601c64a47" /><Relationship Type="http://schemas.openxmlformats.org/officeDocument/2006/relationships/notesMaster" Target="/ppt/notesMasters/notesMaster1.xml" Id="R34bc2cd01b834d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72ef78a13946d0" /><Relationship Type="http://schemas.openxmlformats.org/officeDocument/2006/relationships/notesMaster" Target="/ppt/notesMasters/notesMaster1.xml" Id="R2dfd8a82666a45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30f7bdddfd4895" /><Relationship Type="http://schemas.openxmlformats.org/officeDocument/2006/relationships/notesMaster" Target="/ppt/notesMasters/notesMaster1.xml" Id="Rb33123ade13243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3b3bbaf0cd4092" /><Relationship Type="http://schemas.openxmlformats.org/officeDocument/2006/relationships/notesMaster" Target="/ppt/notesMasters/notesMaster1.xml" Id="R7ee4a8590972484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4428fe741d3438d" /><Relationship Type="http://schemas.openxmlformats.org/officeDocument/2006/relationships/notesMaster" Target="/ppt/notesMasters/notesMaster1.xml" Id="Rbc24c446ab72494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f3955efba474423" /><Relationship Type="http://schemas.openxmlformats.org/officeDocument/2006/relationships/notesMaster" Target="/ppt/notesMasters/notesMaster1.xml" Id="R2039d85d1e514f7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e80c56e9d25460a" /><Relationship Type="http://schemas.openxmlformats.org/officeDocument/2006/relationships/notesMaster" Target="/ppt/notesMasters/notesMaster1.xml" Id="Rcc4ea06033b3422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57dc1d6859544a0" /><Relationship Type="http://schemas.openxmlformats.org/officeDocument/2006/relationships/notesMaster" Target="/ppt/notesMasters/notesMaster1.xml" Id="R12344ed21bba479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1ed3ae65362418d" /><Relationship Type="http://schemas.openxmlformats.org/officeDocument/2006/relationships/notesMaster" Target="/ppt/notesMasters/notesMaster1.xml" Id="R534945757cfd403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1cdcc2607174a23" /><Relationship Type="http://schemas.openxmlformats.org/officeDocument/2006/relationships/notesMaster" Target="/ppt/notesMasters/notesMaster1.xml" Id="Rd9aa421ae92744f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090ac5af11b4c58" /><Relationship Type="http://schemas.openxmlformats.org/officeDocument/2006/relationships/notesMaster" Target="/ppt/notesMasters/notesMaster1.xml" Id="R0b840a5f43634ee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de2565958bc46d6" /><Relationship Type="http://schemas.openxmlformats.org/officeDocument/2006/relationships/notesMaster" Target="/ppt/notesMasters/notesMaster1.xml" Id="R90c3fee4450f4fe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2d1373a722b4ca3" /><Relationship Type="http://schemas.openxmlformats.org/officeDocument/2006/relationships/notesMaster" Target="/ppt/notesMasters/notesMaster1.xml" Id="R9e23aee34c5f422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67a7e0c09fc48c0" /><Relationship Type="http://schemas.openxmlformats.org/officeDocument/2006/relationships/notesMaster" Target="/ppt/notesMasters/notesMaster1.xml" Id="Radd2b85c75884bd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e85b87109664338" /><Relationship Type="http://schemas.openxmlformats.org/officeDocument/2006/relationships/notesMaster" Target="/ppt/notesMasters/notesMaster1.xml" Id="Rd49c474dc5a147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开场控制在 15 秒内：这是一个前后端分离、AI Agent 驱动的数据库查询与运维工作台。</a:t>
            </a:r>
          </a:p>
          <a:p xmlns:a="http://schemas.openxmlformats.org/drawingml/2006/main">
            <a:r>
              <a:t>一句话说清用户价值：不会 SQL 的人也能查询，会 SQL 的人更快。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先给观众一个清晰的路线图：从为什么做，到产品能力、技术亮点，再到工程治理。</a:t>
            </a:r>
          </a:p>
          <a:p xmlns:a="http://schemas.openxmlformats.org/drawingml/2006/main"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先给观众一个清晰的路线图：从为什么做，到产品能力、技术亮点，再到工程治理。</a:t>
            </a:r>
          </a:p>
          <a:p xmlns:a="http://schemas.openxmlformats.org/drawingml/2006/main"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痛点来源：docs/需求说明书V2.0.md 1.2 目标用户、1.3 核心价值；对应解法见 README「功能特性」与本稿功能演示页。三类成本：业务等、开发慢、运维难管。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用真实工作流举例：产品经理打开网页，输入“本月新增用户按日分组”，系统生成 SQL、返回结果，并可一键生成图表。</a:t>
            </a:r>
          </a:p>
          <a:p xmlns:a="http://schemas.openxmlformats.org/drawingml/2006/main">
            <a:r>
              <a:t>不要逐条念，重点突出从“会写 SQL”到“会描述需求”的降低门槛。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定位一句话：不会 SQL 的人也能查数，会 SQL 的人更快。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先给观众一个清晰的路线图：从为什么做，到产品能力、技术亮点，再到工程治理。</a:t>
            </a:r>
          </a:p>
          <a:p xmlns:a="http://schemas.openxmlformats.org/drawingml/2006/main"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不逐条念功能，强调模块围绕工作流组织：连接、查询、分析、报表、管理。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40 秒），包含两个查询案例：</a:t>
            </a:r>
          </a:p>
          <a:p xmlns:a="http://schemas.openxmlformats.org/drawingml/2006/main">
            <a:r>
              <a:t>案例一：选择「本地演示库 (SQLite)」，提问「查询所有用户信息」，Agent 生成 SELECT id, username, email, age, created_at FROM users 并返回 8 条记录；</a:t>
            </a:r>
          </a:p>
          <a:p xmlns:a="http://schemas.openxmlformats.org/drawingml/2006/main">
            <a:r>
              <a:t>案例二：新建对话并切换到「Oracle（UAT）」，提问「查询所有机构，列出机构号、机构名称、机构层级和所在地区，按机构号排序」，Agent 生成 SELECT ORG_ID, ORG_NAME, ORG_LEVEL, REGION FROM BANK.T_ORG ORDER BY ORG_ID，返回 55 家机构（HEAD/BRANCH/SUB_BRANCH 层级）；结果出来后点击 CSV 将结果集导出（导出成功提示 + 浏览器下载，CSV 共 55 行数据）。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视频为本地运行实例的录屏；数据源为内置演示库（SQLite）与远端 Oracle UAT 库（T_ORG 表）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60 秒），数据源为 Oracle（UAT）：</a:t>
            </a:r>
          </a:p>
          <a:p xmlns:a="http://schemas.openxmlformats.org/drawingml/2006/main">
            <a:r>
              <a:t>案例一：提问「按分行层级统计近30天各个分行的交易笔数、交易总额，生成图表」，Agent 生成 SELECT o.ORG_NAME AS BRANCH_NAME, COUNT(t.LOG_ID) AS TRANS_CNT, ROUND(SUM(t.AMOUNT), 2) AS TRANS_AMT ... WHERE o.ORG_LEVEL = 'BRANCH' AND t.TRANS_TIME &gt;= TRUNC(SYSDATE) - 30 GROUP BY o.ORG_NAME，返回 6 家分行（360～1380 笔），自动渲染柱状图并点击「保存到可视化报表」；</a:t>
            </a:r>
          </a:p>
          <a:p xmlns:a="http://schemas.openxmlformats.org/drawingml/2006/main">
            <a:r>
              <a:t>案例二：新建对话后提问「近30天成功交易笔数和金额趋势，生成图表」，Agent 生成按 TRANS_TIME 逐日聚合（STATUS=SUCCESS）的 SQL，返回 31 天数据，自动选择折线图并同样保存到可视化报表；</a:t>
            </a:r>
          </a:p>
          <a:p xmlns:a="http://schemas.openxmlformats.org/drawingml/2006/main">
            <a:r>
              <a:t>结尾进入「可视化报表」页，可见刚保存的两张图表（笔数与金额量级差异大时前端自动拆分双 Y 轴）。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视频为本地运行实例的录屏；数据源为远端 Oracle UAT 库（T_TRANS_LOG / T_ORG）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55 秒），完整演示 SQL 工作台与 Agent 协同：</a:t>
            </a:r>
          </a:p>
          <a:p xmlns:a="http://schemas.openxmlformats.org/drawingml/2006/main">
            <a:r>
              <a:t>案例一：数据源切换为「OceanBase（本地）」，在编辑器输入 SELECT * FROM `t_org`; 并点击「▶ 执行」，返回 55 行机构数据；</a:t>
            </a:r>
          </a:p>
          <a:p xmlns:a="http://schemas.openxmlformats.org/drawingml/2006/main">
            <a:r>
              <a:t>案例二：点击右侧竖条展开 AI Agent 面板、新建会话，输入「统计近90天各地区的成功交易笔数和交易金额，按金额从高到低」，Agent 生成 SELECT o.REGION AS REGION, COUNT(t.LOG_ID) AS CNT, ROUND(SUM(t.AMOUNT),2) AS AMT FROM t_trans_log t JOIN t_org o ON o.ORG_ID = t.ORG_ID WHERE UPPER(t.STATUS) = 'SUCCESS' AND t.TRANS_TIME &gt;= NOW() - INTERVAL 90 DAY GROUP BY o.REGION ORDER BY AMT DESC，并给出结论（共 6 个地区，合计约 1.67 万笔 / 16.86 亿元，深圳金额最高）；随后点击「填入编辑器」将 SQL 回填到工作台编辑器，再点右上角「▶ 执行」得到结果集，最后点右上角「收藏」，命名为「近90天各地区的成功交易统计」并保存成功（出现「已收藏」提示）；</a:t>
            </a:r>
          </a:p>
          <a:p xmlns:a="http://schemas.openxmlformats.org/drawingml/2006/main">
            <a:r>
              <a:t>结尾依次切换左侧「历史」页签（本次两条 SQL 的执行记录，含行数与耗时）与「收藏」页签（新增的收藏项排在首位）。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 OceanBase CE 4.4.2.1（bank_db，T_ORG 55 行 / T_TRANS_LOG 10 万行）；Agent 生成 SQL 的模型为 openai · deepseek-v4-flash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52 秒），三个写操作场景均需人工确认：</a:t>
            </a:r>
          </a:p>
          <a:p xmlns:a="http://schemas.openxmlformats.org/drawingml/2006/main">
            <a:r>
              <a:t>案例一（工作台发起 DML）：数据源选「OceanBase（本地）」，执行 UPDATE `t_user` SET `GENDER` = 'F', `UPDATED_AT` = NOW() WHERE `USER_NAME` = '乔华';，弹出「写操作确认」（DML · warning，预览待执行 SQL），点「确认执行」后生效（影响 2 行）；</a:t>
            </a:r>
          </a:p>
          <a:p xmlns:a="http://schemas.openxmlformats.org/drawingml/2006/main">
            <a:r>
              <a:t>案例二（Agent 发起 DDL）：展开右侧 AI Agent、新建会话，输入「把用户表的用户名称字段长度改成300」，Agent 生成 ALTER TABLE `t_user` MODIFY COLUMN `USER_NAME` VARCHAR(300); 并弹出红色「危险操作确认」（DDL · danger），确认后执行；</a:t>
            </a:r>
          </a:p>
          <a:p xmlns:a="http://schemas.openxmlformats.org/drawingml/2006/main">
            <a:r>
              <a:t>案例三（高危操作被拦下）：继续输入「删除用户表」，Agent 生成 DROP TABLE `t_user`，同样红色高危提示，点「取消」后提示「已取消执行」，表未被删除。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 OceanBase CE 4.4.2.1 bank_db（T_USER）；READ 自动执行、DML/DDL 待确认以及 5 分钟过期机制见 services/sql_service.py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32 秒），四个监控能力依次演示：</a:t>
            </a:r>
          </a:p>
          <a:p xmlns:a="http://schemas.openxmlformats.org/drawingml/2006/main">
            <a:r>
              <a:t>第一步：打开「连接概览」，基于执行历史（query_history）统计累计查询 336 次、今日 103 次、 10 个数据源，并列出各库的查询次数、平均/最大耗时、成功率与最近执行时间；</a:t>
            </a:r>
          </a:p>
          <a:p xmlns:a="http://schemas.openxmlformats.org/drawingml/2006/main">
            <a:r>
              <a:t>第二步：切到「审计日志」，查看登录与执行 SQL 的全量记录（含操作类型、风险类型、数据源、用户、IP、SQL），可见上一页演示中被拒绝的 DROP TABLE 也被如实记下（rejected）；</a:t>
            </a:r>
          </a:p>
          <a:p xmlns:a="http://schemas.openxmlformats.org/drawingml/2006/main">
            <a:r>
              <a:t>第三步：切到「慢查询」，把耗时阈值从默认 1000ms 改为 100ms 并点击「查询」，列出超过阈值的慢 SQL（含数据源、耗时、行数、状态、SQL、时间）；</a:t>
            </a:r>
          </a:p>
          <a:p xmlns:a="http://schemas.openxmlformats.org/drawingml/2006/main">
            <a:r>
              <a:t>第四步：切到「表结构对比」，源数据源选 Oracle（SIT）、目标数据源选 Oracle（UAT），点「对比」得到差异：T_ORG 在目标库多出 CREATED_AT 列，T_USER.USER_NAME 由 varchar2(300) 变为 varchar2(100)。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视频为本地运行实例的录屏；数据来自 query_history / audit_logs 与远端 Oracle SIT、UAT 库；慢查询阈值、连接概览与 schema diff 实现见 routers/monitor.py 与 services/metadata_service.py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23 秒），两步验证连接可用性：</a:t>
            </a:r>
          </a:p>
          <a:p xmlns:a="http://schemas.openxmlformats.org/drawingml/2006/main">
            <a:r>
              <a:t>第一步：打开「设置 · 数据库连接配置」，在连接列表里点击第一个数据源「OceanBase（本地）」的「测试」按钮，弹出「连接测试结果」弹窗，反馈「连接成功」（底层调 POST /api/connections/{id}/connect）；</a:t>
            </a:r>
          </a:p>
          <a:p xmlns:a="http://schemas.openxmlformats.org/drawingml/2006/main">
            <a:r>
              <a:t>第二步：切到「大模型连接配置」，点击第二个模型「Ollama（本地）· qwen3.8:27b」的「测试」按钮，右上角提示「连接成功，模型 qwen3.8:27b 响应正常（2301 ms）」。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视频为本地运行实例的录屏；数据库连接见 routers/connections.py（POST /api/connections/{id}/connect），大模型测试见 routers/system.py（POST /api/config/ai/test）；API Key 经 Fernet 加密存储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23 秒），从用户到角色依次演示：</a:t>
            </a:r>
          </a:p>
          <a:p xmlns:a="http://schemas.openxmlformats.org/drawingml/2006/main">
            <a:r>
              <a:t>第一步：从左侧菜单打开「用户管理」，列出账号、显示名、角色、状态与最后登录时间，操作列可编辑、重置密码、禁用/删除（当前 5 个账号：管理员 与 技术/业务各两类账号）；</a:t>
            </a:r>
          </a:p>
          <a:p xmlns:a="http://schemas.openxmlformats.org/drawingml/2006/main">
            <a:r>
              <a:t>第二步：切到「角色管理」，左侧列出 5 个内置角色（管理员 / 技术管理 / 技术查询 / 业务管理 / 业务查询）；</a:t>
            </a:r>
          </a:p>
          <a:p xmlns:a="http://schemas.openxmlformats.org/drawingml/2006/main">
            <a:r>
              <a:t>第三步：依次点击「技术管理」「技术查询」「业务查询」三个角色，右侧实时切换该角色的名称/编码/说明、「功能权限」按模块分组的勾选状态与角色成员（技术管理 12 项、技术查询 6 项、业务查询 4 项权限，选中行会高亮）。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视频为本地运行实例的录屏；角色与权限码定义见 backend/app/permissions.py（BUILTIN_ROLES / PERMISSIONS），前端路由守卫与菜单按 meta.permission 控制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先给观众一个清晰的路线图：从为什么做，到产品能力、技术亮点，再到工程治理。</a:t>
            </a:r>
          </a:p>
          <a:p xmlns:a="http://schemas.openxmlformats.org/drawingml/2006/main"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 Agent 能力的层次：不只是生成 SQL，还包括 Schema 感知、多轮对话、解释优化和流式输出。</a:t>
            </a:r>
          </a:p>
          <a:p xmlns:a="http://schemas.openxmlformats.org/drawingml/2006/main">
            <a:r>
              <a:t>下一页会展开工程实现中的工具调用与失败重试。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重点讲“工具调用 + 失败重试 + few-shot”，这是 AI 编程竞赛最看重的工程深度。</a:t>
            </a:r>
          </a:p>
          <a:p xmlns:a="http://schemas.openxmlformats.org/drawingml/2006/main">
            <a:r>
              <a:t>现场演示：输入“查询本月新增用户数并按日分组”，展示思考过程、SQL、结果和图表生成。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这是项目的信任基础：让 AI 能生成 SQL，但不让 AI 拥有不受控的写权限。</a:t>
            </a:r>
          </a:p>
          <a:p xmlns:a="http://schemas.openxmlformats.org/drawingml/2006/main">
            <a:r>
              <a:t>可对比“直接给 AI 数据库权限”的传统做法，突出安全设计。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审计与监控是系统可治理的体现，也是企业级部署的关键。</a:t>
            </a:r>
          </a:p>
          <a:p xmlns:a="http://schemas.openxmlformats.org/drawingml/2006/main">
            <a:r>
              <a:t>强调审计导出与自动清理，以及 Prometheus 指标对运维友好。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企业级完整性：加密、分级授权、全量审计、指标与测试。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backend/app/security.py、permissions.py、main.py（/metrics）；后端 117 项 pytest 用例，96 个 API 接口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收尾回到用户价值，并给出下一步计划。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47ad9839df43a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4cf2ce1617427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db3ba0a62e4fe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1cc52262ef46c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9c41bb16ad409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0160a20480445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0bf32d3cc7c43c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e3af973aa104c1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b087df9971b435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433a2773319450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002b11e19d04f4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6bb60ccd8f648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AA06A7-9197-4BB0-AAD7-489398BAAC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F02D52F-3D8B-49DA-860D-CD2DF9B6C9D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23ADEDE-B669-4C47-BAD1-62D54CF44B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2A7363-EAF5-4F1B-841F-AE5EBDBE49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948684C-13E6-4F82-9666-EDA4E9D151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3941F1F-A1AA-4B8F-BAAB-59A5E9ACA8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CE35AF-28E6-4416-937A-51695DB5EE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73660CA-DF56-459A-83F6-7834608229B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7BF0F0-03FB-46AB-A7F1-79EA35F219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7B30A46-CE3C-46D1-BBB0-D1E075EFB3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7AB76E-9D41-4414-BB7F-2B1E85CF54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56E669A-FC85-4A5A-8567-E5886F23ED6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DBF757B-F9AC-4A6B-9499-142A21372E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928315-A78D-4FC8-A6AB-846B99225E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6ABFD6B-5772-493F-9DAD-1A5CA8098B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2AC4394-E391-452E-B764-FDF6F790FD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F76EC73-8794-4B2F-B640-27EA99411A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9B29C93-C40B-438D-B5CD-2E27B4F5DC8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EDE9DC-0F8B-44F2-9417-329A865C30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CD5FFE-DDB7-4BDE-8BBD-941A84EAC3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0c75aea04b45b6" /><Relationship Type="http://schemas.openxmlformats.org/officeDocument/2006/relationships/slideLayout" Target="/ppt/slideLayouts/slideLayout1.xml" Id="R5825cdf33c2c4ab9" /><Relationship Type="http://schemas.openxmlformats.org/officeDocument/2006/relationships/slideLayout" Target="/ppt/slideLayouts/slideLayout2.xml" Id="Rc3a14754d38e440c" /><Relationship Type="http://schemas.openxmlformats.org/officeDocument/2006/relationships/slideLayout" Target="/ppt/slideLayouts/slideLayout3.xml" Id="R7e39384ea9814d0d" /><Relationship Type="http://schemas.openxmlformats.org/officeDocument/2006/relationships/slideLayout" Target="/ppt/slideLayouts/slideLayout4.xml" Id="Rcd5bb9215e1348a6" /><Relationship Type="http://schemas.openxmlformats.org/officeDocument/2006/relationships/slideLayout" Target="/ppt/slideLayouts/slideLayout5.xml" Id="R71beba8746ef4258" /><Relationship Type="http://schemas.openxmlformats.org/officeDocument/2006/relationships/slideLayout" Target="/ppt/slideLayouts/slideLayout6.xml" Id="Rea86acf527bc442c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462b592a7f1a42ec" /><Relationship Type="http://schemas.openxmlformats.org/officeDocument/2006/relationships/slideLayout" Target="/ppt/slideLayouts/slideLayout7.xml" Id="R335b8cbee13b4b67" /><Relationship Type="http://schemas.openxmlformats.org/officeDocument/2006/relationships/slideLayout" Target="/ppt/slideLayouts/slideLayout8.xml" Id="R40512314cc7444a1" /><Relationship Type="http://schemas.openxmlformats.org/officeDocument/2006/relationships/slideLayout" Target="/ppt/slideLayouts/slideLayout9.xml" Id="R53e93a6914f749fa" /><Relationship Type="http://schemas.openxmlformats.org/officeDocument/2006/relationships/slideLayout" Target="/ppt/slideLayouts/slideLayout10.xml" Id="Re16941e138f343a7" /><Relationship Type="http://schemas.openxmlformats.org/officeDocument/2006/relationships/slideLayout" Target="/ppt/slideLayouts/slideLayout11.xml" Id="R99e05ee2af824218" /><Relationship Type="http://schemas.openxmlformats.org/officeDocument/2006/relationships/slideLayout" Target="/ppt/slideLayouts/slideLayout12.xml" Id="R3e5d8a3aff0746d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25cdf33c2c4ab9"/>
    <p:sldLayoutId xmlns:r="http://schemas.openxmlformats.org/officeDocument/2006/relationships" id="2147483650" r:id="Rc3a14754d38e440c"/>
    <p:sldLayoutId xmlns:r="http://schemas.openxmlformats.org/officeDocument/2006/relationships" id="2147483651" r:id="R7e39384ea9814d0d"/>
    <p:sldLayoutId xmlns:r="http://schemas.openxmlformats.org/officeDocument/2006/relationships" id="2147483652" r:id="Rcd5bb9215e1348a6"/>
    <p:sldLayoutId xmlns:r="http://schemas.openxmlformats.org/officeDocument/2006/relationships" id="2147483653" r:id="R71beba8746ef4258"/>
    <p:sldLayoutId xmlns:r="http://schemas.openxmlformats.org/officeDocument/2006/relationships" id="2147483654" r:id="Rea86acf527bc44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335b8cbee13b4b67"/>
    <p:sldLayoutId xmlns:r="http://schemas.openxmlformats.org/officeDocument/2006/relationships" id="2147483657" r:id="R40512314cc7444a1"/>
    <p:sldLayoutId xmlns:r="http://schemas.openxmlformats.org/officeDocument/2006/relationships" id="2147483658" r:id="R53e93a6914f749fa"/>
    <p:sldLayoutId xmlns:r="http://schemas.openxmlformats.org/officeDocument/2006/relationships" id="2147483659" r:id="Re16941e138f343a7"/>
    <p:sldLayoutId xmlns:r="http://schemas.openxmlformats.org/officeDocument/2006/relationships" id="2147483660" r:id="R99e05ee2af824218"/>
    <p:sldLayoutId xmlns:r="http://schemas.openxmlformats.org/officeDocument/2006/relationships" id="2147483661" r:id="R3e5d8a3aff0746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52c1068794b66" /><Relationship Type="http://schemas.openxmlformats.org/officeDocument/2006/relationships/notesSlide" Target="/ppt/notesSlides/notesSlide1.xml" Id="Rfbae9935686640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2f1c25e5b4c3f" /><Relationship Type="http://schemas.openxmlformats.org/officeDocument/2006/relationships/notesSlide" Target="/ppt/notesSlides/notesSlide2.xml" Id="Rbf9a064de9684a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ac056babc794c3b" /><Relationship Type="http://schemas.openxmlformats.org/officeDocument/2006/relationships/notesSlide" Target="/ppt/notesSlides/notesSlide3.xml" Id="R998a7106de6545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60a087490c4f30" /><Relationship Type="http://schemas.openxmlformats.org/officeDocument/2006/relationships/notesSlide" Target="/ppt/notesSlides/notesSlide4.xml" Id="R1620943bd10742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689eac7594f10" /><Relationship Type="http://schemas.openxmlformats.org/officeDocument/2006/relationships/notesSlide" Target="/ppt/notesSlides/notesSlide5.xml" Id="R0c24d09aa5cf47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60e40a80cf4139" /><Relationship Type="http://schemas.openxmlformats.org/officeDocument/2006/relationships/notesSlide" Target="/ppt/notesSlides/notesSlide6.xml" Id="Rc25288a202aa4e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8fec9fad5634bb3" /><Relationship Type="http://schemas.openxmlformats.org/officeDocument/2006/relationships/notesSlide" Target="/ppt/notesSlides/notesSlide7.xml" Id="R72e71e8b644443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a0693b73b24d34" /><Relationship Type="http://schemas.openxmlformats.org/officeDocument/2006/relationships/notesSlide" Target="/ppt/notesSlides/notesSlide8.xml" Id="R66ea0df663da4e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0376f08f9a40c0" /><Relationship Type="http://schemas.openxmlformats.org/officeDocument/2006/relationships/image" Target="/ppt/media/image.png" Id="R0412fb9b3f8b47d8" /><Relationship Type="http://schemas.openxmlformats.org/officeDocument/2006/relationships/notesSlide" Target="/ppt/notesSlides/notesSlide9.xml" Id="R69bed776cee246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3271d7cc754a8d" /><Relationship Type="http://schemas.openxmlformats.org/officeDocument/2006/relationships/image" Target="/ppt/media/image2.png" Id="R2940b176b2cf4048" /><Relationship Type="http://schemas.openxmlformats.org/officeDocument/2006/relationships/notesSlide" Target="/ppt/notesSlides/notesSlide10.xml" Id="R2ee5bd3d5e664e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d1cec47e1b482c" /><Relationship Type="http://schemas.openxmlformats.org/officeDocument/2006/relationships/image" Target="/ppt/media/image3.png" Id="Re33ab8fac62248ed" /><Relationship Type="http://schemas.openxmlformats.org/officeDocument/2006/relationships/notesSlide" Target="/ppt/notesSlides/notesSlide11.xml" Id="R078023d670894c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ed3d90910a4238" /><Relationship Type="http://schemas.openxmlformats.org/officeDocument/2006/relationships/image" Target="/ppt/media/image4.png" Id="R9cfe611d19cb449e" /><Relationship Type="http://schemas.openxmlformats.org/officeDocument/2006/relationships/notesSlide" Target="/ppt/notesSlides/notesSlide12.xml" Id="R601222b242fa4eb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2d52f578b34f0a" /><Relationship Type="http://schemas.openxmlformats.org/officeDocument/2006/relationships/image" Target="/ppt/media/image5.png" Id="R757e496a60954568" /><Relationship Type="http://schemas.openxmlformats.org/officeDocument/2006/relationships/notesSlide" Target="/ppt/notesSlides/notesSlide13.xml" Id="R5ac63af042174df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1fe7227aee4f39" /><Relationship Type="http://schemas.openxmlformats.org/officeDocument/2006/relationships/image" Target="/ppt/media/image6.png" Id="R5c9fac72c3554725" /><Relationship Type="http://schemas.openxmlformats.org/officeDocument/2006/relationships/notesSlide" Target="/ppt/notesSlides/notesSlide14.xml" Id="Rf9a6456efab34b7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0cf1b693874854" /><Relationship Type="http://schemas.openxmlformats.org/officeDocument/2006/relationships/image" Target="/ppt/media/image7.png" Id="R441839eb790a43a7" /><Relationship Type="http://schemas.openxmlformats.org/officeDocument/2006/relationships/notesSlide" Target="/ppt/notesSlides/notesSlide15.xml" Id="R752b006a6e534b4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ab9d46993c14915" /><Relationship Type="http://schemas.openxmlformats.org/officeDocument/2006/relationships/notesSlide" Target="/ppt/notesSlides/notesSlide16.xml" Id="R27c0780fa5a84ba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5e2741f0347c6" /><Relationship Type="http://schemas.openxmlformats.org/officeDocument/2006/relationships/notesSlide" Target="/ppt/notesSlides/notesSlide17.xml" Id="R3f5fd35a5d3d438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efd304ce54b08" /><Relationship Type="http://schemas.openxmlformats.org/officeDocument/2006/relationships/notesSlide" Target="/ppt/notesSlides/notesSlide18.xml" Id="R22843b75eb734ed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82103353e4f7d" /><Relationship Type="http://schemas.openxmlformats.org/officeDocument/2006/relationships/notesSlide" Target="/ppt/notesSlides/notesSlide19.xml" Id="Ra416adb43828480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e05340d804765" /><Relationship Type="http://schemas.openxmlformats.org/officeDocument/2006/relationships/notesSlide" Target="/ppt/notesSlides/notesSlide20.xml" Id="Rd6689760f8ad44b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711630d7f74341" /><Relationship Type="http://schemas.openxmlformats.org/officeDocument/2006/relationships/notesSlide" Target="/ppt/notesSlides/notesSlide21.xml" Id="R92538cce8f9e42c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456fb8504e4500" /><Relationship Type="http://schemas.openxmlformats.org/officeDocument/2006/relationships/notesSlide" Target="/ppt/notesSlides/notesSlide22.xml" Id="R79d2175d24144ed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ver-glow">
            <a:extLst xmlns:a="http://schemas.openxmlformats.org/drawingml/2006/main">
              <a:ext uri="{FF2B5EF4-FFF2-40B4-BE49-F238E27FC236}">
                <a16:creationId xmlns:a16="http://schemas.microsoft.com/office/drawing/2014/main" id="{96475DF0-91FA-4D83-9202-93F2D60F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71500"/>
            <a:ext cx="4095750" cy="409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786BED7-C868-4930-86E0-74535282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DataMind</a:t>
            </a:r>
            <a:endParaRPr sz="4800" b="1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5FA2DB7-9453-448D-B45E-2970BCB0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数据库 Agent Web 应用</a:t>
            </a:r>
            <a:endParaRPr sz="22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cover-claim">
            <a:extLst xmlns:a="http://schemas.openxmlformats.org/drawingml/2006/main">
              <a:ext uri="{FF2B5EF4-FFF2-40B4-BE49-F238E27FC236}">
                <a16:creationId xmlns:a16="http://schemas.microsoft.com/office/drawing/2014/main" id="{BE95F843-07A9-4CE2-8C6D-AED90FDB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让不会写 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SQL 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的业务人员也能安全地查数据，会写 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SQL 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的技术人员更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高效。</a:t>
            </a:r>
            <a:endParaRPr sz="1500" b="0">
              <a:solidFill>
                <a:srgbClr val="DBEAF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cover-tag-0">
            <a:extLst xmlns:a="http://schemas.openxmlformats.org/drawingml/2006/main">
              <a:ext uri="{FF2B5EF4-FFF2-40B4-BE49-F238E27FC236}">
                <a16:creationId xmlns:a16="http://schemas.microsoft.com/office/drawing/2014/main" id="{DCB7573E-0096-4C4F-80C3-0B2998C3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rPr>
              <a:t>AI Agent</a:t>
            </a:r>
            <a:endParaRPr sz="1200" b="1">
              <a:solidFill>
                <a:srgbClr val="93C5F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cover-tag-line-0">
            <a:extLst xmlns:a="http://schemas.openxmlformats.org/drawingml/2006/main">
              <a:ext uri="{FF2B5EF4-FFF2-40B4-BE49-F238E27FC236}">
                <a16:creationId xmlns:a16="http://schemas.microsoft.com/office/drawing/2014/main" id="{5677942D-344D-4456-9949-87234BCD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tag-1">
            <a:extLst xmlns:a="http://schemas.openxmlformats.org/drawingml/2006/main">
              <a:ext uri="{FF2B5EF4-FFF2-40B4-BE49-F238E27FC236}">
                <a16:creationId xmlns:a16="http://schemas.microsoft.com/office/drawing/2014/main" id="{22330EBB-127F-49F3-8FF7-9A170A8F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152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rPr>
              <a:t>Multi-Database</a:t>
            </a:r>
            <a:endParaRPr sz="1200" b="1">
              <a:solidFill>
                <a:srgbClr val="93C5F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cover-tag-line-1">
            <a:extLst xmlns:a="http://schemas.openxmlformats.org/drawingml/2006/main">
              <a:ext uri="{FF2B5EF4-FFF2-40B4-BE49-F238E27FC236}">
                <a16:creationId xmlns:a16="http://schemas.microsoft.com/office/drawing/2014/main" id="{5D5DFA16-70A3-4BE7-A528-56B0CC2A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767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ver-tag-2">
            <a:extLst xmlns:a="http://schemas.openxmlformats.org/drawingml/2006/main">
              <a:ext uri="{FF2B5EF4-FFF2-40B4-BE49-F238E27FC236}">
                <a16:creationId xmlns:a16="http://schemas.microsoft.com/office/drawing/2014/main" id="{22584E74-B731-447C-B78D-952BF97B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52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rPr>
              <a:t>Security First</a:t>
            </a:r>
            <a:endParaRPr sz="1200" b="1">
              <a:solidFill>
                <a:srgbClr val="93C5F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cover-tag-line-2">
            <a:extLst xmlns:a="http://schemas.openxmlformats.org/drawingml/2006/main">
              <a:ext uri="{FF2B5EF4-FFF2-40B4-BE49-F238E27FC236}">
                <a16:creationId xmlns:a16="http://schemas.microsoft.com/office/drawing/2014/main" id="{02DE3F7A-8423-4CE5-A349-33BDFF5C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767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420348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80EEFF3-99BD-4193-996A-72CD053C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目</a:t>
            </a: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录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64F2C69-6218-46C2-8E41-6D26584D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90A19B6F-735F-448D-8804-3DA16895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81FFD42-F8E6-4D30-B15A-52FA7C50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4D03CF3-57D5-4A69-942B-4C77711B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genda-num-0">
            <a:extLst xmlns:a="http://schemas.openxmlformats.org/drawingml/2006/main">
              <a:ext uri="{FF2B5EF4-FFF2-40B4-BE49-F238E27FC236}">
                <a16:creationId xmlns:a16="http://schemas.microsoft.com/office/drawing/2014/main" id="{CF0D2F01-8E46-456F-9475-7A08FDBC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agenda-title-0">
            <a:extLst xmlns:a="http://schemas.openxmlformats.org/drawingml/2006/main">
              <a:ext uri="{FF2B5EF4-FFF2-40B4-BE49-F238E27FC236}">
                <a16:creationId xmlns:a16="http://schemas.microsoft.com/office/drawing/2014/main" id="{2A0A11B6-D1DD-47AC-8958-A80E4279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52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项目背景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genda-desc-0">
            <a:extLst xmlns:a="http://schemas.openxmlformats.org/drawingml/2006/main">
              <a:ext uri="{FF2B5EF4-FFF2-40B4-BE49-F238E27FC236}">
                <a16:creationId xmlns:a16="http://schemas.microsoft.com/office/drawing/2014/main" id="{050CA851-76F2-4D79-A801-D3A1F614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33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痛点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t>定位、目标用户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agenda-line-0">
            <a:extLst xmlns:a="http://schemas.openxmlformats.org/drawingml/2006/main">
              <a:ext uri="{FF2B5EF4-FFF2-40B4-BE49-F238E27FC236}">
                <a16:creationId xmlns:a16="http://schemas.microsoft.com/office/drawing/2014/main" id="{B4AC9968-589D-45D4-918D-666556EF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genda-num-1">
            <a:extLst xmlns:a="http://schemas.openxmlformats.org/drawingml/2006/main">
              <a:ext uri="{FF2B5EF4-FFF2-40B4-BE49-F238E27FC236}">
                <a16:creationId xmlns:a16="http://schemas.microsoft.com/office/drawing/2014/main" id="{24C606F9-FFCB-4EDE-A866-D8C19858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agenda-title-1">
            <a:extLst xmlns:a="http://schemas.openxmlformats.org/drawingml/2006/main">
              <a:ext uri="{FF2B5EF4-FFF2-40B4-BE49-F238E27FC236}">
                <a16:creationId xmlns:a16="http://schemas.microsoft.com/office/drawing/2014/main" id="{4AF6C35E-0EBA-4438-AB2B-695379C9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194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系统</a:t>
            </a: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功能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agenda-desc-1">
            <a:extLst xmlns:a="http://schemas.openxmlformats.org/drawingml/2006/main">
              <a:ext uri="{FF2B5EF4-FFF2-40B4-BE49-F238E27FC236}">
                <a16:creationId xmlns:a16="http://schemas.microsoft.com/office/drawing/2014/main" id="{30446F87-7F5C-4D14-871F-98287231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004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AI 查询、SQL 工作台、报表、元数据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agenda-line-1">
            <a:extLst xmlns:a="http://schemas.openxmlformats.org/drawingml/2006/main">
              <a:ext uri="{FF2B5EF4-FFF2-40B4-BE49-F238E27FC236}">
                <a16:creationId xmlns:a16="http://schemas.microsoft.com/office/drawing/2014/main" id="{8AA52654-942A-42D6-9EE5-96F4ECC1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genda-num-2">
            <a:extLst xmlns:a="http://schemas.openxmlformats.org/drawingml/2006/main">
              <a:ext uri="{FF2B5EF4-FFF2-40B4-BE49-F238E27FC236}">
                <a16:creationId xmlns:a16="http://schemas.microsoft.com/office/drawing/2014/main" id="{3AD9FE69-807F-4A83-A1D4-7A0C68F5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agenda-title-2">
            <a:extLst xmlns:a="http://schemas.openxmlformats.org/drawingml/2006/main">
              <a:ext uri="{FF2B5EF4-FFF2-40B4-BE49-F238E27FC236}">
                <a16:creationId xmlns:a16="http://schemas.microsoft.com/office/drawing/2014/main" id="{C175F5B5-5EBB-4DCF-BB40-C0D93C09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86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技术亮点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agenda-desc-2">
            <a:extLst xmlns:a="http://schemas.openxmlformats.org/drawingml/2006/main">
              <a:ext uri="{FF2B5EF4-FFF2-40B4-BE49-F238E27FC236}">
                <a16:creationId xmlns:a16="http://schemas.microsoft.com/office/drawing/2014/main" id="{7C5CF6CC-F218-4988-8737-4511F20D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672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Agent 工具调用、安全执行、跨库适配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agenda-line-2">
            <a:extLst xmlns:a="http://schemas.openxmlformats.org/drawingml/2006/main">
              <a:ext uri="{FF2B5EF4-FFF2-40B4-BE49-F238E27FC236}">
                <a16:creationId xmlns:a16="http://schemas.microsoft.com/office/drawing/2014/main" id="{84C8F81C-36EF-41B7-9C26-C2B476B7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genda-num-3">
            <a:extLst xmlns:a="http://schemas.openxmlformats.org/drawingml/2006/main">
              <a:ext uri="{FF2B5EF4-FFF2-40B4-BE49-F238E27FC236}">
                <a16:creationId xmlns:a16="http://schemas.microsoft.com/office/drawing/2014/main" id="{68520EF8-7F9C-4269-B7F7-705F473C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agenda-title-3">
            <a:extLst xmlns:a="http://schemas.openxmlformats.org/drawingml/2006/main">
              <a:ext uri="{FF2B5EF4-FFF2-40B4-BE49-F238E27FC236}">
                <a16:creationId xmlns:a16="http://schemas.microsoft.com/office/drawing/2014/main" id="{96E34BEF-E9AB-4C1D-8F13-890F80A5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53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工程与治理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agenda-desc-3">
            <a:extLst xmlns:a="http://schemas.openxmlformats.org/drawingml/2006/main">
              <a:ext uri="{FF2B5EF4-FFF2-40B4-BE49-F238E27FC236}">
                <a16:creationId xmlns:a16="http://schemas.microsoft.com/office/drawing/2014/main" id="{A6889C72-7345-4D0B-B16E-7D02E025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RBAC、审计、监控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43127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genda-num-0">
            <a:extLst xmlns:a="http://schemas.openxmlformats.org/drawingml/2006/main">
              <a:ext uri="{FF2B5EF4-FFF2-40B4-BE49-F238E27FC236}">
                <a16:creationId xmlns:a16="http://schemas.microsoft.com/office/drawing/2014/main" id="{82CD866D-25EF-48E0-9AB2-B1260955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agenda-title-0">
            <a:extLst xmlns:a="http://schemas.openxmlformats.org/drawingml/2006/main">
              <a:ext uri="{FF2B5EF4-FFF2-40B4-BE49-F238E27FC236}">
                <a16:creationId xmlns:a16="http://schemas.microsoft.com/office/drawing/2014/main" id="{86DCE1E0-76AC-4F1E-8BFF-BC8B88DD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52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项目背景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genda-desc-0">
            <a:extLst xmlns:a="http://schemas.openxmlformats.org/drawingml/2006/main">
              <a:ext uri="{FF2B5EF4-FFF2-40B4-BE49-F238E27FC236}">
                <a16:creationId xmlns:a16="http://schemas.microsoft.com/office/drawing/2014/main" id="{5C3F9D9C-1D2C-4601-BFF8-E6DF01A0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33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痛点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t>定位、目标用户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078817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215B41-8487-48B8-A663-FE41EFC7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三类角色的取数痛点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F895B40-9AAD-4126-96ED-BF734BA1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AA70C55-0830-4DB6-9033-9FD439BD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1140456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同一个数据库，三类使用者卡在完全不同的环节：业务要等、开发要配、运维要管。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BD221DB-CE9F-435A-AED7-94C27D69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18F1ADD-8853-4EEA-AD77-37090465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业务人员 · 拿不到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4B42D9C-F928-4DB7-88E0-3FA0D980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取数靠排队，等排期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不懂 SQL，没有自助入口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口径不一致，数据对不上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只能拿到数字，拿不到图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结果不可复用，反复重问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CC49319-E66D-4B12-B002-8B3CD85E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68E3272-A1BF-4A41-BAF6-28380C4A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开发人员 · 拿得慢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3340258-A260-47E2-BCAA-1551824C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多数据库客户端来回切换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查线上数据先搭隧道环境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简单 SQL 也要重复手写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· 误操作没有二次确认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· 查完只能截图贴群，难复现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79202A-BBDB-4380-9D4A-E8434E7F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314C1F1-A501-49AF-AEE7-CA759CD1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运维 / DBA · 管不住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0BB133F-82A9-40F4-BFB5-E52F3E04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多环境连接靠文档维护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变更前靠人眼比对结构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慢查询只能逐台登录排查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权限靠人肉维护，粒度粗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审计留痕与导出都很困难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9550254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9DA76F08-A7D2-4F18-813E-5CE6907A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为什么需要 DataMind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8C2500B-0AAB-474C-BDFA-29C59439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把高门槛、高风险的数据工作，变成安全可控的对话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FE30F57C-EAA0-4786-BCB3-09715CED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AEEB4E77-1312-4550-A6BC-B8C690B4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782AE01-979F-4C5E-9717-3050A7B6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045262C-CA61-425F-AAF0-BD221AB8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pain-surface">
            <a:extLst xmlns:a="http://schemas.openxmlformats.org/drawingml/2006/main">
              <a:ext uri="{FF2B5EF4-FFF2-40B4-BE49-F238E27FC236}">
                <a16:creationId xmlns:a16="http://schemas.microsoft.com/office/drawing/2014/main" id="{90E5EDB2-0EAB-4CC2-B7F3-9D4CCFDF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219700" cy="44958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8" name="pain-title">
            <a:extLst xmlns:a="http://schemas.openxmlformats.org/drawingml/2006/main">
              <a:ext uri="{FF2B5EF4-FFF2-40B4-BE49-F238E27FC236}">
                <a16:creationId xmlns:a16="http://schemas.microsoft.com/office/drawing/2014/main" id="{A139869C-91DC-4846-A97E-723A1BF0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常见痛点</a:t>
            </a:r>
            <a:endParaRPr sz="1800" b="1">
              <a:solidFill>
                <a:srgbClr val="B91C1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pain-list">
            <a:extLst xmlns:a="http://schemas.openxmlformats.org/drawingml/2006/main">
              <a:ext uri="{FF2B5EF4-FFF2-40B4-BE49-F238E27FC236}">
                <a16:creationId xmlns:a16="http://schemas.microsoft.com/office/drawing/2014/main" id="{408216ED-D0D8-4B82-A9BC-F3B1DFD9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46101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业务人员不会写 SQL，取数依赖技术同事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报表开发和维护</a:t>
            </a:r>
            <a:r>
              <a:rPr sz="1600"/>
              <a:t>：</a:t>
            </a:r>
            <a:r>
              <a:rPr sz="1600"/>
              <a:t>需要提需求排期</a:t>
            </a:r>
            <a:r>
              <a:rPr sz="1600"/>
              <a:t>、</a:t>
            </a:r>
            <a:r>
              <a:rPr sz="1600"/>
              <a:t>开发</a:t>
            </a:r>
            <a:r>
              <a:rPr sz="1600"/>
              <a:t>、</a:t>
            </a:r>
            <a:r>
              <a:rPr sz="1600"/>
              <a:t>测试</a:t>
            </a:r>
            <a:r>
              <a:rPr sz="1600"/>
              <a:t>、</a:t>
            </a:r>
            <a:r>
              <a:rPr sz="1600"/>
              <a:t>上线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数据库切换</a:t>
            </a:r>
            <a:r>
              <a:rPr sz="1600"/>
              <a:t>：</a:t>
            </a:r>
            <a:r>
              <a:rPr sz="1600"/>
              <a:t>不同</a:t>
            </a:r>
            <a:r>
              <a:rPr sz="1600"/>
              <a:t>数据库</a:t>
            </a:r>
            <a:r>
              <a:rPr sz="1600"/>
              <a:t>各有各的客户端</a:t>
            </a:r>
            <a:r>
              <a:rPr sz="1600"/>
              <a:t>，</a:t>
            </a:r>
            <a:r>
              <a:rPr sz="1600"/>
              <a:t>安装切换繁琐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AI 生成 SQL 存在误操作与越权风险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查询结果难以沉淀为报表与文档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用户操作缺少权限和审计</a:t>
            </a:r>
            <a:endParaRPr sz="1600"/>
          </a:p>
        </p:txBody>
      </p:sp>
      <p:sp>
        <p:nvSpPr>
          <p:cNvPr id="10" name="solution-surface">
            <a:extLst xmlns:a="http://schemas.openxmlformats.org/drawingml/2006/main">
              <a:ext uri="{FF2B5EF4-FFF2-40B4-BE49-F238E27FC236}">
                <a16:creationId xmlns:a16="http://schemas.microsoft.com/office/drawing/2014/main" id="{1A1677ED-27FD-4A81-A436-462B97F2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219700" cy="44958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1" name="solution-title">
            <a:extLst xmlns:a="http://schemas.openxmlformats.org/drawingml/2006/main">
              <a:ext uri="{FF2B5EF4-FFF2-40B4-BE49-F238E27FC236}">
                <a16:creationId xmlns:a16="http://schemas.microsoft.com/office/drawing/2014/main" id="{63BA5013-4245-424D-8DB6-022DFCA3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DataMind 的解法</a:t>
            </a:r>
            <a:endParaRPr sz="180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solution-list">
            <a:extLst xmlns:a="http://schemas.openxmlformats.org/drawingml/2006/main">
              <a:ext uri="{FF2B5EF4-FFF2-40B4-BE49-F238E27FC236}">
                <a16:creationId xmlns:a16="http://schemas.microsoft.com/office/drawing/2014/main" id="{D1981E38-750D-4F26-B024-734916ED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24100"/>
            <a:ext cx="46101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自然语言查询：</a:t>
            </a:r>
            <a:r>
              <a:rPr sz="1600">
                <a:solidFill>
                  <a:srgbClr val="334155"/>
                </a:solidFill>
              </a:rPr>
              <a:t>输入</a:t>
            </a:r>
            <a:r>
              <a:rPr sz="1600">
                <a:solidFill>
                  <a:srgbClr val="334155"/>
                </a:solidFill>
              </a:rPr>
              <a:t>自然语言</a:t>
            </a:r>
            <a:r>
              <a:rPr sz="1600">
                <a:solidFill>
                  <a:srgbClr val="334155"/>
                </a:solidFill>
              </a:rPr>
              <a:t>，自动生成 SQL</a:t>
            </a:r>
            <a:r>
              <a:rPr sz="1600">
                <a:solidFill>
                  <a:srgbClr val="334155"/>
                </a:solidFill>
              </a:rPr>
              <a:t>并查询数据</a:t>
            </a: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自然语言生成报表</a:t>
            </a:r>
            <a:r>
              <a:rPr sz="1600" b="1">
                <a:solidFill>
                  <a:srgbClr val="0B5FFF"/>
                </a:solidFill>
              </a:rPr>
              <a:t>：</a:t>
            </a:r>
            <a:r>
              <a:rPr sz="1600">
                <a:solidFill>
                  <a:srgbClr val="334155"/>
                </a:solidFill>
              </a:rPr>
              <a:t>结果一键沉淀为图表、仪表盘、分享页</a:t>
            </a: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统一适配层：</a:t>
            </a:r>
            <a:r>
              <a:rPr sz="1600">
                <a:solidFill>
                  <a:srgbClr val="334155"/>
                </a:solidFill>
              </a:rPr>
              <a:t>屏蔽多数据库方言差异</a:t>
            </a: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分级安全执行：</a:t>
            </a:r>
            <a:r>
              <a:rPr sz="1600">
                <a:solidFill>
                  <a:srgbClr val="334155"/>
                </a:solidFill>
              </a:rPr>
              <a:t>只读自动、写操作确认、DDL 高危提示</a:t>
            </a: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RBAC + 审计：</a:t>
            </a:r>
            <a:r>
              <a:rPr sz="1600">
                <a:solidFill>
                  <a:srgbClr val="334155"/>
                </a:solidFill>
              </a:rPr>
              <a:t>细粒度权限、全量留痕、可导出</a:t>
            </a:r>
            <a:endParaRPr sz="1600">
              <a:solidFill>
                <a:srgbClr val="334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63969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55EB10-479F-41A2-8D88-A8EBBF83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产品定位与目标用户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6F022D8-F289-40EF-B98B-74666883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91EB8D9-661E-4807-8A37-56295891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DataMind 把「连接 → 查询 → 分析 → 报表 → 权限审计」串成一个 Web 工作台，用 AI Agent 降低取数门槛。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4E33FA6-42B9-4BBF-A68C-BA3BB8F7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4955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</a:t>
            </a:r>
            <a:endParaRPr sz="16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DE63953-BCE7-454D-96AB-D0812D49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955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核心需求</a:t>
            </a:r>
            <a:endParaRPr sz="16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46DF7A1-B4DD-4A3F-B635-7F9A7D3D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955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典型场景</a:t>
            </a:r>
            <a:endParaRPr sz="16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6C0F1C28-00E7-47AF-A5A1-D9071071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5750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6B53B7F-A487-49DE-9772-119EBACE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670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后端开发者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A858319-AC29-43FD-B6A3-4BD12C27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670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快速查数、写与优化 SQL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210D648-D317-46E1-878F-807DE197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日常开发、线上排障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EC50338D-BEC3-4977-80A4-E5217049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8615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3E9EB07-844A-4267-9A76-86867C7E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6576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DBA / 运维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1E611DD-D229-46C0-BD95-982D01F8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57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多实例管理、结构变更、审计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8AD30EC-172E-40B8-8A3C-A48C688A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变更前对比、慢查询定位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8192618A-8AA0-490D-B8B4-D4376591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7670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F6329AA-B85F-4F52-B914-ECD3CEB8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248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数据分析师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9D60CF1-3462-4372-8567-EF61015D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481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自然语言取数、快速做报表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8130955-62F9-41D0-9231-9B6A13A6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481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数据探索、临时分析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3A76199D-4C99-4B1A-9DAE-BB6B03E3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66725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70DDB52-E035-46C0-A998-C4169167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38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业务 / 产品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946C177-3C27-4D4A-9906-3654F6D7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387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完全不会 SQL 也要看数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9DE3274-0EBD-40EA-BA17-2ECD6CE1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387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辅助决策、快速核对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C34D7D1-842C-4759-B54B-E59E398A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715000"/>
            <a:ext cx="11404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一句话：让数据获取从「排队等」变成「自己动手」。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1363099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genda-num-1">
            <a:extLst xmlns:a="http://schemas.openxmlformats.org/drawingml/2006/main">
              <a:ext uri="{FF2B5EF4-FFF2-40B4-BE49-F238E27FC236}">
                <a16:creationId xmlns:a16="http://schemas.microsoft.com/office/drawing/2014/main" id="{EB85339D-B843-4889-B9E3-B47B01F7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agenda-title-1">
            <a:extLst xmlns:a="http://schemas.openxmlformats.org/drawingml/2006/main">
              <a:ext uri="{FF2B5EF4-FFF2-40B4-BE49-F238E27FC236}">
                <a16:creationId xmlns:a16="http://schemas.microsoft.com/office/drawing/2014/main" id="{0FE2BDAC-87F7-49B8-AB3F-C9A4423A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194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系统</a:t>
            </a: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功能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agenda-desc-1">
            <a:extLst xmlns:a="http://schemas.openxmlformats.org/drawingml/2006/main">
              <a:ext uri="{FF2B5EF4-FFF2-40B4-BE49-F238E27FC236}">
                <a16:creationId xmlns:a16="http://schemas.microsoft.com/office/drawing/2014/main" id="{5DB8879D-AA4B-4581-A934-13DACE6A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004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功能全景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功能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演示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759011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5B9609-9B19-451E-BFB2-35630474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</a:t>
            </a: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全景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658462B-A47B-41EA-B4BB-E335B525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C125138-FD7C-4186-9B81-EDB891AE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多个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功能模块围绕「连接 → 查询 → 分析 → 报表 → 管理」闭环组织。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4FE06379-74DB-46ED-80AB-1803731D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41E3C99-3AE3-4637-87E0-1D8646FE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连接管理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ED67D41-DB52-4215-984B-965E09EF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 类数据源、SSH 隧道、多环境标签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6CF3C829-AEA3-41B1-8F2A-95195CDF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A68D41C-26DD-4E85-9001-94689A72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SQL 工作台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364A0A5-E7BD-4BC4-BEC2-189B831D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 Tab 编辑、对象树、结果集直编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4B03EBE-9503-4D68-B1B4-A0E3068C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D06B776-AFD8-4915-9014-033108C8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元数据管理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2BB5D7E-2316-43C4-903A-5B02EF1C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表/索引/DDL/视图/函数、结构对比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2CA042E3-27AF-426F-B8B6-BEF7EC03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97EE86D-4187-47F8-9939-4C3AE646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智能查询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AA72AA1-9BAA-430B-809C-AE2C7D41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自然语言转 SQL、多轮会话、图表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C8570E45-54B4-4F95-AE16-4EF6477C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DA65D0B-39FC-4666-A5BF-B9EE963A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可视化报表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127351D-0624-4C4E-8D24-561F7142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 种图表、仪表盘、分享大屏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017BE1E6-CE02-4F5D-8993-094221B8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52A610D-0DC1-445A-9D50-6FFF7321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文档导出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CAA1067-709E-49EE-8143-D342BAAB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CSV/Excel/JSON、库文档导出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17500F90-0971-400A-B722-C532AC60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158D9F4-82C8-49C4-AC90-7CC3E5DE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用户与角色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77E2A43-E1A0-4A72-8CF8-F60A0066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RBAC 5 内置角色 + 自定义角色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5" name="rule">
            <a:extLst xmlns:a="http://schemas.openxmlformats.org/drawingml/2006/main">
              <a:ext uri="{FF2B5EF4-FFF2-40B4-BE49-F238E27FC236}">
                <a16:creationId xmlns:a16="http://schemas.microsoft.com/office/drawing/2014/main" id="{650AC370-374E-4294-A82D-E29CF9F7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ABF4EEC2-3543-43D2-AF90-CB3DCB8A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运维监控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00441335-D201-4EA6-8E86-2977D1A7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慢查询、连接概览、审计、指标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341088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14F934-C54D-4DCB-BDF5-1C2D7079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：自然语言查询数据库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FA5F9E4-BB65-4F52-88AB-DE64C6E1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DF3596EB-F080-4EB5-8437-135D1EE6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71EA2269-82F6-4ECA-98B8-42EF39236B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2fb9b3f8b47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7A9888EE-3649-423D-A4D3-F9B9922DE4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2fb9b3f8b47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0F63F88-5D4A-486B-9C70-EF4C3B92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40 秒）：演示库查用户 → Oracle（UAT）查机构 → 导出 CSV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5114A3A-052B-47AC-B3EA-7AB264D9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提问即得结果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D945409B-77CC-4612-AAB9-4A4F00A5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846F2ED-D4A1-4433-B9A1-66C265C3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一句话生成 SQL，无需手写语句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50C34D88-3DFE-48D1-BF6A-6B523A5E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953EEAF-D71F-412F-9FA3-A0F359E5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SSE 流式回传思考过程与 SQL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AE17AB5F-1B2F-448A-9DD3-E7B87DBB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D31FB66-666A-4F19-8CE3-EF531D57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切换数据源即可跨库查询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8AE14BBF-671F-41BA-9E6B-951F0EB6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850AAF0-2327-47B6-8E49-7463F698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结果一键导出 CSV / Excel / JSON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4723660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EB7112-161A-47EB-82DF-3A2341AF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：自然语言生成图表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051E3BC-A113-4F47-A6D2-9BDE7565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08DAF0C9-2B7D-456B-91FB-94E4F3C5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26426352-2618-4D25-AF37-31EEB2A4F4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40b176b2cf40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FF0DE1CA-8C81-4710-BBF9-B155729562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40b176b2cf40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3C35AAA-C1C9-42BB-8276-D82BAF1D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60 秒）：Oracle 查分行笔数/金额 → 自动出图 → 保存报表，再看近 30 天成功交易笔数与金额趋势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C58980F-99CB-49A5-93B2-F628411A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从查询到图表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141CFC07-CDA3-49AB-B186-0DD3F941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0E5C373-324C-4E4C-B250-4317AA4B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案例一：各分行笔数与金额柱状图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A37A10F2-8D40-4851-ABE8-CD56BBD1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77E2A82-9FE4-41DC-AE62-52AF5161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案例二：近30天交易趋势折线图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B4937C79-7C98-4940-BB94-141F14D1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8C2E196-329F-421C-B33B-97925952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双指标量级差异大时自动分双 Y 轴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E152463A-7969-4DDC-9C15-6DD0C76F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AC6A105-A74A-4178-92B3-8BCC747E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一键保存到可视化报表复用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3255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CF1C5C-9E08-46DC-BED3-05ECFDF2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：SQL 工作台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A366E1-E019-4103-9B6C-0DD65792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A2BA5F91-CCAA-4F86-ABAD-9E1710A4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36EC8A0E-4A50-46FE-AE76-2F5747BA2C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3ab8fac62248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A5807E81-44AB-4B35-AA87-1927D58055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3ab8fac62248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A378C98-1DD3-4333-8CE5-EF1E8151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55 秒）：OceanBase 执行 SQL → Agent 生成聚合 SQL → 填入编辑器执行 → 收藏命名 → 历史 / 收藏页签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FA5AC3F-3019-4F24-BF4A-0A0F83A1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专业查询体验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C8DF141D-1086-4AAA-83F0-4FD1FEE4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72A322E-AA3F-492C-807D-F792AD38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OceanBase 数据源即连即查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5FA6638D-B8B0-487E-995B-6468DDF2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A20B1B0-3F14-4FA1-A68C-4429032C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Agent 一句话生成聚合 SQL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2153DBFD-311F-46A5-8DF4-E2D6CA95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A74C849-285D-4804-A9A7-55E984A9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填入编辑器后一键执行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D418C0AC-DAEB-434E-8A59-C2BC211A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BBDDD62-2799-45B5-BB84-7C0D1361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执行历史留痕 + SQL 收藏复用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8894761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EE651E-F024-46D2-8DB1-FADC94E3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：数据操作安全控制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FA5EFBB-1B0A-462D-88AC-43DA2F17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E6CEF5FF-6CB8-4809-B505-5C73893F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0CBA37F3-615C-4641-AD3B-689A610F1E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e611d19cb44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D6975BB9-B844-44D8-97E5-B19652787B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e611d19cb44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CB4628A-DB90-4057-B243-59FFBA79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52 秒）：UPDATE 确认执行 → Agent 修改字段长度确认执行 → 删除表取消执行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A8A0552-D1E3-404E-BFFC-7AA910A0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分级授权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9D6FBBF7-B961-49AF-95C7-27F3D414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29883CD-AB14-495D-9C89-2F018752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READ：只读查询自动执行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D6514522-DBB4-4EDB-BBEC-B29F3BD8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1DE538D-F7D4-43D0-B6D7-36D15346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DML：UPDATE 确认后才生效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64A0E71F-C8D1-4BD9-88FE-32A1D0B0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2D7A641-5AAD-4DEB-875B-3522B700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DDL：红色危险提示 + 逐条确认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185B5CAC-17B4-44A1-AC7B-F3937481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7193E88-B55D-4BBE-A124-D7692EE7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取消即中止，全部写入审计日志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4099059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A9E9D9F-45E5-4025-B10B-3283B3B9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：运维监控与日志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34E70D2-B00F-46FB-ABB1-2A4AAFD7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13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CD85A6CB-C42A-4F4F-B371-7D486323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D6551541-1F54-47BC-8D6F-41693D0C54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7e496a6095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5FAD4E63-8726-4DF4-8C76-503DBFC2DB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7e496a6095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ECEF888-6A37-4179-8BF7-449B3E4E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32 秒）：连接概览 → 审计日志 → 慢查询（耗时 ≥ 100ms） → 表结构对比（Oracle SIT vs UAT）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F3DCC74-C37B-443C-A94C-E351B6EC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运维与合规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492DD000-E94E-4044-9E7E-C52F252D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3CE1A3C-4A2F-4544-81F1-838F0108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连接概览：查询量 / 耗时 / 成功率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5C940110-F46B-494C-8E6E-497606AE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B26EBB9-43A2-42F8-B555-820809A8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审计日志：登录与 SQL 全量留痕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1AF26B7E-05AE-497F-BD0B-EE076925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F2727EE-A833-4D86-BB31-FDF54B4A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慢查询：阈值可调（演示 100ms）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D2D8F67C-AD88-4128-AA9F-3977B05E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48189E2-B096-44D8-A92C-780DD323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表结构对比：SIT vs UAT 差异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7288649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1157EF-8690-47EF-B30E-62EA6178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：数据库与大模型连接管理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4EFAC21-5F2C-443F-9F5F-280FBB43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A5EF1957-45ED-4EA6-B273-C279690D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A9DAC9C8-156B-4375-B708-2EB0286C99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9fac72c35547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A9229614-9C5E-424B-B659-2816A0D9E2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9fac72c35547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14792DD-2DD5-4FEE-BB81-5163D878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23 秒）：数据库连接配置一键测连 → 大模型连接配置测试第二个模型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74E1537-538A-447F-8E25-3D6EFD5E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连接即资产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9E8BF6C7-D264-4795-A607-3D6C5866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3255BDA-1563-469B-B48E-945355A9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数据库连接：一键「测试」即返回连通性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EC616243-4FE1-442C-98DC-983F17B0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B16BBA1-7CBC-4B58-8551-F5E19BA4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覆盖 SQLite / Oracle / MySQL / OceanBase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B8D01140-CDE2-4CD9-AAE9-7533C1A8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207B59E-89B6-454A-867A-2ED10565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大模型：OpenAI、Claude、Ollama 三类提供方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8C4934E2-69C5-4BF3-BB71-B577B4CD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6CD81B9-E37D-44B7-9823-FA5EA6F8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API Key 加密存储，可指定默认模型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0736800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906107-FF2F-4015-AD54-8E3B2F68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：用户与角色管理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BF88583-E484-4E99-B916-AC8D6E30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15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8EA2E8C6-4D7B-4360-9B5F-10BD1912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B54781F9-E84E-42CE-94EB-EC295E977C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1839eb790a43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08492374-7CBB-46CA-8062-30DBEE568E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1839eb790a43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ED3CE2-1701-4E96-B000-4EF9BAE6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23 秒）：用户管理 → 角色管理 → 依次查看技术管理 / 技术查询 / 业务查询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2F7C4B4-EE2D-40A5-AD54-E5FBF526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权限可控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44F004ED-A34B-4A05-86E6-21C8BB70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36A696D-4BAE-414A-95C9-EE8F7019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用户管理：账号 / 角色 / 状态 / 重置密码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ED2834A3-3309-4FA5-ADDA-BE54F656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B88F649-4880-48E2-9F92-3ADF68B1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角色管理：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按角色控制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9E0FADD5-4A18-40ED-8F7A-B9691C82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8043C8E-4823-4F91-AE8E-AF66DEC6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功能权限按模块分组勾选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6D13E7DA-B2C7-480A-AF17-BB3AE597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99B4E22-350D-4328-85F8-ECF3F6C7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先勾选权限，再由路由守卫拦截：前端菜单与后端接口双重校验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4254867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genda-num-2">
            <a:extLst xmlns:a="http://schemas.openxmlformats.org/drawingml/2006/main">
              <a:ext uri="{FF2B5EF4-FFF2-40B4-BE49-F238E27FC236}">
                <a16:creationId xmlns:a16="http://schemas.microsoft.com/office/drawing/2014/main" id="{C010A56C-2050-4E9F-BB10-4039813C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agenda-title-2">
            <a:extLst xmlns:a="http://schemas.openxmlformats.org/drawingml/2006/main">
              <a:ext uri="{FF2B5EF4-FFF2-40B4-BE49-F238E27FC236}">
                <a16:creationId xmlns:a16="http://schemas.microsoft.com/office/drawing/2014/main" id="{DE62D92A-9D62-4087-A62D-FC2EDFC7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86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技术亮点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agenda-desc-2">
            <a:extLst xmlns:a="http://schemas.openxmlformats.org/drawingml/2006/main">
              <a:ext uri="{FF2B5EF4-FFF2-40B4-BE49-F238E27FC236}">
                <a16:creationId xmlns:a16="http://schemas.microsoft.com/office/drawing/2014/main" id="{2B588EA7-A1EB-4385-BE3F-EAC4B879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672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AI 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Agent 工具调用、安全执行、跨库适配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9136524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EF8CD424-3F67-496C-94DF-B8D9AAA6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核心亮点 · AI Agent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7616B21-0478-4718-8345-B298BB22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把自然语言变成可信、可解释、可执行的 SQL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1E89406-837C-479E-8BCF-DB861C9D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61491C8-3EFA-4F1B-AFF6-A05E1541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EA40A87-0814-4BBD-A27A-433FB0C3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FD3C3DF-F924-464D-ADF5-1E167071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17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gent-overview-intro">
            <a:extLst xmlns:a="http://schemas.openxmlformats.org/drawingml/2006/main">
              <a:ext uri="{FF2B5EF4-FFF2-40B4-BE49-F238E27FC236}">
                <a16:creationId xmlns:a16="http://schemas.microsoft.com/office/drawing/2014/main" id="{E339B070-8EB3-4623-8914-F2F776F3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Agent 不是简单调用大模型，而是围绕 Schema、工具与安全策略构建的查询推理系统。</a:t>
            </a:r>
            <a:endParaRPr sz="1350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6" name="表格 15">
            <a:extLst xmlns:a="http://schemas.openxmlformats.org/drawingml/2006/main">
              <a:ext uri="{FF2B5EF4-FFF2-40B4-BE49-F238E27FC236}">
                <a16:creationId xmlns:a16="http://schemas.microsoft.com/office/drawing/2014/main" id="{B661EDD4-0461-452D-A737-3C5BB0583209}"/>
              </a:ext>
            </a:extLst>
          </p:cNvPr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能力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价值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自然语言 → SQL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输入问题，自动生成对应 SQL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降低取数门槛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Schema 感知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自动获取表结构作为上下文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提升生成准确率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多轮对话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保留上下文，可追问与调整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更自然的交互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SQL 解释与优化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解释含义、分析执行计划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帮助理解与调优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流式输出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SSE 实时返回思考过程与结果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体验透明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74430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744C685A-BA3B-4879-AEA7-5621121E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Agent 执行链路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C27475-C7D1-4BAF-9E45-C1A69C79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工具调用 + 失败重试 + few-shot，让结果更可靠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02E1779-7AE5-467C-BE43-8901B5F9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FA10220-6C16-49F8-9EC1-06B086DA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DBA5C7D-62C0-44DD-9EA9-3E0472AA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BAE2020-F4AA-4091-897D-72D95E44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18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gent-node-0">
            <a:extLst xmlns:a="http://schemas.openxmlformats.org/drawingml/2006/main">
              <a:ext uri="{FF2B5EF4-FFF2-40B4-BE49-F238E27FC236}">
                <a16:creationId xmlns:a16="http://schemas.microsoft.com/office/drawing/2014/main" id="{E3B206FA-DE51-4FDA-BB32-2DD05653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8" name="agent-node-title-0">
            <a:extLst xmlns:a="http://schemas.openxmlformats.org/drawingml/2006/main">
              <a:ext uri="{FF2B5EF4-FFF2-40B4-BE49-F238E27FC236}">
                <a16:creationId xmlns:a16="http://schemas.microsoft.com/office/drawing/2014/main" id="{E168D5AD-69AE-496E-9149-D024D163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用户提问</a:t>
            </a:r>
            <a:endParaRPr sz="150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gent-node-desc-0">
            <a:extLst xmlns:a="http://schemas.openxmlformats.org/drawingml/2006/main">
              <a:ext uri="{FF2B5EF4-FFF2-40B4-BE49-F238E27FC236}">
                <a16:creationId xmlns:a16="http://schemas.microsoft.com/office/drawing/2014/main" id="{9BA60F3A-EF17-42AD-B467-D3C77CE7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自然语言描述需求</a:t>
            </a:r>
            <a:endParaRPr sz="9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agent-arrow-0">
            <a:extLst xmlns:a="http://schemas.openxmlformats.org/drawingml/2006/main">
              <a:ext uri="{FF2B5EF4-FFF2-40B4-BE49-F238E27FC236}">
                <a16:creationId xmlns:a16="http://schemas.microsoft.com/office/drawing/2014/main" id="{83E11C4D-04AD-4383-BCDB-8EB60C0E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66265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gent-node-1">
            <a:extLst xmlns:a="http://schemas.openxmlformats.org/drawingml/2006/main">
              <a:ext uri="{FF2B5EF4-FFF2-40B4-BE49-F238E27FC236}">
                <a16:creationId xmlns:a16="http://schemas.microsoft.com/office/drawing/2014/main" id="{D70F42FF-1916-4692-B73B-3061AB54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5F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2" name="agent-node-title-1">
            <a:extLst xmlns:a="http://schemas.openxmlformats.org/drawingml/2006/main">
              <a:ext uri="{FF2B5EF4-FFF2-40B4-BE49-F238E27FC236}">
                <a16:creationId xmlns:a16="http://schemas.microsoft.com/office/drawing/2014/main" id="{92DCADA7-8153-4D60-A8CB-9043670B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 推理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agent-node-desc-1">
            <a:extLst xmlns:a="http://schemas.openxmlformats.org/drawingml/2006/main">
              <a:ext uri="{FF2B5EF4-FFF2-40B4-BE49-F238E27FC236}">
                <a16:creationId xmlns:a16="http://schemas.microsoft.com/office/drawing/2014/main" id="{71F89F85-B710-4A71-AE4C-60BFC521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Schema 感知 + 历史 few-shot</a:t>
            </a:r>
            <a:endParaRPr sz="975" b="0">
              <a:solidFill>
                <a:srgbClr val="DBEAF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agent-arrow-1">
            <a:extLst xmlns:a="http://schemas.openxmlformats.org/drawingml/2006/main">
              <a:ext uri="{FF2B5EF4-FFF2-40B4-BE49-F238E27FC236}">
                <a16:creationId xmlns:a16="http://schemas.microsoft.com/office/drawing/2014/main" id="{F56A9021-B64B-44CC-9FD7-C91043D0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66265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gent-node-2">
            <a:extLst xmlns:a="http://schemas.openxmlformats.org/drawingml/2006/main">
              <a:ext uri="{FF2B5EF4-FFF2-40B4-BE49-F238E27FC236}">
                <a16:creationId xmlns:a16="http://schemas.microsoft.com/office/drawing/2014/main" id="{98FF4A43-1009-44A9-B913-58CBA95B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5F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6" name="agent-node-title-2">
            <a:extLst xmlns:a="http://schemas.openxmlformats.org/drawingml/2006/main">
              <a:ext uri="{FF2B5EF4-FFF2-40B4-BE49-F238E27FC236}">
                <a16:creationId xmlns:a16="http://schemas.microsoft.com/office/drawing/2014/main" id="{9FA23F0C-87B6-4C23-9C4D-5D6C280B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工具调用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agent-node-desc-2">
            <a:extLst xmlns:a="http://schemas.openxmlformats.org/drawingml/2006/main">
              <a:ext uri="{FF2B5EF4-FFF2-40B4-BE49-F238E27FC236}">
                <a16:creationId xmlns:a16="http://schemas.microsoft.com/office/drawing/2014/main" id="{EA32FCDF-BE5D-4846-B326-8E62C03F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表结构 / 采样 / EXPLAIN</a:t>
            </a:r>
            <a:endParaRPr sz="975" b="0">
              <a:solidFill>
                <a:srgbClr val="DBEAF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agent-arrow-2">
            <a:extLst xmlns:a="http://schemas.openxmlformats.org/drawingml/2006/main">
              <a:ext uri="{FF2B5EF4-FFF2-40B4-BE49-F238E27FC236}">
                <a16:creationId xmlns:a16="http://schemas.microsoft.com/office/drawing/2014/main" id="{86400DC4-580C-4AF0-9CCC-3671BDE9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66265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gent-node-3">
            <a:extLst xmlns:a="http://schemas.openxmlformats.org/drawingml/2006/main">
              <a:ext uri="{FF2B5EF4-FFF2-40B4-BE49-F238E27FC236}">
                <a16:creationId xmlns:a16="http://schemas.microsoft.com/office/drawing/2014/main" id="{4093B9B8-D6C2-408C-9E9C-F20EE152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5F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20" name="agent-node-title-3">
            <a:extLst xmlns:a="http://schemas.openxmlformats.org/drawingml/2006/main">
              <a:ext uri="{FF2B5EF4-FFF2-40B4-BE49-F238E27FC236}">
                <a16:creationId xmlns:a16="http://schemas.microsoft.com/office/drawing/2014/main" id="{1F232630-932A-4114-BFFB-31D146D4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生成 SQL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agent-node-desc-3">
            <a:extLst xmlns:a="http://schemas.openxmlformats.org/drawingml/2006/main">
              <a:ext uri="{FF2B5EF4-FFF2-40B4-BE49-F238E27FC236}">
                <a16:creationId xmlns:a16="http://schemas.microsoft.com/office/drawing/2014/main" id="{D3A19887-3C43-4CC0-A508-946E38AF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只读查询或写操作</a:t>
            </a:r>
            <a:endParaRPr sz="975" b="0">
              <a:solidFill>
                <a:srgbClr val="DBEAF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agent-arrow-3">
            <a:extLst xmlns:a="http://schemas.openxmlformats.org/drawingml/2006/main">
              <a:ext uri="{FF2B5EF4-FFF2-40B4-BE49-F238E27FC236}">
                <a16:creationId xmlns:a16="http://schemas.microsoft.com/office/drawing/2014/main" id="{6C3A02B7-4A9F-49A6-8DB6-CD28ECFE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66265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gent-node-4">
            <a:extLst xmlns:a="http://schemas.openxmlformats.org/drawingml/2006/main">
              <a:ext uri="{FF2B5EF4-FFF2-40B4-BE49-F238E27FC236}">
                <a16:creationId xmlns:a16="http://schemas.microsoft.com/office/drawing/2014/main" id="{6632FA9B-34F7-42D2-AF96-33170268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24" name="agent-node-title-4">
            <a:extLst xmlns:a="http://schemas.openxmlformats.org/drawingml/2006/main">
              <a:ext uri="{FF2B5EF4-FFF2-40B4-BE49-F238E27FC236}">
                <a16:creationId xmlns:a16="http://schemas.microsoft.com/office/drawing/2014/main" id="{85A37348-B443-4DA9-996C-FFB2D5FF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安全执行</a:t>
            </a:r>
            <a:endParaRPr sz="150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agent-node-desc-4">
            <a:extLst xmlns:a="http://schemas.openxmlformats.org/drawingml/2006/main">
              <a:ext uri="{FF2B5EF4-FFF2-40B4-BE49-F238E27FC236}">
                <a16:creationId xmlns:a16="http://schemas.microsoft.com/office/drawing/2014/main" id="{AEDD5386-4503-483B-BED0-847523E9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结果 / 图表 / 解释</a:t>
            </a:r>
            <a:endParaRPr sz="9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603D951-9ED2-4AE8-8264-2ED6AAB4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663793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7FD7E00-3067-4FD6-AE37-4D5D0C75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2854293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工具调用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7A209E6-CEEA-44DD-9062-B3AEDD51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254343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list_tables、get_columns、sample_data、explain 四个工具按需调用，最多 3 轮。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0595DE18-33A1-4DFC-9304-52DB0269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663793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685C848-33EA-49B2-B63D-6CB281D7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2854293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失败</a:t>
            </a: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重试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1937B58-07E9-4E1A-BE67-DD0148DA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254343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 查询执行失败时，自动把错误回传给 LLM 修正并重试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（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默认最多重试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次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，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可设置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）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FC48B98-D5CE-4118-B3E2-9A65AAA1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2663793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5AF1C15B-D480-4FEA-A7E2-3926E84A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2854293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经验复用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CEC9FE2-501B-43D6-B3AB-3038367C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254343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历史成功 SQL 作为 few-shot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（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少量示例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）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注入新会话，越用越准。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4B8C3787-9F0B-4BCE-ADD3-622C79D3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493" y="5922645"/>
            <a:ext cx="1140456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不是简单调用大模型，而是把「工具调用、失败自愈、经验复用」做成工程闭环；一次对话通过 SSE 推送 thought / tool / sql / retry / result / chart 等事件，前端逐段渲染。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9458853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2520BB21-39A4-450B-A74E-207C5EA0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核心亮点 · 安全执行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85EC280-1DE3-4C78-AFD2-DFE00392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AI 可以生成 SQL，但不会拥有不受控的写权限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B2EE8EE6-B7E6-4C09-8AC4-BAF27990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1C21CFE8-C2E9-4A00-AD00-D6FBEC13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A8BB8A3-80A5-46AE-988B-59EBA7E6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CC4F6E0-FFD9-447C-BF8B-E08AD434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19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5" name="表格 14">
            <a:extLst xmlns:a="http://schemas.openxmlformats.org/drawingml/2006/main">
              <a:ext uri="{FF2B5EF4-FFF2-40B4-BE49-F238E27FC236}">
                <a16:creationId xmlns:a16="http://schemas.microsoft.com/office/drawing/2014/main" id="{4543F2A8-8989-4AA9-B7BC-5383FE58F798}"/>
              </a:ext>
            </a:extLst>
          </p:cNvPr>
          <p:cNvGraphicFramePr/>
          <p:nvPr/>
        </p:nvGraphicFramePr>
        <p:xfrm>
          <a:off xmlns:a="http://schemas.openxmlformats.org/drawingml/2006/main" x="685800" y="163830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操作类型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授权方式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执行说明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SELECT / SHOW / DESC / EXPLAIN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自动执行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只读查询直接返回结果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INSERT / UPDATE / DELETE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手动确认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返回影响预览与 execution_id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CREATE / ALTER / DROP / TRUNCATE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高危确认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红色警告并展示完整 DDL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多条混合 SQL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逐条确认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 SQL 类型分别处理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  <p:sp>
        <p:nvSpPr>
          <p:cNvPr id="8" name="security-callout">
            <a:extLst xmlns:a="http://schemas.openxmlformats.org/drawingml/2006/main">
              <a:ext uri="{FF2B5EF4-FFF2-40B4-BE49-F238E27FC236}">
                <a16:creationId xmlns:a16="http://schemas.microsoft.com/office/drawing/2014/main" id="{A8DB2E57-DDEA-4818-A925-35C7E30C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execution_id 暂存待确认执行，5 分钟过期；用户确认后再次鉴权，全程审计。</a:t>
            </a:r>
            <a:endParaRPr sz="1200" b="1">
              <a:solidFill>
                <a:srgbClr val="B4530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7664801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ABD56B4D-41EB-42D2-8561-966BB77B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审计与监控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C2A023D-297D-4537-9E39-191B21C3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让每一次操作都可追溯、可观察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72966D2-E9B9-4E75-B19C-302A91AD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D5C880DA-850D-4A4F-A5A1-5F70246E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F8D1D6F-F302-44F9-A94D-FC5B04CE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52AE83B-8627-42A9-8EFB-3A153721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20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udit-surface">
            <a:extLst xmlns:a="http://schemas.openxmlformats.org/drawingml/2006/main">
              <a:ext uri="{FF2B5EF4-FFF2-40B4-BE49-F238E27FC236}">
                <a16:creationId xmlns:a16="http://schemas.microsoft.com/office/drawing/2014/main" id="{06C6E5FD-2058-4C96-9074-DE3ECE56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219700" cy="44958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8" name="audit-title">
            <a:extLst xmlns:a="http://schemas.openxmlformats.org/drawingml/2006/main">
              <a:ext uri="{FF2B5EF4-FFF2-40B4-BE49-F238E27FC236}">
                <a16:creationId xmlns:a16="http://schemas.microsoft.com/office/drawing/2014/main" id="{C0EA438D-AD2C-48C5-ACE1-271E888D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审计日志</a:t>
            </a:r>
            <a:endParaRPr sz="1800" b="1">
              <a:solidFill>
                <a:srgbClr val="B4530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udit-list">
            <a:extLst xmlns:a="http://schemas.openxmlformats.org/drawingml/2006/main">
              <a:ext uri="{FF2B5EF4-FFF2-40B4-BE49-F238E27FC236}">
                <a16:creationId xmlns:a16="http://schemas.microsoft.com/office/drawing/2014/main" id="{621AB5F6-228D-4164-BB33-19673A11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46101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登录、SQL 执行、Agent 动作全量留痕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操作类型、SQL 文本、状态可追溯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导出 CSV / XLSX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audit_retention_days 默认 180 天自动清理</a:t>
            </a:r>
          </a:p>
        </p:txBody>
      </p:sp>
      <p:sp>
        <p:nvSpPr>
          <p:cNvPr id="10" name="monitor-surface">
            <a:extLst xmlns:a="http://schemas.openxmlformats.org/drawingml/2006/main">
              <a:ext uri="{FF2B5EF4-FFF2-40B4-BE49-F238E27FC236}">
                <a16:creationId xmlns:a16="http://schemas.microsoft.com/office/drawing/2014/main" id="{6C3EFDE2-02D4-4162-B160-4C0E4337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219700" cy="44958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1" name="monitor-title">
            <a:extLst xmlns:a="http://schemas.openxmlformats.org/drawingml/2006/main">
              <a:ext uri="{FF2B5EF4-FFF2-40B4-BE49-F238E27FC236}">
                <a16:creationId xmlns:a16="http://schemas.microsoft.com/office/drawing/2014/main" id="{A3FB7A0A-992B-43D6-87E2-E4644695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运维监控</a:t>
            </a:r>
            <a:endParaRPr sz="180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monitor-list">
            <a:extLst xmlns:a="http://schemas.openxmlformats.org/drawingml/2006/main">
              <a:ext uri="{FF2B5EF4-FFF2-40B4-BE49-F238E27FC236}">
                <a16:creationId xmlns:a16="http://schemas.microsoft.com/office/drawing/2014/main" id="{1A199833-F4E2-4EC6-B44E-A5327A95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24100"/>
            <a:ext cx="46101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连接概览与慢查询统计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不通环境</a:t>
            </a:r>
            <a:r>
              <a:t>表结构对比）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定时导出任务状态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/metrics 暴露 Prometheus 指标</a:t>
            </a:r>
          </a:p>
        </p:txBody>
      </p:sp>
    </p:spTree>
    <p:extLst>
      <p:ext uri="{BB962C8B-B14F-4D97-AF65-F5344CB8AC3E}">
        <p14:creationId xmlns:p14="http://schemas.microsoft.com/office/powerpoint/2010/main" val="74272899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215B41-8487-48B8-A663-FE41EFC7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技术亮点 ③：安全、审计与可观测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F895B40-9AAD-4126-96ED-BF734BA1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21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AA70C55-0830-4DB6-9033-9FD439BD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1140456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密钥加密、分级授权、全量审计、指标暴露与测试覆盖，构成可交付的企业级完整性。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BD221DB-CE9F-435A-AED7-94C27D69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18F1ADD-8853-4EEA-AD77-37090465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加密与认证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4B42D9C-F928-4DB7-88E0-3FA0D980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数据库密码、SSH 私钥、AI Key 经 Fernet 加密入库，接口只返回 has_password / has_key；密码 pbkdf2 哈希，会话使用 httponly Cookie。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CC49319-E66D-4B12-B002-8B3CD85E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68E3272-A1BF-4A41-BAF6-28380C4A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权限与审计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3340258-A260-47E2-BCAA-1551824C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按角色控制权限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 / DML / DDL 分级授权；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登录、SQL、Agent 动作全量留痕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操作类型、SQL 文本、状态可追溯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79202A-BBDB-4380-9D4A-E8434E7F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314C1F1-A501-49AF-AEE7-CA759CD1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可观测与部署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0BB133F-82A9-40F4-BFB5-E52F3E04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/metrics 暴露请求数、延迟与 SQL 执行次数；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117 项后端测试 + Playwright E2E；Docker 多阶段构建，单端口一键启动。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95502541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6C180E3-19B3-47EE-8BFE-3565AA92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22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22A0302-B2D1-4354-A077-7F131DD1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287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让每个人都能安全、高效地与数据对话</a:t>
            </a:r>
            <a:endParaRPr sz="3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046B15D-A373-46CB-9EDA-00C94FA5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175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261622F-BACB-47F5-9DC1-C70BBAE7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052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下一步：补齐更多数据库对象支持，扩展 Agent 工具（索引建议、慢查询根因分析），增加团队协作与报表订阅。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7142394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2026-10-14T09:11:50.9280000Z</dcterms:created>
  <dcterms:modified xsi:type="dcterms:W3CDTF">2026-10-14T09:11:50.9280000Z</dcterms:modified>
</coreProperties>
</file>