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f966ee120fa40d2" /><Relationship Type="http://schemas.openxmlformats.org/officeDocument/2006/relationships/extended-properties" Target="/docProps/app.xml" Id="R889b33fad9074639" /><Relationship Type="http://schemas.openxmlformats.org/officeDocument/2006/relationships/officeDocument" Target="/ppt/presentation.xml" Id="R1dd94ba5a5bd4fc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5948b5d6b6f4451"/>
    <p:sldMasterId xmlns:r="http://schemas.openxmlformats.org/officeDocument/2006/relationships" id="2147483655" r:id="Rf7c27ba5899348ca"/>
  </p:sldMasterIdLst>
  <p:notesMasterIdLst>
    <p:notesMasterId xmlns:r="http://schemas.openxmlformats.org/officeDocument/2006/relationships" r:id="Rbfe5f928359246ad"/>
  </p:notesMasterIdLst>
  <p:sldIdLst>
    <p:sldId xmlns:r="http://schemas.openxmlformats.org/officeDocument/2006/relationships" id="256" r:id="Rf4fca04255f54266"/>
    <p:sldId xmlns:r="http://schemas.openxmlformats.org/officeDocument/2006/relationships" id="257" r:id="R612bf3ca9b2e409e"/>
    <p:sldId xmlns:r="http://schemas.openxmlformats.org/officeDocument/2006/relationships" id="258" r:id="R9a037121709348bb"/>
    <p:sldId xmlns:r="http://schemas.openxmlformats.org/officeDocument/2006/relationships" id="259" r:id="Rf66cfc2e6bd642ca"/>
    <p:sldId xmlns:r="http://schemas.openxmlformats.org/officeDocument/2006/relationships" id="260" r:id="R78fcff658ca7433b"/>
    <p:sldId xmlns:r="http://schemas.openxmlformats.org/officeDocument/2006/relationships" id="261" r:id="Rff44d7b2bd934d20"/>
    <p:sldId xmlns:r="http://schemas.openxmlformats.org/officeDocument/2006/relationships" id="262" r:id="R0239713eba084ca6"/>
    <p:sldId xmlns:r="http://schemas.openxmlformats.org/officeDocument/2006/relationships" id="263" r:id="R8bf01686d06a46b5"/>
    <p:sldId xmlns:r="http://schemas.openxmlformats.org/officeDocument/2006/relationships" id="264" r:id="R059fa3177a1842cf"/>
    <p:sldId xmlns:r="http://schemas.openxmlformats.org/officeDocument/2006/relationships" id="265" r:id="R94ac61bb3b874b6e"/>
    <p:sldId xmlns:r="http://schemas.openxmlformats.org/officeDocument/2006/relationships" id="266" r:id="R05c9b9bf94b0435b"/>
    <p:sldId xmlns:r="http://schemas.openxmlformats.org/officeDocument/2006/relationships" id="267" r:id="R18c35727e4a745e2"/>
    <p:sldId xmlns:r="http://schemas.openxmlformats.org/officeDocument/2006/relationships" id="268" r:id="R7ad54df488a242d7"/>
    <p:sldId xmlns:r="http://schemas.openxmlformats.org/officeDocument/2006/relationships" id="269" r:id="R98c573de1bd64d57"/>
    <p:sldId xmlns:r="http://schemas.openxmlformats.org/officeDocument/2006/relationships" id="270" r:id="R40721beeefef4cb8"/>
    <p:sldId xmlns:r="http://schemas.openxmlformats.org/officeDocument/2006/relationships" id="271" r:id="R6bff66e5bd61425e"/>
    <p:sldId xmlns:r="http://schemas.openxmlformats.org/officeDocument/2006/relationships" id="272" r:id="Rce9f946856d040d1"/>
    <p:sldId xmlns:r="http://schemas.openxmlformats.org/officeDocument/2006/relationships" id="273" r:id="R1721ead9fa584d79"/>
    <p:sldId xmlns:r="http://schemas.openxmlformats.org/officeDocument/2006/relationships" id="274" r:id="R760f81033c59460f"/>
    <p:sldId xmlns:r="http://schemas.openxmlformats.org/officeDocument/2006/relationships" id="275" r:id="R4ac48a3c0fee447c"/>
    <p:sldId xmlns:r="http://schemas.openxmlformats.org/officeDocument/2006/relationships" id="276" r:id="Ra24ba498389d4671"/>
    <p:sldId xmlns:r="http://schemas.openxmlformats.org/officeDocument/2006/relationships" id="277" r:id="R50d302296ec14c21"/>
    <p:sldId xmlns:r="http://schemas.openxmlformats.org/officeDocument/2006/relationships" id="278" r:id="R105046e6e4924389"/>
    <p:sldId xmlns:r="http://schemas.openxmlformats.org/officeDocument/2006/relationships" id="279" r:id="Rdbeb0ac9597f4d33"/>
    <p:sldId xmlns:r="http://schemas.openxmlformats.org/officeDocument/2006/relationships" id="280" r:id="R1761882b855a4ae7"/>
  </p:sldIdLst>
  <p:sldSz cx="12192000" cy="6858000"/>
  <p:notesSz cx="6858000" cy="9144000"/>
  <p:defaultTextStyle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5ceef2321724858" /><Relationship Type="http://schemas.openxmlformats.org/officeDocument/2006/relationships/slideMaster" Target="/ppt/slideMasters/slideMaster1.xml" Id="R05948b5d6b6f4451" /><Relationship Type="http://schemas.openxmlformats.org/officeDocument/2006/relationships/slideMaster" Target="/ppt/slideMasters/slideMaster2.xml" Id="Rf7c27ba5899348ca" /><Relationship Type="http://schemas.openxmlformats.org/officeDocument/2006/relationships/notesMaster" Target="/ppt/notesMasters/notesMaster1.xml" Id="Rbfe5f928359246ad" /><Relationship Type="http://schemas.openxmlformats.org/officeDocument/2006/relationships/presProps" Target="/ppt/presProps.xml" Id="R32991915a3b842a8" /><Relationship Type="http://schemas.openxmlformats.org/officeDocument/2006/relationships/viewProps" Target="/ppt/viewProps.xml" Id="Rab91ff03d2d24ffb" /><Relationship Type="http://schemas.openxmlformats.org/officeDocument/2006/relationships/tableStyles" Target="/ppt/tableStyles.xml" Id="R1b80285631474323" /><Relationship Type="http://schemas.openxmlformats.org/officeDocument/2006/relationships/slide" Target="/ppt/slides/slide1.xml" Id="Rf4fca04255f54266" /><Relationship Type="http://schemas.openxmlformats.org/officeDocument/2006/relationships/slide" Target="/ppt/slides/slide2.xml" Id="R612bf3ca9b2e409e" /><Relationship Type="http://schemas.openxmlformats.org/officeDocument/2006/relationships/slide" Target="/ppt/slides/slide3.xml" Id="R9a037121709348bb" /><Relationship Type="http://schemas.openxmlformats.org/officeDocument/2006/relationships/slide" Target="/ppt/slides/slide4.xml" Id="Rf66cfc2e6bd642ca" /><Relationship Type="http://schemas.openxmlformats.org/officeDocument/2006/relationships/slide" Target="/ppt/slides/slide5.xml" Id="R78fcff658ca7433b" /><Relationship Type="http://schemas.openxmlformats.org/officeDocument/2006/relationships/slide" Target="/ppt/slides/slide6.xml" Id="Rff44d7b2bd934d20" /><Relationship Type="http://schemas.openxmlformats.org/officeDocument/2006/relationships/slide" Target="/ppt/slides/slide7.xml" Id="R0239713eba084ca6" /><Relationship Type="http://schemas.openxmlformats.org/officeDocument/2006/relationships/slide" Target="/ppt/slides/slide8.xml" Id="R8bf01686d06a46b5" /><Relationship Type="http://schemas.openxmlformats.org/officeDocument/2006/relationships/slide" Target="/ppt/slides/slide9.xml" Id="R059fa3177a1842cf" /><Relationship Type="http://schemas.openxmlformats.org/officeDocument/2006/relationships/slide" Target="/ppt/slides/slide10.xml" Id="R94ac61bb3b874b6e" /><Relationship Type="http://schemas.openxmlformats.org/officeDocument/2006/relationships/slide" Target="/ppt/slides/slide11.xml" Id="R05c9b9bf94b0435b" /><Relationship Type="http://schemas.openxmlformats.org/officeDocument/2006/relationships/slide" Target="/ppt/slides/slide12.xml" Id="R18c35727e4a745e2" /><Relationship Type="http://schemas.openxmlformats.org/officeDocument/2006/relationships/slide" Target="/ppt/slides/slide13.xml" Id="R7ad54df488a242d7" /><Relationship Type="http://schemas.openxmlformats.org/officeDocument/2006/relationships/slide" Target="/ppt/slides/slide14.xml" Id="R98c573de1bd64d57" /><Relationship Type="http://schemas.openxmlformats.org/officeDocument/2006/relationships/slide" Target="/ppt/slides/slide15.xml" Id="R40721beeefef4cb8" /><Relationship Type="http://schemas.openxmlformats.org/officeDocument/2006/relationships/slide" Target="/ppt/slides/slide16.xml" Id="R6bff66e5bd61425e" /><Relationship Type="http://schemas.openxmlformats.org/officeDocument/2006/relationships/slide" Target="/ppt/slides/slide17.xml" Id="Rce9f946856d040d1" /><Relationship Type="http://schemas.openxmlformats.org/officeDocument/2006/relationships/slide" Target="/ppt/slides/slide18.xml" Id="R1721ead9fa584d79" /><Relationship Type="http://schemas.openxmlformats.org/officeDocument/2006/relationships/slide" Target="/ppt/slides/slide19.xml" Id="R760f81033c59460f" /><Relationship Type="http://schemas.openxmlformats.org/officeDocument/2006/relationships/slide" Target="/ppt/slides/slide20.xml" Id="R4ac48a3c0fee447c" /><Relationship Type="http://schemas.openxmlformats.org/officeDocument/2006/relationships/slide" Target="/ppt/slides/slide21.xml" Id="Ra24ba498389d4671" /><Relationship Type="http://schemas.openxmlformats.org/officeDocument/2006/relationships/slide" Target="/ppt/slides/slide22.xml" Id="R50d302296ec14c21" /><Relationship Type="http://schemas.openxmlformats.org/officeDocument/2006/relationships/slide" Target="/ppt/slides/slide23.xml" Id="R105046e6e4924389" /><Relationship Type="http://schemas.openxmlformats.org/officeDocument/2006/relationships/slide" Target="/ppt/slides/slide24.xml" Id="Rdbeb0ac9597f4d33" /><Relationship Type="http://schemas.openxmlformats.org/officeDocument/2006/relationships/slide" Target="/ppt/slides/slide25.xml" Id="R1761882b855a4ae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58d29685d98e462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6cea0ea6eee4089" /><Relationship Type="http://schemas.openxmlformats.org/officeDocument/2006/relationships/notesMaster" Target="/ppt/notesMasters/notesMaster1.xml" Id="R51bbbffb9c09422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f3fc45e399a4795" /><Relationship Type="http://schemas.openxmlformats.org/officeDocument/2006/relationships/notesMaster" Target="/ppt/notesMasters/notesMaster1.xml" Id="R4b5333d2058c4bf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38b7bec6f0149cd" /><Relationship Type="http://schemas.openxmlformats.org/officeDocument/2006/relationships/notesMaster" Target="/ppt/notesMasters/notesMaster1.xml" Id="R3d2a9a0375bc43f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fa666ffda854089" /><Relationship Type="http://schemas.openxmlformats.org/officeDocument/2006/relationships/notesMaster" Target="/ppt/notesMasters/notesMaster1.xml" Id="Ra714844fb78249c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cdf5f2b649046f8" /><Relationship Type="http://schemas.openxmlformats.org/officeDocument/2006/relationships/notesMaster" Target="/ppt/notesMasters/notesMaster1.xml" Id="Ree0e18c0e0ba45b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c48fa0e1d954d2a" /><Relationship Type="http://schemas.openxmlformats.org/officeDocument/2006/relationships/notesMaster" Target="/ppt/notesMasters/notesMaster1.xml" Id="R413f75b805014f4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69ab6c38cf34bf8" /><Relationship Type="http://schemas.openxmlformats.org/officeDocument/2006/relationships/notesMaster" Target="/ppt/notesMasters/notesMaster1.xml" Id="Rb3ae8a31dcbc4d6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5b7c639218d4118" /><Relationship Type="http://schemas.openxmlformats.org/officeDocument/2006/relationships/notesMaster" Target="/ppt/notesMasters/notesMaster1.xml" Id="Rdf71b5beb8b54dd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4a4c767c66840cb" /><Relationship Type="http://schemas.openxmlformats.org/officeDocument/2006/relationships/notesMaster" Target="/ppt/notesMasters/notesMaster1.xml" Id="R1bac3ddfe471410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5dbe5d4a5334d9b" /><Relationship Type="http://schemas.openxmlformats.org/officeDocument/2006/relationships/notesMaster" Target="/ppt/notesMasters/notesMaster1.xml" Id="Rec759567fdbe49b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eb514a8160947ef" /><Relationship Type="http://schemas.openxmlformats.org/officeDocument/2006/relationships/notesMaster" Target="/ppt/notesMasters/notesMaster1.xml" Id="R1767c97c2f9e484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e70ccd07be947d4" /><Relationship Type="http://schemas.openxmlformats.org/officeDocument/2006/relationships/notesMaster" Target="/ppt/notesMasters/notesMaster1.xml" Id="R00e5555ffc2445c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beb1403423740a4" /><Relationship Type="http://schemas.openxmlformats.org/officeDocument/2006/relationships/notesMaster" Target="/ppt/notesMasters/notesMaster1.xml" Id="R606d681c5cca466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87afcf30c9f440a" /><Relationship Type="http://schemas.openxmlformats.org/officeDocument/2006/relationships/notesMaster" Target="/ppt/notesMasters/notesMaster1.xml" Id="R7d20aaa59c664b9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98ebd41074d4cb8" /><Relationship Type="http://schemas.openxmlformats.org/officeDocument/2006/relationships/notesMaster" Target="/ppt/notesMasters/notesMaster1.xml" Id="Rcbe4cc364dd9480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70feb7a058640c5" /><Relationship Type="http://schemas.openxmlformats.org/officeDocument/2006/relationships/notesMaster" Target="/ppt/notesMasters/notesMaster1.xml" Id="Rd934f3fbf8ba4a3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7218319400f4f78" /><Relationship Type="http://schemas.openxmlformats.org/officeDocument/2006/relationships/notesMaster" Target="/ppt/notesMasters/notesMaster1.xml" Id="Rfdece6b22668482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2cf432a4b6c4bb1" /><Relationship Type="http://schemas.openxmlformats.org/officeDocument/2006/relationships/notesMaster" Target="/ppt/notesMasters/notesMaster1.xml" Id="R9190c0f8799b464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50a9f87e2fc401b" /><Relationship Type="http://schemas.openxmlformats.org/officeDocument/2006/relationships/notesMaster" Target="/ppt/notesMasters/notesMaster1.xml" Id="Ra05906d2bf824a1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41a72350a7f41b3" /><Relationship Type="http://schemas.openxmlformats.org/officeDocument/2006/relationships/notesMaster" Target="/ppt/notesMasters/notesMaster1.xml" Id="Rd3fffccd2591412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073dd00541e4883" /><Relationship Type="http://schemas.openxmlformats.org/officeDocument/2006/relationships/notesMaster" Target="/ppt/notesMasters/notesMaster1.xml" Id="R823ce21f994b486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5351f7f34a524358" /><Relationship Type="http://schemas.openxmlformats.org/officeDocument/2006/relationships/notesMaster" Target="/ppt/notesMasters/notesMaster1.xml" Id="R305b4ad309364cfc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2fa51f697e9413b" /><Relationship Type="http://schemas.openxmlformats.org/officeDocument/2006/relationships/notesMaster" Target="/ppt/notesMasters/notesMaster1.xml" Id="R5d7972ca02c74a2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382abba0ebe34643" /><Relationship Type="http://schemas.openxmlformats.org/officeDocument/2006/relationships/notesMaster" Target="/ppt/notesMasters/notesMaster1.xml" Id="R84c06849310c4351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592e57917ac849d5" /><Relationship Type="http://schemas.openxmlformats.org/officeDocument/2006/relationships/notesMaster" Target="/ppt/notesMasters/notesMaster1.xml" Id="R2c8cf68714be43c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开场控制在 15 秒内：这是一个前后端分离、AI Agent 驱动的数据库查询与运维工作台。</a:t>
            </a:r>
          </a:p>
          <a:p xmlns:a="http://schemas.openxmlformats.org/drawingml/2006/main">
            <a:r>
              <a:t>一句话说清用户价值：不会 SQL 的人也能查询，会 SQL 的人更快。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先给观众一个清晰的路线图：从为什么做，到产品能力、技术亮点，再到工程治理。</a:t>
            </a:r>
          </a:p>
          <a:p xmlns:a="http://schemas.openxmlformats.org/drawingml/2006/main">
            <a:r>
              <a:t>说明后续每一部分都服务于同一个判断：这是一个可运行、可测试、可部署的完整产品。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先给观众一个清晰的路线图：从为什么做，到产品能力、技术亮点，再到工程治理。</a:t>
            </a:r>
          </a:p>
          <a:p xmlns:a="http://schemas.openxmlformats.org/drawingml/2006/main">
            <a:r>
              <a:t>说明后续每一部分都服务于同一个判断：这是一个可运行、可测试、可部署的完整产品。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用真实工作流举例：产品经理打开网页，输入“本月新增用户按日分组”，系统生成 SQL、返回结果，并可一键生成图表。</a:t>
            </a:r>
          </a:p>
          <a:p xmlns:a="http://schemas.openxmlformats.org/drawingml/2006/main">
            <a:r>
              <a:t>不要逐条念，重点突出从“会写 SQL”到“会描述需求”的降低门槛。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定位一句话：不会 SQL 的人也能查数，会 SQL 的人更快。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来源：仓库 需求说明书V2.0/V3.0.md、AGENTS.md、README.md；界面截图取自本地运行实例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数据来源：README.md（部署方式）、backend/app/config.py（DEFAULT_DB_TYPES）、backend/app/services/connection_service.py、backend/app/database.py、backend/app/permissions.py。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先给观众一个清晰的路线图：从为什么做，到产品能力、技术亮点，再到工程治理。</a:t>
            </a:r>
          </a:p>
          <a:p xmlns:a="http://schemas.openxmlformats.org/drawingml/2006/main">
            <a:r>
              <a:t>说明后续每一部分都服务于同一个判断：这是一个可运行、可测试、可部署的完整产品。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不逐条念功能，强调模块围绕工作流组织：连接、查询、分析、报表、管理。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来源：仓库 需求说明书V2.0/V3.0.md、AGENTS.md、README.md；界面截图取自本地运行实例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播放视频（约 40 秒），包含两个查询案例：</a:t>
            </a:r>
          </a:p>
          <a:p xmlns:a="http://schemas.openxmlformats.org/drawingml/2006/main">
            <a:r>
              <a:t>案例一：选择「本地演示库 (SQLite)」，提问「查询所有用户信息」，Agent 生成 SELECT id, username, email, age, created_at FROM users 并返回 8 条记录；</a:t>
            </a:r>
          </a:p>
          <a:p xmlns:a="http://schemas.openxmlformats.org/drawingml/2006/main">
            <a:r>
              <a:t>案例二：新建对话并切换到「Oracle（UAT）」，提问「查询所有机构，列出机构号、机构名称、机构层级和所在地区，按机构号排序」，Agent 生成 SELECT ORG_ID, ORG_NAME, ORG_LEVEL, REGION FROM BANK.T_ORG ORDER BY ORG_ID，返回 55 家机构（HEAD/BRANCH/SUB_BRANCH 层级）；结果出来后点击 CSV 将结果集导出（导出成功提示 + 浏览器下载，CSV 共 55 行数据）。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视频为本地运行实例的录屏；数据源为内置演示库（SQLite）与远端 Oracle UAT 库（T_ORG 表）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播放视频（约 60 秒），数据源为 Oracle（UAT）：</a:t>
            </a:r>
          </a:p>
          <a:p xmlns:a="http://schemas.openxmlformats.org/drawingml/2006/main">
            <a:r>
              <a:t>案例一：提问「按分行层级统计近30天各个分行的交易笔数、交易总额，生成图表」，Agent 生成 SELECT o.ORG_NAME AS BRANCH_NAME, COUNT(t.LOG_ID) AS TRANS_CNT, ROUND(SUM(t.AMOUNT), 2) AS TRANS_AMT ... WHERE o.ORG_LEVEL = 'BRANCH' AND t.TRANS_TIME &gt;= TRUNC(SYSDATE) - 30 GROUP BY o.ORG_NAME，返回 6 家分行（360～1380 笔），自动渲染柱状图并点击「保存到可视化报表」；</a:t>
            </a:r>
          </a:p>
          <a:p xmlns:a="http://schemas.openxmlformats.org/drawingml/2006/main">
            <a:r>
              <a:t>案例二：新建对话后提问「近30天成功交易笔数和金额趋势，生成图表」，Agent 生成按 TRANS_TIME 逐日聚合（STATUS=SUCCESS）的 SQL，返回 31 天数据，自动选择折线图并同样保存到可视化报表；</a:t>
            </a:r>
          </a:p>
          <a:p xmlns:a="http://schemas.openxmlformats.org/drawingml/2006/main">
            <a:r>
              <a:t>结尾进入「可视化报表」页，可见刚保存的两张图表（笔数与金额量级差异大时前端自动拆分双 Y 轴）。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视频为本地运行实例的录屏；数据源为远端 Oracle UAT 库（T_TRANS_LOG / T_ORG）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播放视频（约 55 秒），完整演示 SQL 工作台与 Agent 协同：</a:t>
            </a:r>
          </a:p>
          <a:p xmlns:a="http://schemas.openxmlformats.org/drawingml/2006/main">
            <a:r>
              <a:t>案例一：数据源切换为「OceanBase（本地）」，在编辑器输入 SELECT * FROM `t_org`; 并点击「▶ 执行」，返回 55 行机构数据；</a:t>
            </a:r>
          </a:p>
          <a:p xmlns:a="http://schemas.openxmlformats.org/drawingml/2006/main">
            <a:r>
              <a:t>案例二：点击右侧竖条展开 AI Agent 面板、新建会话，输入「统计近90天各地区的成功交易笔数和交易金额，按金额从高到低」，Agent 生成 SELECT o.REGION AS REGION, COUNT(t.LOG_ID) AS CNT, ROUND(SUM(t.AMOUNT),2) AS AMT FROM t_trans_log t JOIN t_org o ON o.ORG_ID = t.ORG_ID WHERE UPPER(t.STATUS) = 'SUCCESS' AND t.TRANS_TIME &gt;= NOW() - INTERVAL 90 DAY GROUP BY o.REGION ORDER BY AMT DESC，并给出结论（共 6 个地区，合计约 1.67 万笔 / 16.86 亿元，深圳金额最高）；随后点击「填入编辑器」将 SQL 回填到工作台编辑器，再点右上角「▶ 执行」得到结果集，最后点右上角「收藏」，命名为「近90天各地区的成功交易统计」并保存成功（出现「已收藏」提示）；</a:t>
            </a:r>
          </a:p>
          <a:p xmlns:a="http://schemas.openxmlformats.org/drawingml/2006/main">
            <a:r>
              <a:t>结尾依次切换左侧「历史」页签（本次两条 SQL 的执行记录，含行数与耗时）与「收藏」页签（新增的收藏项排在首位）。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视频为本地运行实例的录屏；数据源为 OceanBase CE 4.4.2.1（bank_db，T_ORG 55 行 / T_TRANS_LOG 10 万行）；Agent 生成 SQL 的模型为 openai · deepseek-v4-flash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播放视频（约 52 秒），三个写操作场景均需人工确认：</a:t>
            </a:r>
          </a:p>
          <a:p xmlns:a="http://schemas.openxmlformats.org/drawingml/2006/main">
            <a:r>
              <a:t>案例一（工作台发起 DML）：数据源选「OceanBase（本地）」，执行 UPDATE `t_user` SET `GENDER` = 'F', `UPDATED_AT` = NOW() WHERE `USER_NAME` = '乔华';，弹出「写操作确认」（DML · warning，预览待执行 SQL），点「确认执行」后生效（影响 2 行）；</a:t>
            </a:r>
          </a:p>
          <a:p xmlns:a="http://schemas.openxmlformats.org/drawingml/2006/main">
            <a:r>
              <a:t>案例二（Agent 发起 DDL）：展开右侧 AI Agent、新建会话，输入「把用户表的用户名称字段长度改成300」，Agent 生成 ALTER TABLE `t_user` MODIFY COLUMN `USER_NAME` VARCHAR(300); 并弹出红色「危险操作确认」（DDL · danger），确认后执行；</a:t>
            </a:r>
          </a:p>
          <a:p xmlns:a="http://schemas.openxmlformats.org/drawingml/2006/main">
            <a:r>
              <a:t>案例三（高危操作被拦下）：继续输入「删除用户表」，Agent 生成 DROP TABLE `t_user`，同样红色高危提示，点「取消」后提示「已取消执行」，表未被删除。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视频为本地运行实例的录屏；数据源为 OceanBase CE 4.4.2.1 bank_db（T_USER）；READ 自动执行、DML/DDL 待确认以及 5 分钟过期机制见 services/sql_service.py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播放视频（约 32 秒），四个监控能力依次演示：</a:t>
            </a:r>
          </a:p>
          <a:p xmlns:a="http://schemas.openxmlformats.org/drawingml/2006/main">
            <a:r>
              <a:t>第一步：打开「连接概览」，基于执行历史（query_history）统计累计查询 336 次、今日 103 次、 10 个数据源，并列出各库的查询次数、平均/最大耗时、成功率与最近执行时间；</a:t>
            </a:r>
          </a:p>
          <a:p xmlns:a="http://schemas.openxmlformats.org/drawingml/2006/main">
            <a:r>
              <a:t>第二步：切到「审计日志」，查看登录与执行 SQL 的全量记录（含操作类型、风险类型、数据源、用户、IP、SQL），可见上一页演示中被拒绝的 DROP TABLE 也被如实记下（rejected）；</a:t>
            </a:r>
          </a:p>
          <a:p xmlns:a="http://schemas.openxmlformats.org/drawingml/2006/main">
            <a:r>
              <a:t>第三步：切到「慢查询」，把耗时阈值从默认 1000ms 改为 100ms 并点击「查询」，列出超过阈值的慢 SQL（含数据源、耗时、行数、状态、SQL、时间）；</a:t>
            </a:r>
          </a:p>
          <a:p xmlns:a="http://schemas.openxmlformats.org/drawingml/2006/main">
            <a:r>
              <a:t>第四步：切到「表结构对比」，源数据源选 Oracle（SIT）、目标数据源选 Oracle（UAT），点「对比」得到差异：T_ORG 在目标库多出 CREATED_AT 列，T_USER.USER_NAME 由 varchar2(300) 变为 varchar2(100)。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视频为本地运行实例的录屏；数据来自 query_history / audit_logs 与远端 Oracle SIT、UAT 库；慢查询阈值、连接概览与 schema diff 实现见 routers/monitor.py 与 services/metadata_service.py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播放视频（约 23 秒），两步验证连接可用性：</a:t>
            </a:r>
          </a:p>
          <a:p xmlns:a="http://schemas.openxmlformats.org/drawingml/2006/main">
            <a:r>
              <a:t>第一步：打开「设置 · 数据库连接配置」，在连接列表里点击第一个数据源「OceanBase（本地）」的「测试」按钮，弹出「连接测试结果」弹窗，反馈「连接成功」（底层调 POST /api/connections/{id}/connect）；</a:t>
            </a:r>
          </a:p>
          <a:p xmlns:a="http://schemas.openxmlformats.org/drawingml/2006/main">
            <a:r>
              <a:t>第二步：切到「大模型连接配置」，点击第二个模型「Ollama（本地）· qwen3.8:27b」的「测试」按钮，右上角提示「连接成功，模型 qwen3.8:27b 响应正常（2301 ms）」。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视频为本地运行实例的录屏；数据库连接见 routers/connections.py（POST /api/connections/{id}/connect），大模型测试见 routers/system.py（POST /api/config/ai/test）；API Key 经 Fernet 加密存储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播放视频（约 23 秒），从用户到角色依次演示：</a:t>
            </a:r>
          </a:p>
          <a:p xmlns:a="http://schemas.openxmlformats.org/drawingml/2006/main">
            <a:r>
              <a:t>第一步：从左侧菜单打开「用户管理」，列出账号、显示名、角色、状态与最后登录时间，操作列可编辑、重置密码、禁用/删除（当前 5 个账号：管理员 与 技术/业务各两类账号）；</a:t>
            </a:r>
          </a:p>
          <a:p xmlns:a="http://schemas.openxmlformats.org/drawingml/2006/main">
            <a:r>
              <a:t>第二步：切到「角色管理」，左侧列出 5 个内置角色（管理员 / 技术管理 / 技术查询 / 业务管理 / 业务查询）；</a:t>
            </a:r>
          </a:p>
          <a:p xmlns:a="http://schemas.openxmlformats.org/drawingml/2006/main">
            <a:r>
              <a:t>第三步：依次点击「技术管理」「技术查询」「业务查询」三个角色，右侧实时切换该角色的名称/编码/说明、「功能权限」按模块分组的勾选状态与角色成员（技术管理 12 项、技术查询 6 项、业务查询 4 项权限，选中行会高亮）。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视频为本地运行实例的录屏；角色与权限码定义见 backend/app/permissions.py（BUILTIN_ROLES / PERMISSIONS），前端路由守卫与菜单按 meta.permission 控制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先给观众一个清晰的路线图：从为什么做，到产品能力、技术亮点，再到工程治理。</a:t>
            </a:r>
          </a:p>
          <a:p xmlns:a="http://schemas.openxmlformats.org/drawingml/2006/main">
            <a:r>
              <a:t>说明后续每一部分都服务于同一个判断：这是一个可运行、可测试、可部署的完整产品。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 Agent 能力的层次：不只是生成 SQL，还包括 Schema 感知、多轮对话、解释优化和流式输出。</a:t>
            </a:r>
          </a:p>
          <a:p xmlns:a="http://schemas.openxmlformats.org/drawingml/2006/main">
            <a:r>
              <a:t>下一页会展开工程实现中的工具调用与失败重试。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重点讲“工具调用 + 失败重试 + few-shot”，这是 AI 编程竞赛最看重的工程深度。</a:t>
            </a:r>
          </a:p>
          <a:p xmlns:a="http://schemas.openxmlformats.org/drawingml/2006/main">
            <a:r>
              <a:t>现场演示：输入“查询本月新增用户数并按日分组”，展示思考过程、SQL、结果和图表生成。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这是项目的信任基础：让 AI 能生成 SQL，但不让 AI 拥有不受控的写权限。</a:t>
            </a:r>
          </a:p>
          <a:p xmlns:a="http://schemas.openxmlformats.org/drawingml/2006/main">
            <a:r>
              <a:t>可对比“直接给 AI 数据库权限”的传统做法，突出安全设计。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先给观众一个清晰的路线图：从为什么做，到产品能力、技术亮点，再到工程治理。</a:t>
            </a:r>
          </a:p>
          <a:p xmlns:a="http://schemas.openxmlformats.org/drawingml/2006/main">
            <a:r>
              <a:t>说明后续每一部分都服务于同一个判断：这是一个可运行、可测试、可部署的完整产品。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数据来源：backend/app/services/（分层）、backend/tests（167 项测试，pytest 用例计数）、backend/pyproject.toml（ruff）、backend/migrations、Dockerfile。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审计与监控是系统可治理的体现，也是企业级部署的关键。</a:t>
            </a:r>
          </a:p>
          <a:p xmlns:a="http://schemas.openxmlformats.org/drawingml/2006/main">
            <a:r>
              <a:t>强调审计导出与自动清理，以及 Prometheus 指标对运维友好。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企业级完整性：加密、分级授权、全量审计、指标与测试。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backend/app/security.py、permissions.py、main.py（/metrics）；后端 117 项 pytest 用例，96 个 API 接口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收尾回到用户价值，并给出下一步计划。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来源：仓库 需求说明书V2.0/V3.0.md、AGENTS.md、README.md；界面截图取自本地运行实例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数据来源：backend/app/services/sql_service.py（确认机制）、backend/app/security.py（Fernet）、backend/app/adapters/registry.py（数据源类型）、backend/app/services/agent_service.py（结果截断）。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701ed14b684f7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e60b39d6314a3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ff948a5d5440f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eead4faafb4b4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99ee112aa2439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4acc4dbae7497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3515b687a8847ae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a1f5657fb6340c3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64c787c5b524ed6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71ff9cd180243d0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6295ad16cfa4d6e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f75651f4aba4fe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C8F94C1-5E6A-4E50-96CD-0B6929A5DE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2AB481C-5C04-4DBB-9C48-86034D7D21E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17DE309-0124-4CF5-9544-859086F94F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954C204-9E53-4E4B-8E28-18D2230BBA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48D5FDA-D971-483F-A16E-3DDE870F928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F40F7D5-37B2-4973-8C6C-F5F6F30CA3D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140224F-3E4D-4E41-B823-3A16E89ABFA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8890CAA-C46A-421C-9DC8-6270965A3E0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9A0000D-4506-431F-AE07-9F9757BA62C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B5C73B5-0B3A-4E1F-B935-084A94C67D8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7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BEDB011-E172-4B07-9C13-B83C01AFA4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2EC8ABC-38EE-42D3-80B5-DC45B9DB1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B3373CB-3B9B-4F50-80E2-6639100B2E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EC4817E-CBF4-4E07-A620-E4A399294F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2C1B099-9CC9-4655-8D52-E7BBF3CCB47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E28D58C-A99A-4C98-A882-0EBDFFBA77C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33AB495-3E52-46FB-B5E9-A76FE4DA7AA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B5AF8F8-D7ED-46C7-B977-95CA0F1EFCE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11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D3EC876-983F-456F-9938-D3DFB82D76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2EA76F8-D516-43CB-858A-404C92A14D1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12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3dba2ba35984068" /><Relationship Type="http://schemas.openxmlformats.org/officeDocument/2006/relationships/slideLayout" Target="/ppt/slideLayouts/slideLayout1.xml" Id="R0d6ba9ebb0204b2f" /><Relationship Type="http://schemas.openxmlformats.org/officeDocument/2006/relationships/slideLayout" Target="/ppt/slideLayouts/slideLayout2.xml" Id="Ra34a4cb3cc964850" /><Relationship Type="http://schemas.openxmlformats.org/officeDocument/2006/relationships/slideLayout" Target="/ppt/slideLayouts/slideLayout3.xml" Id="Rf672191a1517459f" /><Relationship Type="http://schemas.openxmlformats.org/officeDocument/2006/relationships/slideLayout" Target="/ppt/slideLayouts/slideLayout4.xml" Id="R02e9be5f760d4f5e" /><Relationship Type="http://schemas.openxmlformats.org/officeDocument/2006/relationships/slideLayout" Target="/ppt/slideLayouts/slideLayout5.xml" Id="R7c7df623a45d489b" /><Relationship Type="http://schemas.openxmlformats.org/officeDocument/2006/relationships/slideLayout" Target="/ppt/slideLayouts/slideLayout6.xml" Id="R409af663a9f34c18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93b2f67c0f4648cc" /><Relationship Type="http://schemas.openxmlformats.org/officeDocument/2006/relationships/slideLayout" Target="/ppt/slideLayouts/slideLayout7.xml" Id="R2649675de4694117" /><Relationship Type="http://schemas.openxmlformats.org/officeDocument/2006/relationships/slideLayout" Target="/ppt/slideLayouts/slideLayout8.xml" Id="R4186b55c286c42d3" /><Relationship Type="http://schemas.openxmlformats.org/officeDocument/2006/relationships/slideLayout" Target="/ppt/slideLayouts/slideLayout9.xml" Id="R323f86ad374445e5" /><Relationship Type="http://schemas.openxmlformats.org/officeDocument/2006/relationships/slideLayout" Target="/ppt/slideLayouts/slideLayout10.xml" Id="R38e3910075954fc1" /><Relationship Type="http://schemas.openxmlformats.org/officeDocument/2006/relationships/slideLayout" Target="/ppt/slideLayouts/slideLayout11.xml" Id="R9b73832e79db4c9e" /><Relationship Type="http://schemas.openxmlformats.org/officeDocument/2006/relationships/slideLayout" Target="/ppt/slideLayouts/slideLayout12.xml" Id="R16534134fc5c484f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d6ba9ebb0204b2f"/>
    <p:sldLayoutId xmlns:r="http://schemas.openxmlformats.org/officeDocument/2006/relationships" id="2147483650" r:id="Ra34a4cb3cc964850"/>
    <p:sldLayoutId xmlns:r="http://schemas.openxmlformats.org/officeDocument/2006/relationships" id="2147483651" r:id="Rf672191a1517459f"/>
    <p:sldLayoutId xmlns:r="http://schemas.openxmlformats.org/officeDocument/2006/relationships" id="2147483652" r:id="R02e9be5f760d4f5e"/>
    <p:sldLayoutId xmlns:r="http://schemas.openxmlformats.org/officeDocument/2006/relationships" id="2147483653" r:id="R7c7df623a45d489b"/>
    <p:sldLayoutId xmlns:r="http://schemas.openxmlformats.org/officeDocument/2006/relationships" id="2147483654" r:id="R409af663a9f34c1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6" r:id="R2649675de4694117"/>
    <p:sldLayoutId xmlns:r="http://schemas.openxmlformats.org/officeDocument/2006/relationships" id="2147483657" r:id="R4186b55c286c42d3"/>
    <p:sldLayoutId xmlns:r="http://schemas.openxmlformats.org/officeDocument/2006/relationships" id="2147483658" r:id="R323f86ad374445e5"/>
    <p:sldLayoutId xmlns:r="http://schemas.openxmlformats.org/officeDocument/2006/relationships" id="2147483659" r:id="R38e3910075954fc1"/>
    <p:sldLayoutId xmlns:r="http://schemas.openxmlformats.org/officeDocument/2006/relationships" id="2147483660" r:id="R9b73832e79db4c9e"/>
    <p:sldLayoutId xmlns:r="http://schemas.openxmlformats.org/officeDocument/2006/relationships" id="2147483661" r:id="R16534134fc5c484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1_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10d429a4b74aad" /><Relationship Type="http://schemas.openxmlformats.org/officeDocument/2006/relationships/notesSlide" Target="/ppt/notesSlides/notesSlide1.xml" Id="R7c8912af4c9b476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a95c467c9c4720" /><Relationship Type="http://schemas.openxmlformats.org/officeDocument/2006/relationships/notesSlide" Target="/ppt/notesSlides/notesSlide2.xml" Id="R030a87859e7642b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9e9be3fc9ba4010" /><Relationship Type="http://schemas.openxmlformats.org/officeDocument/2006/relationships/notesSlide" Target="/ppt/notesSlides/notesSlide3.xml" Id="R18de94d14b26478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e8e3706d8649d9" /><Relationship Type="http://schemas.openxmlformats.org/officeDocument/2006/relationships/notesSlide" Target="/ppt/notesSlides/notesSlide4.xml" Id="Rcea68c090e2646f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5a92bdc0f24f5e" /><Relationship Type="http://schemas.openxmlformats.org/officeDocument/2006/relationships/notesSlide" Target="/ppt/notesSlides/notesSlide5.xml" Id="Re5ddc18de93f4cb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35d46dd51a4394" /><Relationship Type="http://schemas.openxmlformats.org/officeDocument/2006/relationships/notesSlide" Target="/ppt/notesSlides/notesSlide6.xml" Id="R78d3e08b719a4bf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02feec4fdcb4768" /><Relationship Type="http://schemas.openxmlformats.org/officeDocument/2006/relationships/notesSlide" Target="/ppt/notesSlides/notesSlide7.xml" Id="Rc462ed909e8a49c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ed36142c194685" /><Relationship Type="http://schemas.openxmlformats.org/officeDocument/2006/relationships/notesSlide" Target="/ppt/notesSlides/notesSlide8.xml" Id="R75c3c1649326436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40a6fb4073415a" /><Relationship Type="http://schemas.openxmlformats.org/officeDocument/2006/relationships/image" Target="/ppt/media/image.png" Id="Rcbbb66c798974547" /><Relationship Type="http://schemas.openxmlformats.org/officeDocument/2006/relationships/notesSlide" Target="/ppt/notesSlides/notesSlide9.xml" Id="Rfd5524a8f29b421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ccb128026948b1" /><Relationship Type="http://schemas.openxmlformats.org/officeDocument/2006/relationships/image" Target="/ppt/media/image2.png" Id="R47154b84ef994319" /><Relationship Type="http://schemas.openxmlformats.org/officeDocument/2006/relationships/notesSlide" Target="/ppt/notesSlides/notesSlide10.xml" Id="R5c79ac8f7e334d7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fe2f9aaa4149e8" /><Relationship Type="http://schemas.openxmlformats.org/officeDocument/2006/relationships/image" Target="/ppt/media/image3.png" Id="R8cd02756356a43ad" /><Relationship Type="http://schemas.openxmlformats.org/officeDocument/2006/relationships/notesSlide" Target="/ppt/notesSlides/notesSlide11.xml" Id="Rcccf36e94f0146c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088ce1436b4eac" /><Relationship Type="http://schemas.openxmlformats.org/officeDocument/2006/relationships/image" Target="/ppt/media/image4.png" Id="R20b01dbc818641a9" /><Relationship Type="http://schemas.openxmlformats.org/officeDocument/2006/relationships/notesSlide" Target="/ppt/notesSlides/notesSlide12.xml" Id="Rc78a9db74e11471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43eb82818741d3" /><Relationship Type="http://schemas.openxmlformats.org/officeDocument/2006/relationships/image" Target="/ppt/media/image5.png" Id="R6ef599e961464d12" /><Relationship Type="http://schemas.openxmlformats.org/officeDocument/2006/relationships/notesSlide" Target="/ppt/notesSlides/notesSlide13.xml" Id="R0a84bb31f7ea44e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f38ccf0e12443d" /><Relationship Type="http://schemas.openxmlformats.org/officeDocument/2006/relationships/image" Target="/ppt/media/image6.png" Id="R17394e4de06c4226" /><Relationship Type="http://schemas.openxmlformats.org/officeDocument/2006/relationships/notesSlide" Target="/ppt/notesSlides/notesSlide14.xml" Id="Rfea997ba2a82458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e2129388ef4d8d" /><Relationship Type="http://schemas.openxmlformats.org/officeDocument/2006/relationships/image" Target="/ppt/media/image7.png" Id="Rded12516401a420d" /><Relationship Type="http://schemas.openxmlformats.org/officeDocument/2006/relationships/notesSlide" Target="/ppt/notesSlides/notesSlide15.xml" Id="R599ba51b0df646c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18675b38781466f" /><Relationship Type="http://schemas.openxmlformats.org/officeDocument/2006/relationships/notesSlide" Target="/ppt/notesSlides/notesSlide16.xml" Id="R06d04bac42774d6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b46ac61c2d4e7d" /><Relationship Type="http://schemas.openxmlformats.org/officeDocument/2006/relationships/notesSlide" Target="/ppt/notesSlides/notesSlide17.xml" Id="R39b47cb205224f0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8714ab1d46459a" /><Relationship Type="http://schemas.openxmlformats.org/officeDocument/2006/relationships/notesSlide" Target="/ppt/notesSlides/notesSlide18.xml" Id="Rfd7aa7da5d464c2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a782439da642c4" /><Relationship Type="http://schemas.openxmlformats.org/officeDocument/2006/relationships/notesSlide" Target="/ppt/notesSlides/notesSlide19.xml" Id="R5d44748c058443e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5aff6fa8f89440e" /><Relationship Type="http://schemas.openxmlformats.org/officeDocument/2006/relationships/notesSlide" Target="/ppt/notesSlides/notesSlide20.xml" Id="R8cfbec73fdd1478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4dc2b436dc4733" /><Relationship Type="http://schemas.openxmlformats.org/officeDocument/2006/relationships/notesSlide" Target="/ppt/notesSlides/notesSlide21.xml" Id="Rbddc916f381d410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04c201fff34990" /><Relationship Type="http://schemas.openxmlformats.org/officeDocument/2006/relationships/notesSlide" Target="/ppt/notesSlides/notesSlide22.xml" Id="Rd04b5ebc1b0c446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51918b0b894a6c" /><Relationship Type="http://schemas.openxmlformats.org/officeDocument/2006/relationships/notesSlide" Target="/ppt/notesSlides/notesSlide23.xml" Id="R223b83d1ac3c4553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c66c81670641d4" /><Relationship Type="http://schemas.openxmlformats.org/officeDocument/2006/relationships/notesSlide" Target="/ppt/notesSlides/notesSlide24.xml" Id="Re74c6acc46bf4bde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ec0e922ccc4754" /><Relationship Type="http://schemas.openxmlformats.org/officeDocument/2006/relationships/notesSlide" Target="/ppt/notesSlides/notesSlide25.xml" Id="Reb99f397de7d4f0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cover-glow">
            <a:extLst xmlns:a="http://schemas.openxmlformats.org/drawingml/2006/main">
              <a:ext uri="{FF2B5EF4-FFF2-40B4-BE49-F238E27FC236}">
                <a16:creationId xmlns:a16="http://schemas.microsoft.com/office/drawing/2014/main" id="{3010127E-2D5A-48E7-B529-005EAFDE7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71500"/>
            <a:ext cx="4095750" cy="409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C55E">
              <a:alpha val="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39558C9B-F7D5-4614-82D2-B98F917EB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685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4800" b="1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DataMind</a:t>
            </a:r>
            <a:endParaRPr sz="4800" b="1">
              <a:solidFill>
                <a:schemeClr val="tx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F6CB9DCB-F457-4036-AB42-E6FC14A8D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813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数据库 Agent Web 应用</a:t>
            </a:r>
            <a:endParaRPr sz="22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cover-claim">
            <a:extLst xmlns:a="http://schemas.openxmlformats.org/drawingml/2006/main">
              <a:ext uri="{FF2B5EF4-FFF2-40B4-BE49-F238E27FC236}">
                <a16:creationId xmlns:a16="http://schemas.microsoft.com/office/drawing/2014/main" id="{39C9EC45-46D2-4F11-A63F-EA3500C82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5280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DBEAF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DBEAFE"/>
                </a:solidFill>
                <a:latin typeface="微软雅黑"/>
                <a:ea typeface="微软雅黑"/>
                <a:cs typeface="微软雅黑"/>
              </a:rPr>
              <a:t>让不会写 </a:t>
            </a:r>
            <a:r>
              <a:rPr sz="1500" b="0">
                <a:solidFill>
                  <a:srgbClr val="DBEAFE"/>
                </a:solidFill>
                <a:latin typeface="微软雅黑"/>
                <a:ea typeface="微软雅黑"/>
                <a:cs typeface="微软雅黑"/>
              </a:rPr>
              <a:t>SQL </a:t>
            </a:r>
            <a:r>
              <a:rPr sz="1500" b="0">
                <a:solidFill>
                  <a:srgbClr val="DBEAFE"/>
                </a:solidFill>
                <a:latin typeface="微软雅黑"/>
                <a:ea typeface="微软雅黑"/>
                <a:cs typeface="微软雅黑"/>
              </a:rPr>
              <a:t>的业务人员也能安全地查数据，会写 </a:t>
            </a:r>
            <a:r>
              <a:rPr sz="1500" b="0">
                <a:solidFill>
                  <a:srgbClr val="DBEAFE"/>
                </a:solidFill>
                <a:latin typeface="微软雅黑"/>
                <a:ea typeface="微软雅黑"/>
                <a:cs typeface="微软雅黑"/>
              </a:rPr>
              <a:t>SQL </a:t>
            </a:r>
            <a:r>
              <a:rPr sz="1500" b="0">
                <a:solidFill>
                  <a:srgbClr val="DBEAFE"/>
                </a:solidFill>
                <a:latin typeface="微软雅黑"/>
                <a:ea typeface="微软雅黑"/>
                <a:cs typeface="微软雅黑"/>
              </a:rPr>
              <a:t>的技术人员更</a:t>
            </a:r>
            <a:r>
              <a:rPr sz="1500" b="0">
                <a:solidFill>
                  <a:srgbClr val="DBEAFE"/>
                </a:solidFill>
                <a:latin typeface="微软雅黑"/>
                <a:ea typeface="微软雅黑"/>
                <a:cs typeface="微软雅黑"/>
              </a:rPr>
              <a:t>高效。</a:t>
            </a:r>
            <a:endParaRPr sz="1500" b="0">
              <a:solidFill>
                <a:srgbClr val="DBEAF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cover-tag-0">
            <a:extLst xmlns:a="http://schemas.openxmlformats.org/drawingml/2006/main">
              <a:ext uri="{FF2B5EF4-FFF2-40B4-BE49-F238E27FC236}">
                <a16:creationId xmlns:a16="http://schemas.microsoft.com/office/drawing/2014/main" id="{A081AC41-2C91-4E1B-B15A-AB8A29016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529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93C5FD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93C5FD"/>
                </a:solidFill>
                <a:latin typeface="微软雅黑"/>
                <a:ea typeface="微软雅黑"/>
                <a:cs typeface="微软雅黑"/>
              </a:rPr>
              <a:t>AI Agent</a:t>
            </a:r>
            <a:endParaRPr sz="1200" b="1">
              <a:solidFill>
                <a:srgbClr val="93C5F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cover-tag-line-0">
            <a:extLst xmlns:a="http://schemas.openxmlformats.org/drawingml/2006/main">
              <a:ext uri="{FF2B5EF4-FFF2-40B4-BE49-F238E27FC236}">
                <a16:creationId xmlns:a16="http://schemas.microsoft.com/office/drawing/2014/main" id="{4534A31B-432D-42B6-82DB-02341206D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7675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over-tag-1">
            <a:extLst xmlns:a="http://schemas.openxmlformats.org/drawingml/2006/main">
              <a:ext uri="{FF2B5EF4-FFF2-40B4-BE49-F238E27FC236}">
                <a16:creationId xmlns:a16="http://schemas.microsoft.com/office/drawing/2014/main" id="{00BAA38C-EA1E-4707-8362-8BBDD35D8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1529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93C5FD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93C5FD"/>
                </a:solidFill>
                <a:latin typeface="微软雅黑"/>
                <a:ea typeface="微软雅黑"/>
                <a:cs typeface="微软雅黑"/>
              </a:rPr>
              <a:t>Multi-Database</a:t>
            </a:r>
            <a:endParaRPr sz="1200" b="1">
              <a:solidFill>
                <a:srgbClr val="93C5F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cover-tag-line-1">
            <a:extLst xmlns:a="http://schemas.openxmlformats.org/drawingml/2006/main">
              <a:ext uri="{FF2B5EF4-FFF2-40B4-BE49-F238E27FC236}">
                <a16:creationId xmlns:a16="http://schemas.microsoft.com/office/drawing/2014/main" id="{4593B7C8-5ECC-4D82-82AE-02768F8D8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47675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over-tag-2">
            <a:extLst xmlns:a="http://schemas.openxmlformats.org/drawingml/2006/main">
              <a:ext uri="{FF2B5EF4-FFF2-40B4-BE49-F238E27FC236}">
                <a16:creationId xmlns:a16="http://schemas.microsoft.com/office/drawing/2014/main" id="{2C9BAB45-DD21-4776-ACCD-F3A0AFEB4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1529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93C5FD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93C5FD"/>
                </a:solidFill>
                <a:latin typeface="微软雅黑"/>
                <a:ea typeface="微软雅黑"/>
                <a:cs typeface="微软雅黑"/>
              </a:rPr>
              <a:t>Security First</a:t>
            </a:r>
            <a:endParaRPr sz="1200" b="1">
              <a:solidFill>
                <a:srgbClr val="93C5F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cover-tag-line-2">
            <a:extLst xmlns:a="http://schemas.openxmlformats.org/drawingml/2006/main">
              <a:ext uri="{FF2B5EF4-FFF2-40B4-BE49-F238E27FC236}">
                <a16:creationId xmlns:a16="http://schemas.microsoft.com/office/drawing/2014/main" id="{17F1F306-568E-477F-9E3A-02330D361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47675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0379113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9CAA949-25D1-45B9-BD34-16C2AB4F8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目</a:t>
            </a:r>
            <a:r>
              <a: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录</a:t>
            </a:r>
            <a:endParaRPr sz="2625" b="1">
              <a:solidFill>
                <a:srgbClr val="0F172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107DE9EF-9A81-4B9F-AE27-882038C75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533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2E665E41-D48A-44B4-B139-B11BA78D6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5B293E6F-3C8E-4D21-8354-3C3FA89FC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DataMind · 数据库 Agent Web 应用</a:t>
            </a:r>
            <a:endParaRPr sz="900" b="0">
              <a:solidFill>
                <a:srgbClr val="94A3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BD7B1D3B-7F52-4C39-86FF-4D197D024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5341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2</a:t>
            </a:r>
            <a:endParaRPr sz="900" b="0">
              <a:solidFill>
                <a:srgbClr val="94A3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agenda-num-0">
            <a:extLst xmlns:a="http://schemas.openxmlformats.org/drawingml/2006/main">
              <a:ext uri="{FF2B5EF4-FFF2-40B4-BE49-F238E27FC236}">
                <a16:creationId xmlns:a16="http://schemas.microsoft.com/office/drawing/2014/main" id="{7065B1E7-71A3-415C-B0E2-0684213C5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95450"/>
            <a:ext cx="104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34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rPr>
              <a:t>01</a:t>
            </a:r>
            <a:endParaRPr sz="3450" b="1">
              <a:solidFill>
                <a:srgbClr val="0B5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agenda-title-0">
            <a:extLst xmlns:a="http://schemas.openxmlformats.org/drawingml/2006/main">
              <a:ext uri="{FF2B5EF4-FFF2-40B4-BE49-F238E27FC236}">
                <a16:creationId xmlns:a16="http://schemas.microsoft.com/office/drawing/2014/main" id="{B6879864-649D-4004-A450-DB202D321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7526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rPr>
              <a:t>为什么做</a:t>
            </a:r>
            <a:endParaRPr sz="1950" b="1">
              <a:solidFill>
                <a:srgbClr val="0B18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agenda-desc-0">
            <a:extLst xmlns:a="http://schemas.openxmlformats.org/drawingml/2006/main">
              <a:ext uri="{FF2B5EF4-FFF2-40B4-BE49-F238E27FC236}">
                <a16:creationId xmlns:a16="http://schemas.microsoft.com/office/drawing/2014/main" id="{09469BA1-2A1E-4543-B005-9EB90EA37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1336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痛点</a:t>
            </a:r>
            <a:r>
              <a: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、</a:t>
            </a:r>
            <a:r>
              <a:t>定位、目标用户</a:t>
            </a:r>
            <a:endParaRPr sz="1275" b="0">
              <a:solidFill>
                <a:srgbClr val="47556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agenda-line-0">
            <a:extLst xmlns:a="http://schemas.openxmlformats.org/drawingml/2006/main">
              <a:ext uri="{FF2B5EF4-FFF2-40B4-BE49-F238E27FC236}">
                <a16:creationId xmlns:a16="http://schemas.microsoft.com/office/drawing/2014/main" id="{8D4770D4-E724-411A-ABFE-FF29F397F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5270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agenda-num-1">
            <a:extLst xmlns:a="http://schemas.openxmlformats.org/drawingml/2006/main">
              <a:ext uri="{FF2B5EF4-FFF2-40B4-BE49-F238E27FC236}">
                <a16:creationId xmlns:a16="http://schemas.microsoft.com/office/drawing/2014/main" id="{89346263-8B9B-4477-B843-48A4E2059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62250"/>
            <a:ext cx="104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34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rPr>
              <a:t>02</a:t>
            </a:r>
            <a:endParaRPr sz="3450" b="1">
              <a:solidFill>
                <a:srgbClr val="0B5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agenda-title-1">
            <a:extLst xmlns:a="http://schemas.openxmlformats.org/drawingml/2006/main">
              <a:ext uri="{FF2B5EF4-FFF2-40B4-BE49-F238E27FC236}">
                <a16:creationId xmlns:a16="http://schemas.microsoft.com/office/drawing/2014/main" id="{0C4CBD8B-9D62-482F-8B41-962025505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8194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rPr>
              <a:t>系统</a:t>
            </a:r>
            <a:r>
              <a:rPr sz="195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rPr>
              <a:t>功能</a:t>
            </a:r>
            <a:endParaRPr sz="1950" b="1">
              <a:solidFill>
                <a:srgbClr val="0B18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agenda-desc-1">
            <a:extLst xmlns:a="http://schemas.openxmlformats.org/drawingml/2006/main">
              <a:ext uri="{FF2B5EF4-FFF2-40B4-BE49-F238E27FC236}">
                <a16:creationId xmlns:a16="http://schemas.microsoft.com/office/drawing/2014/main" id="{BAD14B80-445C-4D3B-9A4E-2DDB152C7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2004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AI 查询、SQL 工作台、报表、元数据</a:t>
            </a:r>
            <a:endParaRPr sz="1275" b="0">
              <a:solidFill>
                <a:srgbClr val="47556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agenda-line-1">
            <a:extLst xmlns:a="http://schemas.openxmlformats.org/drawingml/2006/main">
              <a:ext uri="{FF2B5EF4-FFF2-40B4-BE49-F238E27FC236}">
                <a16:creationId xmlns:a16="http://schemas.microsoft.com/office/drawing/2014/main" id="{B692D20F-B889-4F43-AEED-1F740478D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1950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agenda-num-2">
            <a:extLst xmlns:a="http://schemas.openxmlformats.org/drawingml/2006/main">
              <a:ext uri="{FF2B5EF4-FFF2-40B4-BE49-F238E27FC236}">
                <a16:creationId xmlns:a16="http://schemas.microsoft.com/office/drawing/2014/main" id="{B1CD4530-26D6-4CDE-864A-477D2AFC7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29050"/>
            <a:ext cx="104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34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rPr>
              <a:t>03</a:t>
            </a:r>
            <a:endParaRPr sz="3450" b="1">
              <a:solidFill>
                <a:srgbClr val="0B5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agenda-title-2">
            <a:extLst xmlns:a="http://schemas.openxmlformats.org/drawingml/2006/main">
              <a:ext uri="{FF2B5EF4-FFF2-40B4-BE49-F238E27FC236}">
                <a16:creationId xmlns:a16="http://schemas.microsoft.com/office/drawing/2014/main" id="{1A4546A8-8C1C-487E-9B69-A536B034C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8862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rPr>
              <a:t>技术亮点</a:t>
            </a:r>
            <a:endParaRPr sz="1950" b="1">
              <a:solidFill>
                <a:srgbClr val="0B18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agenda-desc-2">
            <a:extLst xmlns:a="http://schemas.openxmlformats.org/drawingml/2006/main">
              <a:ext uri="{FF2B5EF4-FFF2-40B4-BE49-F238E27FC236}">
                <a16:creationId xmlns:a16="http://schemas.microsoft.com/office/drawing/2014/main" id="{419D22A9-751F-43A9-AAB8-2E4E3D640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2672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Agent 工具调用、安全执行、跨库适配</a:t>
            </a:r>
            <a:endParaRPr sz="1275" b="0">
              <a:solidFill>
                <a:srgbClr val="47556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agenda-line-2">
            <a:extLst xmlns:a="http://schemas.openxmlformats.org/drawingml/2006/main">
              <a:ext uri="{FF2B5EF4-FFF2-40B4-BE49-F238E27FC236}">
                <a16:creationId xmlns:a16="http://schemas.microsoft.com/office/drawing/2014/main" id="{4903CB80-2A6C-496F-89A7-28DAEAD67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8630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agenda-num-3">
            <a:extLst xmlns:a="http://schemas.openxmlformats.org/drawingml/2006/main">
              <a:ext uri="{FF2B5EF4-FFF2-40B4-BE49-F238E27FC236}">
                <a16:creationId xmlns:a16="http://schemas.microsoft.com/office/drawing/2014/main" id="{22E596F5-45BE-46E2-ADE8-2052EBADA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104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34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rPr>
              <a:t>04</a:t>
            </a:r>
            <a:endParaRPr sz="3450" b="1">
              <a:solidFill>
                <a:srgbClr val="0B5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agenda-title-3">
            <a:extLst xmlns:a="http://schemas.openxmlformats.org/drawingml/2006/main">
              <a:ext uri="{FF2B5EF4-FFF2-40B4-BE49-F238E27FC236}">
                <a16:creationId xmlns:a16="http://schemas.microsoft.com/office/drawing/2014/main" id="{6D546326-F9D8-4A3D-8CEA-8F5972CA9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9530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rPr>
              <a:t>工程与治理</a:t>
            </a:r>
            <a:endParaRPr sz="1950" b="1">
              <a:solidFill>
                <a:srgbClr val="0B18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agenda-desc-3">
            <a:extLst xmlns:a="http://schemas.openxmlformats.org/drawingml/2006/main">
              <a:ext uri="{FF2B5EF4-FFF2-40B4-BE49-F238E27FC236}">
                <a16:creationId xmlns:a16="http://schemas.microsoft.com/office/drawing/2014/main" id="{E0EB13C5-4453-47ED-9868-2B4E80ED5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340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架构分层、工程质量、审计监控</a:t>
            </a:r>
            <a:endParaRPr sz="1275" b="0">
              <a:solidFill>
                <a:srgbClr val="475569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21190329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genda-num-0">
            <a:extLst xmlns:a="http://schemas.openxmlformats.org/drawingml/2006/main">
              <a:ext uri="{FF2B5EF4-FFF2-40B4-BE49-F238E27FC236}">
                <a16:creationId xmlns:a16="http://schemas.microsoft.com/office/drawing/2014/main" id="{7957A870-BE3A-46D9-85F3-BE7BCB024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95450"/>
            <a:ext cx="104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34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rPr>
              <a:t>01</a:t>
            </a:r>
            <a:endParaRPr sz="3450" b="1">
              <a:solidFill>
                <a:srgbClr val="0B5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agenda-title-0">
            <a:extLst xmlns:a="http://schemas.openxmlformats.org/drawingml/2006/main">
              <a:ext uri="{FF2B5EF4-FFF2-40B4-BE49-F238E27FC236}">
                <a16:creationId xmlns:a16="http://schemas.microsoft.com/office/drawing/2014/main" id="{8161B2D0-5311-4587-8A18-EA19A54BA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7526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rPr>
              <a:t>为什么做</a:t>
            </a:r>
            <a:endParaRPr sz="1950" b="1">
              <a:solidFill>
                <a:srgbClr val="0B18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agenda-desc-0">
            <a:extLst xmlns:a="http://schemas.openxmlformats.org/drawingml/2006/main">
              <a:ext uri="{FF2B5EF4-FFF2-40B4-BE49-F238E27FC236}">
                <a16:creationId xmlns:a16="http://schemas.microsoft.com/office/drawing/2014/main" id="{C9FFE381-D92A-4FFE-B980-9E5CC721F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1336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痛点</a:t>
            </a:r>
            <a:r>
              <a: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、</a:t>
            </a:r>
            <a:r>
              <a:t>定位、目标用户</a:t>
            </a:r>
            <a:endParaRPr sz="1275" b="0">
              <a:solidFill>
                <a:srgbClr val="475569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78337595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149E9C92-D6B3-4681-9D0A-5BD6984DD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rPr>
              <a:t>为什么需要 DataMind</a:t>
            </a:r>
            <a:endParaRPr sz="1050" b="1">
              <a:solidFill>
                <a:srgbClr val="0B5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C73B916-3866-464A-A498-3F03F4CFD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把高门槛、高风险的数据工作，变成安全可控的对话</a:t>
            </a:r>
            <a:endParaRPr sz="2625" b="1">
              <a:solidFill>
                <a:srgbClr val="0F172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2335BEED-BAD7-4B97-AB4A-141B442F1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533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14D3A840-373D-4C07-AACC-6D82C11B5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653F00F9-58C7-4783-A9F8-0FC12A8D0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DataMind · 数据库 Agent Web 应用</a:t>
            </a:r>
            <a:endParaRPr sz="900" b="0">
              <a:solidFill>
                <a:srgbClr val="94A3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5D94BC1B-FF10-4BBF-8FBF-63B2142BE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5341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4</a:t>
            </a:r>
            <a:endParaRPr sz="900" b="0">
              <a:solidFill>
                <a:srgbClr val="94A3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pain-surface">
            <a:extLst xmlns:a="http://schemas.openxmlformats.org/drawingml/2006/main">
              <a:ext uri="{FF2B5EF4-FFF2-40B4-BE49-F238E27FC236}">
                <a16:creationId xmlns:a16="http://schemas.microsoft.com/office/drawing/2014/main" id="{56CCE4DB-3BFA-4B60-BB87-699D043EE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5219700" cy="44958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</p:sp>
      <p:sp>
        <p:nvSpPr>
          <p:cNvPr id="8" name="pain-title">
            <a:extLst xmlns:a="http://schemas.openxmlformats.org/drawingml/2006/main">
              <a:ext uri="{FF2B5EF4-FFF2-40B4-BE49-F238E27FC236}">
                <a16:creationId xmlns:a16="http://schemas.microsoft.com/office/drawing/2014/main" id="{BAB3715C-79D8-4240-9E4D-3014E700E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097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00" b="1">
                <a:solidFill>
                  <a:srgbClr val="B91C1C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B91C1C"/>
                </a:solidFill>
                <a:latin typeface="微软雅黑"/>
                <a:ea typeface="微软雅黑"/>
                <a:cs typeface="微软雅黑"/>
              </a:rPr>
              <a:t>常见痛点</a:t>
            </a:r>
            <a:endParaRPr sz="1800" b="1">
              <a:solidFill>
                <a:srgbClr val="B91C1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pain-list">
            <a:extLst xmlns:a="http://schemas.openxmlformats.org/drawingml/2006/main">
              <a:ext uri="{FF2B5EF4-FFF2-40B4-BE49-F238E27FC236}">
                <a16:creationId xmlns:a16="http://schemas.microsoft.com/office/drawing/2014/main" id="{17E32921-7E82-4BC4-B737-612B2C0E2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24100"/>
            <a:ext cx="46101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indent="0" algn="l">
              <a:lnSpc>
                <a:spcPct val="15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600"/>
              <a:t>业务人员不会写 SQL，取数依赖技术同事</a:t>
            </a:r>
            <a:endParaRPr sz="1600"/>
          </a:p>
          <a:p xmlns:a="http://schemas.openxmlformats.org/drawingml/2006/main">
            <a:pPr indent="0" algn="l">
              <a:lnSpc>
                <a:spcPct val="15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600"/>
              <a:t>不同数据库各有各的客户端，安装切换繁琐</a:t>
            </a:r>
            <a:endParaRPr sz="1600"/>
          </a:p>
          <a:p xmlns:a="http://schemas.openxmlformats.org/drawingml/2006/main">
            <a:pPr indent="0" algn="l">
              <a:lnSpc>
                <a:spcPct val="15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600"/>
              <a:t>AI 生成 SQL 存在误操作与越权风险</a:t>
            </a:r>
            <a:endParaRPr sz="1600"/>
          </a:p>
          <a:p xmlns:a="http://schemas.openxmlformats.org/drawingml/2006/main">
            <a:pPr indent="0" algn="l">
              <a:lnSpc>
                <a:spcPct val="15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600"/>
              <a:t>查询结果难以沉淀为报表与文档</a:t>
            </a:r>
            <a:endParaRPr sz="1600"/>
          </a:p>
          <a:p xmlns:a="http://schemas.openxmlformats.org/drawingml/2006/main">
            <a:pPr indent="0" algn="l">
              <a:lnSpc>
                <a:spcPct val="15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600"/>
              <a:t>敏感数据与用户操作缺少权限和审计</a:t>
            </a:r>
            <a:endParaRPr sz="1600"/>
          </a:p>
        </p:txBody>
      </p:sp>
      <p:sp>
        <p:nvSpPr>
          <p:cNvPr id="10" name="solution-surface">
            <a:extLst xmlns:a="http://schemas.openxmlformats.org/drawingml/2006/main">
              <a:ext uri="{FF2B5EF4-FFF2-40B4-BE49-F238E27FC236}">
                <a16:creationId xmlns:a16="http://schemas.microsoft.com/office/drawing/2014/main" id="{A10474EC-D358-46B8-A5A5-9330651B1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24000"/>
            <a:ext cx="5219700" cy="44958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</p:sp>
      <p:sp>
        <p:nvSpPr>
          <p:cNvPr id="11" name="solution-title">
            <a:extLst xmlns:a="http://schemas.openxmlformats.org/drawingml/2006/main">
              <a:ext uri="{FF2B5EF4-FFF2-40B4-BE49-F238E27FC236}">
                <a16:creationId xmlns:a16="http://schemas.microsoft.com/office/drawing/2014/main" id="{7DB82A6D-21D9-45EA-802A-363826BE1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8097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0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rPr>
              <a:t>DataMind 的解法</a:t>
            </a:r>
            <a:endParaRPr sz="1800" b="1">
              <a:solidFill>
                <a:srgbClr val="0B5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solution-list">
            <a:extLst xmlns:a="http://schemas.openxmlformats.org/drawingml/2006/main">
              <a:ext uri="{FF2B5EF4-FFF2-40B4-BE49-F238E27FC236}">
                <a16:creationId xmlns:a16="http://schemas.microsoft.com/office/drawing/2014/main" id="{96C3D38F-E1CC-4C3C-80B5-37224E529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24100"/>
            <a:ext cx="46101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indent="0" algn="l">
              <a:lnSpc>
                <a:spcPct val="150000"/>
              </a:lnSpc>
              <a:spcBef>
                <a:spcPts val="0"/>
              </a:spcBef>
              <a:buChar char="•"/>
              <a:defRPr sz="1275" b="0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1">
                <a:solidFill>
                  <a:srgbClr val="0B5FFF"/>
                </a:solidFill>
              </a:rPr>
              <a:t>自然语言查询：</a:t>
            </a:r>
            <a:r>
              <a:rPr sz="1600">
                <a:solidFill>
                  <a:srgbClr val="334155"/>
                </a:solidFill>
              </a:rPr>
              <a:t>输入问题，自动生成 SQL、执行并可视化</a:t>
            </a:r>
            <a:endParaRPr sz="1600">
              <a:solidFill>
                <a:srgbClr val="334155"/>
              </a:solidFill>
            </a:endParaRPr>
          </a:p>
          <a:p xmlns:a="http://schemas.openxmlformats.org/drawingml/2006/main">
            <a:pPr indent="0" algn="l">
              <a:lnSpc>
                <a:spcPct val="150000"/>
              </a:lnSpc>
              <a:spcBef>
                <a:spcPts val="0"/>
              </a:spcBef>
              <a:buChar char="•"/>
              <a:defRPr sz="1275" b="0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1">
                <a:solidFill>
                  <a:srgbClr val="0B5FFF"/>
                </a:solidFill>
              </a:rPr>
              <a:t>统一适配层：</a:t>
            </a:r>
            <a:r>
              <a:rPr sz="1600">
                <a:solidFill>
                  <a:srgbClr val="334155"/>
                </a:solidFill>
              </a:rPr>
              <a:t>屏蔽多数据库方言差异</a:t>
            </a:r>
            <a:endParaRPr sz="1600">
              <a:solidFill>
                <a:srgbClr val="334155"/>
              </a:solidFill>
            </a:endParaRPr>
          </a:p>
          <a:p xmlns:a="http://schemas.openxmlformats.org/drawingml/2006/main">
            <a:pPr indent="0" algn="l">
              <a:lnSpc>
                <a:spcPct val="150000"/>
              </a:lnSpc>
              <a:spcBef>
                <a:spcPts val="0"/>
              </a:spcBef>
              <a:buChar char="•"/>
              <a:defRPr sz="1275" b="0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1">
                <a:solidFill>
                  <a:srgbClr val="0B5FFF"/>
                </a:solidFill>
              </a:rPr>
              <a:t>分级安全执行：</a:t>
            </a:r>
            <a:r>
              <a:rPr sz="1600">
                <a:solidFill>
                  <a:srgbClr val="334155"/>
                </a:solidFill>
              </a:rPr>
              <a:t>只读自动、写操作确认、DDL 高危提示</a:t>
            </a:r>
            <a:endParaRPr sz="1600">
              <a:solidFill>
                <a:srgbClr val="334155"/>
              </a:solidFill>
            </a:endParaRPr>
          </a:p>
          <a:p xmlns:a="http://schemas.openxmlformats.org/drawingml/2006/main">
            <a:pPr indent="0" algn="l">
              <a:lnSpc>
                <a:spcPct val="150000"/>
              </a:lnSpc>
              <a:spcBef>
                <a:spcPts val="0"/>
              </a:spcBef>
              <a:buChar char="•"/>
              <a:defRPr sz="1275" b="0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1">
                <a:solidFill>
                  <a:srgbClr val="0B5FFF"/>
                </a:solidFill>
              </a:rPr>
              <a:t>报表与大屏：</a:t>
            </a:r>
            <a:r>
              <a:rPr sz="1600">
                <a:solidFill>
                  <a:srgbClr val="334155"/>
                </a:solidFill>
              </a:rPr>
              <a:t>结果一键沉淀为图表、仪表盘、分享页</a:t>
            </a:r>
            <a:endParaRPr sz="1600">
              <a:solidFill>
                <a:srgbClr val="334155"/>
              </a:solidFill>
            </a:endParaRPr>
          </a:p>
          <a:p xmlns:a="http://schemas.openxmlformats.org/drawingml/2006/main">
            <a:pPr indent="0" algn="l">
              <a:lnSpc>
                <a:spcPct val="150000"/>
              </a:lnSpc>
              <a:spcBef>
                <a:spcPts val="0"/>
              </a:spcBef>
              <a:buChar char="•"/>
              <a:defRPr sz="1275" b="0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1">
                <a:solidFill>
                  <a:srgbClr val="0B5FFF"/>
                </a:solidFill>
              </a:rPr>
              <a:t>RBAC + 审计：</a:t>
            </a:r>
            <a:r>
              <a:rPr sz="1600">
                <a:solidFill>
                  <a:srgbClr val="334155"/>
                </a:solidFill>
              </a:rPr>
              <a:t>细粒度权限、全量留痕、可导出</a:t>
            </a:r>
            <a:endParaRPr sz="1600">
              <a:solidFill>
                <a:srgbClr val="3341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80728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EAE74DF-3490-4FBB-84D0-C1AC26C60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产品定位与目标用户</a:t>
            </a:r>
            <a:endParaRPr sz="33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F29F4F5-2B6F-4DDF-8950-6821B9372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5</a:t>
            </a:r>
            <a:endParaRPr sz="10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FB4D03A3-73D5-41B1-8613-AD2532956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504950"/>
            <a:ext cx="11404568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DataMind 把「连接 → 查询 → 分析 → 报表 → 权限审计」串成一个 Web 工作台，用 AI Agent 降低取数门槛。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0E797D5F-BABF-419D-8ED9-4560504B6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4955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用户</a:t>
            </a:r>
            <a:endParaRPr sz="1600" b="1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16F1A56F-43F0-41DB-B3E4-760CBC695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9555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核心需求</a:t>
            </a:r>
            <a:endParaRPr sz="1600" b="1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8E48E64A-F885-4767-8ECF-0AE89E446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95550"/>
            <a:ext cx="552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典型场景</a:t>
            </a:r>
            <a:endParaRPr sz="1600" b="1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AE16BDDA-51E2-4354-9A0C-41052476C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57500"/>
            <a:ext cx="11404568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222EE6AB-A413-4B61-A053-3FA658483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670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后端开发者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F1D7201E-D5ED-47BE-BCD2-42CD1D1B9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670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快速查数、写与优化 SQL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FD12F4C5-E651-407C-933C-79CD3F5E9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6705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日常开发、线上排障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1" name="rule">
            <a:extLst xmlns:a="http://schemas.openxmlformats.org/drawingml/2006/main">
              <a:ext uri="{FF2B5EF4-FFF2-40B4-BE49-F238E27FC236}">
                <a16:creationId xmlns:a16="http://schemas.microsoft.com/office/drawing/2014/main" id="{32DC960C-E80C-4007-B182-B4D0A86C2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86150"/>
            <a:ext cx="11404568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37A730C2-7C63-4376-AE0F-3BC528D9C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6576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DBA / 运维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6145D1E1-11DD-4F65-86F5-9AEC35635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576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多实例管理、结构变更、审计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575FC358-DEC0-4D42-8EE7-F797D9EAC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5760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变更前对比、慢查询定位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5" name="rule">
            <a:extLst xmlns:a="http://schemas.openxmlformats.org/drawingml/2006/main">
              <a:ext uri="{FF2B5EF4-FFF2-40B4-BE49-F238E27FC236}">
                <a16:creationId xmlns:a16="http://schemas.microsoft.com/office/drawing/2014/main" id="{0CF5DFB6-1CBA-49C4-8592-CFEFBC225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76700"/>
            <a:ext cx="11404568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0D9C3294-CBC9-4861-98F2-49EEE1AA5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2481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数据分析师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6B1C86EC-B3EC-46B7-991A-753CB388A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481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自然语言取数、快速做报表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348D237B-D064-4C13-9D38-EBDA8E819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4815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数据探索、临时分析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9" name="rule">
            <a:extLst xmlns:a="http://schemas.openxmlformats.org/drawingml/2006/main">
              <a:ext uri="{FF2B5EF4-FFF2-40B4-BE49-F238E27FC236}">
                <a16:creationId xmlns:a16="http://schemas.microsoft.com/office/drawing/2014/main" id="{46E1536E-3D6E-409C-81FD-59C8B1418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667250"/>
            <a:ext cx="11404568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3F035FC6-4E4A-4576-8A1D-C3D1B41F7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8387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业务 / 产品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CFA09D74-3EF7-44EA-AE0E-48C913FFB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8387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完全不会 SQL 也要看数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97B8AE14-EDBF-4D86-B47B-27902C7F0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83870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辅助决策、快速核对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F596AFCF-A723-4D1E-AD59-D06328174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715000"/>
            <a:ext cx="1140456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一句话：让数据获取从「排队等」变成「自己动手」。</a:t>
            </a:r>
            <a:endParaRPr sz="21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04733102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5BCD3BE-DC63-4E79-9FAC-804D6D4B1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落地与推广：低成本、可复制</a:t>
            </a:r>
            <a:endParaRPr sz="33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DC5AF16-E0E4-4C8E-AE59-68323D4D6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6</a:t>
            </a:r>
            <a:endParaRPr sz="10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974F2376-0961-4F8F-B370-7884C5C9E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66850"/>
            <a:ext cx="11404568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不改动业务系统，单机即可部署；连接、权限与报表配置化，换一套数据库即可复用。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2E98F11D-B91D-4925-8ED4-7C7CD0BD3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C5B4D8CF-3A7F-46C4-9CB3-2DBC3F16D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218" y="3213068"/>
            <a:ext cx="314963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部署与运维</a:t>
            </a:r>
            <a:endParaRPr sz="24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2641BF55-154C-4290-BBAE-14065FFB4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218" y="3613118"/>
            <a:ext cx="3149632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Docker多阶段构建、单端口一键启动；数据卷持久化应用库、演示库、驱动与导出文件，不侵入现有业务库。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70B59ACA-75E2-4F15-801C-368F9DAA5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00C4ED98-7339-4C71-9B3D-F60EB20AC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32" y="3213068"/>
            <a:ext cx="314963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兼容与迁移</a:t>
            </a:r>
            <a:endParaRPr sz="24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488C24B0-1D02-4131-9C7A-512D26043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32" y="3613118"/>
            <a:ext cx="3149632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7类数据源开箱可用；只读连接池与SSH隧道适配内网与云上环境；结构变更走Alembic迁移，老库启动自动补建缺失索引。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0BD528B8-7E8B-424E-BDFE-BE643AF59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95" y="3022568"/>
            <a:ext cx="3568732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6C799A96-80D9-4407-8231-C581A749A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245" y="3213068"/>
            <a:ext cx="314963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复用与推广</a:t>
            </a:r>
            <a:endParaRPr sz="24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445A0B91-6D69-4E8C-941E-F5930A3C2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245" y="3613118"/>
            <a:ext cx="3149632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内置5个角色模板覆盖技术与业务岗位；AI模型可在OpenAI / Claude / Ollama间切换，适配不同合规环境。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9730048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agenda-num-1">
            <a:extLst xmlns:a="http://schemas.openxmlformats.org/drawingml/2006/main">
              <a:ext uri="{FF2B5EF4-FFF2-40B4-BE49-F238E27FC236}">
                <a16:creationId xmlns:a16="http://schemas.microsoft.com/office/drawing/2014/main" id="{325ACB7C-F849-4B8D-9CD3-D91D8639B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62250"/>
            <a:ext cx="104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34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rPr>
              <a:t>02</a:t>
            </a:r>
            <a:endParaRPr sz="3450" b="1">
              <a:solidFill>
                <a:srgbClr val="0B5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agenda-title-1">
            <a:extLst xmlns:a="http://schemas.openxmlformats.org/drawingml/2006/main">
              <a:ext uri="{FF2B5EF4-FFF2-40B4-BE49-F238E27FC236}">
                <a16:creationId xmlns:a16="http://schemas.microsoft.com/office/drawing/2014/main" id="{A7EDC1A3-041B-45FA-A318-B1EFD4D76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8194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rPr>
              <a:t>系统</a:t>
            </a:r>
            <a:r>
              <a:rPr sz="195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rPr>
              <a:t>功能</a:t>
            </a:r>
            <a:endParaRPr sz="1950" b="1">
              <a:solidFill>
                <a:srgbClr val="0B18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agenda-desc-1">
            <a:extLst xmlns:a="http://schemas.openxmlformats.org/drawingml/2006/main">
              <a:ext uri="{FF2B5EF4-FFF2-40B4-BE49-F238E27FC236}">
                <a16:creationId xmlns:a16="http://schemas.microsoft.com/office/drawing/2014/main" id="{9C870AB0-8BF3-48AE-9972-B5EB763AD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2004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功能全景</a:t>
            </a:r>
            <a:r>
              <a: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、</a:t>
            </a:r>
            <a:r>
              <a: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功能</a:t>
            </a:r>
            <a:r>
              <a: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演示</a:t>
            </a:r>
            <a:endParaRPr sz="1275" b="0">
              <a:solidFill>
                <a:srgbClr val="475569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6187765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5F13FDB-4B73-4A4E-98C2-E9D49ACCC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功能</a:t>
            </a:r>
            <a:r>
              <a: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全景</a:t>
            </a:r>
            <a:endParaRPr sz="33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7BCC7D7-24A7-4BFC-B0CE-2CE9AB467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8</a:t>
            </a:r>
            <a:endParaRPr sz="10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851E0341-F7F1-409F-86D0-6C743DBD5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504950"/>
            <a:ext cx="1140456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多个</a:t>
            </a: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功能模块围绕「连接 → 查询 → 分析 → 报表 → 管理」闭环组织。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D1EC9A17-DFA9-41F1-B39D-9A2F71832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124075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12B1C6D2-1E69-4181-8506-73A7CBA8F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3336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连接管理</a:t>
            </a:r>
            <a:endParaRPr sz="21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98BA5F48-5900-4EF8-A056-E1B587306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752725"/>
            <a:ext cx="2628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7 类数据源、SSH 隧道、多环境标签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CD4D31F7-553E-4D2B-AE8B-B90FA6E8D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124075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022DE6B6-3D6C-4DBA-8F2F-4247FDBC2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336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SQL 工作台</a:t>
            </a:r>
            <a:endParaRPr sz="21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FF33218A-24F7-49CE-9DF7-15B26313A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752725"/>
            <a:ext cx="2628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多 Tab 编辑、对象树、结果集直编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8E3842C1-0088-4975-A5A6-F3D4808CF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5732" y="2124075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4EE0B9A3-FD85-4002-B0A3-7B9A27F87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5732" y="23336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元数据管理</a:t>
            </a:r>
            <a:endParaRPr sz="21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FA31796B-4034-4EA8-BFF0-C9EF19B85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5732" y="2752725"/>
            <a:ext cx="2628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表/索引/DDL/视图/函数、结构对比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3" name="rule">
            <a:extLst xmlns:a="http://schemas.openxmlformats.org/drawingml/2006/main">
              <a:ext uri="{FF2B5EF4-FFF2-40B4-BE49-F238E27FC236}">
                <a16:creationId xmlns:a16="http://schemas.microsoft.com/office/drawing/2014/main" id="{0EE1ADA0-8043-452A-B6FB-5F4C81979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6764" y="2124075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05A1256A-79DE-4642-8280-7EE14017F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6764" y="23336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AI 智能查询</a:t>
            </a:r>
            <a:endParaRPr sz="21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53A20B42-1CF4-4ACC-9D55-27688B170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6764" y="2752725"/>
            <a:ext cx="2628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自然语言转 SQL、多轮会话、图表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6" name="rule">
            <a:extLst xmlns:a="http://schemas.openxmlformats.org/drawingml/2006/main">
              <a:ext uri="{FF2B5EF4-FFF2-40B4-BE49-F238E27FC236}">
                <a16:creationId xmlns:a16="http://schemas.microsoft.com/office/drawing/2014/main" id="{0857FF5F-C065-4C04-B688-DC227B1A8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219575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39E60449-7FCF-42C6-8206-B7E612F06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4291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可视化报表</a:t>
            </a:r>
            <a:endParaRPr sz="21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293838F7-F38E-4FBB-A46C-889CF03EF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848225"/>
            <a:ext cx="2628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11 种图表、仪表盘、分享大屏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9" name="rule">
            <a:extLst xmlns:a="http://schemas.openxmlformats.org/drawingml/2006/main">
              <a:ext uri="{FF2B5EF4-FFF2-40B4-BE49-F238E27FC236}">
                <a16:creationId xmlns:a16="http://schemas.microsoft.com/office/drawing/2014/main" id="{04221162-1ADA-47E6-B6ED-F32BD95E9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219575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37D3D3A8-C18B-40D3-9669-5AB979657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4291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文档导出</a:t>
            </a:r>
            <a:endParaRPr sz="21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AF501B48-7E4F-417C-8607-E643F7792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848225"/>
            <a:ext cx="2628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CSV/Excel/JSON、库文档导出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2" name="rule">
            <a:extLst xmlns:a="http://schemas.openxmlformats.org/drawingml/2006/main">
              <a:ext uri="{FF2B5EF4-FFF2-40B4-BE49-F238E27FC236}">
                <a16:creationId xmlns:a16="http://schemas.microsoft.com/office/drawing/2014/main" id="{61E15F40-2B42-493A-8684-76E5678A3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5732" y="4219575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D423D3E9-F78D-4E8D-BC35-1367D5B2E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5732" y="44291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用户与角色</a:t>
            </a:r>
            <a:endParaRPr sz="21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0E29E9C1-AB0D-4F7E-B6B9-8DD3C7BCA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5732" y="4848225"/>
            <a:ext cx="2628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RBAC 5 内置角色 + 自定义角色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5" name="rule">
            <a:extLst xmlns:a="http://schemas.openxmlformats.org/drawingml/2006/main">
              <a:ext uri="{FF2B5EF4-FFF2-40B4-BE49-F238E27FC236}">
                <a16:creationId xmlns:a16="http://schemas.microsoft.com/office/drawing/2014/main" id="{4AB1D848-8B14-4147-BF17-F86935DD6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6764" y="4219575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E38D45ED-409B-4BFD-AB8F-82903F22A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6764" y="44291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运维监控</a:t>
            </a:r>
            <a:endParaRPr sz="21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7DAB5F57-63C1-45E6-BB34-2DB920457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6764" y="4848225"/>
            <a:ext cx="2628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慢查询、连接概览、审计、指标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1489305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9010420-CD4D-4217-8A27-45B86BA0B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功能演示 ：自然语言查询数据库</a:t>
            </a:r>
            <a:endParaRPr sz="33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1FB674D-2332-43A8-9571-49CF23E19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</a:t>
            </a:r>
            <a:endParaRPr sz="10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video-frame">
            <a:extLst xmlns:a="http://schemas.openxmlformats.org/drawingml/2006/main">
              <a:ext uri="{FF2B5EF4-FFF2-40B4-BE49-F238E27FC236}">
                <a16:creationId xmlns:a16="http://schemas.microsoft.com/office/drawing/2014/main" id="{A2633F0C-D815-4759-B4D2-4A82C3F54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618" y="1647825"/>
            <a:ext cx="7467600" cy="42171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6" name="video-poster">
            <a:extLst xmlns:a="http://schemas.openxmlformats.org/drawingml/2006/main">
              <a:ext uri="{FF2B5EF4-FFF2-40B4-BE49-F238E27FC236}">
                <a16:creationId xmlns:a16="http://schemas.microsoft.com/office/drawing/2014/main" id="{76D88627-F171-47D8-8836-CFC0FB7A471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bb66c7989745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3668" y="1666875"/>
            <a:ext cx="7429500" cy="4179094"/>
          </a:xfrm>
          <a:prstGeom xmlns:a="http://schemas.openxmlformats.org/drawingml/2006/main" prst="rect">
            <a:avLst/>
          </a:prstGeom>
        </p:spPr>
      </p:pic>
      <p:pic>
        <p:nvPicPr>
          <p:cNvPr id="4" name="video">
            <a:extLst xmlns:a="http://schemas.openxmlformats.org/drawingml/2006/main">
              <a:ext uri="{FF2B5EF4-FFF2-40B4-BE49-F238E27FC236}">
                <a16:creationId xmlns:a16="http://schemas.microsoft.com/office/drawing/2014/main" id="{B5DA4567-6AA4-4FF2-BCCF-0EB299C803D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bb66c7989745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3668" y="1666875"/>
            <a:ext cx="7429500" cy="4179094"/>
          </a:xfrm>
          <a:prstGeom xmlns:a="http://schemas.openxmlformats.org/drawingml/2006/main" prst="rect">
            <a:avLst/>
          </a:prstGeom>
        </p:spPr>
      </p:pic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10A68CDF-4DFC-4546-8936-384010C5B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941219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rPr>
              <a:t>▶ 点击画面播放演示视频（约 40 秒）：演示库查用户 → Oracle（UAT）查机构 → 导出 CSV</a:t>
            </a:r>
            <a:endParaRPr sz="1000" b="0">
              <a:solidFill>
                <a:srgbClr val="5A5F66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31469684-E60E-41D0-8A1D-3261FB780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95450"/>
            <a:ext cx="3679317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提问即得结果</a:t>
            </a:r>
            <a:endParaRPr sz="21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" name="marker">
            <a:extLst xmlns:a="http://schemas.openxmlformats.org/drawingml/2006/main">
              <a:ext uri="{FF2B5EF4-FFF2-40B4-BE49-F238E27FC236}">
                <a16:creationId xmlns:a16="http://schemas.microsoft.com/office/drawing/2014/main" id="{7F8ADD4C-A74E-4012-A2C0-431BE4CA5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384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A8AC5735-C55A-4946-82A5-5CF8EB4FF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241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一句话生成 SQL，无需手写语句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9" name="marker">
            <a:extLst xmlns:a="http://schemas.openxmlformats.org/drawingml/2006/main">
              <a:ext uri="{FF2B5EF4-FFF2-40B4-BE49-F238E27FC236}">
                <a16:creationId xmlns:a16="http://schemas.microsoft.com/office/drawing/2014/main" id="{C544B367-FA3C-461F-8F92-24C0611D7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289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13097E09-CCDF-429A-A9FD-27E9F12E1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146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SSE 流式回传思考过程与 SQL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1" name="marker">
            <a:extLst xmlns:a="http://schemas.openxmlformats.org/drawingml/2006/main">
              <a:ext uri="{FF2B5EF4-FFF2-40B4-BE49-F238E27FC236}">
                <a16:creationId xmlns:a16="http://schemas.microsoft.com/office/drawing/2014/main" id="{0922EDE0-4261-43E5-8271-9C129468A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195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7086CFEB-4DBB-4E49-B177-C9600D11B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5052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切换数据源即可跨库查询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3" name="marker">
            <a:extLst xmlns:a="http://schemas.openxmlformats.org/drawingml/2006/main">
              <a:ext uri="{FF2B5EF4-FFF2-40B4-BE49-F238E27FC236}">
                <a16:creationId xmlns:a16="http://schemas.microsoft.com/office/drawing/2014/main" id="{563B7562-2249-41C5-8B25-672E6085F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1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7373502D-19B3-4FD4-8DF6-E58C09405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0957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结果一键导出 CSV / Excel / JSON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99440432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E4671A3-A44D-4EDF-A797-B407D2DF8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功能演示 ：自然语言生成图表</a:t>
            </a:r>
            <a:endParaRPr sz="33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62A30B9-0E8C-445C-94FE-FF8E63C7B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</a:t>
            </a:r>
            <a:endParaRPr sz="10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video-frame">
            <a:extLst xmlns:a="http://schemas.openxmlformats.org/drawingml/2006/main">
              <a:ext uri="{FF2B5EF4-FFF2-40B4-BE49-F238E27FC236}">
                <a16:creationId xmlns:a16="http://schemas.microsoft.com/office/drawing/2014/main" id="{636E23D8-0762-4A18-B762-B5B968323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618" y="1647825"/>
            <a:ext cx="7467600" cy="42171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6" name="video-poster">
            <a:extLst xmlns:a="http://schemas.openxmlformats.org/drawingml/2006/main">
              <a:ext uri="{FF2B5EF4-FFF2-40B4-BE49-F238E27FC236}">
                <a16:creationId xmlns:a16="http://schemas.microsoft.com/office/drawing/2014/main" id="{8EC53FBA-D2D8-4866-A8EC-0DE7E6891A0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154b84ef9943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3668" y="1666875"/>
            <a:ext cx="7429500" cy="4179094"/>
          </a:xfrm>
          <a:prstGeom xmlns:a="http://schemas.openxmlformats.org/drawingml/2006/main" prst="rect">
            <a:avLst/>
          </a:prstGeom>
        </p:spPr>
      </p:pic>
      <p:pic>
        <p:nvPicPr>
          <p:cNvPr id="4" name="video">
            <a:extLst xmlns:a="http://schemas.openxmlformats.org/drawingml/2006/main">
              <a:ext uri="{FF2B5EF4-FFF2-40B4-BE49-F238E27FC236}">
                <a16:creationId xmlns:a16="http://schemas.microsoft.com/office/drawing/2014/main" id="{45BC7DA9-62C6-4A8B-AFA3-A82007FA7C9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154b84ef9943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3668" y="1666875"/>
            <a:ext cx="7429500" cy="4179094"/>
          </a:xfrm>
          <a:prstGeom xmlns:a="http://schemas.openxmlformats.org/drawingml/2006/main" prst="rect">
            <a:avLst/>
          </a:prstGeom>
        </p:spPr>
      </p:pic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E4B51CA2-F59B-4B25-ADAD-45F9C2A48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941219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rPr>
              <a:t>▶ 点击画面播放演示视频（约 60 秒）：Oracle 查分行笔数/金额 → 自动出图 → 保存报表，再看近 30 天成功交易笔数与金额趋势</a:t>
            </a:r>
            <a:endParaRPr sz="1000" b="0">
              <a:solidFill>
                <a:srgbClr val="5A5F66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2AD07F1C-4BA4-4ECB-B491-F9DBD56AC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95450"/>
            <a:ext cx="3679317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从查询到图表</a:t>
            </a:r>
            <a:endParaRPr sz="21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" name="marker">
            <a:extLst xmlns:a="http://schemas.openxmlformats.org/drawingml/2006/main">
              <a:ext uri="{FF2B5EF4-FFF2-40B4-BE49-F238E27FC236}">
                <a16:creationId xmlns:a16="http://schemas.microsoft.com/office/drawing/2014/main" id="{3F04DA49-1986-4DF2-BF52-ED91AEDA8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384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6F59FFD3-DF56-428A-9CBA-9141E203C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241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案例一：各分行笔数与金额柱状图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9" name="marker">
            <a:extLst xmlns:a="http://schemas.openxmlformats.org/drawingml/2006/main">
              <a:ext uri="{FF2B5EF4-FFF2-40B4-BE49-F238E27FC236}">
                <a16:creationId xmlns:a16="http://schemas.microsoft.com/office/drawing/2014/main" id="{43E5B172-CF1F-481E-BEC2-F0111BF1E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289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B7DD0E72-6D3B-474A-AA3B-DF038A79C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146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案例二：近30天交易趋势折线图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1" name="marker">
            <a:extLst xmlns:a="http://schemas.openxmlformats.org/drawingml/2006/main">
              <a:ext uri="{FF2B5EF4-FFF2-40B4-BE49-F238E27FC236}">
                <a16:creationId xmlns:a16="http://schemas.microsoft.com/office/drawing/2014/main" id="{6006BF91-7959-4040-B99A-4BC8913E7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195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E7090B17-A7ED-4819-8301-E10CE23C2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5052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双指标量级差异大时自动分双 Y 轴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3" name="marker">
            <a:extLst xmlns:a="http://schemas.openxmlformats.org/drawingml/2006/main">
              <a:ext uri="{FF2B5EF4-FFF2-40B4-BE49-F238E27FC236}">
                <a16:creationId xmlns:a16="http://schemas.microsoft.com/office/drawing/2014/main" id="{BC04057A-BB9A-41B9-836D-12E3281AE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1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E003A7C6-EEFD-48FB-82DE-F5AAA0663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0957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一键保存到可视化报表复用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94482010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451A42E-9AC2-4A8C-A474-7DF770372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功能演示 ：SQL 工作台</a:t>
            </a:r>
            <a:endParaRPr sz="33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DE411D1-21B2-4918-B0DA-2023A9250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11</a:t>
            </a:r>
            <a:endParaRPr sz="10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video-frame">
            <a:extLst xmlns:a="http://schemas.openxmlformats.org/drawingml/2006/main">
              <a:ext uri="{FF2B5EF4-FFF2-40B4-BE49-F238E27FC236}">
                <a16:creationId xmlns:a16="http://schemas.microsoft.com/office/drawing/2014/main" id="{384F9500-65B1-4499-8BFB-B2E179DC0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618" y="1647825"/>
            <a:ext cx="7467600" cy="42171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6" name="video-poster">
            <a:extLst xmlns:a="http://schemas.openxmlformats.org/drawingml/2006/main">
              <a:ext uri="{FF2B5EF4-FFF2-40B4-BE49-F238E27FC236}">
                <a16:creationId xmlns:a16="http://schemas.microsoft.com/office/drawing/2014/main" id="{193C578D-AE13-49B4-B444-4A3946FCC3D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d02756356a43a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3668" y="1666875"/>
            <a:ext cx="7429500" cy="4179094"/>
          </a:xfrm>
          <a:prstGeom xmlns:a="http://schemas.openxmlformats.org/drawingml/2006/main" prst="rect">
            <a:avLst/>
          </a:prstGeom>
        </p:spPr>
      </p:pic>
      <p:pic>
        <p:nvPicPr>
          <p:cNvPr id="4" name="video">
            <a:extLst xmlns:a="http://schemas.openxmlformats.org/drawingml/2006/main">
              <a:ext uri="{FF2B5EF4-FFF2-40B4-BE49-F238E27FC236}">
                <a16:creationId xmlns:a16="http://schemas.microsoft.com/office/drawing/2014/main" id="{6C4AF019-CA3B-4FEC-859B-1FBC63A4A2F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d02756356a43a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3668" y="1666875"/>
            <a:ext cx="7429500" cy="4179094"/>
          </a:xfrm>
          <a:prstGeom xmlns:a="http://schemas.openxmlformats.org/drawingml/2006/main" prst="rect">
            <a:avLst/>
          </a:prstGeom>
        </p:spPr>
      </p:pic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1CE02028-E04B-4056-82FA-84596EAFA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941219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rPr>
              <a:t>▶ 点击画面播放演示视频（约 55 秒）：OceanBase 执行 SQL → Agent 生成聚合 SQL → 填入编辑器执行 → 收藏命名 → 历史 / 收藏页签</a:t>
            </a:r>
            <a:endParaRPr sz="1000" b="0">
              <a:solidFill>
                <a:srgbClr val="5A5F66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D4CC96D4-A39A-4E8A-9066-A99BD442F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95450"/>
            <a:ext cx="3679317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专业查询体验</a:t>
            </a:r>
            <a:endParaRPr sz="21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" name="marker">
            <a:extLst xmlns:a="http://schemas.openxmlformats.org/drawingml/2006/main">
              <a:ext uri="{FF2B5EF4-FFF2-40B4-BE49-F238E27FC236}">
                <a16:creationId xmlns:a16="http://schemas.microsoft.com/office/drawing/2014/main" id="{720FD5C6-BEC5-499D-A202-27ED7F644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384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3FA7C4FA-F6F1-4DB7-8E90-F2EC18C6F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241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OceanBase 数据源即连即查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9" name="marker">
            <a:extLst xmlns:a="http://schemas.openxmlformats.org/drawingml/2006/main">
              <a:ext uri="{FF2B5EF4-FFF2-40B4-BE49-F238E27FC236}">
                <a16:creationId xmlns:a16="http://schemas.microsoft.com/office/drawing/2014/main" id="{428F5770-E876-460F-B70D-60F697CA9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289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ABE9C447-3B1A-4B94-8851-2C359C923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146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Agent 一句话生成聚合 SQL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1" name="marker">
            <a:extLst xmlns:a="http://schemas.openxmlformats.org/drawingml/2006/main">
              <a:ext uri="{FF2B5EF4-FFF2-40B4-BE49-F238E27FC236}">
                <a16:creationId xmlns:a16="http://schemas.microsoft.com/office/drawing/2014/main" id="{AB41120E-480B-4E63-889D-314C77414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195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8171FB38-6BD3-45C8-B235-8A0773766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5052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填入编辑器后一键执行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3" name="marker">
            <a:extLst xmlns:a="http://schemas.openxmlformats.org/drawingml/2006/main">
              <a:ext uri="{FF2B5EF4-FFF2-40B4-BE49-F238E27FC236}">
                <a16:creationId xmlns:a16="http://schemas.microsoft.com/office/drawing/2014/main" id="{80C85418-B67D-4145-87BB-C3F19C86F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1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4311000B-BAFB-499E-9716-97ECD1AA8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0957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执行历史留痕 + SQL 收藏复用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34196096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616E6AE-93C1-452E-A930-E96B903DE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功能演示 ：数据操作安全控制</a:t>
            </a:r>
            <a:endParaRPr sz="33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B392289-4AB7-4485-8155-2BC1E605D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</a:t>
            </a:r>
            <a:endParaRPr sz="10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video-frame">
            <a:extLst xmlns:a="http://schemas.openxmlformats.org/drawingml/2006/main">
              <a:ext uri="{FF2B5EF4-FFF2-40B4-BE49-F238E27FC236}">
                <a16:creationId xmlns:a16="http://schemas.microsoft.com/office/drawing/2014/main" id="{122C5497-2316-4137-939B-97F4F770F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618" y="1647825"/>
            <a:ext cx="7467600" cy="42171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6" name="video-poster">
            <a:extLst xmlns:a="http://schemas.openxmlformats.org/drawingml/2006/main">
              <a:ext uri="{FF2B5EF4-FFF2-40B4-BE49-F238E27FC236}">
                <a16:creationId xmlns:a16="http://schemas.microsoft.com/office/drawing/2014/main" id="{7CB0C7B3-9E0E-4C82-95E3-68C323FDFB4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b01dbc818641a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3668" y="1666875"/>
            <a:ext cx="7429500" cy="4179094"/>
          </a:xfrm>
          <a:prstGeom xmlns:a="http://schemas.openxmlformats.org/drawingml/2006/main" prst="rect">
            <a:avLst/>
          </a:prstGeom>
        </p:spPr>
      </p:pic>
      <p:pic>
        <p:nvPicPr>
          <p:cNvPr id="4" name="video">
            <a:extLst xmlns:a="http://schemas.openxmlformats.org/drawingml/2006/main">
              <a:ext uri="{FF2B5EF4-FFF2-40B4-BE49-F238E27FC236}">
                <a16:creationId xmlns:a16="http://schemas.microsoft.com/office/drawing/2014/main" id="{273DDB5C-CD3F-4319-9167-03EBB6E0C68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b01dbc818641a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3668" y="1666875"/>
            <a:ext cx="7429500" cy="4179094"/>
          </a:xfrm>
          <a:prstGeom xmlns:a="http://schemas.openxmlformats.org/drawingml/2006/main" prst="rect">
            <a:avLst/>
          </a:prstGeom>
        </p:spPr>
      </p:pic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DA04201C-E76A-4BB1-B007-941EEBB98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941219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rPr>
              <a:t>▶ 点击画面播放演示视频（约 52 秒）：UPDATE 确认执行 → Agent 修改字段长度确认执行 → 删除表取消执行</a:t>
            </a:r>
            <a:endParaRPr sz="1000" b="0">
              <a:solidFill>
                <a:srgbClr val="5A5F66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F143EAB7-2975-483B-9A3A-47C6B6547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95450"/>
            <a:ext cx="3679317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分级授权</a:t>
            </a:r>
            <a:endParaRPr sz="21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" name="marker">
            <a:extLst xmlns:a="http://schemas.openxmlformats.org/drawingml/2006/main">
              <a:ext uri="{FF2B5EF4-FFF2-40B4-BE49-F238E27FC236}">
                <a16:creationId xmlns:a16="http://schemas.microsoft.com/office/drawing/2014/main" id="{1E34676C-0157-450A-AFBC-17FD18E47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384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DA47E796-3365-4E75-AFC8-AB29E2AE9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241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READ：只读查询自动执行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9" name="marker">
            <a:extLst xmlns:a="http://schemas.openxmlformats.org/drawingml/2006/main">
              <a:ext uri="{FF2B5EF4-FFF2-40B4-BE49-F238E27FC236}">
                <a16:creationId xmlns:a16="http://schemas.microsoft.com/office/drawing/2014/main" id="{75DD775C-34ED-42B4-BB3F-EBF9A454F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289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D6989BC3-B731-4C5B-A390-BB125D80D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146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DML：UPDATE 确认后才生效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1" name="marker">
            <a:extLst xmlns:a="http://schemas.openxmlformats.org/drawingml/2006/main">
              <a:ext uri="{FF2B5EF4-FFF2-40B4-BE49-F238E27FC236}">
                <a16:creationId xmlns:a16="http://schemas.microsoft.com/office/drawing/2014/main" id="{87EDB6FF-54BF-4259-94C2-73E4E8A1F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195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0BFBC2EC-C663-41AA-8037-F837EE86C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5052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DDL：红色危险提示 + 逐条确认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3" name="marker">
            <a:extLst xmlns:a="http://schemas.openxmlformats.org/drawingml/2006/main">
              <a:ext uri="{FF2B5EF4-FFF2-40B4-BE49-F238E27FC236}">
                <a16:creationId xmlns:a16="http://schemas.microsoft.com/office/drawing/2014/main" id="{80F8D3E2-2C82-4528-89A4-DBEC2F6A1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1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D8694E14-BFC3-4986-83B0-05332D7BB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0957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取消即中止，全部写入审计日志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09275786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792D551-85AF-4463-A576-AAD066AB4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功能演示 ：运维监控与日志</a:t>
            </a:r>
            <a:endParaRPr sz="33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57B15D9-011E-46E0-9497-BA314F641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13</a:t>
            </a:r>
            <a:endParaRPr sz="10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video-frame">
            <a:extLst xmlns:a="http://schemas.openxmlformats.org/drawingml/2006/main">
              <a:ext uri="{FF2B5EF4-FFF2-40B4-BE49-F238E27FC236}">
                <a16:creationId xmlns:a16="http://schemas.microsoft.com/office/drawing/2014/main" id="{68F5C515-AD75-4EC0-B4D6-4E93E41A3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618" y="1647825"/>
            <a:ext cx="7467600" cy="42171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6" name="video-poster">
            <a:extLst xmlns:a="http://schemas.openxmlformats.org/drawingml/2006/main">
              <a:ext uri="{FF2B5EF4-FFF2-40B4-BE49-F238E27FC236}">
                <a16:creationId xmlns:a16="http://schemas.microsoft.com/office/drawing/2014/main" id="{35FC7EEF-41D1-44D1-B9E1-47A0B3FC456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f599e961464d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3668" y="1666875"/>
            <a:ext cx="7429500" cy="4179094"/>
          </a:xfrm>
          <a:prstGeom xmlns:a="http://schemas.openxmlformats.org/drawingml/2006/main" prst="rect">
            <a:avLst/>
          </a:prstGeom>
        </p:spPr>
      </p:pic>
      <p:pic>
        <p:nvPicPr>
          <p:cNvPr id="4" name="video">
            <a:extLst xmlns:a="http://schemas.openxmlformats.org/drawingml/2006/main">
              <a:ext uri="{FF2B5EF4-FFF2-40B4-BE49-F238E27FC236}">
                <a16:creationId xmlns:a16="http://schemas.microsoft.com/office/drawing/2014/main" id="{2631E12E-1D19-4B73-9A5D-A1019FDD76C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f599e961464d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3668" y="1666875"/>
            <a:ext cx="7429500" cy="4179094"/>
          </a:xfrm>
          <a:prstGeom xmlns:a="http://schemas.openxmlformats.org/drawingml/2006/main" prst="rect">
            <a:avLst/>
          </a:prstGeom>
        </p:spPr>
      </p:pic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44FAE3F-8D3F-4563-B2F4-1181636D0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941219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rPr>
              <a:t>▶ 点击画面播放演示视频（约 32 秒）：连接概览 → 审计日志 → 慢查询（耗时 ≥ 100ms） → 表结构对比（Oracle SIT vs UAT）</a:t>
            </a:r>
            <a:endParaRPr sz="1000" b="0">
              <a:solidFill>
                <a:srgbClr val="5A5F66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E72F5893-2AC4-47A1-B10A-D4A611E49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95450"/>
            <a:ext cx="3679317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运维与合规</a:t>
            </a:r>
            <a:endParaRPr sz="21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" name="marker">
            <a:extLst xmlns:a="http://schemas.openxmlformats.org/drawingml/2006/main">
              <a:ext uri="{FF2B5EF4-FFF2-40B4-BE49-F238E27FC236}">
                <a16:creationId xmlns:a16="http://schemas.microsoft.com/office/drawing/2014/main" id="{AB247D93-8B3B-4F3B-A88F-420A60C80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384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74F185DD-A264-4780-A828-0D67CB57E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241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连接概览：查询量 / 耗时 / 成功率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9" name="marker">
            <a:extLst xmlns:a="http://schemas.openxmlformats.org/drawingml/2006/main">
              <a:ext uri="{FF2B5EF4-FFF2-40B4-BE49-F238E27FC236}">
                <a16:creationId xmlns:a16="http://schemas.microsoft.com/office/drawing/2014/main" id="{4957E666-05B7-40D1-8601-F84F6A5B2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289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E1EEB94A-4653-45DA-BAA7-B52E7FB90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146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审计日志：登录与 SQL 全量留痕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1" name="marker">
            <a:extLst xmlns:a="http://schemas.openxmlformats.org/drawingml/2006/main">
              <a:ext uri="{FF2B5EF4-FFF2-40B4-BE49-F238E27FC236}">
                <a16:creationId xmlns:a16="http://schemas.microsoft.com/office/drawing/2014/main" id="{447C528F-161D-46DB-A6D0-2E1EE3B40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195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1131193B-290E-49AB-8A3A-B547F5531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5052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慢查询：阈值可调（演示 100ms）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3" name="marker">
            <a:extLst xmlns:a="http://schemas.openxmlformats.org/drawingml/2006/main">
              <a:ext uri="{FF2B5EF4-FFF2-40B4-BE49-F238E27FC236}">
                <a16:creationId xmlns:a16="http://schemas.microsoft.com/office/drawing/2014/main" id="{3D4D691E-4B0F-4D5D-A877-0F876E1CF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1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DFEF1DA6-1B93-4DA1-A937-F8C74380D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0957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表结构对比：SIT vs UAT 差异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1563597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EB6B0E6-FA51-4B51-B887-B40055FA8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功能演示 ：数据库与大模型连接管理</a:t>
            </a:r>
            <a:endParaRPr sz="33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626CF0B-A352-48A5-B458-8F4242C3F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14</a:t>
            </a:r>
            <a:endParaRPr sz="10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video-frame">
            <a:extLst xmlns:a="http://schemas.openxmlformats.org/drawingml/2006/main">
              <a:ext uri="{FF2B5EF4-FFF2-40B4-BE49-F238E27FC236}">
                <a16:creationId xmlns:a16="http://schemas.microsoft.com/office/drawing/2014/main" id="{2AA025A2-53CD-40C2-90ED-386F9C79C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618" y="1647825"/>
            <a:ext cx="7467600" cy="42171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6" name="video-poster">
            <a:extLst xmlns:a="http://schemas.openxmlformats.org/drawingml/2006/main">
              <a:ext uri="{FF2B5EF4-FFF2-40B4-BE49-F238E27FC236}">
                <a16:creationId xmlns:a16="http://schemas.microsoft.com/office/drawing/2014/main" id="{79283FFA-8418-483D-999E-C99F24E27AB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394e4de06c42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3668" y="1666875"/>
            <a:ext cx="7429500" cy="4179094"/>
          </a:xfrm>
          <a:prstGeom xmlns:a="http://schemas.openxmlformats.org/drawingml/2006/main" prst="rect">
            <a:avLst/>
          </a:prstGeom>
        </p:spPr>
      </p:pic>
      <p:pic>
        <p:nvPicPr>
          <p:cNvPr id="4" name="video">
            <a:extLst xmlns:a="http://schemas.openxmlformats.org/drawingml/2006/main">
              <a:ext uri="{FF2B5EF4-FFF2-40B4-BE49-F238E27FC236}">
                <a16:creationId xmlns:a16="http://schemas.microsoft.com/office/drawing/2014/main" id="{5350B4EB-D5A5-43EB-9A2A-5777043061E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394e4de06c42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3668" y="1666875"/>
            <a:ext cx="7429500" cy="4179094"/>
          </a:xfrm>
          <a:prstGeom xmlns:a="http://schemas.openxmlformats.org/drawingml/2006/main" prst="rect">
            <a:avLst/>
          </a:prstGeom>
        </p:spPr>
      </p:pic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C930D9F6-5917-4D81-8DE0-0683DFB14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941219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rPr>
              <a:t>▶ 点击画面播放演示视频（约 23 秒）：数据库连接配置一键测连 → 大模型连接配置测试第二个模型</a:t>
            </a:r>
            <a:endParaRPr sz="1000" b="0">
              <a:solidFill>
                <a:srgbClr val="5A5F66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11AC8898-4F17-4202-AA4A-4F227E296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95450"/>
            <a:ext cx="3679317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连接即资产</a:t>
            </a:r>
            <a:endParaRPr sz="21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" name="marker">
            <a:extLst xmlns:a="http://schemas.openxmlformats.org/drawingml/2006/main">
              <a:ext uri="{FF2B5EF4-FFF2-40B4-BE49-F238E27FC236}">
                <a16:creationId xmlns:a16="http://schemas.microsoft.com/office/drawing/2014/main" id="{0215AA4F-4A30-46DB-9F13-24B8996C7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384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7BCB63B8-436D-4914-A35E-6DF8686ED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241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数据库连接：一键「测试」即返回连通性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9" name="marker">
            <a:extLst xmlns:a="http://schemas.openxmlformats.org/drawingml/2006/main">
              <a:ext uri="{FF2B5EF4-FFF2-40B4-BE49-F238E27FC236}">
                <a16:creationId xmlns:a16="http://schemas.microsoft.com/office/drawing/2014/main" id="{48E849BE-C904-459A-B0CF-9F37021EE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289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26F5E440-1DAD-4A03-800F-3CA0E1692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146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覆盖 7 类数据源（MySQL、Oracle）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1" name="marker">
            <a:extLst xmlns:a="http://schemas.openxmlformats.org/drawingml/2006/main">
              <a:ext uri="{FF2B5EF4-FFF2-40B4-BE49-F238E27FC236}">
                <a16:creationId xmlns:a16="http://schemas.microsoft.com/office/drawing/2014/main" id="{FCB4A4AC-D364-472A-81D2-6448DDA33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195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143377C8-BE2B-4025-A1FC-88B1D5D79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5052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大模型：OpenAI、Claude、Ollama 三类提供方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3" name="marker">
            <a:extLst xmlns:a="http://schemas.openxmlformats.org/drawingml/2006/main">
              <a:ext uri="{FF2B5EF4-FFF2-40B4-BE49-F238E27FC236}">
                <a16:creationId xmlns:a16="http://schemas.microsoft.com/office/drawing/2014/main" id="{981E6885-0624-4C3A-87E0-519BB4877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1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A36F2FF9-B45C-42D8-A99E-C202BEDBE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0957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API Key 加密存储，可指定默认模型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52121809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3D0A41F-FF96-41B9-8BEA-A8DBEED7C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功能演示 ：用户与角色管理</a:t>
            </a:r>
            <a:endParaRPr sz="33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752F21D-8B11-44C4-A0AB-AF1215549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15</a:t>
            </a:r>
            <a:endParaRPr sz="10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video-frame">
            <a:extLst xmlns:a="http://schemas.openxmlformats.org/drawingml/2006/main">
              <a:ext uri="{FF2B5EF4-FFF2-40B4-BE49-F238E27FC236}">
                <a16:creationId xmlns:a16="http://schemas.microsoft.com/office/drawing/2014/main" id="{5AE8E799-EB40-4EC6-BAA0-370CAD9DF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618" y="1647825"/>
            <a:ext cx="7467600" cy="42171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6" name="video-poster">
            <a:extLst xmlns:a="http://schemas.openxmlformats.org/drawingml/2006/main">
              <a:ext uri="{FF2B5EF4-FFF2-40B4-BE49-F238E27FC236}">
                <a16:creationId xmlns:a16="http://schemas.microsoft.com/office/drawing/2014/main" id="{8DC3E083-D0B5-4641-9B04-1A53698AB9D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d12516401a420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3668" y="1666875"/>
            <a:ext cx="7429500" cy="4179094"/>
          </a:xfrm>
          <a:prstGeom xmlns:a="http://schemas.openxmlformats.org/drawingml/2006/main" prst="rect">
            <a:avLst/>
          </a:prstGeom>
        </p:spPr>
      </p:pic>
      <p:pic>
        <p:nvPicPr>
          <p:cNvPr id="4" name="video">
            <a:extLst xmlns:a="http://schemas.openxmlformats.org/drawingml/2006/main">
              <a:ext uri="{FF2B5EF4-FFF2-40B4-BE49-F238E27FC236}">
                <a16:creationId xmlns:a16="http://schemas.microsoft.com/office/drawing/2014/main" id="{5E9D92AF-DF2E-473F-993C-74A8BCC5A65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d12516401a420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3668" y="1666875"/>
            <a:ext cx="7429500" cy="4179094"/>
          </a:xfrm>
          <a:prstGeom xmlns:a="http://schemas.openxmlformats.org/drawingml/2006/main" prst="rect">
            <a:avLst/>
          </a:prstGeom>
        </p:spPr>
      </p:pic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C1D20969-5D7C-44A0-B594-874E1EF07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941219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rPr>
              <a:t>▶ 点击画面播放演示视频（约 23 秒）：用户管理 → 角色管理 → 依次查看技术管理 / 技术查询 / 业务查询</a:t>
            </a:r>
            <a:endParaRPr sz="1000" b="0">
              <a:solidFill>
                <a:srgbClr val="5A5F66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2204E0BC-0F11-4A29-91C0-7096E4FFE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95450"/>
            <a:ext cx="3679317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权限可控</a:t>
            </a:r>
            <a:endParaRPr sz="21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" name="marker">
            <a:extLst xmlns:a="http://schemas.openxmlformats.org/drawingml/2006/main">
              <a:ext uri="{FF2B5EF4-FFF2-40B4-BE49-F238E27FC236}">
                <a16:creationId xmlns:a16="http://schemas.microsoft.com/office/drawing/2014/main" id="{97955F9C-846D-4D16-AB10-5E9EE3E0F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384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441C2637-37D5-462C-B892-09974DB48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241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用户管理：账号 / 角色 / 状态 / 重置密码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9" name="marker">
            <a:extLst xmlns:a="http://schemas.openxmlformats.org/drawingml/2006/main">
              <a:ext uri="{FF2B5EF4-FFF2-40B4-BE49-F238E27FC236}">
                <a16:creationId xmlns:a16="http://schemas.microsoft.com/office/drawing/2014/main" id="{DE7EBEFA-266D-4A9E-A7B9-476E14429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289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64DD5A42-7881-4883-8F6D-2BD54ED1C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146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角色管理：</a:t>
            </a: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按角色控制</a:t>
            </a: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权限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1" name="marker">
            <a:extLst xmlns:a="http://schemas.openxmlformats.org/drawingml/2006/main">
              <a:ext uri="{FF2B5EF4-FFF2-40B4-BE49-F238E27FC236}">
                <a16:creationId xmlns:a16="http://schemas.microsoft.com/office/drawing/2014/main" id="{0A5DD0D8-EDC1-4445-9F95-2B5E5E511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195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60FBA5BC-7143-4EE2-9FB7-9E672CF73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5052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功能权限按模块分组勾选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3" name="marker">
            <a:extLst xmlns:a="http://schemas.openxmlformats.org/drawingml/2006/main">
              <a:ext uri="{FF2B5EF4-FFF2-40B4-BE49-F238E27FC236}">
                <a16:creationId xmlns:a16="http://schemas.microsoft.com/office/drawing/2014/main" id="{34499101-A5E9-4817-927C-E1243AB5E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1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67D85081-3EDE-4578-BEB9-3C027E26A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0957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先勾选权限，再由路由守卫拦截：前端菜单与后端接口双重校验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947666651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genda-num-2">
            <a:extLst xmlns:a="http://schemas.openxmlformats.org/drawingml/2006/main">
              <a:ext uri="{FF2B5EF4-FFF2-40B4-BE49-F238E27FC236}">
                <a16:creationId xmlns:a16="http://schemas.microsoft.com/office/drawing/2014/main" id="{364F235E-18CB-4272-A621-BE31253A0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29050"/>
            <a:ext cx="104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34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rPr>
              <a:t>03</a:t>
            </a:r>
            <a:endParaRPr sz="3450" b="1">
              <a:solidFill>
                <a:srgbClr val="0B5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agenda-title-2">
            <a:extLst xmlns:a="http://schemas.openxmlformats.org/drawingml/2006/main">
              <a:ext uri="{FF2B5EF4-FFF2-40B4-BE49-F238E27FC236}">
                <a16:creationId xmlns:a16="http://schemas.microsoft.com/office/drawing/2014/main" id="{AEA0F991-05DD-474F-8D47-153215A2B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8862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rPr>
              <a:t>技术亮点</a:t>
            </a:r>
            <a:endParaRPr sz="1950" b="1">
              <a:solidFill>
                <a:srgbClr val="0B18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agenda-desc-2">
            <a:extLst xmlns:a="http://schemas.openxmlformats.org/drawingml/2006/main">
              <a:ext uri="{FF2B5EF4-FFF2-40B4-BE49-F238E27FC236}">
                <a16:creationId xmlns:a16="http://schemas.microsoft.com/office/drawing/2014/main" id="{30278465-A147-4FFF-B7C8-1C12FEF97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2672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AI </a:t>
            </a:r>
            <a:r>
              <a: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Agent 工具调用、安全执行、跨库适配</a:t>
            </a:r>
            <a:endParaRPr sz="1275" b="0">
              <a:solidFill>
                <a:srgbClr val="475569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524215803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kicker">
            <a:extLst xmlns:a="http://schemas.openxmlformats.org/drawingml/2006/main">
              <a:ext uri="{FF2B5EF4-FFF2-40B4-BE49-F238E27FC236}">
                <a16:creationId xmlns:a16="http://schemas.microsoft.com/office/drawing/2014/main" id="{E567D9B0-A6E5-4F34-9C9C-6B84CD179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rPr>
              <a:t>核心亮点 · AI Agent</a:t>
            </a:r>
            <a:endParaRPr sz="1050" b="1">
              <a:solidFill>
                <a:srgbClr val="0B5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8C4CAC1-FC0A-4F57-9064-023D100A1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把自然语言变成可信、可解释、可执行的 SQL</a:t>
            </a:r>
            <a:endParaRPr sz="2625" b="1">
              <a:solidFill>
                <a:srgbClr val="0F172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191C58BE-86BC-4B34-A1B0-E256FA7F8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533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E82F904A-9599-40F1-89EF-2A970232E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252F4198-AB20-4750-8E20-ECE66B846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DataMind · 数据库 Agent Web 应用</a:t>
            </a:r>
            <a:endParaRPr sz="900" b="0">
              <a:solidFill>
                <a:srgbClr val="94A3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F3647B1A-CEC5-4EDA-80BD-AC53EBC80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5341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17</a:t>
            </a:r>
            <a:endParaRPr sz="900" b="0">
              <a:solidFill>
                <a:srgbClr val="94A3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agent-overview-intro">
            <a:extLst xmlns:a="http://schemas.openxmlformats.org/drawingml/2006/main">
              <a:ext uri="{FF2B5EF4-FFF2-40B4-BE49-F238E27FC236}">
                <a16:creationId xmlns:a16="http://schemas.microsoft.com/office/drawing/2014/main" id="{539F6AA2-3396-4808-962B-D99EF5160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Agent 不是简单调用大模型，而是围绕 Schema、工具与安全策略构建的查询推理系统。</a:t>
            </a:r>
            <a:endParaRPr sz="1350" b="0">
              <a:solidFill>
                <a:srgbClr val="475569"/>
              </a:solidFill>
              <a:latin typeface="微软雅黑"/>
              <a:ea typeface="微软雅黑"/>
              <a:cs typeface="微软雅黑"/>
            </a:endParaRPr>
          </a:p>
        </p:txBody>
      </p:sp>
      <p:graphicFrame>
        <p:nvGraphicFramePr>
          <p:cNvPr id="16" name="表格 15">
            <a:extLst xmlns:a="http://schemas.openxmlformats.org/drawingml/2006/main">
              <a:ext uri="{FF2B5EF4-FFF2-40B4-BE49-F238E27FC236}">
                <a16:creationId xmlns:a16="http://schemas.microsoft.com/office/drawing/2014/main" id="{E5556E5D-7F9B-4BD8-9726-473E73F0E6E9}"/>
              </a:ext>
            </a:extLst>
          </p:cNvPr>
          <p:cNvGraphicFramePr/>
          <p:nvPr/>
        </p:nvGraphicFramePr>
        <p:xfrm>
          <a:off xmlns:a="http://schemas.openxmlformats.org/drawingml/2006/main" x="685800" y="2095500"/>
          <a:ext xmlns:a="http://schemas.openxmlformats.org/drawingml/2006/main" cx="10820400" cy="3429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606800"/>
                <a:gridCol w="3606800"/>
                <a:gridCol w="3606800"/>
              </a:tblGrid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能力</a:t>
                      </a:r>
                      <a:endParaRPr sz="12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66675" marB="66675" anchor="ctr">
                    <a:solidFill>
                      <a:srgbClr val="0B5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说明</a:t>
                      </a:r>
                      <a:endParaRPr sz="12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66675" marB="66675" anchor="ctr">
                    <a:solidFill>
                      <a:srgbClr val="0B5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价值</a:t>
                      </a:r>
                      <a:endParaRPr sz="12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66675" marB="66675" anchor="ctr">
                    <a:solidFill>
                      <a:srgbClr val="0B5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自然语言 → SQL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输入问题，自动生成对应 SQL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降低取数门槛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Schema 感知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自动获取表结构作为上下文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提升生成准确率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多轮对话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保留上下文，可追问与调整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更自然的交互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SQL 解释与优化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解释含义、分析执行计划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帮助理解与调优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流式输出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SSE 实时返回思考过程与结果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体验透明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1623903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kicker">
            <a:extLst xmlns:a="http://schemas.openxmlformats.org/drawingml/2006/main">
              <a:ext uri="{FF2B5EF4-FFF2-40B4-BE49-F238E27FC236}">
                <a16:creationId xmlns:a16="http://schemas.microsoft.com/office/drawing/2014/main" id="{46A87F3D-5A5E-48D1-A6D9-B47FC115F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rPr>
              <a:t>Agent 执行链路</a:t>
            </a:r>
            <a:endParaRPr sz="1050" b="1">
              <a:solidFill>
                <a:srgbClr val="0B5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F5DC058-80E7-4F77-896C-77E03D5BE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工具调用 + 失败重试 + few-shot，让结果更可靠</a:t>
            </a:r>
            <a:endParaRPr sz="2625" b="1">
              <a:solidFill>
                <a:srgbClr val="0F172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2F9F0018-32B9-44B0-9735-79AC08F90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533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49AEA531-D7F6-4771-890A-FF4CF330B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7796B21C-CAA9-409E-BA45-D1616C1C6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DataMind · 数据库 Agent Web 应用</a:t>
            </a:r>
            <a:endParaRPr sz="900" b="0">
              <a:solidFill>
                <a:srgbClr val="94A3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5B46B51D-544E-4B5F-BFF7-2E0D7E9A0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5341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18</a:t>
            </a:r>
            <a:endParaRPr sz="900" b="0">
              <a:solidFill>
                <a:srgbClr val="94A3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agent-node-0">
            <a:extLst xmlns:a="http://schemas.openxmlformats.org/drawingml/2006/main">
              <a:ext uri="{FF2B5EF4-FFF2-40B4-BE49-F238E27FC236}">
                <a16:creationId xmlns:a16="http://schemas.microsoft.com/office/drawing/2014/main" id="{8B425E75-AD54-4AEB-99D7-5AA4E2FCA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7665"/>
            <a:ext cx="18097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</p:sp>
      <p:sp>
        <p:nvSpPr>
          <p:cNvPr id="8" name="agent-node-title-0">
            <a:extLst xmlns:a="http://schemas.openxmlformats.org/drawingml/2006/main">
              <a:ext uri="{FF2B5EF4-FFF2-40B4-BE49-F238E27FC236}">
                <a16:creationId xmlns:a16="http://schemas.microsoft.com/office/drawing/2014/main" id="{4BE811F8-FF8D-4A7C-AEBF-CC3E9DE89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71015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0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rPr>
              <a:t>用户提问</a:t>
            </a:r>
            <a:endParaRPr sz="1500" b="1">
              <a:solidFill>
                <a:srgbClr val="0B18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agent-node-desc-0">
            <a:extLst xmlns:a="http://schemas.openxmlformats.org/drawingml/2006/main">
              <a:ext uri="{FF2B5EF4-FFF2-40B4-BE49-F238E27FC236}">
                <a16:creationId xmlns:a16="http://schemas.microsoft.com/office/drawing/2014/main" id="{5644EB9A-7A31-4744-AEDE-62E27D075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7581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9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自然语言描述需求</a:t>
            </a:r>
            <a:endParaRPr sz="975" b="0">
              <a:solidFill>
                <a:srgbClr val="47556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agent-arrow-0">
            <a:extLst xmlns:a="http://schemas.openxmlformats.org/drawingml/2006/main">
              <a:ext uri="{FF2B5EF4-FFF2-40B4-BE49-F238E27FC236}">
                <a16:creationId xmlns:a16="http://schemas.microsoft.com/office/drawing/2014/main" id="{FBBF2893-576C-48B9-BCC0-E8DF47A68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866265"/>
            <a:ext cx="2095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agent-node-1">
            <a:extLst xmlns:a="http://schemas.openxmlformats.org/drawingml/2006/main">
              <a:ext uri="{FF2B5EF4-FFF2-40B4-BE49-F238E27FC236}">
                <a16:creationId xmlns:a16="http://schemas.microsoft.com/office/drawing/2014/main" id="{63E8F1E6-32F5-49E7-9859-EBF76CB09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637665"/>
            <a:ext cx="18097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0B5FFF"/>
          </a:solidFill>
          <a:ln xmlns:a="http://schemas.openxmlformats.org/drawingml/2006/main" w="9525">
            <a:noFill/>
            <a:prstDash val="solid"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</p:sp>
      <p:sp>
        <p:nvSpPr>
          <p:cNvPr id="12" name="agent-node-title-1">
            <a:extLst xmlns:a="http://schemas.openxmlformats.org/drawingml/2006/main">
              <a:ext uri="{FF2B5EF4-FFF2-40B4-BE49-F238E27FC236}">
                <a16:creationId xmlns:a16="http://schemas.microsoft.com/office/drawing/2014/main" id="{37A51687-147D-47A5-A3F3-F2F55A453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771015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Agent 推理</a:t>
            </a:r>
            <a:endParaRPr sz="15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agent-node-desc-1">
            <a:extLst xmlns:a="http://schemas.openxmlformats.org/drawingml/2006/main">
              <a:ext uri="{FF2B5EF4-FFF2-40B4-BE49-F238E27FC236}">
                <a16:creationId xmlns:a16="http://schemas.microsoft.com/office/drawing/2014/main" id="{29DA4201-7DA8-4987-BA36-5864CFC02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07581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975" b="0">
                <a:solidFill>
                  <a:srgbClr val="DBEAFE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DBEAFE"/>
                </a:solidFill>
                <a:latin typeface="微软雅黑"/>
                <a:ea typeface="微软雅黑"/>
                <a:cs typeface="微软雅黑"/>
              </a:rPr>
              <a:t>Schema 感知 + 历史 few-shot</a:t>
            </a:r>
            <a:endParaRPr sz="975" b="0">
              <a:solidFill>
                <a:srgbClr val="DBEAF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agent-arrow-1">
            <a:extLst xmlns:a="http://schemas.openxmlformats.org/drawingml/2006/main">
              <a:ext uri="{FF2B5EF4-FFF2-40B4-BE49-F238E27FC236}">
                <a16:creationId xmlns:a16="http://schemas.microsoft.com/office/drawing/2014/main" id="{1E4545EE-0DA6-430F-AD3E-AAA638B35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866265"/>
            <a:ext cx="2095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agent-node-2">
            <a:extLst xmlns:a="http://schemas.openxmlformats.org/drawingml/2006/main">
              <a:ext uri="{FF2B5EF4-FFF2-40B4-BE49-F238E27FC236}">
                <a16:creationId xmlns:a16="http://schemas.microsoft.com/office/drawing/2014/main" id="{A0D0F3E5-DA1A-4DD3-AA79-3C001BDBA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637665"/>
            <a:ext cx="18097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0B5FFF"/>
          </a:solidFill>
          <a:ln xmlns:a="http://schemas.openxmlformats.org/drawingml/2006/main" w="9525">
            <a:noFill/>
            <a:prstDash val="solid"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</p:sp>
      <p:sp>
        <p:nvSpPr>
          <p:cNvPr id="16" name="agent-node-title-2">
            <a:extLst xmlns:a="http://schemas.openxmlformats.org/drawingml/2006/main">
              <a:ext uri="{FF2B5EF4-FFF2-40B4-BE49-F238E27FC236}">
                <a16:creationId xmlns:a16="http://schemas.microsoft.com/office/drawing/2014/main" id="{BC3E7D8E-85A1-43A4-92CF-62FFE579A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771015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工具调用</a:t>
            </a:r>
            <a:endParaRPr sz="15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agent-node-desc-2">
            <a:extLst xmlns:a="http://schemas.openxmlformats.org/drawingml/2006/main">
              <a:ext uri="{FF2B5EF4-FFF2-40B4-BE49-F238E27FC236}">
                <a16:creationId xmlns:a16="http://schemas.microsoft.com/office/drawing/2014/main" id="{9BBA72A8-2CDD-4E1C-BB88-316E372D6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07581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975" b="0">
                <a:solidFill>
                  <a:srgbClr val="DBEAFE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DBEAFE"/>
                </a:solidFill>
                <a:latin typeface="微软雅黑"/>
                <a:ea typeface="微软雅黑"/>
                <a:cs typeface="微软雅黑"/>
              </a:rPr>
              <a:t>表结构 / 采样 / EXPLAIN</a:t>
            </a:r>
            <a:endParaRPr sz="975" b="0">
              <a:solidFill>
                <a:srgbClr val="DBEAF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agent-arrow-2">
            <a:extLst xmlns:a="http://schemas.openxmlformats.org/drawingml/2006/main">
              <a:ext uri="{FF2B5EF4-FFF2-40B4-BE49-F238E27FC236}">
                <a16:creationId xmlns:a16="http://schemas.microsoft.com/office/drawing/2014/main" id="{677DFF93-3B07-4116-864A-2EDC52E2E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866265"/>
            <a:ext cx="2095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agent-node-3">
            <a:extLst xmlns:a="http://schemas.openxmlformats.org/drawingml/2006/main">
              <a:ext uri="{FF2B5EF4-FFF2-40B4-BE49-F238E27FC236}">
                <a16:creationId xmlns:a16="http://schemas.microsoft.com/office/drawing/2014/main" id="{3E0A84E6-7D1D-46D2-9F23-E1456C6F0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637665"/>
            <a:ext cx="18097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0B5FFF"/>
          </a:solidFill>
          <a:ln xmlns:a="http://schemas.openxmlformats.org/drawingml/2006/main" w="9525">
            <a:noFill/>
            <a:prstDash val="solid"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</p:sp>
      <p:sp>
        <p:nvSpPr>
          <p:cNvPr id="20" name="agent-node-title-3">
            <a:extLst xmlns:a="http://schemas.openxmlformats.org/drawingml/2006/main">
              <a:ext uri="{FF2B5EF4-FFF2-40B4-BE49-F238E27FC236}">
                <a16:creationId xmlns:a16="http://schemas.microsoft.com/office/drawing/2014/main" id="{5C797FCF-BFC0-4FAF-8E41-103F79286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771015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生成 SQL</a:t>
            </a:r>
            <a:endParaRPr sz="15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agent-node-desc-3">
            <a:extLst xmlns:a="http://schemas.openxmlformats.org/drawingml/2006/main">
              <a:ext uri="{FF2B5EF4-FFF2-40B4-BE49-F238E27FC236}">
                <a16:creationId xmlns:a16="http://schemas.microsoft.com/office/drawing/2014/main" id="{5C9CFB2A-7240-440C-8481-B8D3033CC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07581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975" b="0">
                <a:solidFill>
                  <a:srgbClr val="DBEAFE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DBEAFE"/>
                </a:solidFill>
                <a:latin typeface="微软雅黑"/>
                <a:ea typeface="微软雅黑"/>
                <a:cs typeface="微软雅黑"/>
              </a:rPr>
              <a:t>只读查询或写操作</a:t>
            </a:r>
            <a:endParaRPr sz="975" b="0">
              <a:solidFill>
                <a:srgbClr val="DBEAF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agent-arrow-3">
            <a:extLst xmlns:a="http://schemas.openxmlformats.org/drawingml/2006/main">
              <a:ext uri="{FF2B5EF4-FFF2-40B4-BE49-F238E27FC236}">
                <a16:creationId xmlns:a16="http://schemas.microsoft.com/office/drawing/2014/main" id="{889D1E7D-DC0A-40BC-A4B7-35740B946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866265"/>
            <a:ext cx="2095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agent-node-4">
            <a:extLst xmlns:a="http://schemas.openxmlformats.org/drawingml/2006/main">
              <a:ext uri="{FF2B5EF4-FFF2-40B4-BE49-F238E27FC236}">
                <a16:creationId xmlns:a16="http://schemas.microsoft.com/office/drawing/2014/main" id="{07B35A7C-E88C-4375-996F-2D867B7C6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637665"/>
            <a:ext cx="18097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</p:sp>
      <p:sp>
        <p:nvSpPr>
          <p:cNvPr id="24" name="agent-node-title-4">
            <a:extLst xmlns:a="http://schemas.openxmlformats.org/drawingml/2006/main">
              <a:ext uri="{FF2B5EF4-FFF2-40B4-BE49-F238E27FC236}">
                <a16:creationId xmlns:a16="http://schemas.microsoft.com/office/drawing/2014/main" id="{DFB456B9-640B-4BA1-BB6B-E028863FF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771015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0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rPr>
              <a:t>安全执行</a:t>
            </a:r>
            <a:endParaRPr sz="1500" b="1">
              <a:solidFill>
                <a:srgbClr val="0B18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agent-node-desc-4">
            <a:extLst xmlns:a="http://schemas.openxmlformats.org/drawingml/2006/main">
              <a:ext uri="{FF2B5EF4-FFF2-40B4-BE49-F238E27FC236}">
                <a16:creationId xmlns:a16="http://schemas.microsoft.com/office/drawing/2014/main" id="{BC32595B-460F-4665-801A-6FB4A739C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07581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9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结果 / 图表 / 解释</a:t>
            </a:r>
            <a:endParaRPr sz="975" b="0">
              <a:solidFill>
                <a:srgbClr val="47556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3F0B447C-AD38-4C7A-ABCA-1B8771107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663793"/>
            <a:ext cx="3568732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3A317B83-26AF-487A-801F-D65411068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218" y="2854293"/>
            <a:ext cx="314963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工具调用</a:t>
            </a:r>
            <a:endParaRPr sz="24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FC14D040-2C79-4DAB-B38E-1F6FB7A35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218" y="3254343"/>
            <a:ext cx="3149632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list_tables、get_columns、sample_data、explain 四个工具按需调用，最多 3 轮。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3EB456AA-83CF-4186-B19F-D533EB7F3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2663793"/>
            <a:ext cx="3568732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C42F53E1-6059-460A-BE5B-2ADC8F9F5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32" y="2854293"/>
            <a:ext cx="314963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失败</a:t>
            </a:r>
            <a:r>
              <a: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重试</a:t>
            </a:r>
            <a:endParaRPr sz="24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0817C211-4EF1-44DF-A3C1-996127D56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32" y="3254343"/>
            <a:ext cx="3149632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READ 查询执行失败时，自动把错误回传给 LLM 修正并重试，默认最多尝试 3 次（可配置）。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86D0E492-8DD7-4F0B-A8DC-5FB985A91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95" y="2663793"/>
            <a:ext cx="3568732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835B1BD0-242B-4028-B1BC-0039A2B98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245" y="2854293"/>
            <a:ext cx="314963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经验复用</a:t>
            </a:r>
            <a:endParaRPr sz="24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9A61336C-A03F-4ABD-8756-31C49A7ED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245" y="3254343"/>
            <a:ext cx="3149632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历史成功 SQL 作为 few-shot（少量示例）注入新会话，越用越准。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034CDADF-6D79-47CD-9AC8-B9823581A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493" y="5922645"/>
            <a:ext cx="11404568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不是简单调用大模型，而是把「工具调用、失败自愈、经验复用」做成工程闭环；一次对话通过 SSE 推送 thought / tool / sql / retry / result / chart 等事件，前端逐段渲染。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019287113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kicker">
            <a:extLst xmlns:a="http://schemas.openxmlformats.org/drawingml/2006/main">
              <a:ext uri="{FF2B5EF4-FFF2-40B4-BE49-F238E27FC236}">
                <a16:creationId xmlns:a16="http://schemas.microsoft.com/office/drawing/2014/main" id="{906F93F4-9E35-4ED4-8237-54C1F08CE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rPr>
              <a:t>核心亮点 · 安全执行</a:t>
            </a:r>
            <a:endParaRPr sz="1050" b="1">
              <a:solidFill>
                <a:srgbClr val="0B5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4E2389D-B2DA-457B-808D-C23823169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AI 可以生成 SQL，但不会拥有不受控的写权限</a:t>
            </a:r>
            <a:endParaRPr sz="2625" b="1">
              <a:solidFill>
                <a:srgbClr val="0F172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F983798A-B83C-4B22-860B-2B9AD06B6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533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8AF41B79-2C17-420D-9998-4C0B3D5FB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1980620D-55ED-4CCF-8C4D-6A572DE63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DataMind · 数据库 Agent Web 应用</a:t>
            </a:r>
            <a:endParaRPr sz="900" b="0">
              <a:solidFill>
                <a:srgbClr val="94A3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3EB69422-E422-47CB-B6E1-DDFCF984F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5341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19</a:t>
            </a:r>
            <a:endParaRPr sz="900" b="0">
              <a:solidFill>
                <a:srgbClr val="94A3B8"/>
              </a:solidFill>
              <a:latin typeface="微软雅黑"/>
              <a:ea typeface="微软雅黑"/>
              <a:cs typeface="微软雅黑"/>
            </a:endParaRPr>
          </a:p>
        </p:txBody>
      </p:sp>
      <p:graphicFrame>
        <p:nvGraphicFramePr>
          <p:cNvPr id="15" name="表格 14">
            <a:extLst xmlns:a="http://schemas.openxmlformats.org/drawingml/2006/main">
              <a:ext uri="{FF2B5EF4-FFF2-40B4-BE49-F238E27FC236}">
                <a16:creationId xmlns:a16="http://schemas.microsoft.com/office/drawing/2014/main" id="{0C78D56E-B1CF-453F-8990-D3FDC3E2E918}"/>
              </a:ext>
            </a:extLst>
          </p:cNvPr>
          <p:cNvGraphicFramePr/>
          <p:nvPr/>
        </p:nvGraphicFramePr>
        <p:xfrm>
          <a:off xmlns:a="http://schemas.openxmlformats.org/drawingml/2006/main" x="685800" y="1638300"/>
          <a:ext xmlns:a="http://schemas.openxmlformats.org/drawingml/2006/main" cx="10820400" cy="2857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606800"/>
                <a:gridCol w="3606800"/>
                <a:gridCol w="3606800"/>
              </a:tblGrid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操作类型</a:t>
                      </a:r>
                      <a:endParaRPr sz="12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66675" marB="66675" anchor="ctr">
                    <a:solidFill>
                      <a:srgbClr val="0B18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授权方式</a:t>
                      </a:r>
                      <a:endParaRPr sz="12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66675" marB="66675" anchor="ctr">
                    <a:solidFill>
                      <a:srgbClr val="0B18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执行说明</a:t>
                      </a:r>
                      <a:endParaRPr sz="12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66675" marB="66675" anchor="ctr">
                    <a:solidFill>
                      <a:srgbClr val="0B183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SELECT / SHOW / DESC / EXPLAIN</a:t>
                      </a:r>
                      <a:endParaRPr sz="1275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自动执行</a:t>
                      </a:r>
                      <a:endParaRPr sz="1275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只读查询直接返回结果</a:t>
                      </a:r>
                      <a:endParaRPr sz="1275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INSERT / UPDATE / DELETE</a:t>
                      </a:r>
                      <a:endParaRPr sz="1275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手动确认</a:t>
                      </a:r>
                      <a:endParaRPr sz="1275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返回影响预览与 execution_id</a:t>
                      </a:r>
                      <a:endParaRPr sz="1275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CREATE / ALTER / DROP / TRUNCATE</a:t>
                      </a:r>
                      <a:endParaRPr sz="1275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高危确认</a:t>
                      </a:r>
                      <a:endParaRPr sz="1275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红色警告并展示完整 DDL</a:t>
                      </a:r>
                      <a:endParaRPr sz="1275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多条混合 SQL</a:t>
                      </a:r>
                      <a:endParaRPr sz="1275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逐条确认</a:t>
                      </a:r>
                      <a:endParaRPr sz="1275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按 SQL 类型分别处理</a:t>
                      </a:r>
                      <a:endParaRPr sz="1275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</a:tr>
            </a:tbl>
          </a:graphicData>
        </a:graphic>
      </p:graphicFrame>
      <p:sp>
        <p:nvSpPr>
          <p:cNvPr id="8" name="security-callout">
            <a:extLst xmlns:a="http://schemas.openxmlformats.org/drawingml/2006/main">
              <a:ext uri="{FF2B5EF4-FFF2-40B4-BE49-F238E27FC236}">
                <a16:creationId xmlns:a16="http://schemas.microsoft.com/office/drawing/2014/main" id="{EEFBE0C9-7557-483D-9A08-8E4337BB7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B45309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B45309"/>
                </a:solidFill>
                <a:latin typeface="微软雅黑"/>
                <a:ea typeface="微软雅黑"/>
                <a:cs typeface="微软雅黑"/>
              </a:rPr>
              <a:t>execution_id 暂存待确认执行，5 分钟过期；用户确认后再次鉴权，全程审计。</a:t>
            </a:r>
            <a:endParaRPr sz="1200" b="1">
              <a:solidFill>
                <a:srgbClr val="B45309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235989665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genda-num-0">
            <a:extLst xmlns:a="http://schemas.openxmlformats.org/drawingml/2006/main">
              <a:ext uri="{FF2B5EF4-FFF2-40B4-BE49-F238E27FC236}">
                <a16:creationId xmlns:a16="http://schemas.microsoft.com/office/drawing/2014/main" id="{7957A870-BE3A-46D9-85F3-BE7BCB024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95450"/>
            <a:ext cx="104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34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rPr>
              <a:t>04</a:t>
            </a:r>
            <a:endParaRPr sz="3450" b="1">
              <a:solidFill>
                <a:srgbClr val="0B5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agenda-title-0">
            <a:extLst xmlns:a="http://schemas.openxmlformats.org/drawingml/2006/main">
              <a:ext uri="{FF2B5EF4-FFF2-40B4-BE49-F238E27FC236}">
                <a16:creationId xmlns:a16="http://schemas.microsoft.com/office/drawing/2014/main" id="{8161B2D0-5311-4587-8A18-EA19A54BA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7526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rPr>
              <a:t>工程与治理</a:t>
            </a:r>
            <a:endParaRPr sz="1950" b="1">
              <a:solidFill>
                <a:srgbClr val="0B18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agenda-desc-0">
            <a:extLst xmlns:a="http://schemas.openxmlformats.org/drawingml/2006/main">
              <a:ext uri="{FF2B5EF4-FFF2-40B4-BE49-F238E27FC236}">
                <a16:creationId xmlns:a16="http://schemas.microsoft.com/office/drawing/2014/main" id="{C9FFE381-D92A-4FFE-B980-9E5CC721F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1336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架构分层、工程质量、审计与监控</a:t>
            </a:r>
            <a:endParaRPr sz="1275" b="0">
              <a:solidFill>
                <a:srgbClr val="475569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78337595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5BCD3BE-DC63-4E79-9FAC-804D6D4B1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工程质量：架构、测试与交付</a:t>
            </a:r>
            <a:endParaRPr sz="33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DC5AF16-E0E4-4C8E-AE59-68323D4D6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21</a:t>
            </a:r>
            <a:endParaRPr sz="10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974F2376-0961-4F8F-B370-7884C5C9E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66850"/>
            <a:ext cx="11404568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分层解耦、自动化测试与静态检查，保证系统长期可维护、可扩展。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2E98F11D-B91D-4925-8ED4-7C7CD0BD3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C5B4D8CF-3A7F-46C4-9CB3-2DBC3F16D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218" y="3213068"/>
            <a:ext cx="314963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架构与扩展性</a:t>
            </a:r>
            <a:endParaRPr sz="24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2641BF55-154C-4290-BBAE-14065FFB4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218" y="3613118"/>
            <a:ext cx="3149632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routers → services → adapters三层解耦；新增数据库只需实现适配器并注册；LLM统一抽象OpenAI / Claude / Ollama。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70B59ACA-75E2-4F15-801C-368F9DAA5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00C4ED98-7339-4C71-9B3D-F60EB20AC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32" y="3213068"/>
            <a:ext cx="314963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代码质量保障</a:t>
            </a:r>
            <a:endParaRPr sz="24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488C24B0-1D02-4131-9C7A-512D26043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32" y="3613118"/>
            <a:ext cx="3149632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167项后端测试覆盖SQL分级、连接池、权限、审计与分页等关键路径；并通过ruff静态检查与前端vue-tsc类型检查。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0BD528B8-7E8B-424E-BDFE-BE643AF59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95" y="3022568"/>
            <a:ext cx="3568732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6C799A96-80D9-4407-8231-C581A749A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245" y="3213068"/>
            <a:ext cx="314963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一致性与交付</a:t>
            </a:r>
            <a:endParaRPr sz="24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445A0B91-6D69-4E8C-941E-F5930A3C2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245" y="3613118"/>
            <a:ext cx="3149632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统一响应{code, message, data}格式与全局异常处理；结构变更走Alembic迁移；Docker多阶段构建交付单镜像。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97300486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52B894E5-F773-4E8C-A9C0-C161175CA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rPr>
              <a:t>审计与监控</a:t>
            </a:r>
            <a:endParaRPr sz="1050" b="1">
              <a:solidFill>
                <a:srgbClr val="0B5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5228D7B-0E42-40D9-8744-E1D50F479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让每一次操作都可追溯、可观察</a:t>
            </a:r>
            <a:endParaRPr sz="2625" b="1">
              <a:solidFill>
                <a:srgbClr val="0F172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28A6397C-9F94-460B-BB1F-34D12F23E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533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3BD98A4B-8B80-4196-9F47-0BCE6DD38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FDB97C70-0EC0-45A4-A97F-095BB70F1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DataMind · 数据库 Agent Web 应用</a:t>
            </a:r>
            <a:endParaRPr sz="900" b="0">
              <a:solidFill>
                <a:srgbClr val="94A3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8EE7A21B-987E-4A11-991B-D0A5FCE09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5341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22</a:t>
            </a:r>
            <a:endParaRPr sz="900" b="0">
              <a:solidFill>
                <a:srgbClr val="94A3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audit-surface">
            <a:extLst xmlns:a="http://schemas.openxmlformats.org/drawingml/2006/main">
              <a:ext uri="{FF2B5EF4-FFF2-40B4-BE49-F238E27FC236}">
                <a16:creationId xmlns:a16="http://schemas.microsoft.com/office/drawing/2014/main" id="{B93BF8A7-EFF0-4417-A0CC-C059529CF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5219700" cy="44958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</p:sp>
      <p:sp>
        <p:nvSpPr>
          <p:cNvPr id="8" name="audit-title">
            <a:extLst xmlns:a="http://schemas.openxmlformats.org/drawingml/2006/main">
              <a:ext uri="{FF2B5EF4-FFF2-40B4-BE49-F238E27FC236}">
                <a16:creationId xmlns:a16="http://schemas.microsoft.com/office/drawing/2014/main" id="{13FFE750-CB05-47A7-9027-D019A0819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097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00" b="1">
                <a:solidFill>
                  <a:srgbClr val="B45309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B45309"/>
                </a:solidFill>
                <a:latin typeface="微软雅黑"/>
                <a:ea typeface="微软雅黑"/>
                <a:cs typeface="微软雅黑"/>
              </a:rPr>
              <a:t>审计日志</a:t>
            </a:r>
            <a:endParaRPr sz="1800" b="1">
              <a:solidFill>
                <a:srgbClr val="B4530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audit-list">
            <a:extLst xmlns:a="http://schemas.openxmlformats.org/drawingml/2006/main">
              <a:ext uri="{FF2B5EF4-FFF2-40B4-BE49-F238E27FC236}">
                <a16:creationId xmlns:a16="http://schemas.microsoft.com/office/drawing/2014/main" id="{F7651480-533F-4355-988C-584A62C40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24100"/>
            <a:ext cx="46101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indent="0" algn="l">
              <a:lnSpc>
                <a:spcPct val="20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t>登录、SQL 执行、Agent 动作全量留痕</a:t>
            </a:r>
          </a:p>
          <a:p xmlns:a="http://schemas.openxmlformats.org/drawingml/2006/main">
            <a:pPr indent="0" algn="l">
              <a:lnSpc>
                <a:spcPct val="20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t>操作类型、SQL 文本、状态可追溯</a:t>
            </a:r>
          </a:p>
          <a:p xmlns:a="http://schemas.openxmlformats.org/drawingml/2006/main">
            <a:pPr indent="0" algn="l">
              <a:lnSpc>
                <a:spcPct val="20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t>导出 CSV / XLSX</a:t>
            </a:r>
          </a:p>
          <a:p xmlns:a="http://schemas.openxmlformats.org/drawingml/2006/main">
            <a:pPr indent="0" algn="l">
              <a:lnSpc>
                <a:spcPct val="20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t>audit_retention_days 默认 180 天自动清理</a:t>
            </a:r>
          </a:p>
        </p:txBody>
      </p:sp>
      <p:sp>
        <p:nvSpPr>
          <p:cNvPr id="10" name="monitor-surface">
            <a:extLst xmlns:a="http://schemas.openxmlformats.org/drawingml/2006/main">
              <a:ext uri="{FF2B5EF4-FFF2-40B4-BE49-F238E27FC236}">
                <a16:creationId xmlns:a16="http://schemas.microsoft.com/office/drawing/2014/main" id="{DA9FA80F-1F41-4775-A5D2-396E00781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24000"/>
            <a:ext cx="5219700" cy="44958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</p:sp>
      <p:sp>
        <p:nvSpPr>
          <p:cNvPr id="11" name="monitor-title">
            <a:extLst xmlns:a="http://schemas.openxmlformats.org/drawingml/2006/main">
              <a:ext uri="{FF2B5EF4-FFF2-40B4-BE49-F238E27FC236}">
                <a16:creationId xmlns:a16="http://schemas.microsoft.com/office/drawing/2014/main" id="{B5EAC99D-5CEA-45C1-8996-391E162C0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8097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0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rPr>
              <a:t>运维监控</a:t>
            </a:r>
            <a:endParaRPr sz="1800" b="1">
              <a:solidFill>
                <a:srgbClr val="0B5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monitor-list">
            <a:extLst xmlns:a="http://schemas.openxmlformats.org/drawingml/2006/main">
              <a:ext uri="{FF2B5EF4-FFF2-40B4-BE49-F238E27FC236}">
                <a16:creationId xmlns:a16="http://schemas.microsoft.com/office/drawing/2014/main" id="{4489C668-D990-4428-B635-CC53B9139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24100"/>
            <a:ext cx="46101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indent="0" algn="l">
              <a:lnSpc>
                <a:spcPct val="20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t>连接概览与慢查询统计</a:t>
            </a:r>
          </a:p>
          <a:p xmlns:a="http://schemas.openxmlformats.org/drawingml/2006/main">
            <a:pPr indent="0" algn="l">
              <a:lnSpc>
                <a:spcPct val="20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t>不同环境表结构对比</a:t>
            </a:r>
          </a:p>
          <a:p xmlns:a="http://schemas.openxmlformats.org/drawingml/2006/main">
            <a:pPr indent="0" algn="l">
              <a:lnSpc>
                <a:spcPct val="20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t>定时导出任务状态</a:t>
            </a:r>
          </a:p>
          <a:p xmlns:a="http://schemas.openxmlformats.org/drawingml/2006/main">
            <a:pPr indent="0" algn="l">
              <a:lnSpc>
                <a:spcPct val="20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t>/metrics 暴露 Prometheus 指标</a:t>
            </a:r>
          </a:p>
        </p:txBody>
      </p:sp>
    </p:spTree>
    <p:extLst>
      <p:ext uri="{BB962C8B-B14F-4D97-AF65-F5344CB8AC3E}">
        <p14:creationId xmlns:p14="http://schemas.microsoft.com/office/powerpoint/2010/main" val="153412335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5BCD3BE-DC63-4E79-9FAC-804D6D4B1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技术亮点 ③：安全、审计与可观测</a:t>
            </a:r>
            <a:endParaRPr sz="33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DC5AF16-E0E4-4C8E-AE59-68323D4D6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23</a:t>
            </a:r>
            <a:endParaRPr sz="10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974F2376-0961-4F8F-B370-7884C5C9E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66850"/>
            <a:ext cx="11404568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密钥加密、分级授权、全量审计、指标暴露与测试覆盖，构成可交付的企业级完整性。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2E98F11D-B91D-4925-8ED4-7C7CD0BD3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C5B4D8CF-3A7F-46C4-9CB3-2DBC3F16D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218" y="3213068"/>
            <a:ext cx="314963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加密与认证</a:t>
            </a:r>
            <a:endParaRPr sz="24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2641BF55-154C-4290-BBAE-14065FFB4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218" y="3613118"/>
            <a:ext cx="3149632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数据库密码、SSH 私钥、AI Key 经 Fernet 加密入库，接口只返回 has_password / has_key；密码 pbkdf2 哈希，会话使用 httponly Cookie。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70B59ACA-75E2-4F15-801C-368F9DAA5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00C4ED98-7339-4C71-9B3D-F60EB20AC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32" y="3213068"/>
            <a:ext cx="314963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权限与审计</a:t>
            </a:r>
            <a:endParaRPr sz="24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488C24B0-1D02-4131-9C7A-512D26043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32" y="3613118"/>
            <a:ext cx="3149632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按角色控制权限</a:t>
            </a: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；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READ / DML / DDL 分级授权；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登录、SQL、Agent 动作全量留痕</a:t>
            </a: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；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操作类型、SQL 文本、状态可追溯</a:t>
            </a: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。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0BD528B8-7E8B-424E-BDFE-BE643AF59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95" y="3022568"/>
            <a:ext cx="3568732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6C799A96-80D9-4407-8231-C581A749A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245" y="3213068"/>
            <a:ext cx="314963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可观测与部署</a:t>
            </a:r>
            <a:endParaRPr sz="24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445A0B91-6D69-4E8C-941E-F5930A3C2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245" y="3613118"/>
            <a:ext cx="3149632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/metrics 暴露请求数、延迟与 SQL 执行次数；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167 项后端测试 + Playwright E2E；Docker 多阶段构建，单端口一键启动。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9730048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132A7BF-1773-4983-B209-6FABD794B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</a:t>
            </a:r>
            <a:endParaRPr sz="10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3AEDC9E7-916F-4249-B718-25D158E94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287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让每个人都能安全、高效地与数据对话</a:t>
            </a:r>
            <a:endParaRPr sz="3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223BD83E-727B-4E4A-A4D9-2C96434C2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571750"/>
            <a:ext cx="11404568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72630D6B-0D2F-474D-B1A1-6DE208AFB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052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下一步：补齐更多数据库对象支持，扩展 Agent 工具（索引建议、慢查询根因分析），增加团队协作与报表订阅。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699863902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kicker">
            <a:extLst xmlns:a="http://schemas.openxmlformats.org/drawingml/2006/main">
              <a:ext uri="{FF2B5EF4-FFF2-40B4-BE49-F238E27FC236}">
                <a16:creationId xmlns:a16="http://schemas.microsoft.com/office/drawing/2014/main" id="{E567D9B0-A6E5-4F34-9C9C-6B84CD179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rPr>
              <a:t>附录 · 问答准备</a:t>
            </a:r>
            <a:endParaRPr sz="1050" b="1">
              <a:solidFill>
                <a:srgbClr val="0B5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8C4CAC1-FC0A-4F57-9064-023D100A1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常见提问与应答要点</a:t>
            </a:r>
            <a:endParaRPr sz="2625" b="1">
              <a:solidFill>
                <a:srgbClr val="0F172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191C58BE-86BC-4B34-A1B0-E256FA7F8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533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E82F904A-9599-40F1-89EF-2A970232E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252F4198-AB20-4750-8E20-ECE66B846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DataMind · 数据库 Agent Web 应用</a:t>
            </a:r>
            <a:endParaRPr sz="900" b="0">
              <a:solidFill>
                <a:srgbClr val="94A3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F3647B1A-CEC5-4EDA-80BD-AC53EBC80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5341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25</a:t>
            </a:r>
            <a:endParaRPr sz="900" b="0">
              <a:solidFill>
                <a:srgbClr val="94A3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agent-overview-intro">
            <a:extLst xmlns:a="http://schemas.openxmlformats.org/drawingml/2006/main">
              <a:ext uri="{FF2B5EF4-FFF2-40B4-BE49-F238E27FC236}">
                <a16:creationId xmlns:a16="http://schemas.microsoft.com/office/drawing/2014/main" id="{539F6AA2-3396-4808-962B-D99EF5160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把评委最可能追问的问题，先给出可验证的答案。</a:t>
            </a:r>
            <a:endParaRPr sz="1350" b="0">
              <a:solidFill>
                <a:srgbClr val="475569"/>
              </a:solidFill>
              <a:latin typeface="微软雅黑"/>
              <a:ea typeface="微软雅黑"/>
              <a:cs typeface="微软雅黑"/>
            </a:endParaRPr>
          </a:p>
        </p:txBody>
      </p:sp>
      <p:graphicFrame>
        <p:nvGraphicFramePr>
          <p:cNvPr id="16" name="表格 15">
            <a:extLst xmlns:a="http://schemas.openxmlformats.org/drawingml/2006/main">
              <a:ext uri="{FF2B5EF4-FFF2-40B4-BE49-F238E27FC236}">
                <a16:creationId xmlns:a16="http://schemas.microsoft.com/office/drawing/2014/main" id="{E5556E5D-7F9B-4BD8-9726-473E73F0E6E9}"/>
              </a:ext>
            </a:extLst>
          </p:cNvPr>
          <p:cNvGraphicFramePr/>
          <p:nvPr/>
        </p:nvGraphicFramePr>
        <p:xfrm>
          <a:off xmlns:a="http://schemas.openxmlformats.org/drawingml/2006/main" x="685800" y="2095500"/>
          <a:ext xmlns:a="http://schemas.openxmlformats.org/drawingml/2006/main" cx="10820400" cy="3429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606800"/>
                <a:gridCol w="3606800"/>
                <a:gridCol w="3606800"/>
              </a:tblGrid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评委追问</a:t>
                      </a:r>
                      <a:endParaRPr sz="12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66675" marB="66675" anchor="ctr">
                    <a:solidFill>
                      <a:srgbClr val="0B5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应答要点</a:t>
                      </a:r>
                      <a:endParaRPr sz="12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66675" marB="66675" anchor="ctr">
                    <a:solidFill>
                      <a:srgbClr val="0B5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对应能力</a:t>
                      </a:r>
                      <a:endParaRPr sz="12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66675" marB="66675" anchor="ctr">
                    <a:solidFill>
                      <a:srgbClr val="0B5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AI 会不会误删数据？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写操作一律二次确认，DDL 高危提示；确认记录一次性消费、5 分钟过期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分级授权 + 确认机制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数据库密码如何保护？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密码、SSH 私钥、AI Key 均为 Fernet 加密，接口只返回 has_key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密钥可环境变量注入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支持哪些数据库？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 类数据源，OceanBase / GoldenDB 复用 MySQL 协议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适配器层可扩展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大结果集会不会卡死？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分页 + 最大行数限制，Agent 结果截断提示，前端虚拟滚动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端到端限流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部署与运维成本？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单机 Docker 一键启动、单端口，/metrics 可接入现有监控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无外部依赖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16239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2026-10-14T07:45:21.9190000Z</dcterms:created>
  <dcterms:modified xsi:type="dcterms:W3CDTF">2026-10-14T07:45:21.9190000Z</dcterms:modified>
</coreProperties>
</file>