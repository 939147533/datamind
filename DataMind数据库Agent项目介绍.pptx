
<file path=[Content_Types].xml><?xml version="1.0" encoding="utf-8"?>
<Types xmlns="http://schemas.openxmlformats.org/package/2006/content-types">
  <Default Extension="mp4" ContentType="video/mp4"/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fe72fc69bc48d1" /><Relationship Type="http://schemas.openxmlformats.org/officeDocument/2006/relationships/extended-properties" Target="/docProps/app.xml" Id="R2e8002b616594f5d" /><Relationship Type="http://schemas.openxmlformats.org/officeDocument/2006/relationships/officeDocument" Target="/ppt/presentation.xml" Id="Rccd97611e6a645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d90532dacf4629"/>
  </p:sldMasterIdLst>
  <p:notesMasterIdLst>
    <p:notesMasterId xmlns:r="http://schemas.openxmlformats.org/officeDocument/2006/relationships" r:id="R4dad6aeed4ab4d66"/>
  </p:notesMasterIdLst>
  <p:sldIdLst>
    <p:sldId xmlns:r="http://schemas.openxmlformats.org/officeDocument/2006/relationships" id="256" r:id="R6f1dc031be804ce7"/>
    <p:sldId xmlns:r="http://schemas.openxmlformats.org/officeDocument/2006/relationships" id="257" r:id="Rb24d540301314a66"/>
    <p:sldId xmlns:r="http://schemas.openxmlformats.org/officeDocument/2006/relationships" id="258" r:id="Rb8fd2510e3e54a3a"/>
    <p:sldId xmlns:r="http://schemas.openxmlformats.org/officeDocument/2006/relationships" id="259" r:id="R97e091ee8e7f4eac"/>
    <p:sldId xmlns:r="http://schemas.openxmlformats.org/officeDocument/2006/relationships" id="260" r:id="R416fa33ea8d54950"/>
    <p:sldId xmlns:r="http://schemas.openxmlformats.org/officeDocument/2006/relationships" id="261" r:id="R465f978bd90a4fa1"/>
    <p:sldId xmlns:r="http://schemas.openxmlformats.org/officeDocument/2006/relationships" id="262" r:id="R8d5deae15a034cbe"/>
    <p:sldId xmlns:r="http://schemas.openxmlformats.org/officeDocument/2006/relationships" id="263" r:id="Rf9cf31cbf56047ba"/>
    <p:sldId xmlns:r="http://schemas.openxmlformats.org/officeDocument/2006/relationships" id="264" r:id="R908777aecad34ab3"/>
    <p:sldId xmlns:r="http://schemas.openxmlformats.org/officeDocument/2006/relationships" id="265" r:id="R642c759780ec4dd1"/>
    <p:sldId xmlns:r="http://schemas.openxmlformats.org/officeDocument/2006/relationships" id="266" r:id="R3d6c708e1ae24ac6"/>
    <p:sldId xmlns:r="http://schemas.openxmlformats.org/officeDocument/2006/relationships" id="267" r:id="R9fd361745d2646b6"/>
    <p:sldId xmlns:r="http://schemas.openxmlformats.org/officeDocument/2006/relationships" id="268" r:id="Ra7344703c1194d71"/>
    <p:sldId xmlns:r="http://schemas.openxmlformats.org/officeDocument/2006/relationships" id="269" r:id="R6bdefd1de2b64fdc"/>
    <p:sldId xmlns:r="http://schemas.openxmlformats.org/officeDocument/2006/relationships" id="270" r:id="R19fbcd83afdc453e"/>
    <p:sldId xmlns:r="http://schemas.openxmlformats.org/officeDocument/2006/relationships" id="271" r:id="Rf894f33b386241e5"/>
    <p:sldId xmlns:r="http://schemas.openxmlformats.org/officeDocument/2006/relationships" id="272" r:id="R9a12078416f04aa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6a0424e2564cc1" /><Relationship Type="http://schemas.openxmlformats.org/officeDocument/2006/relationships/slideMaster" Target="/ppt/slideMasters/slideMaster1.xml" Id="R02d90532dacf4629" /><Relationship Type="http://schemas.openxmlformats.org/officeDocument/2006/relationships/notesMaster" Target="/ppt/notesMasters/notesMaster1.xml" Id="R4dad6aeed4ab4d66" /><Relationship Type="http://schemas.openxmlformats.org/officeDocument/2006/relationships/presProps" Target="/ppt/presProps.xml" Id="Ree74101e9ef44441" /><Relationship Type="http://schemas.openxmlformats.org/officeDocument/2006/relationships/tableStyles" Target="/ppt/tableStyles.xml" Id="R74a262beb8804a7c" /><Relationship Type="http://schemas.openxmlformats.org/officeDocument/2006/relationships/slide" Target="/ppt/slides/slide1.xml" Id="R6f1dc031be804ce7" /><Relationship Type="http://schemas.openxmlformats.org/officeDocument/2006/relationships/slide" Target="/ppt/slides/slide2.xml" Id="Rb24d540301314a66" /><Relationship Type="http://schemas.openxmlformats.org/officeDocument/2006/relationships/slide" Target="/ppt/slides/slide3.xml" Id="Rb8fd2510e3e54a3a" /><Relationship Type="http://schemas.openxmlformats.org/officeDocument/2006/relationships/slide" Target="/ppt/slides/slide4.xml" Id="R97e091ee8e7f4eac" /><Relationship Type="http://schemas.openxmlformats.org/officeDocument/2006/relationships/slide" Target="/ppt/slides/slide5.xml" Id="R416fa33ea8d54950" /><Relationship Type="http://schemas.openxmlformats.org/officeDocument/2006/relationships/slide" Target="/ppt/slides/slide6.xml" Id="R465f978bd90a4fa1" /><Relationship Type="http://schemas.openxmlformats.org/officeDocument/2006/relationships/slide" Target="/ppt/slides/slide7.xml" Id="R8d5deae15a034cbe" /><Relationship Type="http://schemas.openxmlformats.org/officeDocument/2006/relationships/slide" Target="/ppt/slides/slide8.xml" Id="Rf9cf31cbf56047ba" /><Relationship Type="http://schemas.openxmlformats.org/officeDocument/2006/relationships/slide" Target="/ppt/slides/slide9.xml" Id="R908777aecad34ab3" /><Relationship Type="http://schemas.openxmlformats.org/officeDocument/2006/relationships/slide" Target="/ppt/slides/slide10.xml" Id="R642c759780ec4dd1" /><Relationship Type="http://schemas.openxmlformats.org/officeDocument/2006/relationships/slide" Target="/ppt/slides/slide11.xml" Id="R3d6c708e1ae24ac6" /><Relationship Type="http://schemas.openxmlformats.org/officeDocument/2006/relationships/slide" Target="/ppt/slides/slide12.xml" Id="R9fd361745d2646b6" /><Relationship Type="http://schemas.openxmlformats.org/officeDocument/2006/relationships/slide" Target="/ppt/slides/slide13.xml" Id="Ra7344703c1194d71" /><Relationship Type="http://schemas.openxmlformats.org/officeDocument/2006/relationships/slide" Target="/ppt/slides/slide14.xml" Id="R6bdefd1de2b64fdc" /><Relationship Type="http://schemas.openxmlformats.org/officeDocument/2006/relationships/slide" Target="/ppt/slides/slide15.xml" Id="R19fbcd83afdc453e" /><Relationship Type="http://schemas.openxmlformats.org/officeDocument/2006/relationships/slide" Target="/ppt/slides/slide16.xml" Id="Rf894f33b386241e5" /><Relationship Type="http://schemas.openxmlformats.org/officeDocument/2006/relationships/slide" Target="/ppt/slides/slide17.xml" Id="R9a12078416f04a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a6120e1e8b47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fa11180b7a4629" /><Relationship Type="http://schemas.openxmlformats.org/officeDocument/2006/relationships/notesMaster" Target="/ppt/notesMasters/notesMaster1.xml" Id="R1e834d0bf5c64c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2d54ca9cfb42e6" /><Relationship Type="http://schemas.openxmlformats.org/officeDocument/2006/relationships/notesMaster" Target="/ppt/notesMasters/notesMaster1.xml" Id="R632c2ff7389f410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dc5114ee394447" /><Relationship Type="http://schemas.openxmlformats.org/officeDocument/2006/relationships/notesMaster" Target="/ppt/notesMasters/notesMaster1.xml" Id="R59949924b9504a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070eca340f243cf" /><Relationship Type="http://schemas.openxmlformats.org/officeDocument/2006/relationships/notesMaster" Target="/ppt/notesMasters/notesMaster1.xml" Id="Rddd26e111a524e3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3b17de7d064ead" /><Relationship Type="http://schemas.openxmlformats.org/officeDocument/2006/relationships/notesMaster" Target="/ppt/notesMasters/notesMaster1.xml" Id="Raa027d35345b438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ac04ea53324fd0" /><Relationship Type="http://schemas.openxmlformats.org/officeDocument/2006/relationships/notesMaster" Target="/ppt/notesMasters/notesMaster1.xml" Id="R6e90719e5b92419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78f988a1004da3" /><Relationship Type="http://schemas.openxmlformats.org/officeDocument/2006/relationships/notesMaster" Target="/ppt/notesMasters/notesMaster1.xml" Id="R03b73a85c5a14b9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fec2fd9000c4aad" /><Relationship Type="http://schemas.openxmlformats.org/officeDocument/2006/relationships/notesMaster" Target="/ppt/notesMasters/notesMaster1.xml" Id="Ree5325ddb157445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2a762ba2aa34dab" /><Relationship Type="http://schemas.openxmlformats.org/officeDocument/2006/relationships/notesMaster" Target="/ppt/notesMasters/notesMaster1.xml" Id="R2aa5920212644ec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8cf1e60e1be49f5" /><Relationship Type="http://schemas.openxmlformats.org/officeDocument/2006/relationships/notesMaster" Target="/ppt/notesMasters/notesMaster1.xml" Id="Rf76c4d23744d481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34fb4378b0f44c6" /><Relationship Type="http://schemas.openxmlformats.org/officeDocument/2006/relationships/notesMaster" Target="/ppt/notesMasters/notesMaster1.xml" Id="R981143c6f66f416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d5de48c04b94b90" /><Relationship Type="http://schemas.openxmlformats.org/officeDocument/2006/relationships/notesMaster" Target="/ppt/notesMasters/notesMaster1.xml" Id="R2fb76b4344d5419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a0b8684b60b4df1" /><Relationship Type="http://schemas.openxmlformats.org/officeDocument/2006/relationships/notesMaster" Target="/ppt/notesMasters/notesMaster1.xml" Id="Rb5bd9845448d46f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c66ca2410b44294" /><Relationship Type="http://schemas.openxmlformats.org/officeDocument/2006/relationships/notesMaster" Target="/ppt/notesMasters/notesMaster1.xml" Id="R3879fa03092044c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f8b931dfe504118" /><Relationship Type="http://schemas.openxmlformats.org/officeDocument/2006/relationships/notesMaster" Target="/ppt/notesMasters/notesMaster1.xml" Id="Rb20bc9645c954a3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461bb5a6c584eca" /><Relationship Type="http://schemas.openxmlformats.org/officeDocument/2006/relationships/notesMaster" Target="/ppt/notesMasters/notesMaster1.xml" Id="R3ee6d52869c04b5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ccb05cb83bf46f6" /><Relationship Type="http://schemas.openxmlformats.org/officeDocument/2006/relationships/notesMaster" Target="/ppt/notesMasters/notesMaster1.xml" Id="R14e7626e43624a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 15 秒：DataMind 是一个前后端分离、由 AI Agent 驱动的数据库查询与运维工作台。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来源：仓库 需求说明书V2.0/V3.0.md、AGENTS.md、README.md；界面截图取自本地运行实例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先讲问题，再讲产品：今天的取数链路长、工具散、AI 不可控。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来源：仓库 需求说明书V2.0/V3.0.md、AGENTS.md、README.md；界面截图取自本地运行实例；痛点归纳自 需求说明书V3.0.md 与 项目介绍.md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定位一句话：不会 SQL 的人也能查数，会 SQL 的人更快。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来源：仓库 需求说明书V2.0/V3.0.md、AGENTS.md、README.md；界面截图取自本地运行实例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不逐条念功能，强调模块围绕工作流组织：连接、查询、分析、报表、管理。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来源：仓库 需求说明书V2.0/V3.0.md、AGENTS.md、README.md；界面截图取自本地运行实例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40 秒），包含两个查询案例：</a:t>
            </a:r>
          </a:p>
          <a:p xmlns:a="http://schemas.openxmlformats.org/drawingml/2006/main">
            <a:r>
              <a:t>案例一：选择「本地演示库 (SQLite)」，提问「查询所有用户信息」，Agent 生成 SELECT id, username, email, age, created_at FROM users 并返回 8 条记录；</a:t>
            </a:r>
          </a:p>
          <a:p xmlns:a="http://schemas.openxmlformats.org/drawingml/2006/main">
            <a:r>
              <a:t>案例二：新建对话并切换到「Oracle（UAT）」，提问「查询所有机构，列出机构号、机构名称、机构层级和所在地区，按机构号排序」，Agent 生成 SELECT ORG_ID, ORG_NAME, ORG_LEVEL, REGION FROM BANK.T_ORG ORDER BY ORG_ID，返回 55 家机构（HEAD/BRANCH/SUB_BRANCH 层级）；结果出来后点击 CSV 将结果集导出（导出成功提示 + 浏览器下载，CSV 共 55 行数据）。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视频为本地运行实例的录屏；数据源为内置演示库（SQLite）与远端 Oracle UAT 库（T_ORG 表）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60 秒），数据源为 Oracle（UAT）：</a:t>
            </a:r>
          </a:p>
          <a:p xmlns:a="http://schemas.openxmlformats.org/drawingml/2006/main">
            <a:r>
              <a:t>案例一：提问「按分行层级统计近30天各个分行的交易笔数、交易总额，生成图表」，Agent 生成 SELECT o.ORG_NAME AS BRANCH_NAME, COUNT(t.LOG_ID) AS TRANS_CNT, ROUND(SUM(t.AMOUNT), 2) AS TRANS_AMT ... WHERE o.ORG_LEVEL = 'BRANCH' AND t.TRANS_TIME &gt;= TRUNC(SYSDATE) - 30 GROUP BY o.ORG_NAME，返回 6 家分行（360～1380 笔），自动渲染柱状图并点击「保存到可视化报表」；</a:t>
            </a:r>
          </a:p>
          <a:p xmlns:a="http://schemas.openxmlformats.org/drawingml/2006/main">
            <a:r>
              <a:t>案例二：新建对话后提问「近30天成功交易笔数和金额趋势，生成图表」，Agent 生成按 TRANS_TIME 逐日聚合（STATUS=SUCCESS）的 SQL，返回 31 天数据，自动选择折线图并同样保存到可视化报表；</a:t>
            </a:r>
          </a:p>
          <a:p xmlns:a="http://schemas.openxmlformats.org/drawingml/2006/main">
            <a:r>
              <a:t>结尾进入「可视化报表」页，可见刚保存的两张图表（笔数与金额量级差异大时前端自动拆分双 Y 轴）。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视频为本地运行实例的录屏；数据源为远端 Oracle UAT 库（T_TRANS_LOG / T_ORG）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55 秒），完整演示 SQL 工作台与 Agent 协同：</a:t>
            </a:r>
          </a:p>
          <a:p xmlns:a="http://schemas.openxmlformats.org/drawingml/2006/main">
            <a:r>
              <a:t>案例一：数据源切换为「OceanBase（本地）」，在编辑器输入 SELECT * FROM `t_org`; 并点击「▶ 执行」，返回 55 行机构数据；</a:t>
            </a:r>
          </a:p>
          <a:p xmlns:a="http://schemas.openxmlformats.org/drawingml/2006/main">
            <a:r>
              <a:t>案例二：点击右侧竖条展开 AI Agent 面板、新建会话，输入「统计近90天各地区的成功交易笔数和交易金额，按金额从高到低」，Agent 生成 SELECT o.REGION AS REGION, COUNT(t.LOG_ID) AS CNT, ROUND(SUM(t.AMOUNT),2) AS AMT FROM t_trans_log t JOIN t_org o ON o.ORG_ID = t.ORG_ID WHERE UPPER(t.STATUS) = 'SUCCESS' AND t.TRANS_TIME &gt;= NOW() - INTERVAL 90 DAY GROUP BY o.REGION ORDER BY AMT DESC，并给出结论（共 6 个地区，合计约 1.67 万笔 / 16.86 亿元，深圳金额最高）；随后点击「填入编辑器」将 SQL 回填到工作台编辑器，再点右上角「▶ 执行」得到结果集，最后点右上角「收藏」，命名为「近90天各地区的成功交易统计」并保存成功（出现「已收藏」提示）；</a:t>
            </a:r>
          </a:p>
          <a:p xmlns:a="http://schemas.openxmlformats.org/drawingml/2006/main">
            <a:r>
              <a:t>结尾依次切换左侧「历史」页签（本次两条 SQL 的执行记录，含行数与耗时）与「收藏」页签（新增的收藏项排在首位）。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视频为本地运行实例的录屏；数据源为 OceanBase CE 4.4.2.1（bank_db，T_ORG 55 行 / T_TRANS_LOG 10 万行）；Agent 生成 SQL 的模型为 openai · deepseek-v4-flash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52 秒），三个写操作场景均需人工确认：</a:t>
            </a:r>
          </a:p>
          <a:p xmlns:a="http://schemas.openxmlformats.org/drawingml/2006/main">
            <a:r>
              <a:t>案例一（工作台发起 DML）：数据源选「OceanBase（本地）」，执行 UPDATE `t_user` SET `GENDER` = 'F', `UPDATED_AT` = NOW() WHERE `USER_NAME` = '乔华';，弹出「写操作确认」（DML · warning，预览待执行 SQL），点「确认执行」后生效（影响 2 行）；</a:t>
            </a:r>
          </a:p>
          <a:p xmlns:a="http://schemas.openxmlformats.org/drawingml/2006/main">
            <a:r>
              <a:t>案例二（Agent 发起 DDL）：展开右侧 AI Agent、新建会话，输入「把用户表的用户名称字段长度改成300」，Agent 生成 ALTER TABLE `t_user` MODIFY COLUMN `USER_NAME` VARCHAR(300); 并弹出红色「危险操作确认」（DDL · danger），确认后执行；</a:t>
            </a:r>
          </a:p>
          <a:p xmlns:a="http://schemas.openxmlformats.org/drawingml/2006/main">
            <a:r>
              <a:t>案例三（高危操作被拦下）：继续输入「删除用户表」，Agent 生成 DROP TABLE `t_user`，同样红色高危提示，点「取消」后提示「已取消执行」，表未被删除。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视频为本地运行实例的录屏；数据源为 OceanBase CE 4.4.2.1 bank_db（T_USER）；READ 自动执行、DML/DDL 待确认以及 5 分钟过期机制见 services/sql_service.py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32 秒），四个监控能力依次演示：</a:t>
            </a:r>
          </a:p>
          <a:p xmlns:a="http://schemas.openxmlformats.org/drawingml/2006/main">
            <a:r>
              <a:t>第一步：打开「连接概览」，基于执行历史（query_history）统计累计查询 336 次、今日 103 次、 10 个数据源，并列出各库的查询次数、平均/最大耗时、成功率与最近执行时间；</a:t>
            </a:r>
          </a:p>
          <a:p xmlns:a="http://schemas.openxmlformats.org/drawingml/2006/main">
            <a:r>
              <a:t>第二步：切到「审计日志」，查看登录与执行 SQL 的全量记录（含操作类型、风险类型、数据源、用户、IP、SQL），可见上一页演示中被拒绝的 DROP TABLE 也被如实记下（rejected）；</a:t>
            </a:r>
          </a:p>
          <a:p xmlns:a="http://schemas.openxmlformats.org/drawingml/2006/main">
            <a:r>
              <a:t>第三步：切到「慢查询」，把耗时阈值从默认 1000ms 改为 100ms 并点击「查询」，列出超过阈值的慢 SQL（含数据源、耗时、行数、状态、SQL、时间）；</a:t>
            </a:r>
          </a:p>
          <a:p xmlns:a="http://schemas.openxmlformats.org/drawingml/2006/main">
            <a:r>
              <a:t>第四步：切到「表结构对比」，源数据源选 Oracle（SIT）、目标数据源选 Oracle（UAT），点「对比」得到差异：T_ORG 在目标库多出 CREATED_AT 列，T_USER.USER_NAME 由 varchar2(300) 变为 varchar2(100)。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视频为本地运行实例的录屏；数据来自 query_history / audit_logs 与远端 Oracle SIT、UAT 库；慢查询阈值、连接概览与 schema diff 实现见 routers/monitor.py 与 services/metadata_service.py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18 秒）：依次查看慢查询、表结构对比与审计日志，审计记录可导出。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视频为本地运行实例的录屏（当前库累计 1122 条审计日志）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23 秒），两步验证连接可用性：</a:t>
            </a:r>
          </a:p>
          <a:p xmlns:a="http://schemas.openxmlformats.org/drawingml/2006/main">
            <a:r>
              <a:t>第一步：打开「设置 · 数据库连接配置」，在连接列表里点击第一个数据源「OceanBase（本地）」的「测试」按钮，弹出「连接测试结果」弹窗，反馈「连接成功」（底层调 POST /api/connections/{id}/connect）；</a:t>
            </a:r>
          </a:p>
          <a:p xmlns:a="http://schemas.openxmlformats.org/drawingml/2006/main">
            <a:r>
              <a:t>第二步：切到「大模型连接配置」，点击第二个模型「Ollama（本地）· qwen3.8:27b」的「测试」按钮，右上角提示「连接成功，模型 qwen3.8:27b 响应正常（2301 ms）」。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视频为本地运行实例的录屏；数据库连接见 routers/connections.py（POST /api/connections/{id}/connect），大模型测试见 routers/system.py（POST /api/config/ai/test）；API Key 经 Fernet 加密存储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23 秒），从用户到角色依次演示：</a:t>
            </a:r>
          </a:p>
          <a:p xmlns:a="http://schemas.openxmlformats.org/drawingml/2006/main">
            <a:r>
              <a:t>第一步：从左侧菜单打开「用户管理」，列出账号、显示名、角色、状态与最后登录时间，操作列可编辑、重置密码、禁用/删除（当前 5 个账号：管理员 与 技术/业务各两类账号）；</a:t>
            </a:r>
          </a:p>
          <a:p xmlns:a="http://schemas.openxmlformats.org/drawingml/2006/main">
            <a:r>
              <a:t>第二步：切到「角色管理」，左侧列出 5 个内置角色（管理员 / 技术管理 / 技术查询 / 业务管理 / 业务查询）；</a:t>
            </a:r>
          </a:p>
          <a:p xmlns:a="http://schemas.openxmlformats.org/drawingml/2006/main">
            <a:r>
              <a:t>第三步：依次点击「技术管理」「技术查询」「业务查询」三个角色，右侧实时切换该角色的名称/编码/说明、「功能权限」按模块分组的勾选状态与角色成员（技术管理 12 项、技术查询 6 项、业务查询 4 项权限，选中行会高亮）。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视频为本地运行实例的录屏；角色与权限码定义见 backend/app/permissions.py（BUILTIN_ROLES / PERMISSIONS），前端路由守卫与菜单按 meta.permission 控制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管理员视角：数据源、大模型、用户、角色都在同一个设置页完成。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界面截图为本地运行实例（已配置 5 个数据源、4 个大模型连接）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这是竞赛最看重的工程深度：不是调用一次模型，而是把工具调用、失败重试、经验复用做成闭环。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backend/app/services/agent_service.py、llm_providers.py；AGENTS.md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强调两个可扩展点：适配器模式与 LLM Provider 抽象。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backend/app/adapters/、backend/app/routers/（15 个路由模块，96 个接口）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企业级完整性：加密、分级授权、全量审计、指标与测试。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backend/app/security.py、permissions.py、main.py（/metrics）；后端 117 项 pytest 用例，96 个 API 接口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收尾回到用户价值，并给出下一步计划。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来源：仓库 需求说明书V2.0/V3.0.md、AGENTS.md、README.md；界面截图取自本地运行实例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c1a9ec42fa4b4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fc92244a28415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4df5f369ef4b2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9c48b7d30c476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a5133856324e3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a38b5e679b4d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2453309-BFB9-4F89-BFE0-D456DE2BC0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8AA8779-64A5-40F4-9A91-3322582EC08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E86C338-7B0B-4A19-8779-5E5D149A01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C7BDB06-A0F3-43B8-BDE2-0C42697E3C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397E19F-F06D-45D0-8E77-D379559A32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A483313-FA4A-493A-91B8-98F7458FDD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22B6E55-3279-4A88-9A6E-0C80E77AFE4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233E4F2-5DB8-43E2-9539-82539E8E57A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7660A9D-A792-46CB-99AA-C4B297E37D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E959489-AFDD-4B62-8D1D-70C507181D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15da36fe1814d3c" /><Relationship Type="http://schemas.openxmlformats.org/officeDocument/2006/relationships/slideLayout" Target="/ppt/slideLayouts/slideLayout1.xml" Id="R01a35b88ed4f4a30" /><Relationship Type="http://schemas.openxmlformats.org/officeDocument/2006/relationships/slideLayout" Target="/ppt/slideLayouts/slideLayout2.xml" Id="R57be5f93951c44c6" /><Relationship Type="http://schemas.openxmlformats.org/officeDocument/2006/relationships/slideLayout" Target="/ppt/slideLayouts/slideLayout3.xml" Id="Rd4a213d8ee2e49f0" /><Relationship Type="http://schemas.openxmlformats.org/officeDocument/2006/relationships/slideLayout" Target="/ppt/slideLayouts/slideLayout4.xml" Id="R09c97f54f0d044f2" /><Relationship Type="http://schemas.openxmlformats.org/officeDocument/2006/relationships/slideLayout" Target="/ppt/slideLayouts/slideLayout5.xml" Id="Re0e99f2f6c3544e2" /><Relationship Type="http://schemas.openxmlformats.org/officeDocument/2006/relationships/slideLayout" Target="/ppt/slideLayouts/slideLayout6.xml" Id="Ra9d4caca1f8349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a35b88ed4f4a30"/>
    <p:sldLayoutId xmlns:r="http://schemas.openxmlformats.org/officeDocument/2006/relationships" id="2147483650" r:id="R57be5f93951c44c6"/>
    <p:sldLayoutId xmlns:r="http://schemas.openxmlformats.org/officeDocument/2006/relationships" id="2147483651" r:id="Rd4a213d8ee2e49f0"/>
    <p:sldLayoutId xmlns:r="http://schemas.openxmlformats.org/officeDocument/2006/relationships" id="2147483652" r:id="R09c97f54f0d044f2"/>
    <p:sldLayoutId xmlns:r="http://schemas.openxmlformats.org/officeDocument/2006/relationships" id="2147483653" r:id="Re0e99f2f6c3544e2"/>
    <p:sldLayoutId xmlns:r="http://schemas.openxmlformats.org/officeDocument/2006/relationships" id="2147483654" r:id="Ra9d4caca1f8349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1d13a06508424d" /><Relationship Type="http://schemas.openxmlformats.org/officeDocument/2006/relationships/notesSlide" Target="/ppt/notesSlides/notesSlide1.xml" Id="R87b48bf5b3ed4e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a0d893efaa4249" /><Relationship Type="http://schemas.openxmlformats.org/officeDocument/2006/relationships/notesSlide" Target="/ppt/notesSlides/notesSlide2.xml" Id="Ra8a2473520da47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883da7d11343d6" /><Relationship Type="http://schemas.openxmlformats.org/officeDocument/2006/relationships/notesSlide" Target="/ppt/notesSlides/notesSlide3.xml" Id="R481f8155cb8c48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7c2ac83e6f411f" /><Relationship Type="http://schemas.openxmlformats.org/officeDocument/2006/relationships/notesSlide" Target="/ppt/notesSlides/notesSlide4.xml" Id="R9c6ffaa07fbf4a6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1eeb1176ee4c61" /><Relationship Type="http://schemas.openxmlformats.org/officeDocument/2006/relationships/image" Target="/ppt/media/image.png" Id="R2dde970790f84044" /><Relationship Type="http://schemas.openxmlformats.org/officeDocument/2006/relationships/notesSlide" Target="/ppt/notesSlides/notesSlide5.xml" Id="R0d64861ebbdf4aeb" /><Relationship Type="http://schemas.openxmlformats.org/officeDocument/2006/relationships/video" Target="/ppt/media/video5.mp4" Id="rIdVideo5" /><Relationship Type="http://schemas.microsoft.com/office/2007/relationships/media" Target="/ppt/media/video5.mp4" Id="rIdMedia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e9283de481424b" /><Relationship Type="http://schemas.openxmlformats.org/officeDocument/2006/relationships/image" Target="/ppt/media/image2.png" Id="Rac57cdc0538949a3" /><Relationship Type="http://schemas.openxmlformats.org/officeDocument/2006/relationships/notesSlide" Target="/ppt/notesSlides/notesSlide6.xml" Id="Ra1e2fb4bfbd2454d" /><Relationship Type="http://schemas.openxmlformats.org/officeDocument/2006/relationships/video" Target="/ppt/media/video6.mp4" Id="rIdVideo6" /><Relationship Type="http://schemas.microsoft.com/office/2007/relationships/media" Target="/ppt/media/video6.mp4" Id="rIdMedia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ed59967ed44c3b" /><Relationship Type="http://schemas.openxmlformats.org/officeDocument/2006/relationships/image" Target="/ppt/media/image3.png" Id="R2fc1e6a9df5247fc" /><Relationship Type="http://schemas.openxmlformats.org/officeDocument/2006/relationships/notesSlide" Target="/ppt/notesSlides/notesSlide7.xml" Id="Rb275d7a5e64447b3" /><Relationship Type="http://schemas.openxmlformats.org/officeDocument/2006/relationships/video" Target="/ppt/media/video7.mp4" Id="rIdVideo7" /><Relationship Type="http://schemas.microsoft.com/office/2007/relationships/media" Target="/ppt/media/video7.mp4" Id="rIdMedia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88f9d59aa54a2f" /><Relationship Type="http://schemas.openxmlformats.org/officeDocument/2006/relationships/image" Target="/ppt/media/image4.png" Id="R82a7333260a24b4d" /><Relationship Type="http://schemas.openxmlformats.org/officeDocument/2006/relationships/notesSlide" Target="/ppt/notesSlides/notesSlide8.xml" Id="R80bfc47d336b4838" /><Relationship Type="http://schemas.openxmlformats.org/officeDocument/2006/relationships/video" Target="/ppt/media/video8.mp4" Id="rIdVideo8" /><Relationship Type="http://schemas.microsoft.com/office/2007/relationships/media" Target="/ppt/media/video8.mp4" Id="rIdMedia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ec5bf874c542b7" /><Relationship Type="http://schemas.openxmlformats.org/officeDocument/2006/relationships/image" Target="/ppt/media/image5.png" Id="Rf721c6910ff740b7" /><Relationship Type="http://schemas.openxmlformats.org/officeDocument/2006/relationships/notesSlide" Target="/ppt/notesSlides/notesSlide9.xml" Id="Ra2da8b7a4f4145d2" /><Relationship Type="http://schemas.openxmlformats.org/officeDocument/2006/relationships/video" Target="/ppt/media/video9.mp4" Id="rIdVideo9" /><Relationship Type="http://schemas.microsoft.com/office/2007/relationships/media" Target="/ppt/media/video9.mp4" Id="rIdMedia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b47241dea7443f" /><Relationship Type="http://schemas.openxmlformats.org/officeDocument/2006/relationships/image" Target="/ppt/media/image6.png" Id="R7abd4ab1aae34c20" /><Relationship Type="http://schemas.openxmlformats.org/officeDocument/2006/relationships/notesSlide" Target="/ppt/notesSlides/notesSlide10.xml" Id="R1bbba3c4c1ca4988" /><Relationship Type="http://schemas.openxmlformats.org/officeDocument/2006/relationships/video" Target="/ppt/media/video10.mp4" Id="rIdVideo10" /><Relationship Type="http://schemas.microsoft.com/office/2007/relationships/media" Target="/ppt/media/video10.mp4" Id="rIdMedia1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f7948f2bda4a18" /><Relationship Type="http://schemas.openxmlformats.org/officeDocument/2006/relationships/image" Target="/ppt/media/image7.png" Id="Rb24e2351d1bf45cd" /><Relationship Type="http://schemas.openxmlformats.org/officeDocument/2006/relationships/notesSlide" Target="/ppt/notesSlides/notesSlide11.xml" Id="Rbd9714ee723445f6" /><Relationship Type="http://schemas.openxmlformats.org/officeDocument/2006/relationships/video" Target="/ppt/media/video11.mp4" Id="rIdVideo11" /><Relationship Type="http://schemas.microsoft.com/office/2007/relationships/media" Target="/ppt/media/video11.mp4" Id="rIdMedia1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71de08e55047bd" /><Relationship Type="http://schemas.openxmlformats.org/officeDocument/2006/relationships/image" Target="/ppt/media/image8.png" Id="R8275c0ffd4984cbc" /><Relationship Type="http://schemas.openxmlformats.org/officeDocument/2006/relationships/notesSlide" Target="/ppt/notesSlides/notesSlide12.xml" Id="Rf36154f5a13a4c46" /><Relationship Type="http://schemas.openxmlformats.org/officeDocument/2006/relationships/video" Target="/ppt/media/video12.mp4" Id="rIdVideo12" /><Relationship Type="http://schemas.microsoft.com/office/2007/relationships/media" Target="/ppt/media/video12.mp4" Id="rIdMedia1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03abf9ba8949f7" /><Relationship Type="http://schemas.openxmlformats.org/officeDocument/2006/relationships/image" Target="/ppt/media/image9.png" Id="Ra6113dc11153456c" /><Relationship Type="http://schemas.openxmlformats.org/officeDocument/2006/relationships/image" Target="/ppt/media/image10.png" Id="Rc10cc679340a4fd6" /><Relationship Type="http://schemas.openxmlformats.org/officeDocument/2006/relationships/notesSlide" Target="/ppt/notesSlides/notesSlide13.xml" Id="R82a03fe8f07f4ca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88fc7b42cf4e58" /><Relationship Type="http://schemas.openxmlformats.org/officeDocument/2006/relationships/notesSlide" Target="/ppt/notesSlides/notesSlide14.xml" Id="Rc6969112d0bb44f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11d7865a2740a2" /><Relationship Type="http://schemas.openxmlformats.org/officeDocument/2006/relationships/notesSlide" Target="/ppt/notesSlides/notesSlide15.xml" Id="Re9ea526ccbc3429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8c13ed62094d8b" /><Relationship Type="http://schemas.openxmlformats.org/officeDocument/2006/relationships/notesSlide" Target="/ppt/notesSlides/notesSlide16.xml" Id="R31ddf6a6016d435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6242c220fa46cd" /><Relationship Type="http://schemas.openxmlformats.org/officeDocument/2006/relationships/notesSlide" Target="/ppt/notesSlides/notesSlide17.xml" Id="R218a41a3e502434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A18AA3-AABD-4060-BF7A-B499BF3F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数据库 Agent Web 应用 · v2.0.0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DC8B00-FA3F-40AB-893A-BF1B1C3F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00200"/>
            <a:ext cx="9448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l">
              <a:defRPr sz="6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DataMind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81BB4D-AE89-4D3B-9C02-10603A2A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305300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用自然语言，管理你的数据库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815A9057-B85E-4C34-BA39-0CC986D6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029200"/>
            <a:ext cx="1140456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24C1CF-147F-4194-9B1E-604C79247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257800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自然语言查询 · SQL 工作台 · 跨库元数据 · 可视化报表 · 权限与审计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702EA5-FE3E-4E21-96C9-1145BB23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279261"/>
            <a:ext cx="6667500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演示入口 http://127.0.0.1:5174 · 演示账号 admin / admin123</a:t>
            </a:r>
          </a:p>
        </p:txBody>
      </p:sp>
    </p:spTree>
    <p:extLst>
      <p:ext uri="{BB962C8B-B14F-4D97-AF65-F5344CB8AC3E}">
        <p14:creationId xmlns:p14="http://schemas.microsoft.com/office/powerpoint/2010/main" val="18157487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B7D3CCC-3136-4318-9AB3-335011FA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开发背景：取数链路上的五个断点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C75D4A8-4655-4F4C-AA19-EE148D63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F26FE5-855A-42E3-9ADF-FE6A2148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504950"/>
            <a:ext cx="11404568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一次普通的数据核对，今天往往要走「提需求 → 排期 → 写 SQL → 导表 → 截图」的链路。</a:t>
            </a:r>
          </a:p>
        </p:txBody>
      </p:sp>
      <p:sp>
        <p:nvSpPr>
          <p:cNvPr id="4" name="current-state">
            <a:extLst xmlns:a="http://schemas.openxmlformats.org/drawingml/2006/main">
              <a:ext uri="{FF2B5EF4-FFF2-40B4-BE49-F238E27FC236}">
                <a16:creationId xmlns:a16="http://schemas.microsoft.com/office/drawing/2014/main" id="{D57EFF42-8B4A-4E0B-82A3-A2D2D61D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381250"/>
            <a:ext cx="5334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193B79-0A23-40FE-BBF3-21105BDC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25908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现状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3EAE17-3247-438C-9DD4-B5144A2C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3143250"/>
            <a:ext cx="4914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业务同学不会写 SQL，查数要等技术同事排期。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839A74-A4F8-42D7-A5C4-21D88B7A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3790950"/>
            <a:ext cx="4914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MySQL、Oracle、PostgreSQL 各有各的客户端，元数据分散。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DE43DE-38B7-4286-868B-67D93F93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4438650"/>
            <a:ext cx="4914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大模型能写 SQL，但没人敢把写权限直接交给它。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24BA29-8E98-4CEB-BB70-FDEA8DB0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五个断点</a:t>
            </a:r>
          </a:p>
        </p:txBody>
      </p:sp>
      <p:sp>
        <p:nvSpPr>
          <p:cNvPr id="10" name="marker">
            <a:extLst xmlns:a="http://schemas.openxmlformats.org/drawingml/2006/main">
              <a:ext uri="{FF2B5EF4-FFF2-40B4-BE49-F238E27FC236}">
                <a16:creationId xmlns:a16="http://schemas.microsoft.com/office/drawing/2014/main" id="{AFFD355C-6C5D-4D7E-B220-D96F36F7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242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EBCCFE-773A-434D-88C9-8AD45E49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0990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取数依赖排期，业务等待成本高</a:t>
            </a:r>
          </a:p>
        </p:txBody>
      </p:sp>
      <p:sp>
        <p:nvSpPr>
          <p:cNvPr id="12" name="marker">
            <a:extLst xmlns:a="http://schemas.openxmlformats.org/drawingml/2006/main">
              <a:ext uri="{FF2B5EF4-FFF2-40B4-BE49-F238E27FC236}">
                <a16:creationId xmlns:a16="http://schemas.microsoft.com/office/drawing/2014/main" id="{B80C1B13-1620-4EE6-B389-08B4D81F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147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D7184E-A223-4860-8BB7-AD950627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004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多数据库工具割裂，切换成本高</a:t>
            </a:r>
          </a:p>
        </p:txBody>
      </p:sp>
      <p:sp>
        <p:nvSpPr>
          <p:cNvPr id="14" name="marker">
            <a:extLst xmlns:a="http://schemas.openxmlformats.org/drawingml/2006/main">
              <a:ext uri="{FF2B5EF4-FFF2-40B4-BE49-F238E27FC236}">
                <a16:creationId xmlns:a16="http://schemas.microsoft.com/office/drawing/2014/main" id="{26519CE8-43DB-4ADC-95FA-DB67C709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05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16A563-5232-4965-8AAA-8783857AD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9100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 生成 SQL 缺少安全闸门</a:t>
            </a:r>
          </a:p>
        </p:txBody>
      </p:sp>
      <p:sp>
        <p:nvSpPr>
          <p:cNvPr id="16" name="marker">
            <a:extLst xmlns:a="http://schemas.openxmlformats.org/drawingml/2006/main">
              <a:ext uri="{FF2B5EF4-FFF2-40B4-BE49-F238E27FC236}">
                <a16:creationId xmlns:a16="http://schemas.microsoft.com/office/drawing/2014/main" id="{711CC869-4328-4F8F-8E8A-24CA7803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958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DAE20A-E52F-496C-8007-B129A4BF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7815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查询结果难以沉淀为报表</a:t>
            </a:r>
          </a:p>
        </p:txBody>
      </p:sp>
      <p:sp>
        <p:nvSpPr>
          <p:cNvPr id="18" name="marker">
            <a:extLst xmlns:a="http://schemas.openxmlformats.org/drawingml/2006/main">
              <a:ext uri="{FF2B5EF4-FFF2-40B4-BE49-F238E27FC236}">
                <a16:creationId xmlns:a16="http://schemas.microsoft.com/office/drawing/2014/main" id="{31F201C3-7C61-46F1-9C33-49A8FE0C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86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710BF2-E849-44BD-9982-1C1C8AE4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37210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权限与操作缺少统一审计</a:t>
            </a:r>
          </a:p>
        </p:txBody>
      </p:sp>
    </p:spTree>
    <p:extLst>
      <p:ext uri="{BB962C8B-B14F-4D97-AF65-F5344CB8AC3E}">
        <p14:creationId xmlns:p14="http://schemas.microsoft.com/office/powerpoint/2010/main" val="11692406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C5BB5D8-C1C5-4EA9-AF1A-E9516DC3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产品定位与目标用户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7C18DEB-44F6-41EC-9848-86AA0643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C2C22A-7239-4780-863A-6F1A834E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504950"/>
            <a:ext cx="11404568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DataMind 把「连接 → 查询 → 分析 → 报表 → 权限审计」串成一个 Web 工作台，用 AI Agent 降低取数门槛。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DB533E-3798-4860-B4C1-69238E90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4955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用户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286C15-9CAD-4E75-B26C-63918885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955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核心需求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FA780F-1CEC-4F36-B2EB-459852B3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9555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典型场景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ADC3F8DA-BA9C-4479-8386-CB8AE104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57500"/>
            <a:ext cx="1140456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EFE00D-2A7F-4965-9207-CC0C20E0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670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后端开发者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55B0CD-C184-41BC-96E3-064E6CEF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670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快速查数、写与优化 SQL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35A8FF-08CE-4EFC-A7F7-DA19BB6D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670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日常开发、线上排障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AAE7EB77-DFA0-41BA-869E-5EC48DAE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86150"/>
            <a:ext cx="1140456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254EF9-1350-4A65-8032-F12305E6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6576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DBA / 运维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629A6E-F907-4CCC-8E2B-FA4F786E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576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多实例管理、结构变更、审计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CFD08B-5273-4172-81BD-3AB0523F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576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变更前对比、慢查询定位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CED8C6FF-9E84-4665-B27A-BC00A6C2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76700"/>
            <a:ext cx="1140456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880F0B-6D75-45AE-A530-8352871A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248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数据分析师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9930F5-574F-425B-B29C-9F7E3A00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481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自然语言取数、快速做报表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107C7D-2CFE-4137-93BB-CC7F28A3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481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数据探索、临时分析</a:t>
            </a: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C91A3976-6477-4C57-A5EF-4C0CE9BFB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667250"/>
            <a:ext cx="1140456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78BFC2-5FB3-4534-BD03-ECB3482F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8387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业务 / 产品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FECAFB-9B10-4A14-8AD8-DF351BA5A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387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完全不会 SQL 也要看数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59F339-B1F2-4FA8-A004-85B61F14D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387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辅助决策、快速核对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DDCC25-A81A-46AD-9AAC-A6E66569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715000"/>
            <a:ext cx="1140456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一句话：让数据获取从「排队等」变成「自己动手」。</a:t>
            </a:r>
          </a:p>
        </p:txBody>
      </p:sp>
    </p:spTree>
    <p:extLst>
      <p:ext uri="{BB962C8B-B14F-4D97-AF65-F5344CB8AC3E}">
        <p14:creationId xmlns:p14="http://schemas.microsoft.com/office/powerpoint/2010/main" val="1230700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E0F9EA9-7E54-43DB-ADDF-C446BD3A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功能全景：14 个模块，一条数据工作流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F003102-ABDE-4991-9976-A36B613E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293AAA-695D-421D-AE8E-4CB05EF1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504950"/>
            <a:ext cx="1140456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 个功能模块围绕「连接 → 查询 → 分析 → 报表 → 管理」闭环组织。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2604CFF2-D224-4B50-931F-C31E0249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1240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466FD3-B761-4815-9E45-E9BF2E4E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333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连接管理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E9A8EA-56BE-4826-A7A4-ABE7D26C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7527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 类数据源、SSH 隧道、多环境标签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67487EEE-A8F2-4F80-91D2-7B77CE0D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240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79AACA-86D4-47C1-8663-9B610BB8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33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SQL 工作台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C46287-6543-488B-8CF8-72EA976A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527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多 Tab 编辑、对象树、结果集直编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4BD76FD5-EA90-4140-B4B2-9991FA24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32" y="21240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237D7A-DFE4-49DA-8CC6-E1EF8374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32" y="2333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元数据管理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B1EBA8-1ADF-4D1D-A585-FE2CDD41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32" y="27527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表/索引/DDL/视图/函数、结构对比</a:t>
            </a:r>
          </a:p>
        </p:txBody>
      </p:sp>
      <p:sp>
        <p:nvSpPr>
          <p:cNvPr id="13" name="rule">
            <a:extLst xmlns:a="http://schemas.openxmlformats.org/drawingml/2006/main">
              <a:ext uri="{FF2B5EF4-FFF2-40B4-BE49-F238E27FC236}">
                <a16:creationId xmlns:a16="http://schemas.microsoft.com/office/drawing/2014/main" id="{1F71E12D-3C3C-483D-B7C5-4C09B011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64" y="21240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8EF351-ECB5-4591-8FEE-E96F6FC0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64" y="2333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 智能查询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6484B7-A3D6-42EE-8C50-A73892333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64" y="27527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自然语言转 SQL、多轮会话、图表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348F45DE-1772-4C42-961D-56A10D61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2195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B548E4-0BA9-4946-9A2D-23B93F3CC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4291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可视化报表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B4CBC1-027F-4EB5-9FE8-8CD6C8E4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8482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 种图表、仪表盘、分享大屏</a:t>
            </a: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21D92430-0979-4EB5-AB6C-6379EB75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2195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ACE69B-2FD1-4AF7-8A55-E1313019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291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文档导出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32AE85-6AC8-4DCD-92D7-C58DF3D9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482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CSV/Excel/JSON、库文档导出</a:t>
            </a: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5AA7F7F9-C178-4A62-82FB-56E17D83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32" y="42195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4F04A6-B52E-406A-9E33-FCCCFE46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32" y="44291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用户与角色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45874A-E278-422A-BEDB-D092379C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32" y="48482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RBAC 5 内置角色 + 自定义角色</a:t>
            </a:r>
          </a:p>
        </p:txBody>
      </p:sp>
      <p:sp>
        <p:nvSpPr>
          <p:cNvPr id="25" name="rule">
            <a:extLst xmlns:a="http://schemas.openxmlformats.org/drawingml/2006/main">
              <a:ext uri="{FF2B5EF4-FFF2-40B4-BE49-F238E27FC236}">
                <a16:creationId xmlns:a16="http://schemas.microsoft.com/office/drawing/2014/main" id="{3D811DA8-A5EC-4768-AAF9-60A25061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64" y="42195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921BF8-2615-42EF-A36D-241E6735A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64" y="44291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运维监控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18EADA-38E9-47EF-9740-93D11AE5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64" y="48482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慢查询、连接概览、审计、指标</a:t>
            </a:r>
          </a:p>
        </p:txBody>
      </p:sp>
    </p:spTree>
    <p:extLst>
      <p:ext uri="{BB962C8B-B14F-4D97-AF65-F5344CB8AC3E}">
        <p14:creationId xmlns:p14="http://schemas.microsoft.com/office/powerpoint/2010/main" val="12750684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C951074-85A1-4545-99EE-F7E4C73E8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1：自然语言查询数据库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F3F3D58-D56B-4743-9FBF-944D1EAF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625EA3A3-FFEA-4286-BECF-9619D05B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E431183D-D9B6-4481-A026-0BB85E703E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de970790f84044"/>
          <a:stretch xmlns:a="http://schemas.openxmlformats.org/drawingml/2006/main"/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hlinkClick xmlns:a="http://schemas.openxmlformats.org/drawingml/2006/main" xmlns:r="http://schemas.openxmlformats.org/officeDocument/2006/relationships" r:id="" action="ppaction://media"/>
            <a:extLst xmlns:a="http://schemas.openxmlformats.org/drawingml/2006/main">
              <a:ext uri="{FF2B5EF4-FFF2-40B4-BE49-F238E27FC236}">
                <a16:creationId xmlns:a16="http://schemas.microsoft.com/office/drawing/2014/main" id="{E431183D-D9B6-4481-A026-0BB85E703EAD}"/>
              </a:ext>
            </a:extLst>
          </p:cNvPr>
          <p:cNvPicPr>
            <a:picLocks xmlns:a="http://schemas.openxmlformats.org/drawingml/2006/main" noChangeAspect="1"/>
          </p:cNvPicPr>
          <p:nvPr>
            <a:videoFile xmlns:a="http://schemas.openxmlformats.org/drawingml/2006/main" xmlns:r="http://schemas.openxmlformats.org/officeDocument/2006/relationships" r:link="rIdVideo5"/>
            <p14:media xmlns:p14="http://schemas.microsoft.com/office/powerpoint/2010/main" xmlns:r="http://schemas.openxmlformats.org/officeDocument/2006/relationships" r:embed="rIdMedia5"/>
          </p:nvPr>
        </p:nvPicPr>
        <p:blipFill>
          <a:blip xmlns:r="http://schemas.openxmlformats.org/officeDocument/2006/relationships" xmlns:a="http://schemas.openxmlformats.org/drawingml/2006/main" r:embed="R2dde970790f84044"/>
          <a:stretch xmlns:a="http://schemas.openxmlformats.org/drawingml/2006/main"/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A57375-CDC3-4491-8C70-F7FEF9CE5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40 秒）：演示库查用户 → Oracle（UAT）查机构 → 导出 CSV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D95E00-261D-4040-A09F-D0313A52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提问即得结果</a:t>
            </a: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B64A3776-0472-476A-A91A-C5CC8711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6C72B2-763F-4163-ACFB-C8883D445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一句话生成 SQL，无需手写语句</a:t>
            </a: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2A46DDC9-2D10-48E6-91EA-49E81D34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E40F1E-A56F-4849-8361-1E208B93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SSE 流式回传思考过程与 SQL</a:t>
            </a: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EBAD46C6-DBE4-4BB4-855D-BDB5013F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999FB0-8568-48C3-8D44-2ABB2CA5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切换数据源即可跨库查询</a:t>
            </a:r>
          </a:p>
        </p:txBody>
      </p:sp>
      <p:sp>
        <p:nvSpPr>
          <p:cNvPr id="13" name="marker">
            <a:extLst xmlns:a="http://schemas.openxmlformats.org/drawingml/2006/main">
              <a:ext uri="{FF2B5EF4-FFF2-40B4-BE49-F238E27FC236}">
                <a16:creationId xmlns:a16="http://schemas.microsoft.com/office/drawing/2014/main" id="{A2FAB86D-81A5-43C9-9637-F52C05E7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BFEF5A-BACA-4FC1-BDAC-36847AB78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结果一键导出 CSV / Excel / JSON</a:t>
            </a:r>
          </a:p>
        </p:txBody>
      </p:sp>
    </p:spTree>
    <p:extLst>
      <p:ext uri="{BB962C8B-B14F-4D97-AF65-F5344CB8AC3E}">
        <p14:creationId xmlns:p14="http://schemas.microsoft.com/office/powerpoint/2010/main" val="17014068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B23249F-4F10-4F0C-8D6D-5C1B18B9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2：自然语言生成图表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48391B8-9B44-455C-ACB5-C5097510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A0F291AE-31FB-4C7C-B832-2424F64C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ACB16BE7-4B00-416D-B322-9803D648BA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57cdc0538949a3"/>
          <a:stretch xmlns:a="http://schemas.openxmlformats.org/drawingml/2006/main"/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hlinkClick xmlns:a="http://schemas.openxmlformats.org/drawingml/2006/main" xmlns:r="http://schemas.openxmlformats.org/officeDocument/2006/relationships" r:id="" action="ppaction://media"/>
            <a:extLst xmlns:a="http://schemas.openxmlformats.org/drawingml/2006/main">
              <a:ext uri="{FF2B5EF4-FFF2-40B4-BE49-F238E27FC236}">
                <a16:creationId xmlns:a16="http://schemas.microsoft.com/office/drawing/2014/main" id="{ACB16BE7-4B00-416D-B322-9803D648BABA}"/>
              </a:ext>
            </a:extLst>
          </p:cNvPr>
          <p:cNvPicPr>
            <a:picLocks xmlns:a="http://schemas.openxmlformats.org/drawingml/2006/main" noChangeAspect="1"/>
          </p:cNvPicPr>
          <p:nvPr>
            <a:videoFile xmlns:a="http://schemas.openxmlformats.org/drawingml/2006/main" xmlns:r="http://schemas.openxmlformats.org/officeDocument/2006/relationships" r:link="rIdVideo6"/>
            <p14:media xmlns:p14="http://schemas.microsoft.com/office/powerpoint/2010/main" xmlns:r="http://schemas.openxmlformats.org/officeDocument/2006/relationships" r:embed="rIdMedia6"/>
          </p:nvPr>
        </p:nvPicPr>
        <p:blipFill>
          <a:blip xmlns:r="http://schemas.openxmlformats.org/officeDocument/2006/relationships" xmlns:a="http://schemas.openxmlformats.org/drawingml/2006/main" r:embed="Rac57cdc0538949a3"/>
          <a:stretch xmlns:a="http://schemas.openxmlformats.org/drawingml/2006/main"/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720448-8EEE-4F93-9B25-AC574E6B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60 秒）：Oracle 查分行笔数/金额 → 自动出图 → 保存报表，再看近 30 天成功交易笔数与金额趋势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B5E809-43FF-427F-8549-0EC88A60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从查询到图表</a:t>
            </a: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A1F4B150-7F39-4EC5-BA7C-88544C6C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EBF143-FB6A-457F-9DEB-C2BDCC8C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案例一：各分行笔数与金额柱状图</a:t>
            </a: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7C03B292-B157-40B2-83E2-99DA69B0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045876-4619-48D3-A522-841634EF6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案例二：近30天交易趋势折线图</a:t>
            </a: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6A8323E6-D2CA-466E-82E8-2CDCB9D9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2A4D27-8703-460F-B08A-5AC5CE690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双指标量级差异大时自动分双 Y 轴</a:t>
            </a:r>
          </a:p>
        </p:txBody>
      </p:sp>
      <p:sp>
        <p:nvSpPr>
          <p:cNvPr id="13" name="marker">
            <a:extLst xmlns:a="http://schemas.openxmlformats.org/drawingml/2006/main">
              <a:ext uri="{FF2B5EF4-FFF2-40B4-BE49-F238E27FC236}">
                <a16:creationId xmlns:a16="http://schemas.microsoft.com/office/drawing/2014/main" id="{758B96A5-DE47-4839-AC7E-682E5CAD2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551DDE-643C-46F1-A26C-768BF3A8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一键保存到可视化报表复用</a:t>
            </a:r>
          </a:p>
        </p:txBody>
      </p:sp>
    </p:spTree>
    <p:extLst>
      <p:ext uri="{BB962C8B-B14F-4D97-AF65-F5344CB8AC3E}">
        <p14:creationId xmlns:p14="http://schemas.microsoft.com/office/powerpoint/2010/main" val="2245561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EF285B4-154D-45EE-BDE9-B86BE00A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3：SQL 工作台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C047142-B4A1-4ECB-86BE-0CA5818A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614291D5-0436-44DD-9AD5-3EE02EE77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8986B5CD-440C-4642-B062-561711F450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c1e6a9df5247fc"/>
          <a:stretch xmlns:a="http://schemas.openxmlformats.org/drawingml/2006/main"/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hlinkClick xmlns:a="http://schemas.openxmlformats.org/drawingml/2006/main" xmlns:r="http://schemas.openxmlformats.org/officeDocument/2006/relationships" r:id="" action="ppaction://media"/>
            <a:extLst xmlns:a="http://schemas.openxmlformats.org/drawingml/2006/main">
              <a:ext uri="{FF2B5EF4-FFF2-40B4-BE49-F238E27FC236}">
                <a16:creationId xmlns:a16="http://schemas.microsoft.com/office/drawing/2014/main" id="{8986B5CD-440C-4642-B062-561711F4507E}"/>
              </a:ext>
            </a:extLst>
          </p:cNvPr>
          <p:cNvPicPr>
            <a:picLocks xmlns:a="http://schemas.openxmlformats.org/drawingml/2006/main" noChangeAspect="1"/>
          </p:cNvPicPr>
          <p:nvPr>
            <a:videoFile xmlns:a="http://schemas.openxmlformats.org/drawingml/2006/main" xmlns:r="http://schemas.openxmlformats.org/officeDocument/2006/relationships" r:link="rIdVideo7"/>
            <p14:media xmlns:p14="http://schemas.microsoft.com/office/powerpoint/2010/main" xmlns:r="http://schemas.openxmlformats.org/officeDocument/2006/relationships" r:embed="rIdMedia7"/>
          </p:nvPr>
        </p:nvPicPr>
        <p:blipFill>
          <a:blip xmlns:r="http://schemas.openxmlformats.org/officeDocument/2006/relationships" xmlns:a="http://schemas.openxmlformats.org/drawingml/2006/main" r:embed="R2fc1e6a9df5247fc"/>
          <a:stretch xmlns:a="http://schemas.openxmlformats.org/drawingml/2006/main"/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A79E41-097A-4F1F-B016-E136C721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55 秒）：OceanBase 执行 SQL → Agent 生成聚合 SQL → 填入编辑器执行 → 收藏命名 → 历史 / 收藏页签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720900-818B-4763-B8BD-D9AAADD2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专业查询体验</a:t>
            </a: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3A36023D-D200-42F2-8EA9-454CD422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9B4C13-EEAA-4B6A-952E-12D1B991E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OceanBase 数据源即连即查</a:t>
            </a: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BEA0A238-C5C2-4913-A3E3-B6EAE5A4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20414E-957D-42C6-8827-B188217E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Agent 一句话生成聚合 SQL</a:t>
            </a: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C0F4ADDB-DF34-4538-A59B-7517F336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0D82E8-840A-4894-B782-ECE3260D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填入编辑器后一键执行</a:t>
            </a:r>
          </a:p>
        </p:txBody>
      </p:sp>
      <p:sp>
        <p:nvSpPr>
          <p:cNvPr id="13" name="marker">
            <a:extLst xmlns:a="http://schemas.openxmlformats.org/drawingml/2006/main">
              <a:ext uri="{FF2B5EF4-FFF2-40B4-BE49-F238E27FC236}">
                <a16:creationId xmlns:a16="http://schemas.microsoft.com/office/drawing/2014/main" id="{3026EBE2-B7E6-4D83-AF83-8895F6D5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6685B1-A2AC-4991-B041-7299EE67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执行历史留痕 + SQL 收藏复用</a:t>
            </a:r>
          </a:p>
        </p:txBody>
      </p:sp>
    </p:spTree>
    <p:extLst>
      <p:ext uri="{BB962C8B-B14F-4D97-AF65-F5344CB8AC3E}">
        <p14:creationId xmlns:p14="http://schemas.microsoft.com/office/powerpoint/2010/main" val="19036163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0E6E120-EE99-494D-A8E2-A882AF8E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4：数据操作安全控制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8A157CF-D1AA-44EF-B300-89AB4C9A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83E3FE63-1ABF-4C52-BC0E-1CADE562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854761CB-5972-4971-B0A1-D5A5AF78C3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a7333260a24b4d"/>
          <a:stretch xmlns:a="http://schemas.openxmlformats.org/drawingml/2006/main"/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hlinkClick xmlns:a="http://schemas.openxmlformats.org/drawingml/2006/main" xmlns:r="http://schemas.openxmlformats.org/officeDocument/2006/relationships" r:id="" action="ppaction://media"/>
            <a:extLst xmlns:a="http://schemas.openxmlformats.org/drawingml/2006/main">
              <a:ext uri="{FF2B5EF4-FFF2-40B4-BE49-F238E27FC236}">
                <a16:creationId xmlns:a16="http://schemas.microsoft.com/office/drawing/2014/main" id="{854761CB-5972-4971-B0A1-D5A5AF78C370}"/>
              </a:ext>
            </a:extLst>
          </p:cNvPr>
          <p:cNvPicPr>
            <a:picLocks xmlns:a="http://schemas.openxmlformats.org/drawingml/2006/main" noChangeAspect="1"/>
          </p:cNvPicPr>
          <p:nvPr>
            <a:videoFile xmlns:a="http://schemas.openxmlformats.org/drawingml/2006/main" xmlns:r="http://schemas.openxmlformats.org/officeDocument/2006/relationships" r:link="rIdVideo8"/>
            <p14:media xmlns:p14="http://schemas.microsoft.com/office/powerpoint/2010/main" xmlns:r="http://schemas.openxmlformats.org/officeDocument/2006/relationships" r:embed="rIdMedia8"/>
          </p:nvPr>
        </p:nvPicPr>
        <p:blipFill>
          <a:blip xmlns:r="http://schemas.openxmlformats.org/officeDocument/2006/relationships" xmlns:a="http://schemas.openxmlformats.org/drawingml/2006/main" r:embed="R82a7333260a24b4d"/>
          <a:stretch xmlns:a="http://schemas.openxmlformats.org/drawingml/2006/main"/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4EE5EC-5C9D-449C-8FC8-6E4EDFC2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52 秒）：UPDATE 确认执行 → Agent 修改字段长度确认执行 → 删除表取消执行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359912-1DFB-4D5E-BD00-76CEF069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分级授权</a:t>
            </a: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434F0E8E-CC63-4DC5-8E6E-AB013CC7C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74D61D-DC48-4108-9733-78835EFA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READ：只读查询自动执行</a:t>
            </a: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7F911477-6BAA-4438-86CD-293FB83A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95E105-991F-467A-8083-52258C58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DML：UPDATE 确认后才生效</a:t>
            </a: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E9FC8CA0-4679-4215-94BF-58B5C0D75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0C0853-D681-462E-9939-53AB3FBB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DDL：红色危险提示 + 逐条确认</a:t>
            </a:r>
          </a:p>
        </p:txBody>
      </p:sp>
      <p:sp>
        <p:nvSpPr>
          <p:cNvPr id="13" name="marker">
            <a:extLst xmlns:a="http://schemas.openxmlformats.org/drawingml/2006/main">
              <a:ext uri="{FF2B5EF4-FFF2-40B4-BE49-F238E27FC236}">
                <a16:creationId xmlns:a16="http://schemas.microsoft.com/office/drawing/2014/main" id="{318B800A-9B40-43BD-B9D4-9CC7115DA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6F6161-339D-4DF3-A400-9F864053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取消即中止，全部写入审计日志</a:t>
            </a:r>
          </a:p>
        </p:txBody>
      </p:sp>
    </p:spTree>
    <p:extLst>
      <p:ext uri="{BB962C8B-B14F-4D97-AF65-F5344CB8AC3E}">
        <p14:creationId xmlns:p14="http://schemas.microsoft.com/office/powerpoint/2010/main" val="1335004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16DD61A-F2DF-4C20-913F-35FDC728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5：运维监控与日志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725AE58-9024-40D4-A40D-EA811233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7C9EAED8-60EF-4803-9584-70B67B57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B019F0B6-328C-418F-9AB1-E7180F8171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21c6910ff740b7"/>
          <a:stretch xmlns:a="http://schemas.openxmlformats.org/drawingml/2006/main"/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hlinkClick xmlns:a="http://schemas.openxmlformats.org/drawingml/2006/main" xmlns:r="http://schemas.openxmlformats.org/officeDocument/2006/relationships" r:id="" action="ppaction://media"/>
            <a:extLst xmlns:a="http://schemas.openxmlformats.org/drawingml/2006/main">
              <a:ext uri="{FF2B5EF4-FFF2-40B4-BE49-F238E27FC236}">
                <a16:creationId xmlns:a16="http://schemas.microsoft.com/office/drawing/2014/main" id="{B019F0B6-328C-418F-9AB1-E7180F8171CA}"/>
              </a:ext>
            </a:extLst>
          </p:cNvPr>
          <p:cNvPicPr>
            <a:picLocks xmlns:a="http://schemas.openxmlformats.org/drawingml/2006/main" noChangeAspect="1"/>
          </p:cNvPicPr>
          <p:nvPr>
            <a:videoFile xmlns:a="http://schemas.openxmlformats.org/drawingml/2006/main" xmlns:r="http://schemas.openxmlformats.org/officeDocument/2006/relationships" r:link="rIdVideo9"/>
            <p14:media xmlns:p14="http://schemas.microsoft.com/office/powerpoint/2010/main" xmlns:r="http://schemas.openxmlformats.org/officeDocument/2006/relationships" r:embed="rIdMedia9"/>
          </p:nvPr>
        </p:nvPicPr>
        <p:blipFill>
          <a:blip xmlns:r="http://schemas.openxmlformats.org/officeDocument/2006/relationships" xmlns:a="http://schemas.openxmlformats.org/drawingml/2006/main" r:embed="Rf721c6910ff740b7"/>
          <a:stretch xmlns:a="http://schemas.openxmlformats.org/drawingml/2006/main"/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CC2092-7712-478A-B20F-5AC3DA1C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32 秒）：连接概览 → 审计日志 → 慢查询（耗时 ≥ 100ms） → 表结构对比（Oracle SIT vs UAT）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F77BEE-8FB5-4255-892E-75F20A36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运维与合规</a:t>
            </a: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A7A518CB-BBB0-470A-801F-978F03B1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F57E99-25D9-43F2-A3B3-B31031E6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连接概览：查询量 / 耗时 / 成功率</a:t>
            </a: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06C7CA98-DB81-4659-A0C1-12AFC0CE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8A5599-9349-4363-A1C4-288ED9AC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审计日志：登录与 SQL 全量留痕</a:t>
            </a: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AC3889F1-6BD7-482D-AC1B-13DBA21C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DB61B5-1135-4D43-8590-B78BF4DC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慢查询：阈值可调（演示 100ms）</a:t>
            </a:r>
          </a:p>
        </p:txBody>
      </p:sp>
      <p:sp>
        <p:nvSpPr>
          <p:cNvPr id="13" name="marker">
            <a:extLst xmlns:a="http://schemas.openxmlformats.org/drawingml/2006/main">
              <a:ext uri="{FF2B5EF4-FFF2-40B4-BE49-F238E27FC236}">
                <a16:creationId xmlns:a16="http://schemas.microsoft.com/office/drawing/2014/main" id="{FE5BA06F-6B20-48C4-8172-933FBFAB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CE360A-2144-43D3-A01B-1AB81EDE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表结构对比：SIT vs UAT 差异</a:t>
            </a:r>
          </a:p>
        </p:txBody>
      </p:sp>
    </p:spTree>
    <p:extLst>
      <p:ext uri="{BB962C8B-B14F-4D97-AF65-F5344CB8AC3E}">
        <p14:creationId xmlns:p14="http://schemas.microsoft.com/office/powerpoint/2010/main" val="3206248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8D7AD08-A2DB-4984-8137-44DCFAF9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⑥：运维监控与审计留痕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A29B686-2A87-44C3-8DA5-79D2F9EC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F3F878CA-8791-4EB2-9DAF-95E1A22F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12356104-D9F6-4068-99FB-FA230F9EBE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bd4ab1aae34c20"/>
          <a:stretch xmlns:a="http://schemas.openxmlformats.org/drawingml/2006/main"/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hlinkClick xmlns:a="http://schemas.openxmlformats.org/drawingml/2006/main" xmlns:r="http://schemas.openxmlformats.org/officeDocument/2006/relationships" r:id="" action="ppaction://media"/>
            <a:extLst xmlns:a="http://schemas.openxmlformats.org/drawingml/2006/main">
              <a:ext uri="{FF2B5EF4-FFF2-40B4-BE49-F238E27FC236}">
                <a16:creationId xmlns:a16="http://schemas.microsoft.com/office/drawing/2014/main" id="{12356104-D9F6-4068-99FB-FA230F9EBE8F}"/>
              </a:ext>
            </a:extLst>
          </p:cNvPr>
          <p:cNvPicPr>
            <a:picLocks xmlns:a="http://schemas.openxmlformats.org/drawingml/2006/main" noChangeAspect="1"/>
          </p:cNvPicPr>
          <p:nvPr>
            <a:videoFile xmlns:a="http://schemas.openxmlformats.org/drawingml/2006/main" xmlns:r="http://schemas.openxmlformats.org/officeDocument/2006/relationships" r:link="rIdVideo10"/>
            <p14:media xmlns:p14="http://schemas.microsoft.com/office/powerpoint/2010/main" xmlns:r="http://schemas.openxmlformats.org/officeDocument/2006/relationships" r:embed="rIdMedia10"/>
          </p:nvPr>
        </p:nvPicPr>
        <p:blipFill>
          <a:blip xmlns:r="http://schemas.openxmlformats.org/officeDocument/2006/relationships" xmlns:a="http://schemas.openxmlformats.org/drawingml/2006/main" r:embed="R7abd4ab1aae34c20"/>
          <a:stretch xmlns:a="http://schemas.openxmlformats.org/drawingml/2006/main"/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C8F9D5-65B6-4ADB-9554-8EA319B5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18 秒）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A80190-459C-4EA5-B6C0-1908BA0AA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运维与合规</a:t>
            </a: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E6B0AC6A-C29F-439F-B2DD-82CF913B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882003-433C-4522-9BF8-92ABDEFB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慢查询统计与连接概览</a:t>
            </a: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9A1032E9-1E75-4E60-B7F1-D0D782C0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359727-9E6E-43D1-950C-71C77EFA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表结构对比 schema diff</a:t>
            </a: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5EB61E6F-7C59-43FE-ABA8-B1B38915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D3C6A3-B42E-40B4-B4E7-7BB2A7260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审计日志全量留痕、可导出</a:t>
            </a:r>
          </a:p>
        </p:txBody>
      </p:sp>
      <p:sp>
        <p:nvSpPr>
          <p:cNvPr id="13" name="marker">
            <a:extLst xmlns:a="http://schemas.openxmlformats.org/drawingml/2006/main">
              <a:ext uri="{FF2B5EF4-FFF2-40B4-BE49-F238E27FC236}">
                <a16:creationId xmlns:a16="http://schemas.microsoft.com/office/drawing/2014/main" id="{6C9A7809-153B-49DC-A145-34579563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42E0FB-825F-41FC-8667-E12DDBE9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/metrics 暴露 Prometheus 指标</a:t>
            </a:r>
          </a:p>
        </p:txBody>
      </p:sp>
    </p:spTree>
    <p:extLst>
      <p:ext uri="{BB962C8B-B14F-4D97-AF65-F5344CB8AC3E}">
        <p14:creationId xmlns:p14="http://schemas.microsoft.com/office/powerpoint/2010/main" val="11759407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D37497A-4F03-46BD-853A-822998FE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6：数据库与大模型连接管理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53FE9F4-4770-4E57-A3CA-F749F770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F9344376-668A-4C8A-A77E-0E54334D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C33AFCB4-E091-4C83-BF23-BCC59AD714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4e2351d1bf45cd"/>
          <a:stretch xmlns:a="http://schemas.openxmlformats.org/drawingml/2006/main"/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hlinkClick xmlns:a="http://schemas.openxmlformats.org/drawingml/2006/main" xmlns:r="http://schemas.openxmlformats.org/officeDocument/2006/relationships" r:id="" action="ppaction://media"/>
            <a:extLst xmlns:a="http://schemas.openxmlformats.org/drawingml/2006/main">
              <a:ext uri="{FF2B5EF4-FFF2-40B4-BE49-F238E27FC236}">
                <a16:creationId xmlns:a16="http://schemas.microsoft.com/office/drawing/2014/main" id="{C33AFCB4-E091-4C83-BF23-BCC59AD7143A}"/>
              </a:ext>
            </a:extLst>
          </p:cNvPr>
          <p:cNvPicPr>
            <a:picLocks xmlns:a="http://schemas.openxmlformats.org/drawingml/2006/main" noChangeAspect="1"/>
          </p:cNvPicPr>
          <p:nvPr>
            <a:videoFile xmlns:a="http://schemas.openxmlformats.org/drawingml/2006/main" xmlns:r="http://schemas.openxmlformats.org/officeDocument/2006/relationships" r:link="rIdVideo11"/>
            <p14:media xmlns:p14="http://schemas.microsoft.com/office/powerpoint/2010/main" xmlns:r="http://schemas.openxmlformats.org/officeDocument/2006/relationships" r:embed="rIdMedia11"/>
          </p:nvPr>
        </p:nvPicPr>
        <p:blipFill>
          <a:blip xmlns:r="http://schemas.openxmlformats.org/officeDocument/2006/relationships" xmlns:a="http://schemas.openxmlformats.org/drawingml/2006/main" r:embed="Rb24e2351d1bf45cd"/>
          <a:stretch xmlns:a="http://schemas.openxmlformats.org/drawingml/2006/main"/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F6744C-49BB-4AED-B57E-9FC3EB2D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23 秒）：数据库连接配置一键测连 → 大模型连接配置测试第二个模型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A98251-4ABB-4DCD-9B6E-787511CA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连接即资产</a:t>
            </a: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DAB76479-CBC7-4191-94C3-78715F12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CC7238-90CE-44E4-A4BF-40C4EA6E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数据库连接：一键「测试」即返回连通性</a:t>
            </a: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5AA533FE-FF90-4130-B133-07DF44C4B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A90267-77D8-4F38-A92A-9247F065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覆盖 SQLite / Oracle / MySQL / OceanBase</a:t>
            </a: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A7C88D74-2B55-455E-905C-B1199753F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7AD3A3-9073-40D8-98D7-E9B22DCC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大模型：OpenAI、Claude、Ollama 三类提供方</a:t>
            </a:r>
          </a:p>
        </p:txBody>
      </p:sp>
      <p:sp>
        <p:nvSpPr>
          <p:cNvPr id="13" name="marker">
            <a:extLst xmlns:a="http://schemas.openxmlformats.org/drawingml/2006/main">
              <a:ext uri="{FF2B5EF4-FFF2-40B4-BE49-F238E27FC236}">
                <a16:creationId xmlns:a16="http://schemas.microsoft.com/office/drawing/2014/main" id="{29E914CC-6A7C-44EE-89D6-42702452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6D53AD-6B84-4FBC-93E8-975365BC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API Key 加密存储，可指定默认模型</a:t>
            </a:r>
          </a:p>
        </p:txBody>
      </p:sp>
    </p:spTree>
    <p:extLst>
      <p:ext uri="{BB962C8B-B14F-4D97-AF65-F5344CB8AC3E}">
        <p14:creationId xmlns:p14="http://schemas.microsoft.com/office/powerpoint/2010/main" val="12178680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3F034B-CA87-4ED8-A19B-87A2D21B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7：用户与角色管理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A754906-47D7-4323-B40D-C5BE4C14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4E49F30E-905C-49FB-B0D2-AF4452A9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94CE4AC7-A7A8-422B-8BEC-12B206DDD8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75c0ffd4984cbc"/>
          <a:stretch xmlns:a="http://schemas.openxmlformats.org/drawingml/2006/main"/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hlinkClick xmlns:a="http://schemas.openxmlformats.org/drawingml/2006/main" xmlns:r="http://schemas.openxmlformats.org/officeDocument/2006/relationships" r:id="" action="ppaction://media"/>
            <a:extLst xmlns:a="http://schemas.openxmlformats.org/drawingml/2006/main">
              <a:ext uri="{FF2B5EF4-FFF2-40B4-BE49-F238E27FC236}">
                <a16:creationId xmlns:a16="http://schemas.microsoft.com/office/drawing/2014/main" id="{94CE4AC7-A7A8-422B-8BEC-12B206DDD8EA}"/>
              </a:ext>
            </a:extLst>
          </p:cNvPr>
          <p:cNvPicPr>
            <a:picLocks xmlns:a="http://schemas.openxmlformats.org/drawingml/2006/main" noChangeAspect="1"/>
          </p:cNvPicPr>
          <p:nvPr>
            <a:videoFile xmlns:a="http://schemas.openxmlformats.org/drawingml/2006/main" xmlns:r="http://schemas.openxmlformats.org/officeDocument/2006/relationships" r:link="rIdVideo12"/>
            <p14:media xmlns:p14="http://schemas.microsoft.com/office/powerpoint/2010/main" xmlns:r="http://schemas.openxmlformats.org/officeDocument/2006/relationships" r:embed="rIdMedia12"/>
          </p:nvPr>
        </p:nvPicPr>
        <p:blipFill>
          <a:blip xmlns:r="http://schemas.openxmlformats.org/officeDocument/2006/relationships" xmlns:a="http://schemas.openxmlformats.org/drawingml/2006/main" r:embed="R8275c0ffd4984cbc"/>
          <a:stretch xmlns:a="http://schemas.openxmlformats.org/drawingml/2006/main"/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21ABBA-CDCE-49C7-8BF0-904B9865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23 秒）：用户管理 → 角色管理 → 依次查看技术管理 / 技术查询 / 业务查询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BF8A43-A30E-4772-A362-A883B7A32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权限可控</a:t>
            </a: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21408E3F-866E-4B8E-9C4A-B3827C33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0DEB9F-8F7F-4D34-B3A5-379D73F5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用户管理：账号 / 角色 / 状态 / 重置密码</a:t>
            </a: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23F8986F-DE06-4493-863E-51BE3B66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66C86E-09C4-4781-9496-7C8CA77F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角色管理：5 个内置角色 + 自定义</a:t>
            </a: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F60304C3-949A-4C3E-B49E-4B68B66D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08BE9C-CCB1-4AC6-B8EE-891CAE9FC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功能权限按模块分组勾选</a:t>
            </a:r>
          </a:p>
        </p:txBody>
      </p:sp>
      <p:sp>
        <p:nvSpPr>
          <p:cNvPr id="13" name="marker">
            <a:extLst xmlns:a="http://schemas.openxmlformats.org/drawingml/2006/main">
              <a:ext uri="{FF2B5EF4-FFF2-40B4-BE49-F238E27FC236}">
                <a16:creationId xmlns:a16="http://schemas.microsoft.com/office/drawing/2014/main" id="{DC344AF2-98E4-4CF0-B100-921C3C7B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738116-97D3-4477-9E4F-CF182583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角色成员可视化维护</a:t>
            </a:r>
          </a:p>
        </p:txBody>
      </p:sp>
    </p:spTree>
    <p:extLst>
      <p:ext uri="{BB962C8B-B14F-4D97-AF65-F5344CB8AC3E}">
        <p14:creationId xmlns:p14="http://schemas.microsoft.com/office/powerpoint/2010/main" val="199093911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2228C3D-162D-4153-897C-3870F8FF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系统管理：连接、模型、用户与角色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6C5E4B4-EDFE-4AC8-9E7D-699CDDED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45C15A-6271-4B78-9BB3-DA62A0783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504950"/>
            <a:ext cx="1140456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数据源、大模型、用户与角色，都在同一个管理界面里完成配置。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0E142D-F0A3-4B8F-A438-6ED87026C6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113dc11153456c"/>
          <a:stretch xmlns:a="http://schemas.openxmlformats.org/drawingml/2006/main"/>
        </p:blipFill>
        <p:spPr>
          <a:xfrm xmlns:a="http://schemas.openxmlformats.org/drawingml/2006/main">
            <a:off x="393668" y="2000265"/>
            <a:ext cx="5607082" cy="3153983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512301-8EC7-4F42-9A59-D48676AEA1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0cc679340a4fd6"/>
          <a:stretch xmlns:a="http://schemas.openxmlformats.org/drawingml/2006/main"/>
        </p:blipFill>
        <p:spPr>
          <a:xfrm xmlns:a="http://schemas.openxmlformats.org/drawingml/2006/main">
            <a:off x="6264402" y="2000265"/>
            <a:ext cx="5607082" cy="315398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21A411-1C4E-4131-8EEB-E7D06DC0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334000"/>
            <a:ext cx="560708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大模型连接：OpenAI 兼容 / Claude / Ollama，Key 加密存储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0152EC-D723-4B3F-8AC9-AB93B067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5334000"/>
            <a:ext cx="560708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角色权限：5 个内置角色 + 自定义角色，权限码按功能分组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7466A6-9D22-4A52-8E38-3B3CD112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715000"/>
            <a:ext cx="1140456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先勾选权限，再由路由守卫拦截：前端菜单与后端接口双重校验。</a:t>
            </a:r>
          </a:p>
        </p:txBody>
      </p:sp>
    </p:spTree>
    <p:extLst>
      <p:ext uri="{BB962C8B-B14F-4D97-AF65-F5344CB8AC3E}">
        <p14:creationId xmlns:p14="http://schemas.microsoft.com/office/powerpoint/2010/main" val="61433528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3FBCCEA-1BA9-4887-A7CF-97E3AA0E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技术亮点 ①：Agent 工程化闭环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379D558-B3C2-4227-ACE7-85460594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2F7689-1936-4420-934D-4B96333AE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66850"/>
            <a:ext cx="11404568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不是简单调用大模型，而是把「工具调用、失败自愈、经验复用」做成工程闭环；一次对话通过 SSE 推送 thought / tool / sql / retry / result / chart 等事件，前端逐段渲染。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3F42BF-1714-4A5F-8606-C7570DCDF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CB7954-8A40-4D52-B7E9-84803AD0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3213068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工具调用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E29E47-4091-4D1B-A216-B41AC5AD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3613118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list_tables、get_columns、sample_data、explain 四个工具按需调用，最多 3 轮。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66872D-D911-4332-867F-CB9A34F6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D1FE8D-3771-4298-BFE1-E6D43321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3213068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失败自愈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B4C921-C33F-410B-B02D-666E671F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3613118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READ 查询执行失败时，自动把错误回传给 LLM 修正并重试，最多 3 次。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3171A2-9ECD-4A99-B85D-E1492321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95" y="3022568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BE9531-D818-439E-94F2-71DB9F1A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3213068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经验复用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CE1193-C5A6-4015-98C4-FBAACB68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3613118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历史成功 SQL 作为 few-shot 注入新会话，越用越准。</a:t>
            </a:r>
          </a:p>
        </p:txBody>
      </p:sp>
    </p:spTree>
    <p:extLst>
      <p:ext uri="{BB962C8B-B14F-4D97-AF65-F5344CB8AC3E}">
        <p14:creationId xmlns:p14="http://schemas.microsoft.com/office/powerpoint/2010/main" val="100083195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0AA4FE0-A7FA-425B-9563-CEB2F623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技术亮点 ②：分层架构与跨库适配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ECB3526-69D7-4E0B-AE4E-9090BB11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3" name="band-0">
            <a:extLst xmlns:a="http://schemas.openxmlformats.org/drawingml/2006/main">
              <a:ext uri="{FF2B5EF4-FFF2-40B4-BE49-F238E27FC236}">
                <a16:creationId xmlns:a16="http://schemas.microsoft.com/office/drawing/2014/main" id="{E37E86A3-7E01-48C6-A4E2-CCCD4459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71650"/>
            <a:ext cx="6667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AA93C1-DC58-4161-86C6-4064A806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18" y="1771650"/>
            <a:ext cx="632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前端 Vue 3 + TypeScript + Vite + Pinia + Naive UI + CodeMirror 6 + ECharts</a:t>
            </a:r>
          </a:p>
        </p:txBody>
      </p:sp>
      <p:sp>
        <p:nvSpPr>
          <p:cNvPr id="5" name="band-1">
            <a:extLst xmlns:a="http://schemas.openxmlformats.org/drawingml/2006/main">
              <a:ext uri="{FF2B5EF4-FFF2-40B4-BE49-F238E27FC236}">
                <a16:creationId xmlns:a16="http://schemas.microsoft.com/office/drawing/2014/main" id="{CF28B352-F5E0-4F06-B35D-382FE0A6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476500"/>
            <a:ext cx="6667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A9C7F0-AAEE-46BC-8172-E322FA28D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18" y="2476500"/>
            <a:ext cx="632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路由层 15 个路由模块 · 统一响应 { code, message, data }</a:t>
            </a:r>
          </a:p>
        </p:txBody>
      </p:sp>
      <p:sp>
        <p:nvSpPr>
          <p:cNvPr id="7" name="band-2">
            <a:extLst xmlns:a="http://schemas.openxmlformats.org/drawingml/2006/main">
              <a:ext uri="{FF2B5EF4-FFF2-40B4-BE49-F238E27FC236}">
                <a16:creationId xmlns:a16="http://schemas.microsoft.com/office/drawing/2014/main" id="{90E4B81E-0749-457A-8DD5-7CF7CC6C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181350"/>
            <a:ext cx="6667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FCE5E4-03FB-43E1-BEB2-43D369D8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18" y="3181350"/>
            <a:ext cx="632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服务层 sql / agent / metadata / export / schedule / audit</a:t>
            </a:r>
          </a:p>
        </p:txBody>
      </p:sp>
      <p:sp>
        <p:nvSpPr>
          <p:cNvPr id="9" name="band-3">
            <a:extLst xmlns:a="http://schemas.openxmlformats.org/drawingml/2006/main">
              <a:ext uri="{FF2B5EF4-FFF2-40B4-BE49-F238E27FC236}">
                <a16:creationId xmlns:a16="http://schemas.microsoft.com/office/drawing/2014/main" id="{CA64CDC4-5C63-4BE0-BA13-03962D4C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886200"/>
            <a:ext cx="6667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DB10DF-6B24-4067-9F4A-A7B20B313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18" y="3886200"/>
            <a:ext cx="632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适配层 BaseDBAdapter + registry：connect / test / metadata / execute / explain</a:t>
            </a:r>
          </a:p>
        </p:txBody>
      </p:sp>
      <p:sp>
        <p:nvSpPr>
          <p:cNvPr id="11" name="band-4">
            <a:extLst xmlns:a="http://schemas.openxmlformats.org/drawingml/2006/main">
              <a:ext uri="{FF2B5EF4-FFF2-40B4-BE49-F238E27FC236}">
                <a16:creationId xmlns:a16="http://schemas.microsoft.com/office/drawing/2014/main" id="{65E84DB8-E67A-44B6-9AC5-B6A293FA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591050"/>
            <a:ext cx="6667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81AF32-0379-4BC1-944A-B41316FDB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18" y="4591050"/>
            <a:ext cx="632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目标库 SQLite · MySQL · PostgreSQL · Oracle · OceanBase · GoldenDB · MongoDB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B3C885-984D-48B8-9E46-05A9BBCE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71650"/>
            <a:ext cx="4441317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LLM Provider 抽象</a:t>
            </a:r>
          </a:p>
        </p:txBody>
      </p:sp>
      <p:sp>
        <p:nvSpPr>
          <p:cNvPr id="14" name="llm-0">
            <a:extLst xmlns:a="http://schemas.openxmlformats.org/drawingml/2006/main">
              <a:ext uri="{FF2B5EF4-FFF2-40B4-BE49-F238E27FC236}">
                <a16:creationId xmlns:a16="http://schemas.microsoft.com/office/drawing/2014/main" id="{C1D2AA64-11DC-42FB-B15E-FF75E68EE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47900"/>
            <a:ext cx="4441317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89D36A-43E7-49F3-B098-88C7604F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47900"/>
            <a:ext cx="4095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OpenAI 兼容（含 Ollama /v1）</a:t>
            </a:r>
          </a:p>
        </p:txBody>
      </p:sp>
      <p:sp>
        <p:nvSpPr>
          <p:cNvPr id="16" name="llm-1">
            <a:extLst xmlns:a="http://schemas.openxmlformats.org/drawingml/2006/main">
              <a:ext uri="{FF2B5EF4-FFF2-40B4-BE49-F238E27FC236}">
                <a16:creationId xmlns:a16="http://schemas.microsoft.com/office/drawing/2014/main" id="{8BE09CD8-00DB-42E0-864E-A2091662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52750"/>
            <a:ext cx="4441317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02261C-88CF-4A49-95FA-26E9E625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52750"/>
            <a:ext cx="4095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Anthropic Claude</a:t>
            </a:r>
          </a:p>
        </p:txBody>
      </p:sp>
      <p:sp>
        <p:nvSpPr>
          <p:cNvPr id="18" name="llm-2">
            <a:extLst xmlns:a="http://schemas.openxmlformats.org/drawingml/2006/main">
              <a:ext uri="{FF2B5EF4-FFF2-40B4-BE49-F238E27FC236}">
                <a16:creationId xmlns:a16="http://schemas.microsoft.com/office/drawing/2014/main" id="{62DFD864-E0B3-454F-BFFB-D06B737F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57600"/>
            <a:ext cx="4441317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9052B2-F2AD-49DC-B088-80410EC7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57600"/>
            <a:ext cx="4095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Ollama 本地部署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7FB016-E41C-4A81-9315-F2414D03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76750"/>
            <a:ext cx="4441317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统一 chat / stream / ping 接口；缺少 Key 时立即失败，不让用户等待超时。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4BCEEE-42E5-41ED-8E8E-7900846D1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524500"/>
            <a:ext cx="1140456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同一套 Agent 工具屏蔽数据库方言差异；新增数据库只需实现一个适配器并注册。</a:t>
            </a:r>
          </a:p>
        </p:txBody>
      </p:sp>
    </p:spTree>
    <p:extLst>
      <p:ext uri="{BB962C8B-B14F-4D97-AF65-F5344CB8AC3E}">
        <p14:creationId xmlns:p14="http://schemas.microsoft.com/office/powerpoint/2010/main" val="164890879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1D5603C-A453-4E4A-9B25-04B01116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技术亮点 ③：安全、审计与可观测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E35ED14-43A1-4408-8622-08F0F78E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3DC188-E70C-4DD3-AAA2-043F26D1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66850"/>
            <a:ext cx="11404568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密钥加密、分级授权、全量审计、指标暴露与测试覆盖，构成可交付的企业级完整性。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A6DB04-FF00-4D6C-8FF7-3F5E3EB5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03726E-7475-42EE-B0ED-A9E87E36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3213068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加密与认证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1360AC-4279-4331-B401-A3A9640B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3613118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数据库密码、SSH 私钥、AI Key 经 Fernet 加密入库，接口只返回 has_password / has_key；密码 pbkdf2 哈希，会话使用 httponly Cookie。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C734C2-13C1-4E98-BE18-D95D9B53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84F747-4F69-4A2B-8E78-526496CF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3213068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权限与审计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1CB1C3-C292-4F09-A67B-E767E9F70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3613118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 个内置角色 + 自定义角色；READ / DML / DDL 分级授权；登录、SQL、Agent 动作全量留痕，默认保留 180 天并支持导出。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E8C4D4-9B76-471B-A9E4-CF2E2FC0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95" y="3022568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B9BAB2-9338-4028-A108-F1EE7D60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3213068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可观测与部署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436A1C-32BA-4D40-8B42-0E0995BF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3613118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/metrics 暴露请求数、延迟与 SQL 执行次数；117 项后端测试 + Playwright E2E；Docker 多阶段构建，单端口一键启动。</a:t>
            </a:r>
          </a:p>
        </p:txBody>
      </p:sp>
    </p:spTree>
    <p:extLst>
      <p:ext uri="{BB962C8B-B14F-4D97-AF65-F5344CB8AC3E}">
        <p14:creationId xmlns:p14="http://schemas.microsoft.com/office/powerpoint/2010/main" val="165647907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1D2801D-C6B4-4885-BF98-38839DF1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157051-8788-4805-8EF7-7FD2BFC7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287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让每个人都能安全、高效地与数据对话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1D1C333-4753-4763-9EE9-0BE228DB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571750"/>
            <a:ext cx="1140456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3F098C-D2A1-4E63-BC7F-E318A492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480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已完成：自然语言查询、SQL 安全执行、7 类数据源适配、图表与仪表盘、RBAC 与全量审计、监控与定时导出、Docker 一键部署。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63F27D-4BC0-4841-B07C-69764D3A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052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下一步：补齐更多数据库对象支持，扩展 Agent 工具（索引建议、慢查询根因分析），增加团队协作与报表订阅。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C9941F-AF9F-4675-8CBE-A211D71C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625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演示入口：开发模式 http://127.0.0.1:5174，Docker 模式 http://127.0.0.1:8000，账号 admin / admin123。</a:t>
            </a:r>
          </a:p>
        </p:txBody>
      </p:sp>
    </p:spTree>
    <p:extLst>
      <p:ext uri="{BB962C8B-B14F-4D97-AF65-F5344CB8AC3E}">
        <p14:creationId xmlns:p14="http://schemas.microsoft.com/office/powerpoint/2010/main" val="5593495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2026-10-13T18:56:38.6340000Z</dcterms:created>
  <dcterms:modified xsi:type="dcterms:W3CDTF">2026-10-13T18:56:38.6340000Z</dcterms:modified>
</coreProperties>
</file>