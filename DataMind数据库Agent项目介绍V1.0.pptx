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3" r:id="rId3"/>
    <p:sldId id="274" r:id="rId5"/>
    <p:sldId id="275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开场控制在 15 秒内：这是一个前后端分离、AI Agent 驱动的数据库查询与运维工作台。</a:t>
            </a:r>
          </a:p>
          <a:p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用真实工作流举例：产品经理打开网页，输入“本月新增用户按日分组”，系统生成 SQL、返回结果，并可一键生成图表。</a:t>
            </a:r>
          </a:p>
          <a:p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不逐条念功能，强调模块围绕工作流组织：连接、查询、分析、报表、管理。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40 秒），包含两个查询案例：</a:t>
            </a:r>
          </a:p>
          <a:p>
            <a:r>
              <a:t>案例一：选择「本地演示库 (SQLite)」，提问「查询所有用户信息」，Agent 生成 SELECT id, username, email, age, created_at FROM users 并返回 8 条记录；</a:t>
            </a:r>
          </a:p>
          <a:p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/>
          <a:p>
            <a:r>
              <a:t>[Sources]</a:t>
            </a:r>
          </a:p>
          <a:p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60 秒），数据源为 Oracle（UAT）：</a:t>
            </a:r>
          </a:p>
          <a:p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>
            <a:r>
              <a:t>结尾进入「可视化报表」页，可见刚保存的两张图表（笔数与金额量级差异大时前端自动拆分双 Y 轴）。</a:t>
            </a:r>
          </a:p>
          <a:p/>
          <a:p>
            <a:r>
              <a:t>[Sources]</a:t>
            </a:r>
          </a:p>
          <a:p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55 秒），完整演示 SQL 工作台与 Agent 协同：</a:t>
            </a:r>
          </a:p>
          <a:p>
            <a:r>
              <a:t>案例一：数据源切换为「OceanBase（本地）」，在编辑器输入 SELECT * FROM `t_org`; 并点击「▶ 执行」，返回 55 行机构数据；</a:t>
            </a:r>
          </a:p>
          <a:p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>
            <a:r>
              <a:t>结尾依次切换左侧「历史」页签（本次两条 SQL 的执行记录，含行数与耗时）与「收藏」页签（新增的收藏项排在首位）。</a:t>
            </a:r>
          </a:p>
          <a:p/>
          <a:p>
            <a:r>
              <a:t>[Sources]</a:t>
            </a:r>
          </a:p>
          <a:p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52 秒），三个写操作场景均需人工确认：</a:t>
            </a:r>
          </a:p>
          <a:p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/>
          <a:p>
            <a:r>
              <a:t>[Sources]</a:t>
            </a:r>
          </a:p>
          <a:p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32 秒），四个监控能力依次演示：</a:t>
            </a:r>
          </a:p>
          <a:p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/>
          <a:p>
            <a:r>
              <a:t>[Sources]</a:t>
            </a:r>
          </a:p>
          <a:p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23 秒），两步验证连接可用性：</a:t>
            </a:r>
          </a:p>
          <a:p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/>
          <a:p>
            <a:r>
              <a:t>[Sources]</a:t>
            </a:r>
          </a:p>
          <a:p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23 秒），从用户到角色依次演示：</a:t>
            </a:r>
          </a:p>
          <a:p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>
            <a:r>
              <a:t>第二步：切到「角色管理」，左侧列出 5 个内置角色（管理员 / 技术管理 / 技术查询 / 业务管理 / 业务查询）；</a:t>
            </a:r>
          </a:p>
          <a:p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/>
          <a:p>
            <a:r>
              <a:t>[Sources]</a:t>
            </a:r>
          </a:p>
          <a:p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这是竞赛最看重的工程深度：不是调用一次模型，而是把工具调用、失败重试、经验复用做成闭环。</a:t>
            </a:r>
          </a:p>
          <a:p/>
          <a:p>
            <a:r>
              <a:t>[Sources]</a:t>
            </a:r>
          </a:p>
          <a:p>
            <a:r>
              <a:t>backend/app/services/agent_service.py、llm_providers.py；AGENTS.md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强调两个可扩展点：适配器模式与 LLM Provider 抽象。</a:t>
            </a:r>
          </a:p>
          <a:p/>
          <a:p>
            <a:r>
              <a:t>[Sources]</a:t>
            </a:r>
          </a:p>
          <a:p>
            <a:r>
              <a:t>backend/app/adapters/、backend/app/routers/（15 个路由模块，96 个接口）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企业级完整性：加密、分级授权、全量审计、指标与测试。</a:t>
            </a:r>
          </a:p>
          <a:p/>
          <a:p>
            <a:r>
              <a:t>[Sources]</a:t>
            </a:r>
          </a:p>
          <a:p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收尾回到用户价值，并给出下一步计划。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6.xm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Relationship Id="rId3" Type="http://schemas.microsoft.com/office/2007/relationships/media" Target="../media/media4.mp4"/><Relationship Id="rId2" Type="http://schemas.openxmlformats.org/officeDocument/2006/relationships/video" Target="../media/media4.mp4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microsoft.com/office/2007/relationships/media" Target="../media/media5.mp4"/><Relationship Id="rId2" Type="http://schemas.openxmlformats.org/officeDocument/2006/relationships/video" Target="../media/media5.mp4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microsoft.com/office/2007/relationships/media" Target="../media/media6.mp4"/><Relationship Id="rId2" Type="http://schemas.openxmlformats.org/officeDocument/2006/relationships/video" Target="../media/media6.mp4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microsoft.com/office/2007/relationships/media" Target="../media/media7.mp4"/><Relationship Id="rId2" Type="http://schemas.openxmlformats.org/officeDocument/2006/relationships/video" Target="../media/media7.mp4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cover-glow"/>
          <p:cNvSpPr>
            <a:spLocks noGrp="1"/>
          </p:cNvSpPr>
          <p:nvPr/>
        </p:nvSpPr>
        <p:spPr>
          <a:xfrm>
            <a:off x="7429500" y="571500"/>
            <a:ext cx="4095750" cy="4095750"/>
          </a:xfrm>
          <a:prstGeom prst="roundRect">
            <a:avLst>
              <a:gd name="adj" fmla="val 50000"/>
            </a:avLst>
          </a:prstGeom>
          <a:solidFill>
            <a:srgbClr val="22C55E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857250" y="1695450"/>
            <a:ext cx="685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4800" b="1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DataMind</a:t>
            </a:r>
            <a:endParaRPr sz="4800" b="1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914400" y="278130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25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cover-claim"/>
          <p:cNvSpPr>
            <a:spLocks noGrp="1"/>
          </p:cNvSpPr>
          <p:nvPr/>
        </p:nvSpPr>
        <p:spPr>
          <a:xfrm>
            <a:off x="914400" y="33528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让不会写 </a:t>
            </a:r>
            <a:r>
              <a:rPr lang="en-US" altLang="zh-CN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的业务人员也能安全地查数据，会写 </a:t>
            </a:r>
            <a:r>
              <a:rPr lang="en-US" altLang="zh-CN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的技术人员更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高效。</a:t>
            </a:r>
            <a:endParaRPr lang="zh-CN" altLang="en-US" sz="1500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cover-tag-0"/>
          <p:cNvSpPr>
            <a:spLocks noGrp="1"/>
          </p:cNvSpPr>
          <p:nvPr/>
        </p:nvSpPr>
        <p:spPr>
          <a:xfrm>
            <a:off x="9144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AI Agent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cover-tag-line-0"/>
          <p:cNvSpPr>
            <a:spLocks noGrp="1"/>
          </p:cNvSpPr>
          <p:nvPr/>
        </p:nvSpPr>
        <p:spPr>
          <a:xfrm>
            <a:off x="9144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8" name="cover-tag-1"/>
          <p:cNvSpPr>
            <a:spLocks noGrp="1"/>
          </p:cNvSpPr>
          <p:nvPr/>
        </p:nvSpPr>
        <p:spPr>
          <a:xfrm>
            <a:off x="31242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Multi-Database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cover-tag-line-1"/>
          <p:cNvSpPr>
            <a:spLocks noGrp="1"/>
          </p:cNvSpPr>
          <p:nvPr/>
        </p:nvSpPr>
        <p:spPr>
          <a:xfrm>
            <a:off x="31242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0" name="cover-tag-2"/>
          <p:cNvSpPr>
            <a:spLocks noGrp="1"/>
          </p:cNvSpPr>
          <p:nvPr/>
        </p:nvSpPr>
        <p:spPr>
          <a:xfrm>
            <a:off x="53340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Security First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1" name="cover-tag-line-2"/>
          <p:cNvSpPr>
            <a:spLocks noGrp="1"/>
          </p:cNvSpPr>
          <p:nvPr/>
        </p:nvSpPr>
        <p:spPr>
          <a:xfrm>
            <a:off x="5334000" y="4476750"/>
            <a:ext cx="381000" cy="28575"/>
          </a:xfrm>
          <a:prstGeom prst="rect">
            <a:avLst/>
          </a:prstGeom>
          <a:solidFill>
            <a:srgbClr val="22C55E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目</a:t>
            </a:r>
            <a:r>
              <a:rPr lang="en-US" alt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录</a:t>
            </a:r>
            <a:endParaRPr lang="zh-CN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2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genda-num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16954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01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agenda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1752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为什么做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genda-desc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21336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痛点</a:t>
            </a: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>
                <a:sym typeface="+mn-ea"/>
              </a:rPr>
              <a:t>定位、目标用户</a:t>
            </a:r>
            <a:endParaRPr 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" name="agenda-lin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14400" y="25527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1" name="agenda-num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14400" y="27622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02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agenda-title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190750" y="28194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产品能力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agenda-desc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190750" y="3200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agenda-line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14400" y="36195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5" name="agenda-num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14400" y="38290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03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genda-title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190750" y="38862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技术亮点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agenda-desc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190750" y="42672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agenda-line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14400" y="46863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9" name="agenda-num-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14400" y="48958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04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0" name="agenda-title-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190750" y="4953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工程与治理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1" name="agenda-desc-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190750" y="53340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4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pain-surface"/>
          <p:cNvSpPr>
            <a:spLocks noGrp="1"/>
          </p:cNvSpPr>
          <p:nvPr/>
        </p:nvSpPr>
        <p:spPr>
          <a:xfrm>
            <a:off x="6858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pain-title"/>
          <p:cNvSpPr>
            <a:spLocks noGrp="1"/>
          </p:cNvSpPr>
          <p:nvPr/>
        </p:nvSpPr>
        <p:spPr>
          <a:xfrm>
            <a:off x="9906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B91C1C"/>
                </a:solidFill>
                <a:latin typeface="微软雅黑" charset="-122"/>
                <a:ea typeface="微软雅黑" charset="-122"/>
                <a:cs typeface="微软雅黑" charset="-122"/>
              </a:rPr>
              <a:t>常见痛点</a:t>
            </a:r>
            <a:endParaRPr sz="1800" b="1">
              <a:solidFill>
                <a:srgbClr val="B91C1C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pain-list"/>
          <p:cNvSpPr>
            <a:spLocks noGrp="1"/>
          </p:cNvSpPr>
          <p:nvPr/>
        </p:nvSpPr>
        <p:spPr>
          <a:xfrm>
            <a:off x="9906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业务人员不会写 SQL，取数依赖技术同事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600"/>
              <a:t>不通</a:t>
            </a:r>
            <a:r>
              <a:rPr sz="1600"/>
              <a:t>数据库</a:t>
            </a:r>
            <a:r>
              <a:rPr lang="zh-CN" sz="1600"/>
              <a:t>各有各的客户端</a:t>
            </a:r>
            <a:r>
              <a:rPr sz="1600"/>
              <a:t>，</a:t>
            </a:r>
            <a:r>
              <a:rPr lang="zh-CN" sz="1600"/>
              <a:t>安装切换繁琐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AI 生成 SQL 存在误操作与越权风险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查询结果难以沉淀为报表与文档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敏感数据与用户操作缺少权限和审计</a:t>
            </a:r>
            <a:endParaRPr sz="1600"/>
          </a:p>
        </p:txBody>
      </p:sp>
      <p:sp>
        <p:nvSpPr>
          <p:cNvPr id="10" name="solution-surface"/>
          <p:cNvSpPr>
            <a:spLocks noGrp="1"/>
          </p:cNvSpPr>
          <p:nvPr/>
        </p:nvSpPr>
        <p:spPr>
          <a:xfrm>
            <a:off x="62865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olution-title"/>
          <p:cNvSpPr>
            <a:spLocks noGrp="1"/>
          </p:cNvSpPr>
          <p:nvPr/>
        </p:nvSpPr>
        <p:spPr>
          <a:xfrm>
            <a:off x="65913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DataMind 的解法</a:t>
            </a:r>
            <a:endParaRPr sz="180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solution-list"/>
          <p:cNvSpPr>
            <a:spLocks noGrp="1"/>
          </p:cNvSpPr>
          <p:nvPr/>
        </p:nvSpPr>
        <p:spPr>
          <a:xfrm>
            <a:off x="65913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输入问题，自动生成 SQL、执行并可视化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报表与大屏：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504950"/>
            <a:ext cx="1140456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3668" y="24955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857500" y="24955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核心需求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0" y="249555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典型场景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rule"/>
          <p:cNvSpPr>
            <a:spLocks noGrp="1"/>
          </p:cNvSpPr>
          <p:nvPr/>
        </p:nvSpPr>
        <p:spPr>
          <a:xfrm>
            <a:off x="393668" y="285750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93668" y="30670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后端开发者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57500" y="30670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30670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rule"/>
          <p:cNvSpPr>
            <a:spLocks noGrp="1"/>
          </p:cNvSpPr>
          <p:nvPr/>
        </p:nvSpPr>
        <p:spPr>
          <a:xfrm>
            <a:off x="393668" y="34861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93668" y="3657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DBA / 运维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0" y="36576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0" y="36576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rule"/>
          <p:cNvSpPr>
            <a:spLocks noGrp="1"/>
          </p:cNvSpPr>
          <p:nvPr/>
        </p:nvSpPr>
        <p:spPr>
          <a:xfrm>
            <a:off x="393668" y="407670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93668" y="4248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数据分析师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57500" y="4248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0" y="42481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rule"/>
          <p:cNvSpPr>
            <a:spLocks noGrp="1"/>
          </p:cNvSpPr>
          <p:nvPr/>
        </p:nvSpPr>
        <p:spPr>
          <a:xfrm>
            <a:off x="393668" y="46672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93668" y="48387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业务 / 产品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8387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48387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93668" y="5715000"/>
            <a:ext cx="1140456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功能全景：14 个模块，一条数据工作流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4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504950"/>
            <a:ext cx="1140456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rule"/>
          <p:cNvSpPr>
            <a:spLocks noGrp="1"/>
          </p:cNvSpPr>
          <p:nvPr/>
        </p:nvSpPr>
        <p:spPr>
          <a:xfrm>
            <a:off x="393668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93668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连接管理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3668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8 类数据源、SSH 隧道、多环境标签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rule"/>
          <p:cNvSpPr>
            <a:spLocks noGrp="1"/>
          </p:cNvSpPr>
          <p:nvPr/>
        </p:nvSpPr>
        <p:spPr>
          <a:xfrm>
            <a:off x="3314700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14700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 工作台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rule"/>
          <p:cNvSpPr>
            <a:spLocks noGrp="1"/>
          </p:cNvSpPr>
          <p:nvPr/>
        </p:nvSpPr>
        <p:spPr>
          <a:xfrm>
            <a:off x="6235732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35732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元数据管理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35732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rule"/>
          <p:cNvSpPr>
            <a:spLocks noGrp="1"/>
          </p:cNvSpPr>
          <p:nvPr/>
        </p:nvSpPr>
        <p:spPr>
          <a:xfrm>
            <a:off x="9156764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56764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 智能查询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56764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rule"/>
          <p:cNvSpPr>
            <a:spLocks noGrp="1"/>
          </p:cNvSpPr>
          <p:nvPr/>
        </p:nvSpPr>
        <p:spPr>
          <a:xfrm>
            <a:off x="393668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93668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可视化报表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3668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rule"/>
          <p:cNvSpPr>
            <a:spLocks noGrp="1"/>
          </p:cNvSpPr>
          <p:nvPr/>
        </p:nvSpPr>
        <p:spPr>
          <a:xfrm>
            <a:off x="3314700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314700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文档导出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rule"/>
          <p:cNvSpPr>
            <a:spLocks noGrp="1"/>
          </p:cNvSpPr>
          <p:nvPr/>
        </p:nvSpPr>
        <p:spPr>
          <a:xfrm>
            <a:off x="6235732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35732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用户与角色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35732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rule"/>
          <p:cNvSpPr>
            <a:spLocks noGrp="1"/>
          </p:cNvSpPr>
          <p:nvPr/>
        </p:nvSpPr>
        <p:spPr>
          <a:xfrm>
            <a:off x="9156764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56764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运维监控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56764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1：自然语言查询数据库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5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2：自然语言生成图表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6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3：SQL 工作台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7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4：数据操作安全控制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8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分级授权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5：运维监控与日志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9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运维与合规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6：数据库与大模型连接管理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连接即资产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7：用户与角色管理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12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权限可控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角色管理：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按角色控制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先勾选权限，再由路由守卫拦截：前端菜单与后端接口双重校验</a:t>
            </a:r>
            <a:endParaRPr 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技术亮点 ①：Agent 工程化闭环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14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466850"/>
            <a:ext cx="11404568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3218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工具调用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3218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21232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失败自愈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21232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READ 查询执行失败时，自动把错误回传给 LLM 修正并重试，最多 3 次。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29695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439245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经验复用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39245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历史成功 SQL 作为 few-shot 注入新会话，越用越准。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技术亮点 ②：分层架构与跨库适配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15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band-0"/>
          <p:cNvSpPr>
            <a:spLocks noGrp="1"/>
          </p:cNvSpPr>
          <p:nvPr/>
        </p:nvSpPr>
        <p:spPr>
          <a:xfrm>
            <a:off x="393668" y="1771650"/>
            <a:ext cx="66675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65118" y="1771650"/>
            <a:ext cx="632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前端 Vue 3 + TypeScript + Vite + Pinia + Naive UI + CodeMirror 6 + ECharts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band-1"/>
          <p:cNvSpPr>
            <a:spLocks noGrp="1"/>
          </p:cNvSpPr>
          <p:nvPr/>
        </p:nvSpPr>
        <p:spPr>
          <a:xfrm>
            <a:off x="393668" y="2476500"/>
            <a:ext cx="66675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65118" y="2476500"/>
            <a:ext cx="632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路由层 15 个路由模块 · 统一响应 { code, message, data }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band-2"/>
          <p:cNvSpPr>
            <a:spLocks noGrp="1"/>
          </p:cNvSpPr>
          <p:nvPr/>
        </p:nvSpPr>
        <p:spPr>
          <a:xfrm>
            <a:off x="393668" y="3181350"/>
            <a:ext cx="66675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65118" y="3181350"/>
            <a:ext cx="632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服务层 sql / agent / metadata / export / schedule / audit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band-3"/>
          <p:cNvSpPr>
            <a:spLocks noGrp="1"/>
          </p:cNvSpPr>
          <p:nvPr/>
        </p:nvSpPr>
        <p:spPr>
          <a:xfrm>
            <a:off x="393668" y="3886200"/>
            <a:ext cx="6667500" cy="628650"/>
          </a:xfrm>
          <a:prstGeom prst="rect">
            <a:avLst/>
          </a:prstGeom>
          <a:solidFill>
            <a:srgbClr val="DCEB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65118" y="3886200"/>
            <a:ext cx="632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适配层 BaseDBAdapter + registry：connect / test / metadata / execute / explain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band-4"/>
          <p:cNvSpPr>
            <a:spLocks noGrp="1"/>
          </p:cNvSpPr>
          <p:nvPr/>
        </p:nvSpPr>
        <p:spPr>
          <a:xfrm>
            <a:off x="393668" y="4591050"/>
            <a:ext cx="66675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65118" y="4591050"/>
            <a:ext cx="632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目标库 SQLite · MySQL · PostgreSQL · Oracle · OceanBase · GoldenDB · MongoDB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0" y="1771650"/>
            <a:ext cx="444131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LLM Provider 抽象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llm-0"/>
          <p:cNvSpPr>
            <a:spLocks noGrp="1"/>
          </p:cNvSpPr>
          <p:nvPr/>
        </p:nvSpPr>
        <p:spPr>
          <a:xfrm>
            <a:off x="7429500" y="2247900"/>
            <a:ext cx="4441317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00950" y="22479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OpenAI 兼容（含 Ollama /v1）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llm-1"/>
          <p:cNvSpPr>
            <a:spLocks noGrp="1"/>
          </p:cNvSpPr>
          <p:nvPr/>
        </p:nvSpPr>
        <p:spPr>
          <a:xfrm>
            <a:off x="7429500" y="2952750"/>
            <a:ext cx="4441317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00950" y="295275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Anthropic Claude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llm-2"/>
          <p:cNvSpPr>
            <a:spLocks noGrp="1"/>
          </p:cNvSpPr>
          <p:nvPr/>
        </p:nvSpPr>
        <p:spPr>
          <a:xfrm>
            <a:off x="7429500" y="3657600"/>
            <a:ext cx="4441317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00950" y="36576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Ollama 本地部署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29500" y="4476750"/>
            <a:ext cx="4441317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统一 chat / stream / ping 接口；缺少 Key 时立即失败，不让用户等待超时。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93668" y="5524500"/>
            <a:ext cx="1140456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同一套 Agent 工具屏蔽数据库方言差异；新增数据库只需实现一个适配器并注册。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技术亮点 ③：安全、审计与可观测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16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466850"/>
            <a:ext cx="11404568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密钥加密、分级授权、全量审计、指标暴露与测试覆盖，构成可交付的企业级完整性。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3218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加密与认证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3218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数据库密码、SSH 私钥、AI Key 经 Fernet 加密入库，接口只返回 has_password / has_key；密码 pbkdf2 哈希，会话使用 httponly Cookie。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21232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权限与审计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21232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5 个内置角色 + 自定义角色；READ / DML / DDL 分级授权；登录、SQL、Agent 动作全量留痕，默认保留 180 天并支持导出。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29695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439245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可观测与部署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39245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/metrics 暴露请求数、延迟与 SQL 执行次数；117 项后端测试 + Playwright E2E；Docker 多阶段构建，单端口一键启动。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17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93668" y="1428750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393668" y="25717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393668" y="30480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已完成：自然语言查询、SQL 安全执行、7 类数据源适配、图表与仪表盘、RBAC 与全量审计、监控与定时导出、Docker 一键部署。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3668" y="39052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3668" y="47625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演示入口：开发模式 http://127.0.0.1:5174，Docker 模式 http://127.0.0.1:8000，账号 admin / admin123。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6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7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8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9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0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3371</Words>
  <Application>WPS 演示</Application>
  <PresentationFormat>Converted Presentation</PresentationFormat>
  <Paragraphs>326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Aptos</vt:lpstr>
      <vt:lpstr>Helvetica Neue</vt:lpstr>
      <vt:lpstr>Calibri</vt:lpstr>
      <vt:lpstr>华文仿宋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笨小孩</cp:lastModifiedBy>
  <cp:revision>1</cp:revision>
  <dcterms:created xsi:type="dcterms:W3CDTF">2026-10-14T03:35:14Z</dcterms:created>
  <dcterms:modified xsi:type="dcterms:W3CDTF">2026-10-14T03:35:14Z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83EEB1C1C318DFB672F8CE6A7CEC6A45_43</vt:lpwstr>
  </property>
</Properties>
</file>