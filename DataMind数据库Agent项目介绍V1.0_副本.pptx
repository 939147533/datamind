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sldIdLst>
    <p:sldId id="273" r:id="rId4"/>
    <p:sldId id="274" r:id="rId6"/>
    <p:sldId id="280" r:id="rId7"/>
    <p:sldId id="275" r:id="rId8"/>
    <p:sldId id="258" r:id="rId9"/>
    <p:sldId id="281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82" r:id="rId19"/>
    <p:sldId id="276" r:id="rId20"/>
    <p:sldId id="277" r:id="rId21"/>
    <p:sldId id="278" r:id="rId22"/>
    <p:sldId id="279" r:id="rId23"/>
    <p:sldId id="271" r:id="rId24"/>
    <p:sldId id="272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开场控制在 15 秒内：这是一个前后端分离、AI Agent 驱动的数据库查询与运维工作台。</a:t>
            </a:r>
          </a:p>
          <a:p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不逐条念功能，强调模块围绕工作流组织：连接、查询、分析、报表、管理。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40 秒），包含两个查询案例：</a:t>
            </a:r>
          </a:p>
          <a:p>
            <a:r>
              <a:t>案例一：选择「本地演示库 (SQLite)」，提问「查询所有用户信息」，Agent 生成 SELECT id, username, email, age, created_at FROM users 并返回 8 条记录；</a:t>
            </a:r>
          </a:p>
          <a:p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/>
          <a:p>
            <a:r>
              <a:t>[Sources]</a:t>
            </a:r>
          </a:p>
          <a:p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60 秒），数据源为 Oracle（UAT）：</a:t>
            </a:r>
          </a:p>
          <a:p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>
            <a:r>
              <a:t>结尾进入「可视化报表」页，可见刚保存的两张图表（笔数与金额量级差异大时前端自动拆分双 Y 轴）。</a:t>
            </a:r>
          </a:p>
          <a:p/>
          <a:p>
            <a:r>
              <a:t>[Sources]</a:t>
            </a:r>
          </a:p>
          <a:p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55 秒），完整演示 SQL 工作台与 Agent 协同：</a:t>
            </a:r>
          </a:p>
          <a:p>
            <a:r>
              <a:t>案例一：数据源切换为「OceanBase（本地）」，在编辑器输入 SELECT * FROM `t_org`; 并点击「▶ 执行」，返回 55 行机构数据；</a:t>
            </a:r>
          </a:p>
          <a:p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>
            <a:r>
              <a:t>结尾依次切换左侧「历史」页签（本次两条 SQL 的执行记录，含行数与耗时）与「收藏」页签（新增的收藏项排在首位）。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52 秒），三个写操作场景均需人工确认：</a:t>
            </a:r>
          </a:p>
          <a:p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32 秒），四个监控能力依次演示：</a:t>
            </a:r>
          </a:p>
          <a:p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/>
          <a:p>
            <a:r>
              <a:t>[Sources]</a:t>
            </a:r>
          </a:p>
          <a:p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秒），两步验证连接可用性：</a:t>
            </a:r>
          </a:p>
          <a:p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/>
          <a:p>
            <a:r>
              <a:t>[Sources]</a:t>
            </a:r>
          </a:p>
          <a:p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秒），从用户到角色依次演示：</a:t>
            </a:r>
          </a:p>
          <a:p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>
            <a:r>
              <a:t>第二步：切到「角色管理」，左侧列出 5 个内置角色（管理员 / 技术管理 / 技术查询 / 业务管理 / 业务查询）；</a:t>
            </a:r>
          </a:p>
          <a:p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/>
          <a:p>
            <a:r>
              <a:t>[Sources]</a:t>
            </a:r>
          </a:p>
          <a:p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Agent 能力的层次：不只是生成 SQL，还包括 Schema 感知、多轮对话、解释优化和流式输出。</a:t>
            </a:r>
          </a:p>
          <a:p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重点讲“工具调用 + 失败重试 + few-shot”，这是 AI 编程竞赛最看重的工程深度。</a:t>
            </a:r>
          </a:p>
          <a:p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这是项目的信任基础：让 AI 能生成 SQL，但不让 AI 拥有不受控的写权限。</a:t>
            </a:r>
          </a:p>
          <a:p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审计与监控是系统可治理的体现，也是企业级部署的关键。</a:t>
            </a:r>
          </a:p>
          <a:p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企业级完整性：加密、分级授权、全量审计、指标与测试。</a:t>
            </a:r>
          </a:p>
          <a:p/>
          <a:p>
            <a:r>
              <a:t>[Sources]</a:t>
            </a:r>
          </a:p>
          <a:p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收尾回到用户价值，并给出下一步计划。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cover-glow"/>
          <p:cNvSpPr>
            <a:spLocks noGrp="1"/>
          </p:cNvSpPr>
          <p:nvPr/>
        </p:nvSpPr>
        <p:spPr>
          <a:xfrm>
            <a:off x="7429500" y="571500"/>
            <a:ext cx="4095750" cy="4095750"/>
          </a:xfrm>
          <a:prstGeom prst="roundRect">
            <a:avLst>
              <a:gd name="adj" fmla="val 50000"/>
            </a:avLst>
          </a:prstGeom>
          <a:solidFill>
            <a:srgbClr val="22C55E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857250" y="1695450"/>
            <a:ext cx="685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48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DataMind</a:t>
            </a:r>
            <a:endParaRPr sz="4800" b="1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914400" y="27813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cover-claim"/>
          <p:cNvSpPr>
            <a:spLocks noGrp="1"/>
          </p:cNvSpPr>
          <p:nvPr/>
        </p:nvSpPr>
        <p:spPr>
          <a:xfrm>
            <a:off x="914400" y="33528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让不会写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的业务人员也能安全地查数据，会写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的技术人员更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高效。</a:t>
            </a:r>
            <a:endParaRPr lang="zh-CN" altLang="en-US" sz="1500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cover-tag-0"/>
          <p:cNvSpPr>
            <a:spLocks noGrp="1"/>
          </p:cNvSpPr>
          <p:nvPr/>
        </p:nvSpPr>
        <p:spPr>
          <a:xfrm>
            <a:off x="9144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AI Agent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cover-tag-line-0"/>
          <p:cNvSpPr>
            <a:spLocks noGrp="1"/>
          </p:cNvSpPr>
          <p:nvPr/>
        </p:nvSpPr>
        <p:spPr>
          <a:xfrm>
            <a:off x="9144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8" name="cover-tag-1"/>
          <p:cNvSpPr>
            <a:spLocks noGrp="1"/>
          </p:cNvSpPr>
          <p:nvPr/>
        </p:nvSpPr>
        <p:spPr>
          <a:xfrm>
            <a:off x="31242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Multi-Database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cover-tag-line-1"/>
          <p:cNvSpPr>
            <a:spLocks noGrp="1"/>
          </p:cNvSpPr>
          <p:nvPr/>
        </p:nvSpPr>
        <p:spPr>
          <a:xfrm>
            <a:off x="31242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0" name="cover-tag-2"/>
          <p:cNvSpPr>
            <a:spLocks noGrp="1"/>
          </p:cNvSpPr>
          <p:nvPr/>
        </p:nvSpPr>
        <p:spPr>
          <a:xfrm>
            <a:off x="53340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Security First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1" name="cover-tag-line-2"/>
          <p:cNvSpPr>
            <a:spLocks noGrp="1"/>
          </p:cNvSpPr>
          <p:nvPr/>
        </p:nvSpPr>
        <p:spPr>
          <a:xfrm>
            <a:off x="5334000" y="4476750"/>
            <a:ext cx="381000" cy="28575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目</a:t>
            </a:r>
            <a:r>
              <a:rPr lang="en-US" alt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录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2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为什么做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>
                <a:sym typeface="+mn-ea"/>
              </a:rPr>
              <a:t>定位、目标用户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agenda-lin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4400" y="25527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agenda-num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系统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agenda-line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4400" y="36195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agenda-num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agenda-line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4400" y="46863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agenda-num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" y="48958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04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agenda-title-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190750" y="4953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工程与治理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da-desc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90750" y="53340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为什么做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>
                <a:sym typeface="+mn-ea"/>
              </a:rPr>
              <a:t>定位、目标用户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pain-surface"/>
          <p:cNvSpPr>
            <a:spLocks noGrp="1"/>
          </p:cNvSpPr>
          <p:nvPr/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pain-title"/>
          <p:cNvSpPr>
            <a:spLocks noGrp="1"/>
          </p:cNvSpPr>
          <p:nvPr/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91C1C"/>
                </a:solidFill>
                <a:latin typeface="微软雅黑" charset="-122"/>
                <a:ea typeface="微软雅黑" charset="-122"/>
                <a:cs typeface="微软雅黑" charset="-122"/>
              </a:rPr>
              <a:t>常见痛点</a:t>
            </a:r>
            <a:endParaRPr sz="1800" b="1">
              <a:solidFill>
                <a:srgbClr val="B91C1C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pain-list"/>
          <p:cNvSpPr>
            <a:spLocks noGrp="1"/>
          </p:cNvSpPr>
          <p:nvPr/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业务人员不会写 SQL，取数依赖技术同事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600"/>
              <a:t>不通</a:t>
            </a:r>
            <a:r>
              <a:rPr sz="1600"/>
              <a:t>数据库</a:t>
            </a:r>
            <a:r>
              <a:rPr lang="zh-CN" sz="1600"/>
              <a:t>各有各的客户端</a:t>
            </a:r>
            <a:r>
              <a:rPr sz="1600"/>
              <a:t>，</a:t>
            </a:r>
            <a:r>
              <a:rPr lang="zh-CN" sz="1600"/>
              <a:t>安装切换繁琐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AI 生成 SQL 存在误操作与越权风险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查询结果难以沉淀为报表与文档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/>
              <a:t>敏感数据与用户操作缺少权限和审计</a:t>
            </a:r>
            <a:endParaRPr sz="1600"/>
          </a:p>
        </p:txBody>
      </p:sp>
      <p:sp>
        <p:nvSpPr>
          <p:cNvPr id="10" name="solution-surface"/>
          <p:cNvSpPr>
            <a:spLocks noGrp="1"/>
          </p:cNvSpPr>
          <p:nvPr/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olution-title"/>
          <p:cNvSpPr>
            <a:spLocks noGrp="1"/>
          </p:cNvSpPr>
          <p:nvPr/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DataMind 的解法</a:t>
            </a:r>
            <a:endParaRPr sz="180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solution-list"/>
          <p:cNvSpPr>
            <a:spLocks noGrp="1"/>
          </p:cNvSpPr>
          <p:nvPr/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输入问题，自动生成 SQL、执行并可视化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报表与大屏：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24955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24955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核心需求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0" y="24955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典型场景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93668" y="28575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93668" y="30670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后端开发者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30670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30670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rule"/>
          <p:cNvSpPr>
            <a:spLocks noGrp="1"/>
          </p:cNvSpPr>
          <p:nvPr/>
        </p:nvSpPr>
        <p:spPr>
          <a:xfrm>
            <a:off x="393668" y="34861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3668" y="3657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DBA / 运维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3657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0" y="36576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rule"/>
          <p:cNvSpPr>
            <a:spLocks noGrp="1"/>
          </p:cNvSpPr>
          <p:nvPr/>
        </p:nvSpPr>
        <p:spPr>
          <a:xfrm>
            <a:off x="393668" y="40767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93668" y="4248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数据分析师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0" y="4248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42481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93668" y="46672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93668" y="4838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 / 产品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838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48387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3668" y="571500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agenda-num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系统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功能全景</a:t>
            </a:r>
            <a:r>
              <a:rPr lang="en-US" alt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演示</a:t>
            </a:r>
            <a:endParaRPr lang="zh-CN" alt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</a:t>
            </a: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全景</a:t>
            </a:r>
            <a:endParaRPr lang="zh-CN"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4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393668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3668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 类数据源、SSH 隧道、多环境标签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314700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14700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 工作台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rule"/>
          <p:cNvSpPr>
            <a:spLocks noGrp="1"/>
          </p:cNvSpPr>
          <p:nvPr/>
        </p:nvSpPr>
        <p:spPr>
          <a:xfrm>
            <a:off x="6235732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35732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元数据管理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35732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rule"/>
          <p:cNvSpPr>
            <a:spLocks noGrp="1"/>
          </p:cNvSpPr>
          <p:nvPr/>
        </p:nvSpPr>
        <p:spPr>
          <a:xfrm>
            <a:off x="9156764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56764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智能查询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56764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rule"/>
          <p:cNvSpPr>
            <a:spLocks noGrp="1"/>
          </p:cNvSpPr>
          <p:nvPr/>
        </p:nvSpPr>
        <p:spPr>
          <a:xfrm>
            <a:off x="393668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3668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可视化报表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3668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314700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14700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文档导出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rule"/>
          <p:cNvSpPr>
            <a:spLocks noGrp="1"/>
          </p:cNvSpPr>
          <p:nvPr/>
        </p:nvSpPr>
        <p:spPr>
          <a:xfrm>
            <a:off x="6235732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35732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用户与角色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35732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rule"/>
          <p:cNvSpPr>
            <a:spLocks noGrp="1"/>
          </p:cNvSpPr>
          <p:nvPr/>
        </p:nvSpPr>
        <p:spPr>
          <a:xfrm>
            <a:off x="9156764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56764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运维监控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56764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5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分级授权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9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运维与合规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连接即资产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12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权限可控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角色管理：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先勾选权限，再由路由守卫拦截：前端菜单与后端接口双重校验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agenda-num-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6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t-overview-intro"/>
          <p:cNvSpPr>
            <a:spLocks noGrp="1"/>
          </p:cNvSpPr>
          <p:nvPr/>
        </p:nvSpPr>
        <p:spPr>
          <a:xfrm>
            <a:off x="685800" y="150495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350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2095500"/>
          <a:ext cx="10820400" cy="34290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Agent 执行链路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7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t-node-0"/>
          <p:cNvSpPr>
            <a:spLocks noGrp="1"/>
          </p:cNvSpPr>
          <p:nvPr/>
        </p:nvSpPr>
        <p:spPr>
          <a:xfrm>
            <a:off x="6858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gent-node-title-0"/>
          <p:cNvSpPr>
            <a:spLocks noGrp="1"/>
          </p:cNvSpPr>
          <p:nvPr/>
        </p:nvSpPr>
        <p:spPr>
          <a:xfrm>
            <a:off x="8001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用户提问</a:t>
            </a:r>
            <a:endParaRPr sz="150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t-node-desc-0"/>
          <p:cNvSpPr>
            <a:spLocks noGrp="1"/>
          </p:cNvSpPr>
          <p:nvPr/>
        </p:nvSpPr>
        <p:spPr>
          <a:xfrm>
            <a:off x="7810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agent-arrow-0"/>
          <p:cNvSpPr>
            <a:spLocks noGrp="1"/>
          </p:cNvSpPr>
          <p:nvPr/>
        </p:nvSpPr>
        <p:spPr>
          <a:xfrm>
            <a:off x="25336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1" name="agent-node-1"/>
          <p:cNvSpPr>
            <a:spLocks noGrp="1"/>
          </p:cNvSpPr>
          <p:nvPr/>
        </p:nvSpPr>
        <p:spPr>
          <a:xfrm>
            <a:off x="27813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agent-node-title-1"/>
          <p:cNvSpPr>
            <a:spLocks noGrp="1"/>
          </p:cNvSpPr>
          <p:nvPr/>
        </p:nvSpPr>
        <p:spPr>
          <a:xfrm>
            <a:off x="28956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Agent 推理</a:t>
            </a:r>
            <a:endParaRPr sz="150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t-node-desc-1"/>
          <p:cNvSpPr>
            <a:spLocks noGrp="1"/>
          </p:cNvSpPr>
          <p:nvPr/>
        </p:nvSpPr>
        <p:spPr>
          <a:xfrm>
            <a:off x="28765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agent-arrow-1"/>
          <p:cNvSpPr>
            <a:spLocks noGrp="1"/>
          </p:cNvSpPr>
          <p:nvPr/>
        </p:nvSpPr>
        <p:spPr>
          <a:xfrm>
            <a:off x="46291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5" name="agent-node-2"/>
          <p:cNvSpPr>
            <a:spLocks noGrp="1"/>
          </p:cNvSpPr>
          <p:nvPr/>
        </p:nvSpPr>
        <p:spPr>
          <a:xfrm>
            <a:off x="48768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agent-node-title-2"/>
          <p:cNvSpPr>
            <a:spLocks noGrp="1"/>
          </p:cNvSpPr>
          <p:nvPr/>
        </p:nvSpPr>
        <p:spPr>
          <a:xfrm>
            <a:off x="49911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工具调用</a:t>
            </a:r>
            <a:endParaRPr sz="150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t-node-desc-2"/>
          <p:cNvSpPr>
            <a:spLocks noGrp="1"/>
          </p:cNvSpPr>
          <p:nvPr/>
        </p:nvSpPr>
        <p:spPr>
          <a:xfrm>
            <a:off x="49720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agent-arrow-2"/>
          <p:cNvSpPr>
            <a:spLocks noGrp="1"/>
          </p:cNvSpPr>
          <p:nvPr/>
        </p:nvSpPr>
        <p:spPr>
          <a:xfrm>
            <a:off x="67246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9" name="agent-node-3"/>
          <p:cNvSpPr>
            <a:spLocks noGrp="1"/>
          </p:cNvSpPr>
          <p:nvPr/>
        </p:nvSpPr>
        <p:spPr>
          <a:xfrm>
            <a:off x="69723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agent-node-title-3"/>
          <p:cNvSpPr>
            <a:spLocks noGrp="1"/>
          </p:cNvSpPr>
          <p:nvPr/>
        </p:nvSpPr>
        <p:spPr>
          <a:xfrm>
            <a:off x="70866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生成 SQL</a:t>
            </a:r>
            <a:endParaRPr sz="150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t-node-desc-3"/>
          <p:cNvSpPr>
            <a:spLocks noGrp="1"/>
          </p:cNvSpPr>
          <p:nvPr/>
        </p:nvSpPr>
        <p:spPr>
          <a:xfrm>
            <a:off x="70675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2" name="agent-arrow-3"/>
          <p:cNvSpPr>
            <a:spLocks noGrp="1"/>
          </p:cNvSpPr>
          <p:nvPr/>
        </p:nvSpPr>
        <p:spPr>
          <a:xfrm>
            <a:off x="8820150" y="1866265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23" name="agent-node-4"/>
          <p:cNvSpPr>
            <a:spLocks noGrp="1"/>
          </p:cNvSpPr>
          <p:nvPr/>
        </p:nvSpPr>
        <p:spPr>
          <a:xfrm>
            <a:off x="9067800" y="1637665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agent-node-title-4"/>
          <p:cNvSpPr>
            <a:spLocks noGrp="1"/>
          </p:cNvSpPr>
          <p:nvPr/>
        </p:nvSpPr>
        <p:spPr>
          <a:xfrm>
            <a:off x="9182100" y="17710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50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安全执行</a:t>
            </a:r>
            <a:endParaRPr sz="150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5" name="agent-node-desc-4"/>
          <p:cNvSpPr>
            <a:spLocks noGrp="1"/>
          </p:cNvSpPr>
          <p:nvPr/>
        </p:nvSpPr>
        <p:spPr>
          <a:xfrm>
            <a:off x="9163050" y="207581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3668" y="2663793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3218" y="2854293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工具调用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3218" y="3254343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311682" y="2663793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521232" y="2854293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失败</a:t>
            </a:r>
            <a:r>
              <a:rPr lang="zh-CN"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重试</a:t>
            </a:r>
            <a:endParaRPr lang="zh-CN"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21232" y="3254343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 查询执行失败时，自动把错误回传给 LLM 修正并重试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（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默认最多重试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次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，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可设置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229695" y="2663793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439245" y="2854293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经验复用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39245" y="3254343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历史成功 SQL 作为 few-shot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（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少量示例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63493" y="5922645"/>
            <a:ext cx="1140456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8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163830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/>
          <p:cNvSpPr>
            <a:spLocks noGrp="1"/>
          </p:cNvSpPr>
          <p:nvPr/>
        </p:nvSpPr>
        <p:spPr>
          <a:xfrm>
            <a:off x="685800" y="47815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审计与监控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15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udit-surfac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udit-tit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rPr>
              <a:t>审计日志</a:t>
            </a:r>
            <a:endParaRPr sz="1800" b="1">
              <a:solidFill>
                <a:srgbClr val="B4530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udit-lis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登录、SQL 执行、Agent 动作全量留痕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操作类型、SQL 文本、状态可追溯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导出 CSV / XLSX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monitor-title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运维监控</a:t>
            </a:r>
            <a:endParaRPr sz="180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monitor-lis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连接概览与慢查询统计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/>
              <a:t>不通环境</a:t>
            </a:r>
            <a:r>
              <a:t>表结构对比）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定时导出任务状态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/metrics 暴露 Prometheus 指标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466850"/>
            <a:ext cx="1140456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3218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加密与认证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3218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21232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权限与审计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21232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按角色控制权限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；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 / DML / DDL 分级授权；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登录、SQL、Agent 动作全量留痕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；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操作类型、SQL 文本、状态可追溯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。</a:t>
            </a:r>
            <a:endParaRPr 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29695" y="3022568"/>
            <a:ext cx="3568732" cy="2971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39245" y="3213068"/>
            <a:ext cx="314963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4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39245" y="3613118"/>
            <a:ext cx="3149632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/metrics 暴露请求数、延迟与 SQL 执行次数；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93668" y="1428750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393668" y="25717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390525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5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6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7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8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9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30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3643</Words>
  <Application>WPS 演示</Application>
  <PresentationFormat>Converted Presentation</PresentationFormat>
  <Paragraphs>450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Aptos</vt:lpstr>
      <vt:lpstr>Helvetica Neue</vt:lpstr>
      <vt:lpstr>Calibri</vt:lpstr>
      <vt:lpstr>华文仿宋</vt:lpstr>
      <vt:lpstr>ChatGPT</vt:lpstr>
      <vt:lpstr>1_ChatGPT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笨小孩</cp:lastModifiedBy>
  <cp:revision>2</cp:revision>
  <dcterms:created xsi:type="dcterms:W3CDTF">2026-10-14T06:43:28Z</dcterms:created>
  <dcterms:modified xsi:type="dcterms:W3CDTF">2026-10-14T06:43:28Z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83EEB1C1C318DFB672F8CE6A7CEC6A45_43</vt:lpwstr>
  </property>
</Properties>
</file>