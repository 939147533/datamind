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d8e93e1004e72" /><Relationship Type="http://schemas.openxmlformats.org/officeDocument/2006/relationships/extended-properties" Target="/docProps/app.xml" Id="R23aaacf3ce3a4117" /><Relationship Type="http://schemas.openxmlformats.org/officeDocument/2006/relationships/officeDocument" Target="/ppt/presentation.xml" Id="Rd0bfaefacc82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c8d94e1a845c1"/>
  </p:sldMasterIdLst>
  <p:notesMasterIdLst>
    <p:notesMasterId xmlns:r="http://schemas.openxmlformats.org/officeDocument/2006/relationships" r:id="R638cc3e3a64b46b1"/>
  </p:notesMasterIdLst>
  <p:sldIdLst>
    <p:sldId xmlns:r="http://schemas.openxmlformats.org/officeDocument/2006/relationships" id="256" r:id="R3f02e99461894843"/>
    <p:sldId xmlns:r="http://schemas.openxmlformats.org/officeDocument/2006/relationships" id="257" r:id="R165a16f600a04557"/>
    <p:sldId xmlns:r="http://schemas.openxmlformats.org/officeDocument/2006/relationships" id="258" r:id="Rbc4e5e81c1184d0d"/>
    <p:sldId xmlns:r="http://schemas.openxmlformats.org/officeDocument/2006/relationships" id="259" r:id="R0f5471abdd2c4fbf"/>
    <p:sldId xmlns:r="http://schemas.openxmlformats.org/officeDocument/2006/relationships" id="260" r:id="Rc129418ef9b84e2c"/>
    <p:sldId xmlns:r="http://schemas.openxmlformats.org/officeDocument/2006/relationships" id="261" r:id="R5f7515eaf1194bcf"/>
    <p:sldId xmlns:r="http://schemas.openxmlformats.org/officeDocument/2006/relationships" id="262" r:id="R360e7bc828f14313"/>
    <p:sldId xmlns:r="http://schemas.openxmlformats.org/officeDocument/2006/relationships" id="263" r:id="Rcb04422d6de34465"/>
    <p:sldId xmlns:r="http://schemas.openxmlformats.org/officeDocument/2006/relationships" id="264" r:id="R96f83911f99c4f67"/>
    <p:sldId xmlns:r="http://schemas.openxmlformats.org/officeDocument/2006/relationships" id="265" r:id="R7d7b83cc8ff14de5"/>
    <p:sldId xmlns:r="http://schemas.openxmlformats.org/officeDocument/2006/relationships" id="266" r:id="Rba237c1914224c5f"/>
    <p:sldId xmlns:r="http://schemas.openxmlformats.org/officeDocument/2006/relationships" id="267" r:id="R4dc1f95a20214732"/>
    <p:sldId xmlns:r="http://schemas.openxmlformats.org/officeDocument/2006/relationships" id="268" r:id="Rd5b4a850c83f4be1"/>
    <p:sldId xmlns:r="http://schemas.openxmlformats.org/officeDocument/2006/relationships" id="269" r:id="R11b58c3c9747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03d7f933344707" /><Relationship Type="http://schemas.openxmlformats.org/officeDocument/2006/relationships/slideMaster" Target="/ppt/slideMasters/slideMaster1.xml" Id="R8b2c8d94e1a845c1" /><Relationship Type="http://schemas.openxmlformats.org/officeDocument/2006/relationships/notesMaster" Target="/ppt/notesMasters/notesMaster1.xml" Id="R638cc3e3a64b46b1" /><Relationship Type="http://schemas.openxmlformats.org/officeDocument/2006/relationships/presProps" Target="/ppt/presProps.xml" Id="R763160a8abcb4f56" /><Relationship Type="http://schemas.openxmlformats.org/officeDocument/2006/relationships/tableStyles" Target="/ppt/tableStyles.xml" Id="R381accb7fe434459" /><Relationship Type="http://schemas.openxmlformats.org/officeDocument/2006/relationships/slide" Target="/ppt/slides/slide1.xml" Id="R3f02e99461894843" /><Relationship Type="http://schemas.openxmlformats.org/officeDocument/2006/relationships/slide" Target="/ppt/slides/slide2.xml" Id="R165a16f600a04557" /><Relationship Type="http://schemas.openxmlformats.org/officeDocument/2006/relationships/slide" Target="/ppt/slides/slide3.xml" Id="Rbc4e5e81c1184d0d" /><Relationship Type="http://schemas.openxmlformats.org/officeDocument/2006/relationships/slide" Target="/ppt/slides/slide4.xml" Id="R0f5471abdd2c4fbf" /><Relationship Type="http://schemas.openxmlformats.org/officeDocument/2006/relationships/slide" Target="/ppt/slides/slide5.xml" Id="Rc129418ef9b84e2c" /><Relationship Type="http://schemas.openxmlformats.org/officeDocument/2006/relationships/slide" Target="/ppt/slides/slide6.xml" Id="R5f7515eaf1194bcf" /><Relationship Type="http://schemas.openxmlformats.org/officeDocument/2006/relationships/slide" Target="/ppt/slides/slide7.xml" Id="R360e7bc828f14313" /><Relationship Type="http://schemas.openxmlformats.org/officeDocument/2006/relationships/slide" Target="/ppt/slides/slide8.xml" Id="Rcb04422d6de34465" /><Relationship Type="http://schemas.openxmlformats.org/officeDocument/2006/relationships/slide" Target="/ppt/slides/slide9.xml" Id="R96f83911f99c4f67" /><Relationship Type="http://schemas.openxmlformats.org/officeDocument/2006/relationships/slide" Target="/ppt/slides/slide10.xml" Id="R7d7b83cc8ff14de5" /><Relationship Type="http://schemas.openxmlformats.org/officeDocument/2006/relationships/slide" Target="/ppt/slides/slide11.xml" Id="Rba237c1914224c5f" /><Relationship Type="http://schemas.openxmlformats.org/officeDocument/2006/relationships/slide" Target="/ppt/slides/slide12.xml" Id="R4dc1f95a20214732" /><Relationship Type="http://schemas.openxmlformats.org/officeDocument/2006/relationships/slide" Target="/ppt/slides/slide13.xml" Id="Rd5b4a850c83f4be1" /><Relationship Type="http://schemas.openxmlformats.org/officeDocument/2006/relationships/slide" Target="/ppt/slides/slide14.xml" Id="R11b58c3c9747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592150219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0952483ef4ef3" /><Relationship Type="http://schemas.openxmlformats.org/officeDocument/2006/relationships/notesMaster" Target="/ppt/notesMasters/notesMaster1.xml" Id="R35613a7e777e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0062d4acc47d6" /><Relationship Type="http://schemas.openxmlformats.org/officeDocument/2006/relationships/notesMaster" Target="/ppt/notesMasters/notesMaster1.xml" Id="R561c5c4d133a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08b087c8349d9" /><Relationship Type="http://schemas.openxmlformats.org/officeDocument/2006/relationships/notesMaster" Target="/ppt/notesMasters/notesMaster1.xml" Id="R20d3920f07af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d90e499db740be" /><Relationship Type="http://schemas.openxmlformats.org/officeDocument/2006/relationships/notesMaster" Target="/ppt/notesMasters/notesMaster1.xml" Id="Rfd3fe1c4e7fb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02b202a89d4590" /><Relationship Type="http://schemas.openxmlformats.org/officeDocument/2006/relationships/notesMaster" Target="/ppt/notesMasters/notesMaster1.xml" Id="Rd4f354b0d81a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b22f0a625d469f" /><Relationship Type="http://schemas.openxmlformats.org/officeDocument/2006/relationships/notesMaster" Target="/ppt/notesMasters/notesMaster1.xml" Id="R5a6781272f5c46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4d5c1378de438d" /><Relationship Type="http://schemas.openxmlformats.org/officeDocument/2006/relationships/notesMaster" Target="/ppt/notesMasters/notesMaster1.xml" Id="Rc2a00d065ffd4c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02ce301d9d4e23" /><Relationship Type="http://schemas.openxmlformats.org/officeDocument/2006/relationships/notesMaster" Target="/ppt/notesMasters/notesMaster1.xml" Id="R049782ed531442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d9e0b56b4846b8" /><Relationship Type="http://schemas.openxmlformats.org/officeDocument/2006/relationships/notesMaster" Target="/ppt/notesMasters/notesMaster1.xml" Id="R75626d9d3e9643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82425e97094f8c" /><Relationship Type="http://schemas.openxmlformats.org/officeDocument/2006/relationships/notesMaster" Target="/ppt/notesMasters/notesMaster1.xml" Id="Ref8101d1d35a45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cd9f3ac0a34688" /><Relationship Type="http://schemas.openxmlformats.org/officeDocument/2006/relationships/notesMaster" Target="/ppt/notesMasters/notesMaster1.xml" Id="Rb21d5435f47d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027575cab24c47" /><Relationship Type="http://schemas.openxmlformats.org/officeDocument/2006/relationships/notesMaster" Target="/ppt/notesMasters/notesMaster1.xml" Id="R0667126ab6a24e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5d859ef82c4f6c" /><Relationship Type="http://schemas.openxmlformats.org/officeDocument/2006/relationships/notesMaster" Target="/ppt/notesMasters/notesMaster1.xml" Id="R06a08ee96f8343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0d6a037f264685" /><Relationship Type="http://schemas.openxmlformats.org/officeDocument/2006/relationships/notesMaster" Target="/ppt/notesMasters/notesMaster1.xml" Id="Rb8a559a4620d48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15 秒：DataMind 是一个前后端分离、由 AI Agent 驱动的数据库查询与运维工作台。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先讲问题，再讲产品：今天的取数链路长、工具散、AI 不可控。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需求说明书V2.0/V3.0.md、AGENTS.md、README.md；界面截图取自本地运行实例；痛点归纳自 需求说明书V3.0.md 与 项目介绍.md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现场演示顺序：输入问题 → 展示生成的 SQL 与结果 → 展示自动生成的图表。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界面截图为本地运行实例的真实操作结果（数据源：本地演示库 SQLite）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强调两点：对象树让元数据随手可得；结果集可以直接编辑回写，且仍走同一套确认与审计。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界面截图为本地运行实例（执行 SELECT 后返回 4 行结果）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 UPDATE 触发确认弹窗并取消执行，说明写权限始终在人手里。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界面截图为本地运行实例触发的写操作确认弹窗（未实际执行）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演示由 SQL 直接驱动的图表与仪表盘；大屏用于汇报场景。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界面截图为本地运行实例（图表数据来自演示库 orders / products / categories）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监控回答「现在健康吗」，审计回答「刚才谁做了什么」。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界面截图为本地运行实例；审计库当前累计 1122 条日志、209 条执行历史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管理员视角：数据源、大模型、用户、角色都在同一个设置页完成。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界面截图为本地运行实例（已配置 5 个数据源、4 个大模型连接）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这是竞赛最看重的工程深度：不是调用一次模型，而是把工具调用、失败重试、经验复用做成闭环。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backend/app/services/agent_service.py、llm_providers.py；AGENTS.md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强调两个可扩展点：适配器模式与 LLM Provider 抽象。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backend/app/adapters/、backend/app/routers/（15 个路由模块，96 个接口）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51c02378a49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7f2d018214470" /><Relationship Type="http://schemas.openxmlformats.org/officeDocument/2006/relationships/slideLayout" Target="/ppt/slideLayouts/slideLayout1.xml" Id="R777c61739a1940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c61739a1940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134e1e0cb4fe4" /><Relationship Type="http://schemas.openxmlformats.org/officeDocument/2006/relationships/notesSlide" Target="/ppt/notesSlides/notesSlide1.xml" Id="R8ac502a8dc0c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2ff55bc3f4d3b" /><Relationship Type="http://schemas.openxmlformats.org/officeDocument/2006/relationships/notesSlide" Target="/ppt/notesSlides/notesSlide2.xml" Id="R415642cbaa4e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f9000a7244ecf" /><Relationship Type="http://schemas.openxmlformats.org/officeDocument/2006/relationships/notesSlide" Target="/ppt/notesSlides/notesSlide3.xml" Id="Ra37083ccf96349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a7ab64b964730" /><Relationship Type="http://schemas.openxmlformats.org/officeDocument/2006/relationships/notesSlide" Target="/ppt/notesSlides/notesSlide4.xml" Id="R8c2632babaf24c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fd59d1891463e" /><Relationship Type="http://schemas.openxmlformats.org/officeDocument/2006/relationships/image" Target="/ppt/media/image.png" Id="Rffa3bc274344466e" /><Relationship Type="http://schemas.openxmlformats.org/officeDocument/2006/relationships/notesSlide" Target="/ppt/notesSlides/notesSlide5.xml" Id="R99f9c9b9ef77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4c5c12d924c51" /><Relationship Type="http://schemas.openxmlformats.org/officeDocument/2006/relationships/image" Target="/ppt/media/image2.png" Id="R2c52c494bb614dd7" /><Relationship Type="http://schemas.openxmlformats.org/officeDocument/2006/relationships/notesSlide" Target="/ppt/notesSlides/notesSlide6.xml" Id="Rb487b4261259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d822663ee4398" /><Relationship Type="http://schemas.openxmlformats.org/officeDocument/2006/relationships/image" Target="/ppt/media/image3.png" Id="R5ceff1c75a224cc7" /><Relationship Type="http://schemas.openxmlformats.org/officeDocument/2006/relationships/notesSlide" Target="/ppt/notesSlides/notesSlide7.xml" Id="Refeb216b8780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d7036cf2343c1" /><Relationship Type="http://schemas.openxmlformats.org/officeDocument/2006/relationships/image" Target="/ppt/media/image4.png" Id="Rc1e6086379e14219" /><Relationship Type="http://schemas.openxmlformats.org/officeDocument/2006/relationships/notesSlide" Target="/ppt/notesSlides/notesSlide8.xml" Id="R372a367190d842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b302829e4221" /><Relationship Type="http://schemas.openxmlformats.org/officeDocument/2006/relationships/image" Target="/ppt/media/image5.png" Id="R7d879136957c4590" /><Relationship Type="http://schemas.openxmlformats.org/officeDocument/2006/relationships/notesSlide" Target="/ppt/notesSlides/notesSlide9.xml" Id="R257cfba1a14d47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80eac42942b2" /><Relationship Type="http://schemas.openxmlformats.org/officeDocument/2006/relationships/image" Target="/ppt/media/image6.png" Id="R5a2c4667e2e648b3" /><Relationship Type="http://schemas.openxmlformats.org/officeDocument/2006/relationships/image" Target="/ppt/media/image7.png" Id="R5a8da289b6bb4ff1" /><Relationship Type="http://schemas.openxmlformats.org/officeDocument/2006/relationships/notesSlide" Target="/ppt/notesSlides/notesSlide10.xml" Id="R34c0e413ff8c47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84d14e4c0440d" /><Relationship Type="http://schemas.openxmlformats.org/officeDocument/2006/relationships/notesSlide" Target="/ppt/notesSlides/notesSlide11.xml" Id="Ra7ca83d224f24e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e12b03f1f45ce" /><Relationship Type="http://schemas.openxmlformats.org/officeDocument/2006/relationships/notesSlide" Target="/ppt/notesSlides/notesSlide12.xml" Id="R1d93b99b71c648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cc59b6aaa472c" /><Relationship Type="http://schemas.openxmlformats.org/officeDocument/2006/relationships/notesSlide" Target="/ppt/notesSlides/notesSlide13.xml" Id="R9346565aacb44f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b1745d6e14989" /><Relationship Type="http://schemas.openxmlformats.org/officeDocument/2006/relationships/notesSlide" Target="/ppt/notesSlides/notesSlide14.xml" Id="R7b8670086fce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69D1E-B09B-48D9-BADC-62E0B341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 Agent Web 应用 · v2.0.0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BDB5-298D-4CD7-86A9-D2B3323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944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2E404-6D02-4875-8F7F-50391247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305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用自然语言，管理你的数据库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06CA27B-3C0D-41F5-946B-47DB177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292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A7867-8D8F-47CB-92B4-DAE1F5BD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578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自然语言查询 · SQL 工作台 · 跨库元数据 · 可视化报表 · 权限与审计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483E-C35D-4239-B8F7-1902E187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79261"/>
            <a:ext cx="6667500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 http://127.0.0.1:5174 · 演示账号 admin / admin123</a:t>
            </a:r>
          </a:p>
        </p:txBody>
      </p:sp>
    </p:spTree>
    <p:extLst>
      <p:ext uri="{BB962C8B-B14F-4D97-AF65-F5344CB8AC3E}">
        <p14:creationId xmlns:p14="http://schemas.microsoft.com/office/powerpoint/2010/main" val="256719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854F75-5465-48B5-9D7D-B6A3F70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开发背景：取数链路上的五个断点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5199AE-96DD-4AE7-AA00-3A90BAE6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EBC3-0A0F-47F9-A18D-767C4D26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一次普通的数据核对，今天往往要走「提需求 → 排期 → 写 SQL → 导表 → 截图」的链路。</a:t>
            </a:r>
          </a:p>
        </p:txBody>
      </p:sp>
      <p:sp>
        <p:nvSpPr>
          <p:cNvPr id="4" name="current-state">
            <a:extLst xmlns:a="http://schemas.openxmlformats.org/drawingml/2006/main">
              <a:ext uri="{FF2B5EF4-FFF2-40B4-BE49-F238E27FC236}">
                <a16:creationId xmlns:a16="http://schemas.microsoft.com/office/drawing/2014/main" id="{997F3F70-7BFE-4337-BF8E-EE6095EB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76612-9943-4892-A892-EC76679D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现状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D108C-F906-4930-824D-A678412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1432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业务同学不会写 SQL，查数要等技术同事排期。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3BBF7-9335-4F46-BC59-A3C9DB4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7909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MySQL、Oracle、PostgreSQL 各有各的客户端，元数据分散。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64D95-7B50-47E0-BE81-84B18C0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4386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大模型能写 SQL，但没人敢把写权限直接交给它。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5F88C-6EBB-4EC7-A986-6BE07D2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五个断点</a:t>
            </a:r>
          </a:p>
        </p:txBody>
      </p:sp>
      <p:sp>
        <p:nvSpPr>
          <p:cNvPr id="10" name="marker">
            <a:extLst xmlns:a="http://schemas.openxmlformats.org/drawingml/2006/main">
              <a:ext uri="{FF2B5EF4-FFF2-40B4-BE49-F238E27FC236}">
                <a16:creationId xmlns:a16="http://schemas.microsoft.com/office/drawing/2014/main" id="{DB59D7AF-5115-4CA8-8409-BFD701F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66DEF-0033-460D-AA7C-2DDE6752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取数依赖排期，业务等待成本高</a:t>
            </a:r>
          </a:p>
        </p:txBody>
      </p:sp>
      <p:sp>
        <p:nvSpPr>
          <p:cNvPr id="12" name="marker">
            <a:extLst xmlns:a="http://schemas.openxmlformats.org/drawingml/2006/main">
              <a:ext uri="{FF2B5EF4-FFF2-40B4-BE49-F238E27FC236}">
                <a16:creationId xmlns:a16="http://schemas.microsoft.com/office/drawing/2014/main" id="{1671FAF4-3E9F-449F-A811-C6BD2D5B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E2AA5-527C-42E3-AFBA-D76B5EB0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多数据库工具割裂，切换成本高</a:t>
            </a:r>
          </a:p>
        </p:txBody>
      </p:sp>
      <p:sp>
        <p:nvSpPr>
          <p:cNvPr id="14" name="marker">
            <a:extLst xmlns:a="http://schemas.openxmlformats.org/drawingml/2006/main">
              <a:ext uri="{FF2B5EF4-FFF2-40B4-BE49-F238E27FC236}">
                <a16:creationId xmlns:a16="http://schemas.microsoft.com/office/drawing/2014/main" id="{3BBF45EB-6459-4D39-AD60-F8DCCCF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35886-521C-443F-B628-A0F61C79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生成 SQL 缺少安全闸门</a:t>
            </a:r>
          </a:p>
        </p:txBody>
      </p:sp>
      <p:sp>
        <p:nvSpPr>
          <p:cNvPr id="16" name="marker">
            <a:extLst xmlns:a="http://schemas.openxmlformats.org/drawingml/2006/main">
              <a:ext uri="{FF2B5EF4-FFF2-40B4-BE49-F238E27FC236}">
                <a16:creationId xmlns:a16="http://schemas.microsoft.com/office/drawing/2014/main" id="{E6D29345-952F-43E4-BC44-10678AF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20A0A-E77D-4C1B-AC1C-2E857D8E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81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查询结果难以沉淀为报表</a:t>
            </a:r>
          </a:p>
        </p:txBody>
      </p:sp>
      <p:sp>
        <p:nvSpPr>
          <p:cNvPr id="18" name="marker">
            <a:extLst xmlns:a="http://schemas.openxmlformats.org/drawingml/2006/main">
              <a:ext uri="{FF2B5EF4-FFF2-40B4-BE49-F238E27FC236}">
                <a16:creationId xmlns:a16="http://schemas.microsoft.com/office/drawing/2014/main" id="{3AD7D7A7-771B-42E9-9C25-8E3D5B5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86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67E09-2FD7-4015-A4DC-C2604B3E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72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权限与操作缺少统一审计</a:t>
            </a:r>
          </a:p>
        </p:txBody>
      </p:sp>
    </p:spTree>
    <p:extLst>
      <p:ext uri="{BB962C8B-B14F-4D97-AF65-F5344CB8AC3E}">
        <p14:creationId xmlns:p14="http://schemas.microsoft.com/office/powerpoint/2010/main" val="1901177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7E5567-4067-4B60-97AC-B8430CD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EA335E-901A-4C3C-A5B2-88B73A8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362B1-1A95-4132-893E-C72A085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1DA6-6BFC-46D6-AEA0-8D50D3B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EE2E7-F6ED-4CE3-801B-B0013AE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BBA1-28D1-4D6A-BF30-4749237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C3DF44C1-C871-4E6C-8ED5-DB090C7B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E14BD-D440-4135-8CF6-AF8CEB98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96ADC-BC05-4085-B641-A01ADC7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42A26-9AC1-4C85-83A7-7B18EFCD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AD3A3CC-90E9-4EF7-96D5-086264C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BDEA7-481C-48BA-A25D-C4EA848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2EDD0-E149-4AB3-9773-E5B3C5B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8F31D-9F57-46C7-8D98-BF219C6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C05989E-71A1-4323-88D8-EEC9847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2A60E-DFF6-458B-BAB7-DBCB6FE4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F999E-BE03-43AE-BBD3-5D973C3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FC7C3-9947-4B7B-B035-D2EBC3D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12F867D9-FDF3-42C7-9FCA-F93B783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20EE5-99C9-4419-AEF6-9711222F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E9D56-A3FA-47B6-AC66-D20FF74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60333-E24B-4EA2-8239-6293E371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C91D1-4328-4397-93CB-94043AB7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</a:p>
        </p:txBody>
      </p:sp>
    </p:spTree>
    <p:extLst>
      <p:ext uri="{BB962C8B-B14F-4D97-AF65-F5344CB8AC3E}">
        <p14:creationId xmlns:p14="http://schemas.microsoft.com/office/powerpoint/2010/main" val="1316748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02BCC-371F-45F2-925F-65DB729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功能全景：14 个模块，一条数据工作流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1D1FE1-1FFB-425C-A084-500A4AA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3BD90-E818-4393-8E96-7410A86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 个功能模块围绕「连接 → 查询 → 分析 → 报表 → 管理」闭环组织。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4BD56BE-9E87-4BFB-B8D8-AA9684A2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DEDAF-B28B-46A8-A649-D576AAE7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D7957-F3D3-42A0-97E2-0A60032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类数据源、SSH 隧道、多环境标签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D5492B26-C223-4B08-BD45-8BF55E40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A9B11-6F5A-4D4E-827E-56404293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37B5E-FA13-4937-8AAA-BA11F4F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00B3FC7-CCB4-4017-84AA-D9055534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5B30C-895C-42D4-B6BE-B5A7FDED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4BB07-8B21-4ED9-B170-089DD97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06B4493-4FB8-443D-B366-E1F4BC1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8E6FB-1054-4FD6-9B5D-1E996F7E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238C6-E338-4C43-A42B-802F7E0B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22C5A7A-D82F-4CB2-B07E-3C86116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2534B-895C-4A13-8BED-98E0EA4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BC7DD-0621-4BCA-A1FF-80325F30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2BDE157C-3917-4346-AB23-48D4C90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BD041-91AB-4DE1-9A0A-DDCA94D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3CF19-FF38-4CDA-B8F8-7A5311D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BDC77C35-E0A9-44B6-A850-7CA0B78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DE4F9-6ED0-4B8D-A7BF-88EF031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74942-54C8-4E80-B87F-5A86431E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34854729-1D87-46F3-B5A0-EDC57AB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D7234-002A-43CF-B254-F914CB0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573B2-C524-474D-B2DE-8B9FB9E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</a:p>
        </p:txBody>
      </p:sp>
    </p:spTree>
    <p:extLst>
      <p:ext uri="{BB962C8B-B14F-4D97-AF65-F5344CB8AC3E}">
        <p14:creationId xmlns:p14="http://schemas.microsoft.com/office/powerpoint/2010/main" val="775203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211A91-2A9D-4CD0-86B5-5DA4D6E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①：自然语言直连数据库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4F28A6-6414-4947-B711-93E16196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9BFC-239E-4E6E-A997-671DC31E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「统计各订单状态的数量，并生成图表」</a:t>
            </a:r>
          </a:p>
        </p:txBody>
      </p:sp>
      <p:sp>
        <p:nvSpPr>
          <p:cNvPr id="4" name="marker">
            <a:extLst xmlns:a="http://schemas.openxmlformats.org/drawingml/2006/main">
              <a:ext uri="{FF2B5EF4-FFF2-40B4-BE49-F238E27FC236}">
                <a16:creationId xmlns:a16="http://schemas.microsoft.com/office/drawing/2014/main" id="{6DCC1501-C361-41E6-B033-E9A5ABC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43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98049-C4ED-476B-AA0C-21B0DF54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2228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自主调用表结构、采样数据工具确认口径</a:t>
            </a:r>
          </a:p>
        </p:txBody>
      </p:sp>
      <p:sp>
        <p:nvSpPr>
          <p:cNvPr id="6" name="marker">
            <a:extLst xmlns:a="http://schemas.openxmlformats.org/drawingml/2006/main">
              <a:ext uri="{FF2B5EF4-FFF2-40B4-BE49-F238E27FC236}">
                <a16:creationId xmlns:a16="http://schemas.microsoft.com/office/drawing/2014/main" id="{4EB978C6-C10C-491A-A251-BE83E900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9E4CB-9F57-443F-9D4F-DC7BBA03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2819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流式返回思考过程与生成的 SQL</a:t>
            </a:r>
          </a:p>
        </p:txBody>
      </p:sp>
      <p:sp>
        <p:nvSpPr>
          <p:cNvPr id="8" name="marker">
            <a:extLst xmlns:a="http://schemas.openxmlformats.org/drawingml/2006/main">
              <a:ext uri="{FF2B5EF4-FFF2-40B4-BE49-F238E27FC236}">
                <a16:creationId xmlns:a16="http://schemas.microsoft.com/office/drawing/2014/main" id="{A3CC167A-E501-433C-B8FE-58B0D87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306BD-0D8E-41AB-B4CD-649E9ED3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3409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只读查询自动执行，直接给出结果表</a:t>
            </a:r>
          </a:p>
        </p:txBody>
      </p:sp>
      <p:sp>
        <p:nvSpPr>
          <p:cNvPr id="10" name="marker">
            <a:extLst xmlns:a="http://schemas.openxmlformats.org/drawingml/2006/main">
              <a:ext uri="{FF2B5EF4-FFF2-40B4-BE49-F238E27FC236}">
                <a16:creationId xmlns:a16="http://schemas.microsoft.com/office/drawing/2014/main" id="{4FCE6C40-07DD-4C91-9EEA-668281E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14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29CAC-FF78-4C3D-9F95-71827CD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" y="4000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结果一键转图表，并可保存为报表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bc274344466e"/>
          <a:stretch xmlns:a="http://schemas.openxmlformats.org/drawingml/2006/main"/>
        </p:blipFill>
        <p:spPr>
          <a:xfrm xmlns:a="http://schemas.openxmlformats.org/drawingml/2006/main">
            <a:off x="6264402" y="1600200"/>
            <a:ext cx="5539740" cy="311610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0000D-64B7-443C-BA71-9ED6CA7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876800"/>
            <a:ext cx="55397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提问、生成 SQL、返回结果在同一会话内可回溯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22D02-0584-46AB-9E18-63A88F8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5219700"/>
            <a:ext cx="55397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结果可导出 CSV / Excel /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16326-6D83-44AD-8DA6-A292255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5562600"/>
            <a:ext cx="55397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一句话把结果变成图表并保存为报表</a:t>
            </a:r>
          </a:p>
        </p:txBody>
      </p:sp>
    </p:spTree>
    <p:extLst>
      <p:ext uri="{BB962C8B-B14F-4D97-AF65-F5344CB8AC3E}">
        <p14:creationId xmlns:p14="http://schemas.microsoft.com/office/powerpoint/2010/main" val="373586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D84F2C-E513-46FE-BB04-00EE772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②：SQL 工作台与结果集编辑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7C90B2-93D1-4FF9-88AB-1168133F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2c494bb614dd7"/>
          <a:stretch xmlns:a="http://schemas.openxmlformats.org/drawingml/2006/main"/>
        </p:blipFill>
        <p:spPr>
          <a:xfrm xmlns:a="http://schemas.openxmlformats.org/drawingml/2006/main">
            <a:off x="393668" y="1619250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23459-28B5-4935-858C-CC3B639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19250"/>
            <a:ext cx="4511707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D9716-10CC-41F1-AB80-9090179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09750"/>
            <a:ext cx="40926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对象树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BD2A3-07F1-464D-A940-C93E828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71700"/>
            <a:ext cx="4092607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表、视图、函数、存储过程、触发器、序列分层浏览，点开即看 DDL。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8FC61-CA59-4481-A9BD-200F9C1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4511707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68B3F-E100-4818-8D13-8A9FBBB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10000"/>
            <a:ext cx="40926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8AF38-C4E7-4408-BED1-9E58A3D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71950"/>
            <a:ext cx="4092607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分页、排序、导出 CSV/Excel/JSON；双击单元格即可编辑回写。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93F70-84B8-485B-A101-4FC746A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388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所有 SQL 强制走服务层完成拆分、分类与鉴权，不允许绕过适配器直连。</a:t>
            </a:r>
          </a:p>
        </p:txBody>
      </p:sp>
    </p:spTree>
    <p:extLst>
      <p:ext uri="{BB962C8B-B14F-4D97-AF65-F5344CB8AC3E}">
        <p14:creationId xmlns:p14="http://schemas.microsoft.com/office/powerpoint/2010/main" val="817136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DCF5B-0CB7-41E6-8BE5-DF78F10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③：AI 可用，写操作始终由人把关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42D820-DBB9-4C84-81B3-4F05D9D3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5854D-00E8-4AB0-B365-223DD85D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· 自动执行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5FCEF-C4CF-4ECC-83F1-FAF3AE81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193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SELECT、SHOW、EXPLAIN 只读查询直接返回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B516B76-6D6B-48FA-8B67-DFA44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384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C252B-917E-4598-B2AB-4A71E39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19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 · 手动确认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6DFF-6E4F-44D7-8C5F-98CBED0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INSERT、UPDATE、DELETE 先确认再执行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FCDA495-A17F-43B1-B4DB-DF30B1CF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3852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8ADDE-2DF5-4A9F-AC2B-184E1C1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19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 · 高危确认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AC034-994F-4D27-B90F-76D892BB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95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CREATE、ALTER、DROP 红色警示 + 完整语句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F4EC231-3F5B-40C4-BB06-D96A681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386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28F49-345E-4F4E-BD8F-0528085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19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多条混合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2BF1A-C3DC-4859-B98D-1A9A9445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196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 SQL 类型逐条确认、逐条审计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4E57981-B07B-4945-8D5F-AB9F118C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3877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ff1c75a224cc7"/>
          <a:stretch xmlns:a="http://schemas.openxmlformats.org/drawingml/2006/main"/>
        </p:blipFill>
        <p:spPr>
          <a:xfrm xmlns:a="http://schemas.openxmlformats.org/drawingml/2006/main">
            <a:off x="6264402" y="1905000"/>
            <a:ext cx="5539740" cy="311610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4852-666E-47C6-916E-7DBCFC93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388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execution_id 5 分钟过期，确认时再次鉴权；每条执行都写入审计日志。</a:t>
            </a:r>
          </a:p>
        </p:txBody>
      </p:sp>
    </p:spTree>
    <p:extLst>
      <p:ext uri="{BB962C8B-B14F-4D97-AF65-F5344CB8AC3E}">
        <p14:creationId xmlns:p14="http://schemas.microsoft.com/office/powerpoint/2010/main" val="1537534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59124A-7AEF-452D-BC35-27A08FC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④：从查询结果到可视化报表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4EDDBC-A3FD-47E5-A210-20715B9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086379e14219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5524500" cy="310753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461E4-1857-4382-8C9C-6D12ED6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每个图表下方回显原始 SQL，口径可核对。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D5B1-C739-45D3-B7AA-F69AEA0A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1666875"/>
            <a:ext cx="5607082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17E0E-A021-42DF-92A3-67AB0AD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57375"/>
            <a:ext cx="51879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1A584-3F6E-4934-8D81-151166AC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19325"/>
            <a:ext cx="518798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柱状、折线、面积、饼、雷达、漏斗、仪表盘、KPI、排名、进度条。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A797F-A27C-4BAD-8A7D-1A2F6391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190875"/>
            <a:ext cx="5607082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008DD-1EB6-4FBF-926E-D6A46F7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381375"/>
            <a:ext cx="51879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拖拽式仪表盘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BEB8E-6410-4F7F-AAA9-DE7AF834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43325"/>
            <a:ext cx="518798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gridstack 布局，列数与行高可调，保存即生效。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B05E2-125C-4BD0-BA9B-1C0B941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714875"/>
            <a:ext cx="5607082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77F1E-CEA5-4DDD-9084-9B33DED1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05375"/>
            <a:ext cx="51879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分享与大屏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D5EB-9C94-406D-AD73-FE17D01D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267325"/>
            <a:ext cx="518798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生成分享链接，16:9 大屏自适应展示。</a:t>
            </a:r>
          </a:p>
        </p:txBody>
      </p:sp>
    </p:spTree>
    <p:extLst>
      <p:ext uri="{BB962C8B-B14F-4D97-AF65-F5344CB8AC3E}">
        <p14:creationId xmlns:p14="http://schemas.microsoft.com/office/powerpoint/2010/main" val="170365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FB64A-D7C8-4D65-8FEC-161C104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⑤：运维监控与审计留痕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C558CB-642F-435D-A4A9-091D475E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F516F-E621-4FF6-9BAC-717FE87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66875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8B9C1-8F8F-4853-A02D-28C805B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573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慢查询统计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020A7-9A81-4952-852A-60AE56E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19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基于执行历史聚合，快速定位耗时 SQL。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B0C7A-880A-478C-A426-6FA6AAA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90875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C8FD3-AA86-4099-9329-3258C87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3813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F2001-3514-410C-8598-B6D21BBA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743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两个数据源做 schema diff，变更前先看清差异。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50995-BC2A-41AD-BE4E-5B33B5A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14875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612C1-CAD9-4685-A2A5-21FD1A4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9053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AA8EB-3553-4D47-8DF0-D64A873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5267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动作全量留痕，可导出并支持保留期清理。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79136957c4590"/>
          <a:stretch xmlns:a="http://schemas.openxmlformats.org/drawingml/2006/main"/>
        </p:blipFill>
        <p:spPr>
          <a:xfrm xmlns:a="http://schemas.openxmlformats.org/drawingml/2006/main">
            <a:off x="6264402" y="2476500"/>
            <a:ext cx="5539740" cy="31161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8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529A7A-4349-42D0-8642-7057766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系统管理：连接、模型、用户与角色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9F8B98-8AA2-4838-A88A-DE13D61C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213B0-D3F3-4EEE-83D9-E3042B7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数据源、大模型、用户与角色，都在同一个管理界面里完成配置。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c4667e2e648b3"/>
          <a:stretch xmlns:a="http://schemas.openxmlformats.org/drawingml/2006/main"/>
        </p:blipFill>
        <p:spPr>
          <a:xfrm xmlns:a="http://schemas.openxmlformats.org/drawingml/2006/main">
            <a:off x="393668" y="2000265"/>
            <a:ext cx="5607082" cy="3153983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da289b6bb4ff1"/>
          <a:stretch xmlns:a="http://schemas.openxmlformats.org/drawingml/2006/main"/>
        </p:blipFill>
        <p:spPr>
          <a:xfrm xmlns:a="http://schemas.openxmlformats.org/drawingml/2006/main">
            <a:off x="6264402" y="2000265"/>
            <a:ext cx="5607082" cy="31539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95635-883D-48F4-8F94-9C9656C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大模型连接：OpenAI 兼容 / Claude / Ollama，Key 加密存储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C466-A0B0-4787-8162-2AE1B35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角色权限：5 个内置角色 + 自定义角色，权限码按功能分组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9A927-DE24-4C2D-AD86-CDC858BB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先勾选权限，再由路由守卫拦截：前端菜单与后端接口双重校验。</a:t>
            </a:r>
          </a:p>
        </p:txBody>
      </p:sp>
    </p:spTree>
    <p:extLst>
      <p:ext uri="{BB962C8B-B14F-4D97-AF65-F5344CB8AC3E}">
        <p14:creationId xmlns:p14="http://schemas.microsoft.com/office/powerpoint/2010/main" val="646586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868D87-C6DD-4E89-94DD-5B47294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①：Agent 工程化闭环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7E2657-C556-404C-A293-FCD84C89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55E2C-4134-4D69-B5F0-12A4532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68B70-5EC2-4814-9A6D-6D5179A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D8960-20F1-4A37-98A1-E5631A42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E28C5-6EFE-4679-BCAF-9B4F3F9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70D34-6F98-436E-AF50-009BBFC9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39101-9DDD-4CDB-B04C-CC8C189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失败自愈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54D05-B7CA-41CE-B30F-D4C29AB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修正并重试，最多 3 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A19A4-9484-4649-9430-4430A8FB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21942-607D-4497-80A6-25E55A8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5DF11-A2CA-4F28-99AE-02F8A780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 注入新会话，越用越准。</a:t>
            </a:r>
          </a:p>
        </p:txBody>
      </p:sp>
    </p:spTree>
    <p:extLst>
      <p:ext uri="{BB962C8B-B14F-4D97-AF65-F5344CB8AC3E}">
        <p14:creationId xmlns:p14="http://schemas.microsoft.com/office/powerpoint/2010/main" val="12135758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788E5A-C282-457B-BF07-6098A31D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②：分层架构与跨库适配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E43CBF-986A-469A-8308-157A9C4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band-0">
            <a:extLst xmlns:a="http://schemas.openxmlformats.org/drawingml/2006/main">
              <a:ext uri="{FF2B5EF4-FFF2-40B4-BE49-F238E27FC236}">
                <a16:creationId xmlns:a16="http://schemas.microsoft.com/office/drawing/2014/main" id="{1729C288-C01F-4862-ACB0-A278472F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716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5C270-9045-4042-9447-AA333D6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17716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前端 Vue 3 + TypeScript + Vite + Pinia + Naive UI + CodeMirror 6 + ECharts</a:t>
            </a:r>
          </a:p>
        </p:txBody>
      </p:sp>
      <p:sp>
        <p:nvSpPr>
          <p:cNvPr id="5" name="band-1">
            <a:extLst xmlns:a="http://schemas.openxmlformats.org/drawingml/2006/main">
              <a:ext uri="{FF2B5EF4-FFF2-40B4-BE49-F238E27FC236}">
                <a16:creationId xmlns:a16="http://schemas.microsoft.com/office/drawing/2014/main" id="{2773F991-74EC-4E70-9AF4-F839599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765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C93AE-F7E7-4261-8638-00517C81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24765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路由层 15 个路由模块 · 统一响应 { code, message, data }</a:t>
            </a:r>
          </a:p>
        </p:txBody>
      </p:sp>
      <p:sp>
        <p:nvSpPr>
          <p:cNvPr id="7" name="band-2">
            <a:extLst xmlns:a="http://schemas.openxmlformats.org/drawingml/2006/main">
              <a:ext uri="{FF2B5EF4-FFF2-40B4-BE49-F238E27FC236}">
                <a16:creationId xmlns:a16="http://schemas.microsoft.com/office/drawing/2014/main" id="{4DA5B03E-6A03-4AAA-A501-B9F5942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813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D8003-60B9-45F8-9C96-7DAAA6E6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1813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服务层 sql / agent / metadata / export / schedule / audit</a:t>
            </a:r>
          </a:p>
        </p:txBody>
      </p:sp>
      <p:sp>
        <p:nvSpPr>
          <p:cNvPr id="9" name="band-3">
            <a:extLst xmlns:a="http://schemas.openxmlformats.org/drawingml/2006/main">
              <a:ext uri="{FF2B5EF4-FFF2-40B4-BE49-F238E27FC236}">
                <a16:creationId xmlns:a16="http://schemas.microsoft.com/office/drawing/2014/main" id="{C71BBB48-893F-468F-9731-5B194E8A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862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630F2-4FD5-4BF6-9534-5239B75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8862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适配层 BaseDBAdapter + registry：connect / test / metadata / execute / explain</a:t>
            </a:r>
          </a:p>
        </p:txBody>
      </p:sp>
      <p:sp>
        <p:nvSpPr>
          <p:cNvPr id="11" name="band-4">
            <a:extLst xmlns:a="http://schemas.openxmlformats.org/drawingml/2006/main">
              <a:ext uri="{FF2B5EF4-FFF2-40B4-BE49-F238E27FC236}">
                <a16:creationId xmlns:a16="http://schemas.microsoft.com/office/drawing/2014/main" id="{446B00A4-EE6B-42AF-A7EC-31341EA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910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87F0E-14AB-4B5E-96AD-CCD7FB0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5910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目标库 SQLite · MySQL · PostgreSQL · Oracle · OceanBase · GoldenDB · 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A800D-D72F-4542-B13E-D3B4833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444131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Provider 抽象</a:t>
            </a:r>
          </a:p>
        </p:txBody>
      </p:sp>
      <p:sp>
        <p:nvSpPr>
          <p:cNvPr id="14" name="llm-0">
            <a:extLst xmlns:a="http://schemas.openxmlformats.org/drawingml/2006/main">
              <a:ext uri="{FF2B5EF4-FFF2-40B4-BE49-F238E27FC236}">
                <a16:creationId xmlns:a16="http://schemas.microsoft.com/office/drawing/2014/main" id="{E4D85435-E100-4AA0-8113-68F9DC0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FA9DF-EE16-40D7-BD6C-A1CBCC5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OpenAI 兼容（含 Ollama /v1）</a:t>
            </a:r>
          </a:p>
        </p:txBody>
      </p:sp>
      <p:sp>
        <p:nvSpPr>
          <p:cNvPr id="16" name="llm-1">
            <a:extLst xmlns:a="http://schemas.openxmlformats.org/drawingml/2006/main">
              <a:ext uri="{FF2B5EF4-FFF2-40B4-BE49-F238E27FC236}">
                <a16:creationId xmlns:a16="http://schemas.microsoft.com/office/drawing/2014/main" id="{0776E90E-02BD-486C-8A6A-B6ACCFE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799DB-D5BB-4D61-B972-97538E46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Anthropic Claude</a:t>
            </a:r>
          </a:p>
        </p:txBody>
      </p:sp>
      <p:sp>
        <p:nvSpPr>
          <p:cNvPr id="18" name="llm-2">
            <a:extLst xmlns:a="http://schemas.openxmlformats.org/drawingml/2006/main">
              <a:ext uri="{FF2B5EF4-FFF2-40B4-BE49-F238E27FC236}">
                <a16:creationId xmlns:a16="http://schemas.microsoft.com/office/drawing/2014/main" id="{3032C4A6-145E-44F1-A6F8-1ED239AB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4F021-EAC4-4ABD-8B01-9432FD95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Ollama 本地部署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7A916-0CC4-461F-9DCE-12980E71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441317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chat / stream / ping 接口；缺少 Key 时立即失败，不让用户等待超时。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0FA49-B976-4774-A588-575B6B04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同一套 Agent 工具屏蔽数据库方言差异；新增数据库只需实现一个适配器并注册。</a:t>
            </a:r>
          </a:p>
        </p:txBody>
      </p:sp>
    </p:spTree>
    <p:extLst>
      <p:ext uri="{BB962C8B-B14F-4D97-AF65-F5344CB8AC3E}">
        <p14:creationId xmlns:p14="http://schemas.microsoft.com/office/powerpoint/2010/main" val="894393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C0221-596C-4096-8A24-0B6894B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C81D92-CEDB-4ABA-9062-62C412C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511B5-3BFC-4D1C-A275-8FDCE401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ACC47-9902-4933-8245-440A7C5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9CAB9-E7DE-46E5-9F4D-DA254EB9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41BA-C682-443B-B5A7-A9155DE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218C4-2417-48EA-B5A6-3A6BAFB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70E4A-9B83-4EB9-A38B-11214FC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B7C68-E4DA-403C-9E48-61F89D54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个内置角色 + 自定义角色；READ / DML / DDL 分级授权；登录、SQL、Agent 动作全量留痕，默认保留 180 天并支持导出。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2C5C5-2797-4B62-B5F2-92E9EFF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8A209-14DA-4668-AD5E-20F00B5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5639A-4005-4215-9763-7A083A74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执行次数；117 项后端测试 + Playwright E2E；Docker 多阶段构建，单端口一键启动。</a:t>
            </a:r>
          </a:p>
        </p:txBody>
      </p:sp>
    </p:spTree>
    <p:extLst>
      <p:ext uri="{BB962C8B-B14F-4D97-AF65-F5344CB8AC3E}">
        <p14:creationId xmlns:p14="http://schemas.microsoft.com/office/powerpoint/2010/main" val="1700530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3E2C42-82B7-41A6-BDAE-6FD45D1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D9381-94F5-470D-88A3-3FE66745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37B8ECD-9A05-4807-90E0-B900C79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3D26F-FF2D-47E9-86CC-D196779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已完成：自然语言查询、SQL 安全执行、7 类数据源适配、图表与仪表盘、RBAC 与全量审计、监控与定时导出、Docker 一键部署。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F16C5-251F-49C0-AF5E-26694991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BE53D-FEC7-4914-8E44-81620037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演示入口：开发模式 http://127.0.0.1:5174，Docker 模式 http://127.0.0.1:8000，账号 admin / admin123。</a:t>
            </a:r>
          </a:p>
        </p:txBody>
      </p:sp>
    </p:spTree>
    <p:extLst>
      <p:ext uri="{BB962C8B-B14F-4D97-AF65-F5344CB8AC3E}">
        <p14:creationId xmlns:p14="http://schemas.microsoft.com/office/powerpoint/2010/main" val="882401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2026-10-13T14:51:38.6790000Z</dcterms:created>
  <dcterms:modified xsi:type="dcterms:W3CDTF">2026-10-13T14:51:38.6790000Z</dcterms:modified>
</coreProperties>
</file>