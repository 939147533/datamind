
<file path=[Content_Types].xml><?xml version="1.0" encoding="utf-8"?>
<Types xmlns="http://schemas.openxmlformats.org/package/2006/content-types">
  <Default Extension="mp4" ContentType="video/mp4"/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5de7362497046c0" /><Relationship Type="http://schemas.openxmlformats.org/officeDocument/2006/relationships/extended-properties" Target="/docProps/app.xml" Id="R9088fea1a6424309" /><Relationship Type="http://schemas.openxmlformats.org/officeDocument/2006/relationships/officeDocument" Target="/ppt/presentation.xml" Id="Rc4a1865c54fe4a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a78b38e9ac4f9c"/>
  </p:sldMasterIdLst>
  <p:notesMasterIdLst>
    <p:notesMasterId xmlns:r="http://schemas.openxmlformats.org/officeDocument/2006/relationships" r:id="Rb84d334f3eb2486d"/>
  </p:notesMasterIdLst>
  <p:sldIdLst>
    <p:sldId xmlns:r="http://schemas.openxmlformats.org/officeDocument/2006/relationships" id="256" r:id="R3d2a31489f3c4762"/>
    <p:sldId xmlns:r="http://schemas.openxmlformats.org/officeDocument/2006/relationships" id="257" r:id="R5d0a6cd5fcec44eb"/>
    <p:sldId xmlns:r="http://schemas.openxmlformats.org/officeDocument/2006/relationships" id="258" r:id="R1f71463082694ea6"/>
    <p:sldId xmlns:r="http://schemas.openxmlformats.org/officeDocument/2006/relationships" id="259" r:id="R1642b061bca34d13"/>
    <p:sldId xmlns:r="http://schemas.openxmlformats.org/officeDocument/2006/relationships" id="260" r:id="Rccada5a930324ed2"/>
    <p:sldId xmlns:r="http://schemas.openxmlformats.org/officeDocument/2006/relationships" id="261" r:id="R06d9f2550ed24d07"/>
    <p:sldId xmlns:r="http://schemas.openxmlformats.org/officeDocument/2006/relationships" id="262" r:id="Rf6708939878a4e50"/>
    <p:sldId xmlns:r="http://schemas.openxmlformats.org/officeDocument/2006/relationships" id="263" r:id="R120fb5184a584e23"/>
    <p:sldId xmlns:r="http://schemas.openxmlformats.org/officeDocument/2006/relationships" id="264" r:id="Ra04d8920895447ea"/>
    <p:sldId xmlns:r="http://schemas.openxmlformats.org/officeDocument/2006/relationships" id="265" r:id="Rfeb6ba27bd844db6"/>
    <p:sldId xmlns:r="http://schemas.openxmlformats.org/officeDocument/2006/relationships" id="266" r:id="R4e3f36a9b31343f1"/>
    <p:sldId xmlns:r="http://schemas.openxmlformats.org/officeDocument/2006/relationships" id="267" r:id="R98b6c828ca8d449d"/>
    <p:sldId xmlns:r="http://schemas.openxmlformats.org/officeDocument/2006/relationships" id="268" r:id="R1a96dac5d1174aa3"/>
    <p:sldId xmlns:r="http://schemas.openxmlformats.org/officeDocument/2006/relationships" id="269" r:id="Rb08f4e74e9a34fb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4945bad2f14ec8" /><Relationship Type="http://schemas.openxmlformats.org/officeDocument/2006/relationships/slideMaster" Target="/ppt/slideMasters/slideMaster1.xml" Id="Re2a78b38e9ac4f9c" /><Relationship Type="http://schemas.openxmlformats.org/officeDocument/2006/relationships/notesMaster" Target="/ppt/notesMasters/notesMaster1.xml" Id="Rb84d334f3eb2486d" /><Relationship Type="http://schemas.openxmlformats.org/officeDocument/2006/relationships/presProps" Target="/ppt/presProps.xml" Id="Rd67f7e6df7574423" /><Relationship Type="http://schemas.openxmlformats.org/officeDocument/2006/relationships/tableStyles" Target="/ppt/tableStyles.xml" Id="Rbfcee8e8a8d8459c" /><Relationship Type="http://schemas.openxmlformats.org/officeDocument/2006/relationships/slide" Target="/ppt/slides/slide1.xml" Id="R3d2a31489f3c4762" /><Relationship Type="http://schemas.openxmlformats.org/officeDocument/2006/relationships/slide" Target="/ppt/slides/slide2.xml" Id="R5d0a6cd5fcec44eb" /><Relationship Type="http://schemas.openxmlformats.org/officeDocument/2006/relationships/slide" Target="/ppt/slides/slide3.xml" Id="R1f71463082694ea6" /><Relationship Type="http://schemas.openxmlformats.org/officeDocument/2006/relationships/slide" Target="/ppt/slides/slide4.xml" Id="R1642b061bca34d13" /><Relationship Type="http://schemas.openxmlformats.org/officeDocument/2006/relationships/slide" Target="/ppt/slides/slide5.xml" Id="Rccada5a930324ed2" /><Relationship Type="http://schemas.openxmlformats.org/officeDocument/2006/relationships/slide" Target="/ppt/slides/slide6.xml" Id="R06d9f2550ed24d07" /><Relationship Type="http://schemas.openxmlformats.org/officeDocument/2006/relationships/slide" Target="/ppt/slides/slide7.xml" Id="Rf6708939878a4e50" /><Relationship Type="http://schemas.openxmlformats.org/officeDocument/2006/relationships/slide" Target="/ppt/slides/slide8.xml" Id="R120fb5184a584e23" /><Relationship Type="http://schemas.openxmlformats.org/officeDocument/2006/relationships/slide" Target="/ppt/slides/slide9.xml" Id="Ra04d8920895447ea" /><Relationship Type="http://schemas.openxmlformats.org/officeDocument/2006/relationships/slide" Target="/ppt/slides/slide10.xml" Id="Rfeb6ba27bd844db6" /><Relationship Type="http://schemas.openxmlformats.org/officeDocument/2006/relationships/slide" Target="/ppt/slides/slide11.xml" Id="R4e3f36a9b31343f1" /><Relationship Type="http://schemas.openxmlformats.org/officeDocument/2006/relationships/slide" Target="/ppt/slides/slide12.xml" Id="R98b6c828ca8d449d" /><Relationship Type="http://schemas.openxmlformats.org/officeDocument/2006/relationships/slide" Target="/ppt/slides/slide13.xml" Id="R1a96dac5d1174aa3" /><Relationship Type="http://schemas.openxmlformats.org/officeDocument/2006/relationships/slide" Target="/ppt/slides/slide14.xml" Id="Rb08f4e74e9a34f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aefadd93de545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0373714a104f32" /><Relationship Type="http://schemas.openxmlformats.org/officeDocument/2006/relationships/notesMaster" Target="/ppt/notesMasters/notesMaster1.xml" Id="R3dbfeab7620f4a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07a221ef564135" /><Relationship Type="http://schemas.openxmlformats.org/officeDocument/2006/relationships/notesMaster" Target="/ppt/notesMasters/notesMaster1.xml" Id="R9421e98ebe3044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d1e029b3aa4309" /><Relationship Type="http://schemas.openxmlformats.org/officeDocument/2006/relationships/notesMaster" Target="/ppt/notesMasters/notesMaster1.xml" Id="Rc3bc3dba175044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9a74b8827f4773" /><Relationship Type="http://schemas.openxmlformats.org/officeDocument/2006/relationships/notesMaster" Target="/ppt/notesMasters/notesMaster1.xml" Id="R3985abf430b745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8c4f404e004e8c" /><Relationship Type="http://schemas.openxmlformats.org/officeDocument/2006/relationships/notesMaster" Target="/ppt/notesMasters/notesMaster1.xml" Id="Ra13de765b2f047f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fd509e277f34467" /><Relationship Type="http://schemas.openxmlformats.org/officeDocument/2006/relationships/notesMaster" Target="/ppt/notesMasters/notesMaster1.xml" Id="Rb0820144ff324d0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c6a5cb31ce4eb3" /><Relationship Type="http://schemas.openxmlformats.org/officeDocument/2006/relationships/notesMaster" Target="/ppt/notesMasters/notesMaster1.xml" Id="Rabfba3c03a8841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0497f48a214623" /><Relationship Type="http://schemas.openxmlformats.org/officeDocument/2006/relationships/notesMaster" Target="/ppt/notesMasters/notesMaster1.xml" Id="R773336715bc444d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10386aaa58849d2" /><Relationship Type="http://schemas.openxmlformats.org/officeDocument/2006/relationships/notesMaster" Target="/ppt/notesMasters/notesMaster1.xml" Id="Rfee9ed4a167f498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f09964e1224b39" /><Relationship Type="http://schemas.openxmlformats.org/officeDocument/2006/relationships/notesMaster" Target="/ppt/notesMasters/notesMaster1.xml" Id="R0f16435fe11847c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8c134eb3d04088" /><Relationship Type="http://schemas.openxmlformats.org/officeDocument/2006/relationships/notesMaster" Target="/ppt/notesMasters/notesMaster1.xml" Id="R9a35afb6ec9a485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cc87810462f4ca0" /><Relationship Type="http://schemas.openxmlformats.org/officeDocument/2006/relationships/notesMaster" Target="/ppt/notesMasters/notesMaster1.xml" Id="Rfca619e7ef8b45b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cf4e5a8f6142e6" /><Relationship Type="http://schemas.openxmlformats.org/officeDocument/2006/relationships/notesMaster" Target="/ppt/notesMasters/notesMaster1.xml" Id="Rb11182c2b63a4ed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f86f3d7e5b04191" /><Relationship Type="http://schemas.openxmlformats.org/officeDocument/2006/relationships/notesMaster" Target="/ppt/notesMasters/notesMaster1.xml" Id="R94766eab0f074b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 15 秒：DataMind 是一个前后端分离、由 AI Agent 驱动的数据库查询与运维工作台。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先讲问题，再讲产品：今天的取数链路长、工具散、AI 不可控。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需求说明书V2.0/V3.0.md、AGENTS.md、README.md；界面截图取自本地运行实例；痛点归纳自 需求说明书V3.0.md 与 项目介绍.md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定位一句话：不会 SQL 的人也能查数，会 SQL 的人更快。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不逐条念功能，强调模块围绕工作流组织：连接、查询、分析、报表、管理。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20 秒）：输入「统计各订单状态的数量，并生成图表」，观察 Agent 调用工具、生成 SQL、返回结果并自动出图。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视频为本地运行实例的录屏，数据源为内置演示库（SQLite）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16 秒）：选择数据源后展开对象树、编写并执行 SQL、查看结果集。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视频为本地运行实例的录屏（对象树已展开 demo 库的表）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22 秒）：先用 UPDATE 触发写操作确认弹窗并取消，再用 SELECT 演示只读查询自动执行。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视频为本地运行实例的录屏（确认弹窗已取消，未写入数据）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28 秒）：图表由 SQL 直接驱动渲染，随后进入仪表盘查看多图表组合布局。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视频为本地运行实例的录屏（图表数据来自演示库 orders / products / categories）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播放视频（约 18 秒）：依次查看慢查询、表结构对比与审计日志，审计记录可导出。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视频为本地运行实例的录屏（当前库累计 1122 条审计日志）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管理员视角：数据源、大模型、用户、角色都在同一个设置页完成。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界面截图为本地运行实例（已配置 5 个数据源、4 个大模型连接）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这是竞赛最看重的工程深度：不是调用一次模型，而是把工具调用、失败重试、经验复用做成闭环。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backend/app/services/agent_service.py、llm_providers.py；AGENTS.md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强调两个可扩展点：适配器模式与 LLM Provider 抽象。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backend/app/adapters/、backend/app/routers/（15 个路由模块，96 个接口）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企业级完整性：加密、分级授权、全量审计、指标与测试。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backend/app/security.py、permissions.py、main.py（/metrics）；后端 117 项 pytest 用例，96 个 API 接口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收尾回到用户价值，并给出下一步计划。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来源：仓库 需求说明书V2.0/V3.0.md、AGENTS.md、README.md；界面截图取自本地运行实例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46c7d6b4024f1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6f8501ece141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f8dce67d949a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d61b9aa93444d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894be152da4a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04bb3e0b7e4a4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F2A1FBB-08A6-48D3-A4FD-301319291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5CB851BE-EE60-428A-A538-210FCD1822D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0306BB8-B858-4856-82F8-3C7F98ED8F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B8E6AB-29B3-4E72-A753-6E0554DC13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C7B526C-ADA4-4387-96E7-30BF2F0E79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BE590DB-0297-4920-95E7-943D24DA96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6252D8-3D63-4ED4-92AE-5516FB2945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6DA87D3-5557-4712-9D59-C5CE58B423D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1800BBB-28C7-4120-BD5F-F54F78473B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B9F64B6-3741-4AF9-AE0B-2245A738E6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c8b71d4f304251" /><Relationship Type="http://schemas.openxmlformats.org/officeDocument/2006/relationships/slideLayout" Target="/ppt/slideLayouts/slideLayout1.xml" Id="R3dbc8574b2274c86" /><Relationship Type="http://schemas.openxmlformats.org/officeDocument/2006/relationships/slideLayout" Target="/ppt/slideLayouts/slideLayout2.xml" Id="Rcb0fb16a64b44f1c" /><Relationship Type="http://schemas.openxmlformats.org/officeDocument/2006/relationships/slideLayout" Target="/ppt/slideLayouts/slideLayout3.xml" Id="R3d870981db144382" /><Relationship Type="http://schemas.openxmlformats.org/officeDocument/2006/relationships/slideLayout" Target="/ppt/slideLayouts/slideLayout4.xml" Id="R23d3c157b0b84b9a" /><Relationship Type="http://schemas.openxmlformats.org/officeDocument/2006/relationships/slideLayout" Target="/ppt/slideLayouts/slideLayout5.xml" Id="Rd29e3eac4c0e4cc7" /><Relationship Type="http://schemas.openxmlformats.org/officeDocument/2006/relationships/slideLayout" Target="/ppt/slideLayouts/slideLayout6.xml" Id="R2d6d02d695064b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dbc8574b2274c86"/>
    <p:sldLayoutId xmlns:r="http://schemas.openxmlformats.org/officeDocument/2006/relationships" id="2147483650" r:id="Rcb0fb16a64b44f1c"/>
    <p:sldLayoutId xmlns:r="http://schemas.openxmlformats.org/officeDocument/2006/relationships" id="2147483651" r:id="R3d870981db144382"/>
    <p:sldLayoutId xmlns:r="http://schemas.openxmlformats.org/officeDocument/2006/relationships" id="2147483652" r:id="R23d3c157b0b84b9a"/>
    <p:sldLayoutId xmlns:r="http://schemas.openxmlformats.org/officeDocument/2006/relationships" id="2147483653" r:id="Rd29e3eac4c0e4cc7"/>
    <p:sldLayoutId xmlns:r="http://schemas.openxmlformats.org/officeDocument/2006/relationships" id="2147483654" r:id="R2d6d02d695064b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9e8b0b0ef24d8f" /><Relationship Type="http://schemas.openxmlformats.org/officeDocument/2006/relationships/notesSlide" Target="/ppt/notesSlides/notesSlide1.xml" Id="Re30056792cf04d8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c7bcaea749450d" /><Relationship Type="http://schemas.openxmlformats.org/officeDocument/2006/relationships/notesSlide" Target="/ppt/notesSlides/notesSlide2.xml" Id="Rf5004ecc313c4e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433c6f5dbb4bc2" /><Relationship Type="http://schemas.openxmlformats.org/officeDocument/2006/relationships/notesSlide" Target="/ppt/notesSlides/notesSlide3.xml" Id="Rd6ab4fb50aca4a9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316804422d41c3" /><Relationship Type="http://schemas.openxmlformats.org/officeDocument/2006/relationships/notesSlide" Target="/ppt/notesSlides/notesSlide4.xml" Id="R79ba730a4f20411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1d93f775154cfc" /><Relationship Type="http://schemas.openxmlformats.org/officeDocument/2006/relationships/image" Target="/ppt/media/image.png" Id="R514f793c8d5c44a9" /><Relationship Type="http://schemas.openxmlformats.org/officeDocument/2006/relationships/notesSlide" Target="/ppt/notesSlides/notesSlide5.xml" Id="R95a8deabc66d41f6" /><Relationship Type="http://schemas.openxmlformats.org/officeDocument/2006/relationships/video" Target="/ppt/media/video5.mp4" Id="rIdVideo5" /><Relationship Type="http://schemas.microsoft.com/office/2007/relationships/media" Target="/ppt/media/video5.mp4" Id="rIdMedia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502559784b4bd7" /><Relationship Type="http://schemas.openxmlformats.org/officeDocument/2006/relationships/image" Target="/ppt/media/image2.png" Id="R240210b9317d45f8" /><Relationship Type="http://schemas.openxmlformats.org/officeDocument/2006/relationships/notesSlide" Target="/ppt/notesSlides/notesSlide6.xml" Id="R0fd4ea2f08d247b5" /><Relationship Type="http://schemas.openxmlformats.org/officeDocument/2006/relationships/video" Target="/ppt/media/video6.mp4" Id="rIdVideo6" /><Relationship Type="http://schemas.microsoft.com/office/2007/relationships/media" Target="/ppt/media/video6.mp4" Id="rIdMedia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42c8cbcede416c" /><Relationship Type="http://schemas.openxmlformats.org/officeDocument/2006/relationships/image" Target="/ppt/media/image3.png" Id="R65768338dfd34bf1" /><Relationship Type="http://schemas.openxmlformats.org/officeDocument/2006/relationships/notesSlide" Target="/ppt/notesSlides/notesSlide7.xml" Id="R984252b2b4a74183" /><Relationship Type="http://schemas.openxmlformats.org/officeDocument/2006/relationships/video" Target="/ppt/media/video7.mp4" Id="rIdVideo7" /><Relationship Type="http://schemas.microsoft.com/office/2007/relationships/media" Target="/ppt/media/video7.mp4" Id="rIdMedia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62af6410dff409a" /><Relationship Type="http://schemas.openxmlformats.org/officeDocument/2006/relationships/image" Target="/ppt/media/image4.png" Id="R0510d90bcf8640b3" /><Relationship Type="http://schemas.openxmlformats.org/officeDocument/2006/relationships/notesSlide" Target="/ppt/notesSlides/notesSlide8.xml" Id="Re2349385ed684eec" /><Relationship Type="http://schemas.openxmlformats.org/officeDocument/2006/relationships/video" Target="/ppt/media/video8.mp4" Id="rIdVideo8" /><Relationship Type="http://schemas.microsoft.com/office/2007/relationships/media" Target="/ppt/media/video8.mp4" Id="rIdMedia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bfd7390eb64d1f" /><Relationship Type="http://schemas.openxmlformats.org/officeDocument/2006/relationships/image" Target="/ppt/media/image5.png" Id="Rbe9a64e0fa3c4272" /><Relationship Type="http://schemas.openxmlformats.org/officeDocument/2006/relationships/notesSlide" Target="/ppt/notesSlides/notesSlide9.xml" Id="R12dd46425c0e432e" /><Relationship Type="http://schemas.openxmlformats.org/officeDocument/2006/relationships/video" Target="/ppt/media/video9.mp4" Id="rIdVideo9" /><Relationship Type="http://schemas.microsoft.com/office/2007/relationships/media" Target="/ppt/media/video9.mp4" Id="rIdMedia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c05020b10447a6" /><Relationship Type="http://schemas.openxmlformats.org/officeDocument/2006/relationships/image" Target="/ppt/media/image6.png" Id="R81ea30df4c254872" /><Relationship Type="http://schemas.openxmlformats.org/officeDocument/2006/relationships/image" Target="/ppt/media/image7.png" Id="Re2f11d110a354a0f" /><Relationship Type="http://schemas.openxmlformats.org/officeDocument/2006/relationships/notesSlide" Target="/ppt/notesSlides/notesSlide10.xml" Id="Rd47361be51d2466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dbfd65db9a4886" /><Relationship Type="http://schemas.openxmlformats.org/officeDocument/2006/relationships/notesSlide" Target="/ppt/notesSlides/notesSlide11.xml" Id="R4d45a817aabe43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836ee0e9594add" /><Relationship Type="http://schemas.openxmlformats.org/officeDocument/2006/relationships/notesSlide" Target="/ppt/notesSlides/notesSlide12.xml" Id="Rf4d7cea8dd224c0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29a6eacd47e408e" /><Relationship Type="http://schemas.openxmlformats.org/officeDocument/2006/relationships/notesSlide" Target="/ppt/notesSlides/notesSlide13.xml" Id="Rb58d0fd58a0b430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e5c684f1ef46c5" /><Relationship Type="http://schemas.openxmlformats.org/officeDocument/2006/relationships/notesSlide" Target="/ppt/notesSlides/notesSlide14.xml" Id="R9863ab82abb4459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A409FD-E0F0-4EAA-AB29-FDDB5549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 Agent Web 应用 · v2.0.0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B77DE-5588-44A0-9D35-E70EC129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00200"/>
            <a:ext cx="94488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l">
              <a:def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5A7157-5DC3-4E21-A26C-372CD03A0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305300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用自然语言，管理你的数据库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D2B1A85E-418F-4714-BC02-340E33AA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0292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911621-538C-400E-BF44-23D7BA813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25780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自然语言查询 · SQL 工作台 · 跨库元数据 · 可视化报表 · 权限与审计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811626-A3BE-47BD-B3E6-6850B1F91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6279261"/>
            <a:ext cx="6667500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演示入口 http://127.0.0.1:5174 · 演示账号 admin / admin123</a:t>
            </a:r>
          </a:p>
        </p:txBody>
      </p:sp>
    </p:spTree>
    <p:extLst>
      <p:ext uri="{BB962C8B-B14F-4D97-AF65-F5344CB8AC3E}">
        <p14:creationId xmlns:p14="http://schemas.microsoft.com/office/powerpoint/2010/main" val="1530503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37FD78-527B-4D1D-BDB0-5A23C3C0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开发背景：取数链路上的五个断点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DF5D390-8782-4674-8E78-85FCF3D3B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5DBE13-9F11-49B1-BA2D-FB0ADEE8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一次普通的数据核对，今天往往要走「提需求 → 排期 → 写 SQL → 导表 → 截图」的链路。</a:t>
            </a:r>
          </a:p>
        </p:txBody>
      </p:sp>
      <p:sp>
        <p:nvSpPr>
          <p:cNvPr id="4" name="current-state">
            <a:extLst xmlns:a="http://schemas.openxmlformats.org/drawingml/2006/main">
              <a:ext uri="{FF2B5EF4-FFF2-40B4-BE49-F238E27FC236}">
                <a16:creationId xmlns:a16="http://schemas.microsoft.com/office/drawing/2014/main" id="{475E373D-C7E0-45A4-B722-A60A5E5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81250"/>
            <a:ext cx="533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CD5F28-3437-44BE-8D40-78CA818D4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现状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E2C2FE-64C6-4604-B6AB-1A77AE5D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1432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业务同学不会写 SQL，查数要等技术同事排期。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BDBF72-C9F0-4197-B23B-27B69528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7909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MySQL、Oracle、PostgreSQL 各有各的客户端，元数据分散。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F997CB-933C-4F12-98F3-25B47A1C5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4438650"/>
            <a:ext cx="4914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大模型能写 SQL，但没人敢把写权限直接交给它。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12169-6D42-4DA3-9DDB-60C3A80C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003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五个断点</a:t>
            </a:r>
          </a:p>
        </p:txBody>
      </p:sp>
      <p:sp>
        <p:nvSpPr>
          <p:cNvPr id="10" name="marker">
            <a:extLst xmlns:a="http://schemas.openxmlformats.org/drawingml/2006/main">
              <a:ext uri="{FF2B5EF4-FFF2-40B4-BE49-F238E27FC236}">
                <a16:creationId xmlns:a16="http://schemas.microsoft.com/office/drawing/2014/main" id="{352988E1-619B-4E90-938F-F4129E15B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242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D1D345-F999-4F81-B655-19D8B09C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0099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取数依赖排期，业务等待成本高</a:t>
            </a:r>
          </a:p>
        </p:txBody>
      </p:sp>
      <p:sp>
        <p:nvSpPr>
          <p:cNvPr id="12" name="marker">
            <a:extLst xmlns:a="http://schemas.openxmlformats.org/drawingml/2006/main">
              <a:ext uri="{FF2B5EF4-FFF2-40B4-BE49-F238E27FC236}">
                <a16:creationId xmlns:a16="http://schemas.microsoft.com/office/drawing/2014/main" id="{0681B3C4-DC1A-4FEE-B7D3-9ECFE71DF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B6235-35D4-4F4E-BE29-991013598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6004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多数据库工具割裂，切换成本高</a:t>
            </a:r>
          </a:p>
        </p:txBody>
      </p:sp>
      <p:sp>
        <p:nvSpPr>
          <p:cNvPr id="14" name="marker">
            <a:extLst xmlns:a="http://schemas.openxmlformats.org/drawingml/2006/main">
              <a:ext uri="{FF2B5EF4-FFF2-40B4-BE49-F238E27FC236}">
                <a16:creationId xmlns:a16="http://schemas.microsoft.com/office/drawing/2014/main" id="{79A5573D-68C1-4067-9056-398B1199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3053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45BAB9-9CBC-45AE-A272-49B22C07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1910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生成 SQL 缺少安全闸门</a:t>
            </a:r>
          </a:p>
        </p:txBody>
      </p:sp>
      <p:sp>
        <p:nvSpPr>
          <p:cNvPr id="16" name="marker">
            <a:extLst xmlns:a="http://schemas.openxmlformats.org/drawingml/2006/main">
              <a:ext uri="{FF2B5EF4-FFF2-40B4-BE49-F238E27FC236}">
                <a16:creationId xmlns:a16="http://schemas.microsoft.com/office/drawing/2014/main" id="{77C8E6BD-3A78-47D8-A490-389B2345E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958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6C9691-1295-4DA6-A170-33B5E0FA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7815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查询结果难以沉淀为报表</a:t>
            </a:r>
          </a:p>
        </p:txBody>
      </p:sp>
      <p:sp>
        <p:nvSpPr>
          <p:cNvPr id="18" name="marker">
            <a:extLst xmlns:a="http://schemas.openxmlformats.org/drawingml/2006/main">
              <a:ext uri="{FF2B5EF4-FFF2-40B4-BE49-F238E27FC236}">
                <a16:creationId xmlns:a16="http://schemas.microsoft.com/office/drawing/2014/main" id="{CAD4A39F-81C6-407F-BF62-BD66ACDB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486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742850-E818-41CB-B657-86CD2AF7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721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权限与操作缺少统一审计</a:t>
            </a:r>
          </a:p>
        </p:txBody>
      </p:sp>
    </p:spTree>
    <p:extLst>
      <p:ext uri="{BB962C8B-B14F-4D97-AF65-F5344CB8AC3E}">
        <p14:creationId xmlns:p14="http://schemas.microsoft.com/office/powerpoint/2010/main" val="559666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560C22C-9CC8-48DD-A613-1B12515F7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产品定位与目标用户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AB07EB-8983-44FE-A3CC-C3CACB23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78E2D6-CAFA-47F1-8566-F001E0E26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DataMind 把「连接 → 查询 → 分析 → 报表 → 权限审计」串成一个 Web 工作台，用 AI Agent 降低取数门槛。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6A7A9D-5CD6-45FD-8664-3C6CDE02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955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4C8AB-4E29-4908-B426-CBE283E9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955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核心需求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A6628-A9E9-4B97-AAC9-CC3F24EA4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95550"/>
            <a:ext cx="552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典型场景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CCAF900-4AC3-46FE-A3C2-A5528DDF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8575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D3C60-6D36-47E8-A225-5ABFA895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670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后端开发者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C5C176-203C-4C62-8C13-B2C27C48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0670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快速查数、写与优化 SQL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23DFF-5AB3-4E6F-99FB-38322ABF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670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日常开发、线上排障</a:t>
            </a:r>
          </a:p>
        </p:txBody>
      </p:sp>
      <p:sp>
        <p:nvSpPr>
          <p:cNvPr id="11" name="rule">
            <a:extLst xmlns:a="http://schemas.openxmlformats.org/drawingml/2006/main">
              <a:ext uri="{FF2B5EF4-FFF2-40B4-BE49-F238E27FC236}">
                <a16:creationId xmlns:a16="http://schemas.microsoft.com/office/drawing/2014/main" id="{2AE7763C-6712-4DB0-BCE8-5C932A710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861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D8113-24C6-40FF-95AD-41494B179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6576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DBA / 运维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C0A93-57ED-4B79-9A3F-812305AB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657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多实例管理、结构变更、审计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E2A083-3788-4C68-870B-D4B6D7EC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576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变更前对比、慢查询定位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21BF63BC-C4CD-47C7-96AE-5B8859D1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7670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861E9C-90E3-447A-B64C-D5D80FD8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481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数据分析师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4D9C3C-949D-496F-B33B-C1BCD2E04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481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自然语言取数、快速做报表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E4AFE-F379-425A-8482-6A66C258B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4815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数据探索、临时分析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580FD852-C569-4333-A946-CB2A14627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6672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1DF449-0C6F-44D3-B9A4-896EE153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387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业务 / 产品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DE15AF-3F0E-471A-A13F-485D90D4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387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完全不会 SQL 也要看数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F13B04-27FE-42FC-BBF1-74D52823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838700"/>
            <a:ext cx="552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辅助决策、快速核对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18657-31F9-42E2-B163-0E7007F7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一句话：让数据获取从「排队等」变成「自己动手」。</a:t>
            </a:r>
          </a:p>
        </p:txBody>
      </p:sp>
    </p:spTree>
    <p:extLst>
      <p:ext uri="{BB962C8B-B14F-4D97-AF65-F5344CB8AC3E}">
        <p14:creationId xmlns:p14="http://schemas.microsoft.com/office/powerpoint/2010/main" val="7692774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AFD586-1BA2-430C-9091-6E62368B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功能全景：14 个模块，一条数据工作流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9391967-3D7B-47EF-B5F7-92C2DBCDD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19271B-EBFD-461D-BBD6-5BB199412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 个功能模块围绕「连接 → 查询 → 分析 → 报表 → 管理」闭环组织。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89EF0881-4B51-47C1-A7C2-36296FFF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C509FB-B779-41BD-B60F-1B333873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连接管理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180246-940F-4394-BCB5-972A25D5E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 类数据源、SSH 隧道、多环境标签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A093549A-28EC-49B3-953F-E48DF8FB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4AB039-2E73-446B-92B1-095A73E5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SQL 工作台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15D48-20AD-434E-BB92-01E1582D6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编辑、对象树、结果集直编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569FA875-C028-4C9D-9E83-97DF635D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EA632-EED3-4EB5-AD72-B94D95AAA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元数据管理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105BF-FB80-4635-AB5B-2252A6862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表/索引/DDL/视图/函数、结构对比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DBB05972-D2E3-4AFE-A0C7-ABC86FD0B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1240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8E6DA2-301E-4E3F-BF03-49F5F20DD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333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 智能查询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5FE3C-F4AF-4362-ADCA-81F2D51D1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27527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自然语言转 SQL、多轮会话、图表</a:t>
            </a:r>
          </a:p>
        </p:txBody>
      </p:sp>
      <p:sp>
        <p:nvSpPr>
          <p:cNvPr id="16" name="rule">
            <a:extLst xmlns:a="http://schemas.openxmlformats.org/drawingml/2006/main">
              <a:ext uri="{FF2B5EF4-FFF2-40B4-BE49-F238E27FC236}">
                <a16:creationId xmlns:a16="http://schemas.microsoft.com/office/drawing/2014/main" id="{8E6DA60A-C2CF-49C3-99EF-51ECFB9D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919A36-2CCA-4F45-A9AF-382F110E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可视化报表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E47216-4FF4-4DC2-9A10-93FB6487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种图表、仪表盘、分享大屏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EB9A9318-6C96-45EB-B9F9-E3E0EBA0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1F8499-7F99-46EF-830A-220BC8D41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文档导出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167E5E-2DD7-4355-9063-94273B5E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CSV/Excel/JSON、库文档导出</a:t>
            </a:r>
          </a:p>
        </p:txBody>
      </p:sp>
      <p:sp>
        <p:nvSpPr>
          <p:cNvPr id="22" name="rule">
            <a:extLst xmlns:a="http://schemas.openxmlformats.org/drawingml/2006/main">
              <a:ext uri="{FF2B5EF4-FFF2-40B4-BE49-F238E27FC236}">
                <a16:creationId xmlns:a16="http://schemas.microsoft.com/office/drawing/2014/main" id="{CF97B740-A801-4957-AB5D-D976577D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DB38AA-27AA-481C-8F38-C8C518FF0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用户与角色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8777ED-5839-420F-9FA9-3A816B86E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5732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RBAC 5 内置角色 + 自定义角色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96F94D53-4A2C-43E3-A664-E41DBEF8F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219575"/>
            <a:ext cx="266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FA7A88-A491-4AF4-8EB6-6DD74AF4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4291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运维监控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EA6405-031C-4E31-A7E8-584A8B88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6764" y="4848225"/>
            <a:ext cx="2628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慢查询、连接概览、审计、指标</a:t>
            </a:r>
          </a:p>
        </p:txBody>
      </p:sp>
    </p:spTree>
    <p:extLst>
      <p:ext uri="{BB962C8B-B14F-4D97-AF65-F5344CB8AC3E}">
        <p14:creationId xmlns:p14="http://schemas.microsoft.com/office/powerpoint/2010/main" val="2032138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4E03F7-4BE6-4E63-B7B9-FA7C1DFD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①：自然语言直连数据库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5FD5C95-9B9E-404B-9D25-BE80EF40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54BAD421-F799-47BD-A495-6632527A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3E1F1B0B-41E8-4D0E-B269-88AAEABE05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f793c8d5c44a9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3E1F1B0B-41E8-4D0E-B269-88AAEABE05C6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5"/>
            <p14:media xmlns:p14="http://schemas.microsoft.com/office/powerpoint/2010/main" xmlns:r="http://schemas.openxmlformats.org/officeDocument/2006/relationships" r:embed="rIdMedia5"/>
          </p:nvPr>
        </p:nvPicPr>
        <p:blipFill>
          <a:blip xmlns:r="http://schemas.openxmlformats.org/officeDocument/2006/relationships" xmlns:a="http://schemas.openxmlformats.org/drawingml/2006/main" r:embed="R514f793c8d5c44a9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E365B8-7A3A-4048-8795-D0A3218B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20 秒）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E328B-6C2F-49E0-B790-35F431D8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提问即得结果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CC485C5A-3173-43C4-9691-EBEA0B4F4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C6444-CE3A-44ED-8DA9-636516A0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Agent 自动调用表结构与采样工具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B181228-F508-4F01-B7FB-242B51B5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056D25-98C3-4882-8CB0-1640BB79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SSE 流式回传思考过程与 SQL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A2B96CF7-2302-43C9-85EC-0C339A8B9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1E92D3-433F-48E2-8B7B-7D33693C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只读查询自动执行并返回结果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F508671A-B1AE-43EA-A44A-47AC1A9D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1D451-C76D-4D44-8596-7B6606F5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一句话就能生成图表</a:t>
            </a:r>
          </a:p>
        </p:txBody>
      </p:sp>
    </p:spTree>
    <p:extLst>
      <p:ext uri="{BB962C8B-B14F-4D97-AF65-F5344CB8AC3E}">
        <p14:creationId xmlns:p14="http://schemas.microsoft.com/office/powerpoint/2010/main" val="399941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662FE71-F5B8-4BF1-92B3-E1CCCF3B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②：SQL 工作台与结果集编辑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44BFF13-7703-4F5C-B342-E7D8C9FA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B9B3451D-422F-48F5-AC2F-4627EA0C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7FEDB985-D7C6-4179-94E2-DFCA6C4DF3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0210b9317d45f8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7FEDB985-D7C6-4179-94E2-DFCA6C4DF3B0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6"/>
            <p14:media xmlns:p14="http://schemas.microsoft.com/office/powerpoint/2010/main" xmlns:r="http://schemas.openxmlformats.org/officeDocument/2006/relationships" r:embed="rIdMedia6"/>
          </p:nvPr>
        </p:nvPicPr>
        <p:blipFill>
          <a:blip xmlns:r="http://schemas.openxmlformats.org/officeDocument/2006/relationships" xmlns:a="http://schemas.openxmlformats.org/drawingml/2006/main" r:embed="R240210b9317d45f8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CAAE9D-F773-439A-B749-9A38BAAD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16 秒）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9D01D-0314-4D37-ACB2-A7456574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专业查询体验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DED9508E-F3DD-4C93-9D76-D97586F0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E99FD0-44F3-49A8-8B6D-4A43D5CF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对象树浏览表 / 视图 / 触发器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3481C789-4606-4E44-A976-0703AA69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124417-61FD-4136-A4DA-CB8E6FC8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多 Tab 编辑与 SQL 格式化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52E6262E-6C20-41F3-9286-EFE3283C5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2A391-AE13-4FBC-B314-6CF14EC1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结果分页、排序、导出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B58CBFF5-E2DE-41D3-9972-7272238D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C67956-6D1C-402B-B3AA-ECEB52AF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双击单元格直接编辑回写</a:t>
            </a:r>
          </a:p>
        </p:txBody>
      </p:sp>
    </p:spTree>
    <p:extLst>
      <p:ext uri="{BB962C8B-B14F-4D97-AF65-F5344CB8AC3E}">
        <p14:creationId xmlns:p14="http://schemas.microsoft.com/office/powerpoint/2010/main" val="4567936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1577565-9AE5-4AD1-82E0-E4DE0E6B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③：AI 可用，写操作始终由人把关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C32175-AB03-4FD7-918F-8034A98A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A41A1407-DE8D-4A6D-8E78-40C57050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4C707399-A58F-4FDA-AA23-9C4AA089940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768338dfd34bf1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4C707399-A58F-4FDA-AA23-9C4AA0899403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7"/>
            <p14:media xmlns:p14="http://schemas.microsoft.com/office/powerpoint/2010/main" xmlns:r="http://schemas.openxmlformats.org/officeDocument/2006/relationships" r:embed="rIdMedia7"/>
          </p:nvPr>
        </p:nvPicPr>
        <p:blipFill>
          <a:blip xmlns:r="http://schemas.openxmlformats.org/officeDocument/2006/relationships" xmlns:a="http://schemas.openxmlformats.org/drawingml/2006/main" r:embed="R65768338dfd34bf1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994DB-6453-4637-95D2-EF20FDB7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22 秒）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8AF0AE-C788-4EE0-AC19-098C2285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分级授权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0DC8D052-C110-4947-B8B4-97E5C72E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E3A93B-6166-40F5-8668-FA97F6F7E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READ：只读查询自动执行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573339FA-6A4A-4D06-A072-E36CE4DF9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4219C-241B-431F-897D-F0744DD3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DML：弹窗确认后执行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05BEED60-AD4A-48CF-B6A6-7A68120F0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18E18-583A-49C9-AD77-7F69E4A3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DDL：红色高危警示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E3525572-2CC2-4A8D-8EC6-2DC71221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F470D7-A802-419C-944A-1051A073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每条执行都写入审计日志</a:t>
            </a:r>
          </a:p>
        </p:txBody>
      </p:sp>
    </p:spTree>
    <p:extLst>
      <p:ext uri="{BB962C8B-B14F-4D97-AF65-F5344CB8AC3E}">
        <p14:creationId xmlns:p14="http://schemas.microsoft.com/office/powerpoint/2010/main" val="617318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C5BEC6A-74E0-40AA-90A1-6E9C051BF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④：从查询结果到可视化报表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6F7954C-71BF-4982-AA63-A7B52664F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52DF2BFC-73FC-4C10-8731-18EAA761A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4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BD21C4A8-31FC-4F20-A3DA-C078442C467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10d90bcf8640b3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BD21C4A8-31FC-4F20-A3DA-C078442C4674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8"/>
            <p14:media xmlns:p14="http://schemas.microsoft.com/office/powerpoint/2010/main" xmlns:r="http://schemas.openxmlformats.org/officeDocument/2006/relationships" r:embed="rIdMedia8"/>
          </p:nvPr>
        </p:nvPicPr>
        <p:blipFill>
          <a:blip xmlns:r="http://schemas.openxmlformats.org/officeDocument/2006/relationships" xmlns:a="http://schemas.openxmlformats.org/drawingml/2006/main" r:embed="R0510d90bcf8640b3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3164B-2F46-4F38-A742-D694C317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28 秒）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9634EE-491E-4351-ACFF-E6C58443C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结果即报表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807A2FDE-B74E-4FD7-B5AA-8BA03BD3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524A02-BCD4-4AD9-B3A5-28A4FF2D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 种图表类型，SQL 直驱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E9ED1E65-771C-45C4-8835-7A513257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1F74D6-7366-4868-9BD5-F9DE63E97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拖拽式仪表盘布局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E2336CE2-4EF6-4FBD-8E98-14C50D8A5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F3609C-F49B-422D-B267-893B3896C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一键分享与 16:9 大屏</a:t>
            </a:r>
          </a:p>
        </p:txBody>
      </p:sp>
    </p:spTree>
    <p:extLst>
      <p:ext uri="{BB962C8B-B14F-4D97-AF65-F5344CB8AC3E}">
        <p14:creationId xmlns:p14="http://schemas.microsoft.com/office/powerpoint/2010/main" val="776453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FCBD522-F549-4AE9-BF32-8A399C40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功能演示 ⑤：运维监控与审计留痕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7AE12A8-C979-4679-BF80-0E10E2C2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3" name="video-frame">
            <a:extLst xmlns:a="http://schemas.openxmlformats.org/drawingml/2006/main">
              <a:ext uri="{FF2B5EF4-FFF2-40B4-BE49-F238E27FC236}">
                <a16:creationId xmlns:a16="http://schemas.microsoft.com/office/drawing/2014/main" id="{1C8EDF06-1496-4D3F-90B8-F65C1A857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18" y="1647825"/>
            <a:ext cx="7467600" cy="4217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6" name="video-poster">
            <a:extLst xmlns:a="http://schemas.openxmlformats.org/drawingml/2006/main">
              <a:ext uri="{FF2B5EF4-FFF2-40B4-BE49-F238E27FC236}">
                <a16:creationId xmlns:a16="http://schemas.microsoft.com/office/drawing/2014/main" id="{8024DC56-7F0D-4DA9-8C39-C7717ED0A3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9a64e0fa3c4272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pic>
        <p:nvPicPr>
          <p:cNvPr id="4" name="video">
            <a:hlinkClick xmlns:a="http://schemas.openxmlformats.org/drawingml/2006/main" xmlns:r="http://schemas.openxmlformats.org/officeDocument/2006/relationships" r:id="" action="ppaction://media"/>
            <a:extLst xmlns:a="http://schemas.openxmlformats.org/drawingml/2006/main">
              <a:ext uri="{FF2B5EF4-FFF2-40B4-BE49-F238E27FC236}">
                <a16:creationId xmlns:a16="http://schemas.microsoft.com/office/drawing/2014/main" id="{8024DC56-7F0D-4DA9-8C39-C7717ED0A3BF}"/>
              </a:ext>
            </a:extLst>
          </p:cNvPr>
          <p:cNvPicPr>
            <a:picLocks xmlns:a="http://schemas.openxmlformats.org/drawingml/2006/main" noChangeAspect="1"/>
          </p:cNvPicPr>
          <p:nvPr>
            <a:videoFile xmlns:a="http://schemas.openxmlformats.org/drawingml/2006/main" xmlns:r="http://schemas.openxmlformats.org/officeDocument/2006/relationships" r:link="rIdVideo9"/>
            <p14:media xmlns:p14="http://schemas.microsoft.com/office/powerpoint/2010/main" xmlns:r="http://schemas.openxmlformats.org/officeDocument/2006/relationships" r:embed="rIdMedia9"/>
          </p:nvPr>
        </p:nvPicPr>
        <p:blipFill>
          <a:blip xmlns:r="http://schemas.openxmlformats.org/officeDocument/2006/relationships" xmlns:a="http://schemas.openxmlformats.org/drawingml/2006/main" r:embed="Rbe9a64e0fa3c4272"/>
          <a:stretch xmlns:a="http://schemas.openxmlformats.org/drawingml/2006/main"/>
        </p:blipFill>
        <p:spPr>
          <a:xfrm xmlns:a="http://schemas.openxmlformats.org/drawingml/2006/main">
            <a:off x="393668" y="1666875"/>
            <a:ext cx="7429500" cy="4179094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1460A6-09A2-4E01-86C0-68F27286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941219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5A5F66"/>
                </a:solidFill>
                <a:latin typeface="Helvetica Neue"/>
                <a:ea typeface="Helvetica Neue"/>
                <a:cs typeface="Helvetica Neue"/>
              </a:rPr>
              <a:t>▶ 点击画面播放演示视频（约 18 秒）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EFCA9-5EA4-4D76-9988-D5CFBF20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679317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运维与合规</a:t>
            </a:r>
          </a:p>
        </p:txBody>
      </p:sp>
      <p:sp>
        <p:nvSpPr>
          <p:cNvPr id="7" name="marker">
            <a:extLst xmlns:a="http://schemas.openxmlformats.org/drawingml/2006/main">
              <a:ext uri="{FF2B5EF4-FFF2-40B4-BE49-F238E27FC236}">
                <a16:creationId xmlns:a16="http://schemas.microsoft.com/office/drawing/2014/main" id="{36E5EB87-BFE6-43F1-8373-C08A3C6F6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384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67667D-D99A-4663-BBDC-5EA73528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241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慢查询统计与连接概览</a:t>
            </a:r>
          </a:p>
        </p:txBody>
      </p:sp>
      <p:sp>
        <p:nvSpPr>
          <p:cNvPr id="9" name="marker">
            <a:extLst xmlns:a="http://schemas.openxmlformats.org/drawingml/2006/main">
              <a:ext uri="{FF2B5EF4-FFF2-40B4-BE49-F238E27FC236}">
                <a16:creationId xmlns:a16="http://schemas.microsoft.com/office/drawing/2014/main" id="{3FC9CF97-9C83-4AF8-B904-CE6D4EAE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289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D8D4DC-28A1-4735-818B-F21B1174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146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表结构对比 schema diff</a:t>
            </a:r>
          </a:p>
        </p:txBody>
      </p:sp>
      <p:sp>
        <p:nvSpPr>
          <p:cNvPr id="11" name="marker">
            <a:extLst xmlns:a="http://schemas.openxmlformats.org/drawingml/2006/main">
              <a:ext uri="{FF2B5EF4-FFF2-40B4-BE49-F238E27FC236}">
                <a16:creationId xmlns:a16="http://schemas.microsoft.com/office/drawing/2014/main" id="{C32B2025-AAAB-4D43-89C7-47F33FBA1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1950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E977D-8284-4434-B20F-556CD41C0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审计日志全量留痕、可导出</a:t>
            </a:r>
          </a:p>
        </p:txBody>
      </p:sp>
      <p:sp>
        <p:nvSpPr>
          <p:cNvPr id="13" name="marker">
            <a:extLst xmlns:a="http://schemas.openxmlformats.org/drawingml/2006/main">
              <a:ext uri="{FF2B5EF4-FFF2-40B4-BE49-F238E27FC236}">
                <a16:creationId xmlns:a16="http://schemas.microsoft.com/office/drawing/2014/main" id="{4F42ADDE-237B-4E28-8376-C5149DFC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10050"/>
            <a:ext cx="85725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3F87E1-18E7-4C05-81E6-D05A61517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/metrics 暴露 Prometheus 指标</a:t>
            </a:r>
          </a:p>
        </p:txBody>
      </p:sp>
    </p:spTree>
    <p:extLst>
      <p:ext uri="{BB962C8B-B14F-4D97-AF65-F5344CB8AC3E}">
        <p14:creationId xmlns:p14="http://schemas.microsoft.com/office/powerpoint/2010/main" val="5920192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08A88F-0433-4686-97DC-E400A60A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系统管理：连接、模型、用户与角色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AB860D0-9800-4916-B421-E92C66B6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32F5E4-0906-46D4-9EB9-B83F4BF6B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0495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数据源、大模型、用户与角色，都在同一个管理界面里完成配置。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AEDBC-7903-45D4-B2E1-602809D28E7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ea30df4c254872"/>
          <a:stretch xmlns:a="http://schemas.openxmlformats.org/drawingml/2006/main"/>
        </p:blipFill>
        <p:spPr>
          <a:xfrm xmlns:a="http://schemas.openxmlformats.org/drawingml/2006/main">
            <a:off x="393668" y="2000265"/>
            <a:ext cx="5607082" cy="3153983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F9FDB4-BC25-4780-8A4E-7CE699EBAB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f11d110a354a0f"/>
          <a:stretch xmlns:a="http://schemas.openxmlformats.org/drawingml/2006/main"/>
        </p:blipFill>
        <p:spPr>
          <a:xfrm xmlns:a="http://schemas.openxmlformats.org/drawingml/2006/main">
            <a:off x="6264402" y="2000265"/>
            <a:ext cx="5607082" cy="3153983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45A8ED-B1FD-46C6-88D2-B501623B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334000"/>
            <a:ext cx="56070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大模型连接：OpenAI 兼容 / Claude / Ollama，Key 加密存储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8FCC2F-3243-424D-9B77-770BD2FD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5334000"/>
            <a:ext cx="5607082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角色权限：5 个内置角色 + 自定义角色，权限码按功能分组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D87DB5-F6D8-4E4B-8714-6F3A98DF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7150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先勾选权限，再由路由守卫拦截：前端菜单与后端接口双重校验。</a:t>
            </a:r>
          </a:p>
        </p:txBody>
      </p:sp>
    </p:spTree>
    <p:extLst>
      <p:ext uri="{BB962C8B-B14F-4D97-AF65-F5344CB8AC3E}">
        <p14:creationId xmlns:p14="http://schemas.microsoft.com/office/powerpoint/2010/main" val="6826015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F5F51C7-BE1B-4970-BCE9-47F0120E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①：Agent 工程化闭环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54B43C-E49C-4386-9B7B-8DBC83E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B345BD-BFE4-42CD-BC1F-357A469D4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不是简单调用大模型，而是把「工具调用、失败自愈、经验复用」做成工程闭环；一次对话通过 SSE 推送 thought / tool / sql / retry / result / chart 等事件，前端逐段渲染。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765158-EDEF-45E6-B0FB-C723072C3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C363C-2E54-4A24-AF52-854D57D5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工具调用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3D0B5-9993-4E3B-9C34-62919233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list_tables、get_columns、sample_data、explain 四个工具按需调用，最多 3 轮。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18730-74FB-418B-8C82-0F2AB08DB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3DF083-6CD6-4191-8D8D-CF3E2841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失败自愈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5F20B6-B5FC-4136-8A61-B6D26EC7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READ 查询执行失败时，自动把错误回传给 LLM 修正并重试，最多 3 次。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E38AC-F30B-4B10-8E5D-5749CB7A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FC219-B106-47B3-9F35-FAC9BCE3A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经验复用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EFAC51-3146-4189-9419-0551A1E6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历史成功 SQL 作为 few-shot 注入新会话，越用越准。</a:t>
            </a:r>
          </a:p>
        </p:txBody>
      </p:sp>
    </p:spTree>
    <p:extLst>
      <p:ext uri="{BB962C8B-B14F-4D97-AF65-F5344CB8AC3E}">
        <p14:creationId xmlns:p14="http://schemas.microsoft.com/office/powerpoint/2010/main" val="200740888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DEF1EBB-0ECD-40D6-A9C1-91AF7428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②：分层架构与跨库适配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F573420-4986-4FA3-82EB-9FB8F207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3" name="band-0">
            <a:extLst xmlns:a="http://schemas.openxmlformats.org/drawingml/2006/main">
              <a:ext uri="{FF2B5EF4-FFF2-40B4-BE49-F238E27FC236}">
                <a16:creationId xmlns:a16="http://schemas.microsoft.com/office/drawing/2014/main" id="{B59CEC62-BADE-4590-A618-010DDA75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7165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FFFAA-CF9C-4E46-A452-EB121E180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177165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前端 Vue 3 + TypeScript + Vite + Pinia + Naive UI + CodeMirror 6 + ECharts</a:t>
            </a:r>
          </a:p>
        </p:txBody>
      </p:sp>
      <p:sp>
        <p:nvSpPr>
          <p:cNvPr id="5" name="band-1">
            <a:extLst xmlns:a="http://schemas.openxmlformats.org/drawingml/2006/main">
              <a:ext uri="{FF2B5EF4-FFF2-40B4-BE49-F238E27FC236}">
                <a16:creationId xmlns:a16="http://schemas.microsoft.com/office/drawing/2014/main" id="{4ECE3769-E128-435B-9AE5-28B3E7E7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47650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3CCCDD-E6D3-4C27-A51F-9F56EEF6E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247650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路由层 15 个路由模块 · 统一响应 { code, message, data }</a:t>
            </a:r>
          </a:p>
        </p:txBody>
      </p:sp>
      <p:sp>
        <p:nvSpPr>
          <p:cNvPr id="7" name="band-2">
            <a:extLst xmlns:a="http://schemas.openxmlformats.org/drawingml/2006/main">
              <a:ext uri="{FF2B5EF4-FFF2-40B4-BE49-F238E27FC236}">
                <a16:creationId xmlns:a16="http://schemas.microsoft.com/office/drawing/2014/main" id="{A0233D4D-439E-49F0-AF56-A9A66F55D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8135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570DE3-621B-4DDF-8FFE-D67FF326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318135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服务层 sql / agent / metadata / export / schedule / audit</a:t>
            </a:r>
          </a:p>
        </p:txBody>
      </p:sp>
      <p:sp>
        <p:nvSpPr>
          <p:cNvPr id="9" name="band-3">
            <a:extLst xmlns:a="http://schemas.openxmlformats.org/drawingml/2006/main">
              <a:ext uri="{FF2B5EF4-FFF2-40B4-BE49-F238E27FC236}">
                <a16:creationId xmlns:a16="http://schemas.microsoft.com/office/drawing/2014/main" id="{98C583D0-1E7C-4E89-93B2-E805B92A9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88620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A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994EE-85A4-4FBA-AC08-EF78DE36C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388620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适配层 BaseDBAdapter + registry：connect / test / metadata / execute / explain</a:t>
            </a:r>
          </a:p>
        </p:txBody>
      </p:sp>
      <p:sp>
        <p:nvSpPr>
          <p:cNvPr id="11" name="band-4">
            <a:extLst xmlns:a="http://schemas.openxmlformats.org/drawingml/2006/main">
              <a:ext uri="{FF2B5EF4-FFF2-40B4-BE49-F238E27FC236}">
                <a16:creationId xmlns:a16="http://schemas.microsoft.com/office/drawing/2014/main" id="{A84B7C79-80A2-4480-8274-B5E8DF15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591050"/>
            <a:ext cx="6667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4209C-5DEC-4FD4-9400-809A202A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4591050"/>
            <a:ext cx="63246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目标库 SQLite · MySQL · PostgreSQL · Oracle · OceanBase · GoldenDB · MongoDB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6BBC44-BE1D-4F79-8D0A-DA94B3474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771650"/>
            <a:ext cx="4441317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LLM Provider 抽象</a:t>
            </a:r>
          </a:p>
        </p:txBody>
      </p:sp>
      <p:sp>
        <p:nvSpPr>
          <p:cNvPr id="14" name="llm-0">
            <a:extLst xmlns:a="http://schemas.openxmlformats.org/drawingml/2006/main">
              <a:ext uri="{FF2B5EF4-FFF2-40B4-BE49-F238E27FC236}">
                <a16:creationId xmlns:a16="http://schemas.microsoft.com/office/drawing/2014/main" id="{2CBBB404-387C-4928-BC42-36ABF8FC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47900"/>
            <a:ext cx="4441317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B3611B-BFD7-43BB-BCBF-3C4605B9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479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OpenAI 兼容（含 Ollama /v1）</a:t>
            </a:r>
          </a:p>
        </p:txBody>
      </p:sp>
      <p:sp>
        <p:nvSpPr>
          <p:cNvPr id="16" name="llm-1">
            <a:extLst xmlns:a="http://schemas.openxmlformats.org/drawingml/2006/main">
              <a:ext uri="{FF2B5EF4-FFF2-40B4-BE49-F238E27FC236}">
                <a16:creationId xmlns:a16="http://schemas.microsoft.com/office/drawing/2014/main" id="{17908F8A-0514-4E77-97E6-95FAC8F24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4441317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238F4D-8032-4BDB-877F-D00B38A2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95275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Anthropic Claude</a:t>
            </a:r>
          </a:p>
        </p:txBody>
      </p:sp>
      <p:sp>
        <p:nvSpPr>
          <p:cNvPr id="18" name="llm-2">
            <a:extLst xmlns:a="http://schemas.openxmlformats.org/drawingml/2006/main">
              <a:ext uri="{FF2B5EF4-FFF2-40B4-BE49-F238E27FC236}">
                <a16:creationId xmlns:a16="http://schemas.microsoft.com/office/drawing/2014/main" id="{7BD670A3-779B-49C7-97C3-808612A8B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57600"/>
            <a:ext cx="4441317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73BC07-7DC1-4381-9624-59D2D9D7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4095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Ollama 本地部署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8C765-1DE0-46AE-831A-7872E469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76750"/>
            <a:ext cx="4441317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统一 chat / stream / ping 接口；缺少 Key 时立即失败，不让用户等待超时。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E79011-75E5-4CA6-B357-C9DCAF7E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5524500"/>
            <a:ext cx="11404568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同一套 Agent 工具屏蔽数据库方言差异；新增数据库只需实现一个适配器并注册。</a:t>
            </a:r>
          </a:p>
        </p:txBody>
      </p:sp>
    </p:spTree>
    <p:extLst>
      <p:ext uri="{BB962C8B-B14F-4D97-AF65-F5344CB8AC3E}">
        <p14:creationId xmlns:p14="http://schemas.microsoft.com/office/powerpoint/2010/main" val="166856306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413AF39-E054-4864-8E4E-F1D3F262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技术亮点 ③：安全、审计与可观测</a:t>
            </a:r>
          </a:p>
        </p:txBody>
      </p:sp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BF9DEFE-9D98-4AD4-81CD-2EE0539B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BCB511-DA58-474D-B2FD-66DFF87E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66850"/>
            <a:ext cx="11404568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密钥加密、分级授权、全量审计、指标暴露与测试覆盖，构成可交付的企业级完整性。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65D10-5E85-473F-B765-A8909569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276F18-9EF7-4BAA-BCF7-B08242F6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加密与认证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DE7F6-712D-4013-9DAB-AADC2216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数据库密码、SSH 私钥、AI Key 经 Fernet 加密入库，接口只返回 has_password / has_key；密码 pbkdf2 哈希，会话使用 httponly Cookie。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FE1E0-9D7C-462E-A347-B76B58A6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F028E8-659D-4C1A-AD9A-83D72114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权限与审计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C00452-43CD-4E4C-8D58-E10A960A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1232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个内置角色 + 自定义角色；READ / DML / DDL 分级授权；登录、SQL、Agent 动作全量留痕，默认保留 180 天并支持导出。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496AB-4494-487F-9ADE-D5F2A25EE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95" y="3022568"/>
            <a:ext cx="3568732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F7225-9C2E-415E-B8AF-40E694A11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213068"/>
            <a:ext cx="3149632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可观测与部署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748345-D0E8-4361-A4EA-80F5EF45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245" y="3613118"/>
            <a:ext cx="3149632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/metrics 暴露请求数、延迟与 SQL 执行次数；117 项后端测试 + Playwright E2E；Docker 多阶段构建，单端口一键启动。</a:t>
            </a:r>
          </a:p>
        </p:txBody>
      </p:sp>
    </p:spTree>
    <p:extLst>
      <p:ext uri="{BB962C8B-B14F-4D97-AF65-F5344CB8AC3E}">
        <p14:creationId xmlns:p14="http://schemas.microsoft.com/office/powerpoint/2010/main" val="13965833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C3436B9-1702-4868-9F8F-E282173C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>
            <a:defPPr algn="r"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7A9648-BEFE-4122-8ABD-D2BDA3EEA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让每个人都能安全、高效地与数据对话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FA481C4F-9E21-4BD7-BA59-A99541E0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571750"/>
            <a:ext cx="1140456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CD2740-E023-45F1-8DA4-6CD220A73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480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已完成：自然语言查询、SQL 安全执行、7 类数据源适配、图表与仪表盘、RBAC 与全量审计、监控与定时导出、Docker 一键部署。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662D2E-D571-44A8-A549-D776F8617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0525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下一步：补齐更多数据库对象支持，扩展 Agent 工具（索引建议、慢查询根因分析），增加团队协作与报表订阅。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12FCF-B774-4951-8FC8-811765AE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625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演示入口：开发模式 http://127.0.0.1:5174，Docker 模式 http://127.0.0.1:8000，账号 admin / admin123。</a:t>
            </a:r>
          </a:p>
        </p:txBody>
      </p:sp>
    </p:spTree>
    <p:extLst>
      <p:ext uri="{BB962C8B-B14F-4D97-AF65-F5344CB8AC3E}">
        <p14:creationId xmlns:p14="http://schemas.microsoft.com/office/powerpoint/2010/main" val="6604239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2026-10-13T15:09:45.2530000Z</dcterms:created>
  <dcterms:modified xsi:type="dcterms:W3CDTF">2026-10-13T15:09:45.2530000Z</dcterms:modified>
</coreProperties>
</file>