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3" r:id="rId19"/>
    <p:sldId id="274" r:id="rId20"/>
    <p:sldId id="275" r:id="rId2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开场控制在 15 秒内：这是一个前后端分离、AI Agent 驱动的数据库查询与运维工作台。</a:t>
            </a:r>
          </a:p>
          <a:p>
            <a:r>
              <a:t>一句话说清用户价值：不会 SQL 的人也能查询，会 SQL 的人更快。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先给观众一个清晰的路线图：从为什么做，到产品能力、技术亮点，再到工程治理。</a:t>
            </a:r>
          </a:p>
          <a:p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 DataMind 不只是 SQL 编辑器，而是从连接到查询、分析、报表、审计的完整闭环。</a:t>
            </a:r>
          </a:p>
          <a:p>
            <a:r>
              <a:t>与常见客户端工具的核心差异：内置 AI Agent、Web 化协作、权限与审计。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用真实工作流举例：产品经理打开网页，输入“本月新增用户按日分组”，系统生成 SQL、返回结果，并可一键生成图表。</a:t>
            </a:r>
          </a:p>
          <a:p>
            <a:r>
              <a:t>不要逐条念，重点突出从“会写 SQL”到“会描述需求”的降低门槛。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功能模块不是孤立存在，而是围绕“查询—分析—报表—管理”闭环组织。</a:t>
            </a:r>
          </a:p>
          <a:p>
            <a:r>
              <a:t>补充工程化细节：定时导出、审计保留期自动清理。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 Agent 能力的层次：不只是生成 SQL，还包括 Schema 感知、多轮对话、解释优化和流式输出。</a:t>
            </a:r>
          </a:p>
          <a:p>
            <a:r>
              <a:t>下一页会展开工程实现中的工具调用与失败重试。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重点讲“工具调用 + 失败重试 + few-shot”，这是 AI 编程竞赛最看重的工程深度。</a:t>
            </a:r>
          </a:p>
          <a:p>
            <a:r>
              <a:t>现场演示：输入“查询本月新增用户数并按日分组”，展示思考过程、SQL、结果和图表生成。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这是项目的信任基础：让 AI 能生成 SQL，但不让 AI 拥有不受控的写权限。</a:t>
            </a:r>
          </a:p>
          <a:p>
            <a:r>
              <a:t>可对比“直接给 AI 数据库权限”的传统做法，突出安全设计。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SQL 工作台解决“效率”问题：多 Tab、对象树、执行历史和结果集编辑减少重复操作。</a:t>
            </a:r>
          </a:p>
          <a:p>
            <a:r>
              <a:t>结果集直接编辑仍然复用 execute_sql，自动完成分类、鉴权与审计。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 DDL 提取已经按数据库方言实现：MySQL SHOW CREATE、PostgreSQL pg_get_functiondef、Oracle dbms_metadata。</a:t>
            </a:r>
          </a:p>
          <a:p>
            <a:r>
              <a:t>表结构对比用于变更审计，也是运维监控的一部分。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重点讲“同一套 Agent 工具如何屏蔽数据库方言差异”。</a:t>
            </a:r>
          </a:p>
          <a:p>
            <a:r>
              <a:t>例如获取表结构在不同数据库里调用不同 SQL，但上层服务无感知。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报表模块让查询结果不止停留在表格里，而是可以直接形成可复用的看板。</a:t>
            </a:r>
          </a:p>
          <a:p>
            <a:r>
              <a:t>大屏模式适合项目路演和监控展示场景。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重点讲 Provider 抽象：OpenAICompatProvider 与 ClaudeProvider 统一 chat / stream / ping。</a:t>
            </a:r>
          </a:p>
          <a:p>
            <a:r>
              <a:t>未配置 Key 时 validate 快速失败，不会等待 SDK 超时。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权限模型是用户 → 角色 → permissions（JSON），admin 角色为 [*]。</a:t>
            </a:r>
          </a:p>
          <a:p>
            <a:r>
              <a:t>重点说明 SQL 操作不是粗粒度开关，而是 READ / DML / DDL 分别授权。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审计与监控是系统可治理的体现，也是企业级部署的关键。</a:t>
            </a:r>
          </a:p>
          <a:p>
            <a:r>
              <a:t>强调审计导出与自动清理，以及 Prometheus 指标对运维友好。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现场按“智能查询 → 结果转图表 → 保存报表 → 审计日志”顺序演示。</a:t>
            </a:r>
          </a:p>
          <a:p>
            <a:r>
              <a:t>如果时间有限，优先演示 AI Agent 和写操作确认弹窗。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挑 2–3 个最有差异化的点展开，例如“失败自动修正重试”和“写操作确认协议”。</a:t>
            </a:r>
          </a:p>
          <a:p>
            <a:r>
              <a:t>表明团队不是简单调用大模型，而是做了可靠的工程封装。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最后回到用户价值：让每个人都能安全、高效地与数据对话。</a:t>
            </a:r>
          </a:p>
          <a:p>
            <a:r>
              <a:t>预留 Q&amp;A：准备数据安全、AI 准确率、与现有数据库工具差异三个常见问题。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1224"/>
            </a:gs>
            <a:gs pos="56000">
              <a:srgbClr val="0A2A5E"/>
            </a:gs>
            <a:gs pos="100000">
              <a:srgbClr val="0B5FFF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3" name="cover-glow"/>
          <p:cNvSpPr>
            <a:spLocks noGrp="1"/>
          </p:cNvSpPr>
          <p:nvPr/>
        </p:nvSpPr>
        <p:spPr>
          <a:xfrm>
            <a:off x="7429500" y="571500"/>
            <a:ext cx="4095750" cy="4095750"/>
          </a:xfrm>
          <a:prstGeom prst="roundRect">
            <a:avLst>
              <a:gd name="adj" fmla="val 50000"/>
            </a:avLst>
          </a:prstGeom>
          <a:solidFill>
            <a:srgbClr val="22C55E">
              <a:alpha val="8000"/>
            </a:srgbClr>
          </a:solidFill>
          <a:ln w="0">
            <a:noFill/>
            <a:prstDash val="solid"/>
          </a:ln>
        </p:spPr>
      </p:sp>
      <p:sp>
        <p:nvSpPr>
          <p:cNvPr id="3" name="cover-title"/>
          <p:cNvSpPr>
            <a:spLocks noGrp="1"/>
          </p:cNvSpPr>
          <p:nvPr/>
        </p:nvSpPr>
        <p:spPr>
          <a:xfrm>
            <a:off x="857250" y="1695450"/>
            <a:ext cx="685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</a:t>
            </a:r>
            <a:endParaRPr sz="4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cover-subtitle"/>
          <p:cNvSpPr>
            <a:spLocks noGrp="1"/>
          </p:cNvSpPr>
          <p:nvPr/>
        </p:nvSpPr>
        <p:spPr>
          <a:xfrm>
            <a:off x="914400" y="2781300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 Agent Web 应用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cover-claim"/>
          <p:cNvSpPr>
            <a:spLocks noGrp="1"/>
          </p:cNvSpPr>
          <p:nvPr/>
        </p:nvSpPr>
        <p:spPr>
          <a:xfrm>
            <a:off x="914400" y="335280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500" b="0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00" b="0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让不会写 </a:t>
            </a:r>
            <a:r>
              <a:rPr lang="en-US" altLang="zh-CN" sz="1500" b="0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 </a:t>
            </a:r>
            <a:r>
              <a:rPr lang="zh-CN" altLang="en-US" sz="1500" b="0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的业务人员也能安全地查数据，会写 </a:t>
            </a:r>
            <a:r>
              <a:rPr lang="en-US" altLang="zh-CN" sz="1500" b="0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 </a:t>
            </a:r>
            <a:r>
              <a:rPr lang="zh-CN" altLang="en-US" sz="1500" b="0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的技术人员更</a:t>
            </a:r>
            <a:r>
              <a:rPr lang="zh-CN" altLang="en-US" sz="1500" b="0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高效。</a:t>
            </a:r>
            <a:endParaRPr lang="zh-CN" altLang="en-US" sz="1500" b="0">
              <a:solidFill>
                <a:srgbClr val="DBEA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over-tag-0"/>
          <p:cNvSpPr>
            <a:spLocks noGrp="1"/>
          </p:cNvSpPr>
          <p:nvPr/>
        </p:nvSpPr>
        <p:spPr>
          <a:xfrm>
            <a:off x="914400" y="41529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Agent</a:t>
            </a:r>
            <a:endParaRPr sz="1200" b="1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cover-tag-line-0"/>
          <p:cNvSpPr>
            <a:spLocks noGrp="1"/>
          </p:cNvSpPr>
          <p:nvPr/>
        </p:nvSpPr>
        <p:spPr>
          <a:xfrm>
            <a:off x="914400" y="4476750"/>
            <a:ext cx="381000" cy="2857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8" name="cover-tag-1"/>
          <p:cNvSpPr>
            <a:spLocks noGrp="1"/>
          </p:cNvSpPr>
          <p:nvPr/>
        </p:nvSpPr>
        <p:spPr>
          <a:xfrm>
            <a:off x="3124200" y="41529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Multi-Database</a:t>
            </a:r>
            <a:endParaRPr sz="1200" b="1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ver-tag-line-1"/>
          <p:cNvSpPr>
            <a:spLocks noGrp="1"/>
          </p:cNvSpPr>
          <p:nvPr/>
        </p:nvSpPr>
        <p:spPr>
          <a:xfrm>
            <a:off x="3124200" y="4476750"/>
            <a:ext cx="381000" cy="2857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10" name="cover-tag-2"/>
          <p:cNvSpPr>
            <a:spLocks noGrp="1"/>
          </p:cNvSpPr>
          <p:nvPr/>
        </p:nvSpPr>
        <p:spPr>
          <a:xfrm>
            <a:off x="5334000" y="41529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Security First</a:t>
            </a:r>
            <a:endParaRPr sz="1200" b="1">
              <a:solidFill>
                <a:srgbClr val="93C5F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over-tag-line-2"/>
          <p:cNvSpPr>
            <a:spLocks noGrp="1"/>
          </p:cNvSpPr>
          <p:nvPr/>
        </p:nvSpPr>
        <p:spPr>
          <a:xfrm>
            <a:off x="5334000" y="4476750"/>
            <a:ext cx="381000" cy="28575"/>
          </a:xfrm>
          <a:prstGeom prst="rect">
            <a:avLst/>
          </a:prstGeom>
          <a:solidFill>
            <a:srgbClr val="22C55E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</a:t>
            </a:r>
            <a:r>
              <a:rPr lang="en-US" altLang="zh-CN"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</a:t>
            </a:r>
            <a:endParaRPr lang="zh-CN" sz="26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genda-num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400" y="16954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34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genda-title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190750" y="17526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为什么做</a:t>
            </a:r>
            <a:endParaRPr sz="1950" b="1">
              <a:solidFill>
                <a:srgbClr val="0B18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genda-desc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90750" y="21336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定位、目标用户与真实痛点</a:t>
            </a:r>
            <a:endParaRPr sz="127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genda-line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14400" y="2552700"/>
            <a:ext cx="93345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1" name="agenda-num-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14400" y="27622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34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agenda-title-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190750" y="28194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产品能力</a:t>
            </a:r>
            <a:endParaRPr sz="1950" b="1">
              <a:solidFill>
                <a:srgbClr val="0B18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genda-desc-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190750" y="32004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查询、SQL 工作台、报表、元数据</a:t>
            </a:r>
            <a:endParaRPr sz="127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genda-line-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14400" y="3619500"/>
            <a:ext cx="93345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5" name="agenda-num-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14400" y="38290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34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agenda-title-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190750" y="38862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技术亮点</a:t>
            </a:r>
            <a:endParaRPr sz="1950" b="1">
              <a:solidFill>
                <a:srgbClr val="0B18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agenda-desc-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190750" y="42672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genda-line-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14400" y="4686300"/>
            <a:ext cx="93345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9" name="agenda-num-3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14400" y="48958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34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agenda-title-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2190750" y="49530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工程与治理</a:t>
            </a:r>
            <a:endParaRPr sz="1950" b="1">
              <a:solidFill>
                <a:srgbClr val="0B18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agenda-desc-3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2190750" y="53340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RBAC、审计、监控</a:t>
            </a:r>
            <a:endParaRPr sz="127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项目定位</a:t>
            </a:r>
            <a:endParaRPr sz="10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一个工具，覆盖从查询到报表的完整数据链路</a:t>
            </a:r>
            <a:endParaRPr sz="26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ositioning-intro"/>
          <p:cNvSpPr>
            <a:spLocks noGrp="1"/>
          </p:cNvSpPr>
          <p:nvPr/>
        </p:nvSpPr>
        <p:spPr>
          <a:xfrm>
            <a:off x="685800" y="1504950"/>
            <a:ext cx="4762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lnSpc>
                <a:spcPct val="150000"/>
              </a:lnSpc>
              <a:buNone/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是一款</a:t>
            </a:r>
            <a:r>
              <a:rPr lang="zh-CN"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</a:t>
            </a:r>
            <a:r>
              <a: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 Agent Web 应用。</a:t>
            </a:r>
            <a:endParaRPr lang="en-US" altLang="zh-CN" sz="135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用户可以用自然语言提问，也可以使用传统 SQL 编辑器完成查询、表结构管理、性能分析和报表导出。</a:t>
            </a:r>
            <a:endParaRPr sz="135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positioning-values"/>
          <p:cNvSpPr>
            <a:spLocks noGrp="1"/>
          </p:cNvSpPr>
          <p:nvPr/>
        </p:nvSpPr>
        <p:spPr>
          <a:xfrm>
            <a:off x="685800" y="3049270"/>
            <a:ext cx="5064760" cy="23901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150000"/>
              </a:lnSpc>
              <a:spcBef>
                <a:spcPts val="15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80" b="1">
                <a:solidFill>
                  <a:srgbClr val="0B1830"/>
                </a:solidFill>
              </a:rPr>
              <a:t>AI 驱动：</a:t>
            </a:r>
            <a:r>
              <a:rPr sz="1380">
                <a:solidFill>
                  <a:srgbClr val="475569"/>
                </a:solidFill>
              </a:rPr>
              <a:t>自然语言生成 SQL、解释与优化建议</a:t>
            </a:r>
            <a:endParaRPr sz="1380">
              <a:solidFill>
                <a:srgbClr val="475569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80" b="1">
                <a:solidFill>
                  <a:srgbClr val="0B1830"/>
                </a:solidFill>
              </a:rPr>
              <a:t>多数据库统一：</a:t>
            </a:r>
            <a:r>
              <a:rPr lang="zh-CN" sz="1380">
                <a:solidFill>
                  <a:srgbClr val="475569"/>
                </a:solidFill>
                <a:sym typeface="+mn-ea"/>
              </a:rPr>
              <a:t>支持</a:t>
            </a:r>
            <a:r>
              <a:rPr lang="en-US" altLang="zh-CN" sz="1380">
                <a:solidFill>
                  <a:srgbClr val="475569"/>
                </a:solidFill>
                <a:sym typeface="+mn-ea"/>
              </a:rPr>
              <a:t>SQLite / MySQL / PostgreSQL / Oracle / MongoDB / OceanBase / GoldenDB</a:t>
            </a:r>
            <a:r>
              <a:rPr lang="zh-CN" altLang="en-US" sz="1380">
                <a:solidFill>
                  <a:srgbClr val="475569"/>
                </a:solidFill>
                <a:sym typeface="+mn-ea"/>
              </a:rPr>
              <a:t>多种数据库。</a:t>
            </a:r>
            <a:endParaRPr sz="1380">
              <a:solidFill>
                <a:srgbClr val="475569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15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80" b="1">
                <a:solidFill>
                  <a:srgbClr val="0B1830"/>
                </a:solidFill>
              </a:rPr>
              <a:t>高效工作台：</a:t>
            </a:r>
            <a:r>
              <a:rPr sz="1380">
                <a:solidFill>
                  <a:srgbClr val="475569"/>
                </a:solidFill>
              </a:rPr>
              <a:t>编辑器、元数据、导出、报表面板一体化</a:t>
            </a:r>
            <a:endParaRPr sz="1380">
              <a:solidFill>
                <a:srgbClr val="475569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15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80" b="1">
                <a:solidFill>
                  <a:srgbClr val="0B1830"/>
                </a:solidFill>
              </a:rPr>
              <a:t>轻量可扩展：</a:t>
            </a:r>
            <a:r>
              <a:rPr sz="1380">
                <a:solidFill>
                  <a:srgbClr val="475569"/>
                </a:solidFill>
              </a:rPr>
              <a:t>Python 后端与插件化适配器，便于二次开发</a:t>
            </a:r>
            <a:endParaRPr sz="1380">
              <a:solidFill>
                <a:srgbClr val="475569"/>
              </a:solidFill>
            </a:endParaRPr>
          </a:p>
        </p:txBody>
      </p:sp>
      <p:graphicFrame>
        <p:nvGraphicFramePr>
          <p:cNvPr id="18" name="表格 17"/>
          <p:cNvGraphicFramePr/>
          <p:nvPr/>
        </p:nvGraphicFramePr>
        <p:xfrm>
          <a:off x="5905500" y="1504950"/>
          <a:ext cx="5600700" cy="3143250"/>
        </p:xfrm>
        <a:graphic>
          <a:graphicData uri="http://schemas.openxmlformats.org/drawingml/2006/table">
            <a:tbl>
              <a:tblPr firstRow="1" bandRow="1"/>
              <a:tblGrid>
                <a:gridCol w="1866900"/>
                <a:gridCol w="1866900"/>
                <a:gridCol w="1866900"/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核心需求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典型场景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后端开发者</a:t>
                      </a:r>
                      <a:endParaRPr sz="112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快速查数、编写与优化 SQL</a:t>
                      </a:r>
                      <a:endParaRPr sz="112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日常开发、数据排障</a:t>
                      </a:r>
                      <a:endParaRPr sz="112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DBA / 管理员</a:t>
                      </a:r>
                      <a:endParaRPr sz="112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多实例管理与变更监控</a:t>
                      </a:r>
                      <a:endParaRPr sz="112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运维、变更审计</a:t>
                      </a:r>
                      <a:endParaRPr sz="112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数据分析师</a:t>
                      </a:r>
                      <a:endParaRPr sz="112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自然语言取数、可视化</a:t>
                      </a:r>
                      <a:endParaRPr sz="112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数据探索、报表制作</a:t>
                      </a:r>
                      <a:endParaRPr sz="112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产品经理</a:t>
                      </a:r>
                      <a:endParaRPr sz="112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不熟悉 SQL 也要看数据</a:t>
                      </a:r>
                      <a:endParaRPr sz="112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辅助决策、简单分析</a:t>
                      </a:r>
                      <a:endParaRPr sz="112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为什么需要 DataMind</a:t>
            </a:r>
            <a:endParaRPr sz="10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把高门槛、高风险的数据工作，变成安全可控的对话</a:t>
            </a:r>
            <a:endParaRPr sz="26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pain-surface"/>
          <p:cNvSpPr>
            <a:spLocks noGrp="1"/>
          </p:cNvSpPr>
          <p:nvPr/>
        </p:nvSpPr>
        <p:spPr>
          <a:xfrm>
            <a:off x="685800" y="1524000"/>
            <a:ext cx="521970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pain-title"/>
          <p:cNvSpPr>
            <a:spLocks noGrp="1"/>
          </p:cNvSpPr>
          <p:nvPr/>
        </p:nvSpPr>
        <p:spPr>
          <a:xfrm>
            <a:off x="990600" y="1809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常见痛点</a:t>
            </a:r>
            <a:endParaRPr sz="1800" b="1">
              <a:solidFill>
                <a:srgbClr val="B91C1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ain-list"/>
          <p:cNvSpPr>
            <a:spLocks noGrp="1"/>
          </p:cNvSpPr>
          <p:nvPr/>
        </p:nvSpPr>
        <p:spPr>
          <a:xfrm>
            <a:off x="990600" y="2324100"/>
            <a:ext cx="46101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业务人员不会写 SQL，取数依赖技术同事</a:t>
            </a:r>
            <a:endParaRPr sz="1600"/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数据库类型多，不同工具反复切换</a:t>
            </a:r>
            <a:endParaRPr sz="1600"/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AI 生成 SQL 存在误操作与越权风险</a:t>
            </a:r>
            <a:endParaRPr sz="1600"/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查询结果难以沉淀为报表与文档</a:t>
            </a:r>
            <a:endParaRPr sz="1600"/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/>
              <a:t>敏感数据与用户操作缺少权限和审计</a:t>
            </a:r>
            <a:endParaRPr sz="1600"/>
          </a:p>
        </p:txBody>
      </p:sp>
      <p:sp>
        <p:nvSpPr>
          <p:cNvPr id="10" name="solution-surface"/>
          <p:cNvSpPr>
            <a:spLocks noGrp="1"/>
          </p:cNvSpPr>
          <p:nvPr/>
        </p:nvSpPr>
        <p:spPr>
          <a:xfrm>
            <a:off x="6286500" y="1524000"/>
            <a:ext cx="521970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solution-title"/>
          <p:cNvSpPr>
            <a:spLocks noGrp="1"/>
          </p:cNvSpPr>
          <p:nvPr/>
        </p:nvSpPr>
        <p:spPr>
          <a:xfrm>
            <a:off x="6591300" y="1809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的解法</a:t>
            </a:r>
            <a:endParaRPr sz="18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olution-list"/>
          <p:cNvSpPr>
            <a:spLocks noGrp="1"/>
          </p:cNvSpPr>
          <p:nvPr/>
        </p:nvSpPr>
        <p:spPr>
          <a:xfrm>
            <a:off x="6591300" y="2324100"/>
            <a:ext cx="46101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5FFF"/>
                </a:solidFill>
              </a:rPr>
              <a:t>自然语言查询：</a:t>
            </a:r>
            <a:r>
              <a:rPr sz="1600">
                <a:solidFill>
                  <a:srgbClr val="334155"/>
                </a:solidFill>
              </a:rPr>
              <a:t>输入问题，自动生成 SQL、执行并可视化</a:t>
            </a:r>
            <a:endParaRPr sz="1600">
              <a:solidFill>
                <a:srgbClr val="334155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5FFF"/>
                </a:solidFill>
              </a:rPr>
              <a:t>统一适配层：</a:t>
            </a:r>
            <a:r>
              <a:rPr sz="1600">
                <a:solidFill>
                  <a:srgbClr val="334155"/>
                </a:solidFill>
              </a:rPr>
              <a:t>屏蔽多数据库方言差异</a:t>
            </a:r>
            <a:endParaRPr sz="1600">
              <a:solidFill>
                <a:srgbClr val="334155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5FFF"/>
                </a:solidFill>
              </a:rPr>
              <a:t>分级安全执行：</a:t>
            </a:r>
            <a:r>
              <a:rPr sz="1600">
                <a:solidFill>
                  <a:srgbClr val="334155"/>
                </a:solidFill>
              </a:rPr>
              <a:t>只读自动、写操作确认、DDL 高危提示</a:t>
            </a:r>
            <a:endParaRPr sz="1600">
              <a:solidFill>
                <a:srgbClr val="334155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5FFF"/>
                </a:solidFill>
              </a:rPr>
              <a:t>报表与大屏：</a:t>
            </a:r>
            <a:r>
              <a:rPr sz="1600">
                <a:solidFill>
                  <a:srgbClr val="334155"/>
                </a:solidFill>
              </a:rPr>
              <a:t>结果一键沉淀为图表、仪表盘、分享页</a:t>
            </a:r>
            <a:endParaRPr sz="1600">
              <a:solidFill>
                <a:srgbClr val="334155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5FFF"/>
                </a:solidFill>
              </a:rPr>
              <a:t>RBAC + 审计：</a:t>
            </a:r>
            <a:r>
              <a:rPr sz="1600">
                <a:solidFill>
                  <a:srgbClr val="334155"/>
                </a:solidFill>
              </a:rPr>
              <a:t>细粒度权限、全量留痕、可导出</a:t>
            </a:r>
            <a:endParaRPr sz="160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功能全景</a:t>
            </a:r>
            <a:endParaRPr sz="10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围绕数据工作流组织，而不是功能堆砌</a:t>
            </a:r>
            <a:endParaRPr sz="26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features-left"/>
          <p:cNvSpPr>
            <a:spLocks noGrp="1"/>
          </p:cNvSpPr>
          <p:nvPr/>
        </p:nvSpPr>
        <p:spPr>
          <a:xfrm>
            <a:off x="901065" y="1853565"/>
            <a:ext cx="9458325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5FFF"/>
                </a:solidFill>
              </a:rPr>
              <a:t>连接管理：</a:t>
            </a:r>
            <a:r>
              <a:rPr sz="1600">
                <a:solidFill>
                  <a:srgbClr val="475569"/>
                </a:solidFill>
              </a:rPr>
              <a:t>数据源 CRUD、连接测试、SSH 隧道、环境标签、密码加密</a:t>
            </a:r>
            <a:endParaRPr sz="1600">
              <a:solidFill>
                <a:srgbClr val="475569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5FFF"/>
                </a:solidFill>
              </a:rPr>
              <a:t>SQL 工作台：</a:t>
            </a:r>
            <a:r>
              <a:rPr sz="1600">
                <a:solidFill>
                  <a:srgbClr val="475569"/>
                </a:solidFill>
              </a:rPr>
              <a:t>多 Tab 编辑器、对象树、执行历史、结果分页/导出/直接编辑</a:t>
            </a:r>
            <a:endParaRPr sz="1600">
              <a:solidFill>
                <a:srgbClr val="475569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5FFF"/>
                </a:solidFill>
              </a:rPr>
              <a:t>元数据管理：</a:t>
            </a:r>
            <a:r>
              <a:rPr sz="1600">
                <a:solidFill>
                  <a:srgbClr val="475569"/>
                </a:solidFill>
              </a:rPr>
              <a:t>表/列/索引/DDL/视图/函数/存储过程/触发器/序列</a:t>
            </a:r>
            <a:endParaRPr sz="1600">
              <a:solidFill>
                <a:srgbClr val="475569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5FFF"/>
                </a:solidFill>
              </a:rPr>
              <a:t>AI Agent：</a:t>
            </a:r>
            <a:r>
              <a:rPr sz="1600">
                <a:solidFill>
                  <a:srgbClr val="475569"/>
                </a:solidFill>
              </a:rPr>
              <a:t>NL→SQL、解释优化、多轮会话、工具调用、写操作授权、自动修正</a:t>
            </a:r>
            <a:endParaRPr sz="1600">
              <a:solidFill>
                <a:srgbClr val="475569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2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5FFF"/>
                </a:solidFill>
                <a:sym typeface="+mn-ea"/>
              </a:rPr>
              <a:t>文档导出：</a:t>
            </a:r>
            <a:r>
              <a:rPr sz="1600">
                <a:solidFill>
                  <a:srgbClr val="475569"/>
                </a:solidFill>
                <a:sym typeface="+mn-ea"/>
              </a:rPr>
              <a:t>CSV/JSON/Excel；库文档 Word/Markdown/HTML 异步导出</a:t>
            </a:r>
            <a:endParaRPr sz="1600">
              <a:solidFill>
                <a:srgbClr val="475569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2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5FFF"/>
                </a:solidFill>
                <a:sym typeface="+mn-ea"/>
              </a:rPr>
              <a:t>可视化报表：</a:t>
            </a:r>
            <a:r>
              <a:rPr sz="1600">
                <a:solidFill>
                  <a:srgbClr val="475569"/>
                </a:solidFill>
                <a:sym typeface="+mn-ea"/>
              </a:rPr>
              <a:t>图表 CRUD、仪表盘、分享链接、大屏模式</a:t>
            </a:r>
            <a:endParaRPr sz="1600">
              <a:solidFill>
                <a:srgbClr val="475569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2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5FFF"/>
                </a:solidFill>
                <a:sym typeface="+mn-ea"/>
              </a:rPr>
              <a:t>系统管理：</a:t>
            </a:r>
            <a:r>
              <a:rPr sz="1600">
                <a:solidFill>
                  <a:srgbClr val="475569"/>
                </a:solidFill>
                <a:sym typeface="+mn-ea"/>
              </a:rPr>
              <a:t>大模型配置、偏好设置、用户角色、审计、定时导出</a:t>
            </a:r>
            <a:endParaRPr sz="1600">
              <a:solidFill>
                <a:srgbClr val="475569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2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5FFF"/>
                </a:solidFill>
                <a:sym typeface="+mn-ea"/>
              </a:rPr>
              <a:t>运维监控：</a:t>
            </a:r>
            <a:r>
              <a:rPr sz="1600">
                <a:solidFill>
                  <a:srgbClr val="475569"/>
                </a:solidFill>
                <a:sym typeface="+mn-ea"/>
              </a:rPr>
              <a:t>连接概览、慢查询、表结构对比、Prometheus 指标</a:t>
            </a:r>
            <a:endParaRPr sz="1600">
              <a:solidFill>
                <a:srgbClr val="475569"/>
              </a:solidFill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>
              <a:solidFill>
                <a:srgbClr val="475569"/>
              </a:solidFill>
            </a:endParaRPr>
          </a:p>
        </p:txBody>
      </p:sp>
      <p:sp>
        <p:nvSpPr>
          <p:cNvPr id="8" name="features-right"/>
          <p:cNvSpPr>
            <a:spLocks noGrp="1"/>
          </p:cNvSpPr>
          <p:nvPr/>
        </p:nvSpPr>
        <p:spPr>
          <a:xfrm>
            <a:off x="6286500" y="1638300"/>
            <a:ext cx="52197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marL="0" indent="0" algn="l">
              <a:spcBef>
                <a:spcPts val="2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核心亮点 · AI Agent</a:t>
            </a:r>
            <a:endParaRPr sz="10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把自然语言变成可信、可解释、可执行的 SQL</a:t>
            </a:r>
            <a:endParaRPr sz="26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gent-overview-intro"/>
          <p:cNvSpPr>
            <a:spLocks noGrp="1"/>
          </p:cNvSpPr>
          <p:nvPr/>
        </p:nvSpPr>
        <p:spPr>
          <a:xfrm>
            <a:off x="685800" y="1504950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不是简单调用大模型，而是围绕 Schema、工具与安全策略构建的查询推理系统。</a:t>
            </a:r>
            <a:endParaRPr sz="135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685800" y="2095500"/>
          <a:ext cx="10820400" cy="3429000"/>
        </p:xfrm>
        <a:graphic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价值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自然语言 → SQL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输入问题，自动生成对应 SQL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降低取数门槛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Schema 感知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自动获取表结构作为上下文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提升生成准确率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多轮对话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保留上下文，可追问与调整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更自然的交互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SQL 解释与优化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解释含义、分析执行计划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帮助理解与调优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流式输出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SSE 实时返回思考过程与结果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体验透明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执行链路</a:t>
            </a:r>
            <a:endParaRPr sz="10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 + 失败重试 + few-shot，让结果更可靠</a:t>
            </a:r>
            <a:endParaRPr sz="26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gent-node-0"/>
          <p:cNvSpPr>
            <a:spLocks noGrp="1"/>
          </p:cNvSpPr>
          <p:nvPr/>
        </p:nvSpPr>
        <p:spPr>
          <a:xfrm>
            <a:off x="685800" y="2857500"/>
            <a:ext cx="1809750" cy="704850"/>
          </a:xfrm>
          <a:prstGeom prst="roundRect">
            <a:avLst>
              <a:gd name="adj" fmla="val 16216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agent-node-title-0"/>
          <p:cNvSpPr>
            <a:spLocks noGrp="1"/>
          </p:cNvSpPr>
          <p:nvPr/>
        </p:nvSpPr>
        <p:spPr>
          <a:xfrm>
            <a:off x="800100" y="299085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用户提问</a:t>
            </a:r>
            <a:endParaRPr sz="1500" b="1">
              <a:solidFill>
                <a:srgbClr val="0B18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gent-node-desc-0"/>
          <p:cNvSpPr>
            <a:spLocks noGrp="1"/>
          </p:cNvSpPr>
          <p:nvPr/>
        </p:nvSpPr>
        <p:spPr>
          <a:xfrm>
            <a:off x="781050" y="32956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自然语言描述需求</a:t>
            </a:r>
            <a:endParaRPr sz="97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gent-arrow-0"/>
          <p:cNvSpPr>
            <a:spLocks noGrp="1"/>
          </p:cNvSpPr>
          <p:nvPr/>
        </p:nvSpPr>
        <p:spPr>
          <a:xfrm>
            <a:off x="2533650" y="3086100"/>
            <a:ext cx="209550" cy="247650"/>
          </a:xfrm>
          <a:prstGeom prst="rightArrow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11" name="agent-node-1"/>
          <p:cNvSpPr>
            <a:spLocks noGrp="1"/>
          </p:cNvSpPr>
          <p:nvPr/>
        </p:nvSpPr>
        <p:spPr>
          <a:xfrm>
            <a:off x="2781300" y="2857500"/>
            <a:ext cx="1809750" cy="704850"/>
          </a:xfrm>
          <a:prstGeom prst="roundRect">
            <a:avLst>
              <a:gd name="adj" fmla="val 16216"/>
            </a:avLst>
          </a:prstGeom>
          <a:solidFill>
            <a:srgbClr val="0B5FFF"/>
          </a:solidFill>
          <a:ln w="9525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agent-node-title-1"/>
          <p:cNvSpPr>
            <a:spLocks noGrp="1"/>
          </p:cNvSpPr>
          <p:nvPr/>
        </p:nvSpPr>
        <p:spPr>
          <a:xfrm>
            <a:off x="2895600" y="299085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推理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gent-node-desc-1"/>
          <p:cNvSpPr>
            <a:spLocks noGrp="1"/>
          </p:cNvSpPr>
          <p:nvPr/>
        </p:nvSpPr>
        <p:spPr>
          <a:xfrm>
            <a:off x="2876550" y="32956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 感知 + 历史 few-shot</a:t>
            </a:r>
            <a:endParaRPr sz="975" b="0">
              <a:solidFill>
                <a:srgbClr val="DBEA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gent-arrow-1"/>
          <p:cNvSpPr>
            <a:spLocks noGrp="1"/>
          </p:cNvSpPr>
          <p:nvPr/>
        </p:nvSpPr>
        <p:spPr>
          <a:xfrm>
            <a:off x="4629150" y="3086100"/>
            <a:ext cx="209550" cy="247650"/>
          </a:xfrm>
          <a:prstGeom prst="rightArrow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15" name="agent-node-2"/>
          <p:cNvSpPr>
            <a:spLocks noGrp="1"/>
          </p:cNvSpPr>
          <p:nvPr/>
        </p:nvSpPr>
        <p:spPr>
          <a:xfrm>
            <a:off x="4876800" y="2857500"/>
            <a:ext cx="1809750" cy="704850"/>
          </a:xfrm>
          <a:prstGeom prst="roundRect">
            <a:avLst>
              <a:gd name="adj" fmla="val 16216"/>
            </a:avLst>
          </a:prstGeom>
          <a:solidFill>
            <a:srgbClr val="0B5FFF"/>
          </a:solidFill>
          <a:ln w="9525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agent-node-title-2"/>
          <p:cNvSpPr>
            <a:spLocks noGrp="1"/>
          </p:cNvSpPr>
          <p:nvPr/>
        </p:nvSpPr>
        <p:spPr>
          <a:xfrm>
            <a:off x="4991100" y="299085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agent-node-desc-2"/>
          <p:cNvSpPr>
            <a:spLocks noGrp="1"/>
          </p:cNvSpPr>
          <p:nvPr/>
        </p:nvSpPr>
        <p:spPr>
          <a:xfrm>
            <a:off x="4972050" y="32956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表结构 / 采样 / EXPLAIN</a:t>
            </a:r>
            <a:endParaRPr sz="975" b="0">
              <a:solidFill>
                <a:srgbClr val="DBEA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gent-arrow-2"/>
          <p:cNvSpPr>
            <a:spLocks noGrp="1"/>
          </p:cNvSpPr>
          <p:nvPr/>
        </p:nvSpPr>
        <p:spPr>
          <a:xfrm>
            <a:off x="6724650" y="3086100"/>
            <a:ext cx="209550" cy="247650"/>
          </a:xfrm>
          <a:prstGeom prst="rightArrow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19" name="agent-node-3"/>
          <p:cNvSpPr>
            <a:spLocks noGrp="1"/>
          </p:cNvSpPr>
          <p:nvPr/>
        </p:nvSpPr>
        <p:spPr>
          <a:xfrm>
            <a:off x="6972300" y="2857500"/>
            <a:ext cx="1809750" cy="704850"/>
          </a:xfrm>
          <a:prstGeom prst="roundRect">
            <a:avLst>
              <a:gd name="adj" fmla="val 16216"/>
            </a:avLst>
          </a:prstGeom>
          <a:solidFill>
            <a:srgbClr val="0B5FFF"/>
          </a:solidFill>
          <a:ln w="9525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agent-node-title-3"/>
          <p:cNvSpPr>
            <a:spLocks noGrp="1"/>
          </p:cNvSpPr>
          <p:nvPr/>
        </p:nvSpPr>
        <p:spPr>
          <a:xfrm>
            <a:off x="7086600" y="299085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 SQL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agent-node-desc-3"/>
          <p:cNvSpPr>
            <a:spLocks noGrp="1"/>
          </p:cNvSpPr>
          <p:nvPr/>
        </p:nvSpPr>
        <p:spPr>
          <a:xfrm>
            <a:off x="7067550" y="32956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只读查询或写操作</a:t>
            </a:r>
            <a:endParaRPr sz="975" b="0">
              <a:solidFill>
                <a:srgbClr val="DBEAF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agent-arrow-3"/>
          <p:cNvSpPr>
            <a:spLocks noGrp="1"/>
          </p:cNvSpPr>
          <p:nvPr/>
        </p:nvSpPr>
        <p:spPr>
          <a:xfrm>
            <a:off x="8820150" y="3086100"/>
            <a:ext cx="209550" cy="247650"/>
          </a:xfrm>
          <a:prstGeom prst="rightArrow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23" name="agent-node-4"/>
          <p:cNvSpPr>
            <a:spLocks noGrp="1"/>
          </p:cNvSpPr>
          <p:nvPr/>
        </p:nvSpPr>
        <p:spPr>
          <a:xfrm>
            <a:off x="9067800" y="2857500"/>
            <a:ext cx="1809750" cy="704850"/>
          </a:xfrm>
          <a:prstGeom prst="roundRect">
            <a:avLst>
              <a:gd name="adj" fmla="val 16216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agent-node-title-4"/>
          <p:cNvSpPr>
            <a:spLocks noGrp="1"/>
          </p:cNvSpPr>
          <p:nvPr/>
        </p:nvSpPr>
        <p:spPr>
          <a:xfrm>
            <a:off x="9182100" y="2990850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安全执行</a:t>
            </a:r>
            <a:endParaRPr sz="1500" b="1">
              <a:solidFill>
                <a:srgbClr val="0B18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agent-node-desc-4"/>
          <p:cNvSpPr>
            <a:spLocks noGrp="1"/>
          </p:cNvSpPr>
          <p:nvPr/>
        </p:nvSpPr>
        <p:spPr>
          <a:xfrm>
            <a:off x="9163050" y="32956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 / 图表 / 解释</a:t>
            </a:r>
            <a:endParaRPr sz="97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agent-loop"/>
          <p:cNvSpPr>
            <a:spLocks noGrp="1"/>
          </p:cNvSpPr>
          <p:nvPr/>
        </p:nvSpPr>
        <p:spPr>
          <a:xfrm>
            <a:off x="685800" y="396240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065F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65F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失败自动修正：READ 查询错误后，由 LLM 重新生成 SQL，最多重试 3 次</a:t>
            </a:r>
            <a:endParaRPr sz="1200" b="1">
              <a:solidFill>
                <a:srgbClr val="065F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agent-tools"/>
          <p:cNvSpPr>
            <a:spLocks noGrp="1"/>
          </p:cNvSpPr>
          <p:nvPr/>
        </p:nvSpPr>
        <p:spPr>
          <a:xfrm>
            <a:off x="685800" y="438150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内置工具：list_tables · get_columns · sample_data · explain　｜　工具调用最多 3 轮　｜　SSE 流式输出</a:t>
            </a:r>
            <a:endParaRPr sz="112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核心亮点 · 安全执行</a:t>
            </a:r>
            <a:endParaRPr sz="10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可以生成 SQL，但不会拥有不受控的写权限</a:t>
            </a:r>
            <a:endParaRPr sz="26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5" name="表格 14"/>
          <p:cNvGraphicFramePr/>
          <p:nvPr/>
        </p:nvGraphicFramePr>
        <p:xfrm>
          <a:off x="685800" y="1638300"/>
          <a:ext cx="10820400" cy="2857500"/>
        </p:xfrm>
        <a:graphic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操作类型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授权方式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执行说明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SELECT / SHOW / DESC / EXPLAIN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自动执行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只读查询直接返回结果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INSERT / UPDATE / DELETE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手动确认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返回影响预览与 execution_id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CREATE / ALTER / DROP / TRUNCATE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高危确认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红色警告并展示完整 DDL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多条混合 SQL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逐条确认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 SQL 类型分别处理</a:t>
                      </a:r>
                      <a:endParaRPr sz="1275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8" name="security-callout"/>
          <p:cNvSpPr>
            <a:spLocks noGrp="1"/>
          </p:cNvSpPr>
          <p:nvPr/>
        </p:nvSpPr>
        <p:spPr>
          <a:xfrm>
            <a:off x="685800" y="478155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execution_id 暂存待确认执行，5 分钟过期；用户确认后再次鉴权，全程审计。</a:t>
            </a:r>
            <a:endParaRPr sz="12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 工作台</a:t>
            </a:r>
            <a:endParaRPr sz="10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面向开发者的高频查询环境</a:t>
            </a:r>
            <a:endParaRPr sz="26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ql-editor-surface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1524000"/>
            <a:ext cx="521970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sql-editor-title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90600" y="1809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编辑器与对象树</a:t>
            </a:r>
            <a:endParaRPr sz="18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ql-editor-lis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90600" y="2324100"/>
            <a:ext cx="46101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B5FFF"/>
                </a:solidFill>
              </a:rPr>
              <a:t>CodeMirror 6：</a:t>
            </a:r>
            <a:r>
              <a:rPr>
                <a:solidFill>
                  <a:srgbClr val="334155"/>
                </a:solidFill>
              </a:rPr>
              <a:t>语法高亮、自动补全、SQL 格式化</a:t>
            </a:r>
            <a:endParaRPr>
              <a:solidFill>
                <a:srgbClr val="334155"/>
              </a:solidFill>
            </a:endParaRP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B5FFF"/>
                </a:solidFill>
              </a:rPr>
              <a:t>多 Tab：</a:t>
            </a:r>
            <a:r>
              <a:rPr>
                <a:solidFill>
                  <a:srgbClr val="334155"/>
                </a:solidFill>
              </a:rPr>
              <a:t>并行处理多个查询任务</a:t>
            </a:r>
            <a:endParaRPr>
              <a:solidFill>
                <a:srgbClr val="334155"/>
              </a:solidFill>
            </a:endParaRP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B5FFF"/>
                </a:solidFill>
              </a:rPr>
              <a:t>对象树：</a:t>
            </a:r>
            <a:r>
              <a:rPr>
                <a:solidFill>
                  <a:srgbClr val="334155"/>
                </a:solidFill>
              </a:rPr>
              <a:t>表、视图、索引、触发器等快速浏览</a:t>
            </a:r>
            <a:endParaRPr>
              <a:solidFill>
                <a:srgbClr val="334155"/>
              </a:solidFill>
            </a:endParaRP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B5FFF"/>
                </a:solidFill>
              </a:rPr>
              <a:t>执行历史：</a:t>
            </a:r>
            <a:r>
              <a:rPr>
                <a:solidFill>
                  <a:srgbClr val="334155"/>
                </a:solidFill>
              </a:rPr>
              <a:t>重复查询一键复用</a:t>
            </a:r>
            <a:endParaRPr>
              <a:solidFill>
                <a:srgbClr val="334155"/>
              </a:solidFill>
            </a:endParaRPr>
          </a:p>
        </p:txBody>
      </p:sp>
      <p:sp>
        <p:nvSpPr>
          <p:cNvPr id="10" name="sql-result-surface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286500" y="1524000"/>
            <a:ext cx="521970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sql-result-title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591300" y="1809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结果集与直接编辑</a:t>
            </a:r>
            <a:endParaRPr sz="18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ql-result-list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591300" y="2324100"/>
            <a:ext cx="46101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B5FFF"/>
                </a:solidFill>
              </a:rPr>
              <a:t>虚拟滚动：</a:t>
            </a:r>
            <a:r>
              <a:rPr>
                <a:solidFill>
                  <a:srgbClr val="334155"/>
                </a:solidFill>
              </a:rPr>
              <a:t>大数据量下保持流畅</a:t>
            </a:r>
            <a:endParaRPr>
              <a:solidFill>
                <a:srgbClr val="334155"/>
              </a:solidFill>
            </a:endParaRP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B5FFF"/>
                </a:solidFill>
              </a:rPr>
              <a:t>分页与排序：</a:t>
            </a:r>
            <a:r>
              <a:rPr>
                <a:solidFill>
                  <a:srgbClr val="334155"/>
                </a:solidFill>
              </a:rPr>
              <a:t>按需加载，快速定位</a:t>
            </a:r>
            <a:endParaRPr>
              <a:solidFill>
                <a:srgbClr val="334155"/>
              </a:solidFill>
            </a:endParaRP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B5FFF"/>
                </a:solidFill>
              </a:rPr>
              <a:t>导出：</a:t>
            </a:r>
            <a:r>
              <a:rPr>
                <a:solidFill>
                  <a:srgbClr val="334155"/>
                </a:solidFill>
              </a:rPr>
              <a:t>CSV / JSON / Excel</a:t>
            </a:r>
            <a:endParaRPr>
              <a:solidFill>
                <a:srgbClr val="334155"/>
              </a:solidFill>
            </a:endParaRP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B5FFF"/>
                </a:solidFill>
              </a:rPr>
              <a:t>直接编辑：</a:t>
            </a:r>
            <a:r>
              <a:rPr>
                <a:solidFill>
                  <a:srgbClr val="334155"/>
                </a:solidFill>
              </a:rPr>
              <a:t>双击单元格、新增/删除行，写操作走确认链路</a:t>
            </a:r>
            <a:endParaRPr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元数据管理</a:t>
            </a:r>
            <a:endParaRPr sz="10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从对象浏览到结构对比，一次看清数据资产</a:t>
            </a:r>
            <a:endParaRPr sz="26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metadata-intro"/>
          <p:cNvSpPr>
            <a:spLocks noGrp="1"/>
          </p:cNvSpPr>
          <p:nvPr/>
        </p:nvSpPr>
        <p:spPr>
          <a:xfrm>
            <a:off x="685800" y="1504950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对象树支持常见数据库对象与收藏，并提供表结构对比（schema diff），帮助团队识别变更风险。</a:t>
            </a:r>
            <a:endParaRPr sz="135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685800" y="2095500"/>
          <a:ext cx="10820400" cy="3048000"/>
        </p:xfrm>
        <a:graphic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支持内容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对象浏览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Schema / 表 / 列 / 索引 / 约束 / DDL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高级对象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视图 / 函数 / 存储过程 / 触发器 / 序列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收藏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常用表快速访问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结构对比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两库表结构差异与变更识别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跨数据库适配</a:t>
            </a:r>
            <a:endParaRPr sz="10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上层服务无感知，底层方言被统一封装</a:t>
            </a:r>
            <a:endParaRPr sz="26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dapter-intro"/>
          <p:cNvSpPr>
            <a:spLocks noGrp="1"/>
          </p:cNvSpPr>
          <p:nvPr/>
        </p:nvSpPr>
        <p:spPr>
          <a:xfrm>
            <a:off x="685800" y="1524000"/>
            <a:ext cx="10820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lnSpc>
                <a:spcPct val="150000"/>
              </a:lnSpc>
              <a:buNone/>
              <a:def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BaseDBAdapter 定义统一接口：connect / test / metadata / execute / explain / schema_summary。ConnectionInfo 统一承载连接参数与 SSH 隧道。</a:t>
            </a:r>
            <a:endParaRPr sz="135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685800" y="2343150"/>
          <a:ext cx="10820400" cy="3390900"/>
        </p:xfrm>
        <a:graphic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48441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数据库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适配方式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4844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SQLite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SQLiteAdapter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应用库与演示库、零配置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4844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MySQL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MySQLAdapter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元数据、DDL、序列、慢查询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4844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PostgreSQL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PostgreSQLAdapter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pg_get_functiondef / triggerdef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4844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Oracle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OracleAdapter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dbms_metadata、序列与存储过程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4844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MongoDB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MongoDBAdapter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非关系型数据探索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4844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OceanBase / GoldenDB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复用 MySQLAdapter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低新增成本接入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可视化报表</a:t>
            </a:r>
            <a:endParaRPr sz="10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查询结果直接变成可分享、可展示的看板</a:t>
            </a:r>
            <a:endParaRPr sz="26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port-col-0"/>
          <p:cNvSpPr>
            <a:spLocks noGrp="1"/>
          </p:cNvSpPr>
          <p:nvPr/>
        </p:nvSpPr>
        <p:spPr>
          <a:xfrm>
            <a:off x="685800" y="1695450"/>
            <a:ext cx="3314700" cy="314325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report-title-0"/>
          <p:cNvSpPr>
            <a:spLocks noGrp="1"/>
          </p:cNvSpPr>
          <p:nvPr/>
        </p:nvSpPr>
        <p:spPr>
          <a:xfrm>
            <a:off x="952500" y="2000250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</a:t>
            </a:r>
            <a:endParaRPr sz="1950" b="1">
              <a:solidFill>
                <a:srgbClr val="0B18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port-sub-0"/>
          <p:cNvSpPr>
            <a:spLocks noGrp="1"/>
          </p:cNvSpPr>
          <p:nvPr/>
        </p:nvSpPr>
        <p:spPr>
          <a:xfrm>
            <a:off x="952500" y="2514600"/>
            <a:ext cx="2781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lnSpc>
                <a:spcPct val="130000"/>
              </a:lnSpc>
              <a:buNone/>
              <a:defRPr sz="13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柱状图 / 折线图 / 饼图</a:t>
            </a:r>
            <a:endParaRPr sz="13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port-desc-0"/>
          <p:cNvSpPr>
            <a:spLocks noGrp="1"/>
          </p:cNvSpPr>
          <p:nvPr/>
        </p:nvSpPr>
        <p:spPr>
          <a:xfrm>
            <a:off x="952500" y="3181350"/>
            <a:ext cx="27813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lnSpc>
                <a:spcPct val="145000"/>
              </a:lnSpc>
              <a:buNone/>
              <a:defRPr sz="12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自定义 SQL → 图表</a:t>
            </a:r>
            <a:endParaRPr sz="12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port-col-1"/>
          <p:cNvSpPr>
            <a:spLocks noGrp="1"/>
          </p:cNvSpPr>
          <p:nvPr/>
        </p:nvSpPr>
        <p:spPr>
          <a:xfrm>
            <a:off x="4438650" y="1695450"/>
            <a:ext cx="3314700" cy="314325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report-title-1"/>
          <p:cNvSpPr>
            <a:spLocks noGrp="1"/>
          </p:cNvSpPr>
          <p:nvPr/>
        </p:nvSpPr>
        <p:spPr>
          <a:xfrm>
            <a:off x="4705350" y="2000250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仪表盘</a:t>
            </a:r>
            <a:endParaRPr sz="1950" b="1">
              <a:solidFill>
                <a:srgbClr val="0B18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port-sub-1"/>
          <p:cNvSpPr>
            <a:spLocks noGrp="1"/>
          </p:cNvSpPr>
          <p:nvPr/>
        </p:nvSpPr>
        <p:spPr>
          <a:xfrm>
            <a:off x="4705350" y="2514600"/>
            <a:ext cx="2781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lnSpc>
                <a:spcPct val="130000"/>
              </a:lnSpc>
              <a:buNone/>
              <a:defRPr sz="13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gridstack 拖拽布局</a:t>
            </a:r>
            <a:endParaRPr sz="13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port-desc-1"/>
          <p:cNvSpPr>
            <a:spLocks noGrp="1"/>
          </p:cNvSpPr>
          <p:nvPr/>
        </p:nvSpPr>
        <p:spPr>
          <a:xfrm>
            <a:off x="4705350" y="3181350"/>
            <a:ext cx="27813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lnSpc>
                <a:spcPct val="145000"/>
              </a:lnSpc>
              <a:buNone/>
              <a:defRPr sz="12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多图表组合展示</a:t>
            </a:r>
            <a:endParaRPr sz="12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port-col-2"/>
          <p:cNvSpPr>
            <a:spLocks noGrp="1"/>
          </p:cNvSpPr>
          <p:nvPr/>
        </p:nvSpPr>
        <p:spPr>
          <a:xfrm>
            <a:off x="8191500" y="1695450"/>
            <a:ext cx="3314700" cy="314325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report-title-2"/>
          <p:cNvSpPr>
            <a:spLocks noGrp="1"/>
          </p:cNvSpPr>
          <p:nvPr/>
        </p:nvSpPr>
        <p:spPr>
          <a:xfrm>
            <a:off x="8458200" y="2000250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分享与大屏</a:t>
            </a:r>
            <a:endParaRPr sz="1950" b="1">
              <a:solidFill>
                <a:srgbClr val="0B18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port-sub-2"/>
          <p:cNvSpPr>
            <a:spLocks noGrp="1"/>
          </p:cNvSpPr>
          <p:nvPr/>
        </p:nvSpPr>
        <p:spPr>
          <a:xfrm>
            <a:off x="8458200" y="2514600"/>
            <a:ext cx="2781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lnSpc>
                <a:spcPct val="130000"/>
              </a:lnSpc>
              <a:buNone/>
              <a:defRPr sz="13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分享链接 + 大屏模式</a:t>
            </a:r>
            <a:endParaRPr sz="13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port-desc-2"/>
          <p:cNvSpPr>
            <a:spLocks noGrp="1"/>
          </p:cNvSpPr>
          <p:nvPr/>
        </p:nvSpPr>
        <p:spPr>
          <a:xfrm>
            <a:off x="8458200" y="3181350"/>
            <a:ext cx="27813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lnSpc>
                <a:spcPct val="145000"/>
              </a:lnSpc>
              <a:buNone/>
              <a:defRPr sz="12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跨团队、跨设备查看</a:t>
            </a:r>
            <a:endParaRPr sz="12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系统管理 · AI 配置</a:t>
            </a:r>
            <a:endParaRPr sz="10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模型可插拔，Key 只加密存储，前端不回显明文</a:t>
            </a:r>
            <a:endParaRPr sz="26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5" name="表格 14"/>
          <p:cNvGraphicFramePr/>
          <p:nvPr/>
        </p:nvGraphicFramePr>
        <p:xfrm>
          <a:off x="685800" y="1600200"/>
          <a:ext cx="10820400" cy="2667000"/>
        </p:xfrm>
        <a:graphic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Provider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接入方式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OpenAI 兼容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OpenAI 官方 / 兼容网关 / Ollama v1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API Key + 可选 api_base + 模型名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Claude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Anthropic SDK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API Key + 模型名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Ollama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本地 /v1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服务地址 + 模型名，本地可无 Key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8" name="ai-config-note"/>
          <p:cNvSpPr>
            <a:spLocks noGrp="1"/>
          </p:cNvSpPr>
          <p:nvPr/>
        </p:nvSpPr>
        <p:spPr>
          <a:xfrm>
            <a:off x="685800" y="4629150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lnSpc>
                <a:spcPct val="140000"/>
              </a:lnSpc>
              <a:buNone/>
              <a:def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默认模型在系统设置中选择；对话创建时选择该会话使用的模型，创建后不可切换以保证上下文一致。</a:t>
            </a:r>
            <a:endParaRPr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用户与角色</a:t>
            </a:r>
            <a:endParaRPr sz="10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RBAC 权限从页面控制到 SQL 操作级别</a:t>
            </a:r>
            <a:endParaRPr sz="26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bac-left"/>
          <p:cNvSpPr>
            <a:spLocks noGrp="1"/>
          </p:cNvSpPr>
          <p:nvPr/>
        </p:nvSpPr>
        <p:spPr>
          <a:xfrm>
            <a:off x="488315" y="1997075"/>
            <a:ext cx="5417185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B5FFF"/>
                </a:solidFill>
              </a:rPr>
              <a:t>5 个内置角色：</a:t>
            </a:r>
            <a:r>
              <a:rPr lang="zh-CN" altLang="en-US">
                <a:solidFill>
                  <a:srgbClr val="475569"/>
                </a:solidFill>
              </a:rPr>
              <a:t>管理员 / 技术管理 / 技术查询 / 业务管理 / 业务查询</a:t>
            </a:r>
            <a:endParaRPr lang="zh-CN" altLang="en-US">
              <a:solidFill>
                <a:srgbClr val="475569"/>
              </a:solidFill>
            </a:endParaRP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B5FFF"/>
                </a:solidFill>
              </a:rPr>
              <a:t>自定义角色：</a:t>
            </a:r>
            <a:r>
              <a:rPr>
                <a:solidFill>
                  <a:srgbClr val="475569"/>
                </a:solidFill>
              </a:rPr>
              <a:t>权限码按功能分组，灵活组合</a:t>
            </a:r>
            <a:endParaRPr>
              <a:solidFill>
                <a:srgbClr val="475569"/>
              </a:solidFill>
            </a:endParaRP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0B5FFF"/>
                </a:solidFill>
              </a:rPr>
              <a:t>页面控制：</a:t>
            </a:r>
            <a:r>
              <a:rPr>
                <a:solidFill>
                  <a:srgbClr val="475569"/>
                </a:solidFill>
              </a:rPr>
              <a:t>路由守卫按 permission / permissionAny 控制</a:t>
            </a:r>
            <a:endParaRPr>
              <a:solidFill>
                <a:srgbClr val="475569"/>
              </a:solidFill>
            </a:endParaRPr>
          </a:p>
        </p:txBody>
      </p:sp>
      <p:sp>
        <p:nvSpPr>
          <p:cNvPr id="8" name="rbac-right-title"/>
          <p:cNvSpPr>
            <a:spLocks noGrp="1"/>
          </p:cNvSpPr>
          <p:nvPr/>
        </p:nvSpPr>
        <p:spPr>
          <a:xfrm>
            <a:off x="6286500" y="163830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183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 权限三层拆分</a:t>
            </a:r>
            <a:endParaRPr sz="1800" b="1">
              <a:solidFill>
                <a:srgbClr val="0B183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9" name="表格 18"/>
          <p:cNvGraphicFramePr/>
          <p:nvPr/>
        </p:nvGraphicFramePr>
        <p:xfrm>
          <a:off x="6286500" y="2095500"/>
          <a:ext cx="5219700" cy="2381252"/>
        </p:xfrm>
        <a:graphic>
          <a:graphicData uri="http://schemas.openxmlformats.org/drawingml/2006/table">
            <a:tbl>
              <a:tblPr firstRow="1" bandRow="1"/>
              <a:tblGrid>
                <a:gridCol w="1739900"/>
                <a:gridCol w="1739900"/>
                <a:gridCol w="1739900"/>
              </a:tblGrid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操作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权限码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只读查询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workspace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SELECT / SHOW / DESC / EXPLAIN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写操作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sql_write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INSERT / UPDATE / DELETE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595313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结构变更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sql_ddl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CREATE / ALTER / DROP / TRUNCATE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10" name="rbac-note"/>
          <p:cNvSpPr>
            <a:spLocks noGrp="1"/>
          </p:cNvSpPr>
          <p:nvPr/>
        </p:nvSpPr>
        <p:spPr>
          <a:xfrm>
            <a:off x="6286500" y="4686300"/>
            <a:ext cx="5219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lnSpc>
                <a:spcPct val="140000"/>
              </a:lnSpc>
              <a:buNone/>
              <a:defRPr sz="12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运维监控路由允许 monitor 或 audit 任一权限进入，页内各 Tab 再按权限显示。</a:t>
            </a:r>
            <a:endParaRPr sz="12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审计与监控</a:t>
            </a:r>
            <a:endParaRPr sz="10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让每一次操作都可追溯、可观察</a:t>
            </a:r>
            <a:endParaRPr sz="26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udit-surface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1524000"/>
            <a:ext cx="521970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audit-title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90600" y="1809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审计日志</a:t>
            </a:r>
            <a:endParaRPr sz="18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udit-lis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90600" y="2324100"/>
            <a:ext cx="46101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登录、SQL 执行、Agent 动作全量留痕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操作类型、SQL 文本、状态可追溯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导出 CSV / XLSX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audit_retention_days 默认 180 天自动清理</a:t>
            </a:r>
          </a:p>
        </p:txBody>
      </p:sp>
      <p:sp>
        <p:nvSpPr>
          <p:cNvPr id="10" name="monitor-surface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286500" y="1524000"/>
            <a:ext cx="521970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monitor-title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591300" y="1809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运维监控</a:t>
            </a:r>
            <a:endParaRPr sz="18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monitor-list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591300" y="2324100"/>
            <a:ext cx="46101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连接概览与慢查询统计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表结构对比（schema diff）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定时导出任务状态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/metrics 暴露 Prometheus 指标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产品界面</a:t>
            </a:r>
            <a:endParaRPr sz="10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每个高频场景都有对应的工作台视图</a:t>
            </a:r>
            <a:endParaRPr sz="26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5" name="表格 14"/>
          <p:cNvGraphicFramePr/>
          <p:nvPr/>
        </p:nvGraphicFramePr>
        <p:xfrm>
          <a:off x="685800" y="1600200"/>
          <a:ext cx="10820400" cy="3143250"/>
        </p:xfrm>
        <a:graphic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场景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核心视图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智能查询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SmartQueryView / AgentPanel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SSE 流式问答、工具调用、图表生成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SQL 工作台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WorkspaceView / SqlEditor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 Tab 编辑、对象树、结果集编辑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可视化报表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ReportsView / DashboardGrid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图表、仪表盘、分享、大屏模式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系统与监控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SettingsView / MonitorView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用户角色、审计、慢查询、定时任务</a:t>
                      </a:r>
                      <a:endParaRPr sz="120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8" name="interface-note"/>
          <p:cNvSpPr>
            <a:spLocks noGrp="1"/>
          </p:cNvSpPr>
          <p:nvPr/>
        </p:nvSpPr>
        <p:spPr>
          <a:xfrm>
            <a:off x="685800" y="508635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登录入口：http://127.0.0.1:5174　·　演示账号：admin / admin123</a:t>
            </a:r>
            <a:endParaRPr sz="12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创新点与技术难点</a:t>
            </a:r>
            <a:endParaRPr sz="105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工程封装让大模型能力变得稳定、安全、可用</a:t>
            </a:r>
            <a:endParaRPr sz="26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innov-title"/>
          <p:cNvSpPr>
            <a:spLocks noGrp="1"/>
          </p:cNvSpPr>
          <p:nvPr/>
        </p:nvSpPr>
        <p:spPr>
          <a:xfrm>
            <a:off x="542290" y="16383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5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</a:t>
            </a:r>
            <a:endParaRPr sz="1800" b="1">
              <a:solidFill>
                <a:srgbClr val="0B5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innov-list"/>
          <p:cNvSpPr>
            <a:spLocks noGrp="1"/>
          </p:cNvSpPr>
          <p:nvPr/>
        </p:nvSpPr>
        <p:spPr>
          <a:xfrm>
            <a:off x="461010" y="2114550"/>
            <a:ext cx="5444490" cy="381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自然语言到 SQL 的 Agent 闭环：工具调用、失败重试、few-shot 增强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写操作分级确认，让 AI 可用且可控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跨数据库适配层，统一多源元数据与查询体验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查询结果一键转图表、仪表盘、分享大屏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RBAC + 全量审计 + Prometheus 指标，具备企业级完整性</a:t>
            </a:r>
          </a:p>
        </p:txBody>
      </p:sp>
      <p:sp>
        <p:nvSpPr>
          <p:cNvPr id="9" name="difficulty-title"/>
          <p:cNvSpPr>
            <a:spLocks noGrp="1"/>
          </p:cNvSpPr>
          <p:nvPr/>
        </p:nvSpPr>
        <p:spPr>
          <a:xfrm>
            <a:off x="6286500" y="16383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技术难点</a:t>
            </a:r>
            <a:endParaRPr sz="18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difficulty-list"/>
          <p:cNvSpPr>
            <a:spLocks noGrp="1"/>
          </p:cNvSpPr>
          <p:nvPr/>
        </p:nvSpPr>
        <p:spPr>
          <a:xfrm>
            <a:off x="6286500" y="2114550"/>
            <a:ext cx="5219700" cy="381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多数据库方言抽象与 DDL / 序列元数据提取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控制 Agent 工具调用轮次与 token 成本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SSE 流式事件在前端的逐步渲染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结果集直接编辑与写操作确认链路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SSH 隧道连接与敏感信息加密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1224"/>
            </a:gs>
            <a:gs pos="56000">
              <a:srgbClr val="0A2A5E"/>
            </a:gs>
            <a:gs pos="100000">
              <a:srgbClr val="0B5FFF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close-title"/>
          <p:cNvSpPr>
            <a:spLocks noGrp="1"/>
          </p:cNvSpPr>
          <p:nvPr/>
        </p:nvSpPr>
        <p:spPr>
          <a:xfrm>
            <a:off x="685800" y="2804795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ctr">
              <a:lnSpc>
                <a:spcPct val="125000"/>
              </a:lnSpc>
              <a:buNone/>
              <a:def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</a:t>
            </a:r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观看！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3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4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5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6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7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8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9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0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1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2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3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4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5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6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17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18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19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0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1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2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3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4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5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6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7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4395</Words>
  <Application>WPS 演示</Application>
  <PresentationFormat>Converted Presentation</PresentationFormat>
  <Paragraphs>540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笨小孩</cp:lastModifiedBy>
  <cp:revision>2</cp:revision>
  <dcterms:created xsi:type="dcterms:W3CDTF">2026-08-15T09:27:00Z</dcterms:created>
  <dcterms:modified xsi:type="dcterms:W3CDTF">2026-08-15T09:30:12Z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9BCC8A87F69D4252ACBE3D3FBEA5D689_12</vt:lpwstr>
  </property>
</Properties>
</file>