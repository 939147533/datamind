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tableStyles" Target="tableStyles.xml" /><Relationship Id="rId5" Type="http://schemas.openxmlformats.org/officeDocument/2006/relationships/viewProps" Target="viewProps.xml" /><Relationship Id="rId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3" Type="http://schemas.openxmlformats.org/officeDocument/2006/relationships/presProps" Target="presProp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 descr="&lt;Slide style={{&#10;    width: 1280,&#10;    height: 720,&#10;    paddingTop: 20,&#10;    paddingBottom: 20,&#10;    paddingLeft: 60,&#10;    paddingRight: 60,&#10;    background: '#FFFFFF',&#10;    fontFamily: 'PingFang SC, Microsoft YaHei, sans-serif',&#10;}}&gt;&#10;&#10;    &lt;Box style={{ height: 104, flexDirection: 'column', justifyContent: 'center', gap: 10 }}&gt;&#10;        &lt;Box style={{ flexDirection: 'row' }}&gt;&#10;            &lt;Box style={{ paddingTop: 4, paddingBottom: 4, paddingLeft: 12, paddingRight: 12, background: '#2E9E7B', borderRadius: 12 }}&gt;&#10;                &lt;Text style={{ fontSize: 14, fontWeight: 'bold', color: '#FFFFFF', lineHeight: 1.2 }}&gt;技术亮点&lt;/Text&gt;&#10;            &lt;/Box&gt;&#10;        &lt;/Box&gt;&#10;        &lt;Text style={{ fontSize: 36, fontWeight: 'bold', color: '#1B4F8A', lineHeight: 1.3 }}&gt;系统技术架构&lt;/Text&gt;&#10;    &lt;/Box&gt;&#10;&#10;    &lt;Box style={{ height: 536, flexDirection: 'row', gap: 32 }}&gt;&#10;        &lt;Box style={{ width: 520, height: 536, alignItems: 'center', justifyContent: 'center' }}&gt;&#10;            &lt;Image src=&quot;assets/architecture.png&quot; style={{ width: 520, height: 532, objectFit: 'contain' }} /&gt;&#10;        &lt;/Box&gt;&#10;&#10;        &lt;Box style={{ width: 608, height: 536, flexDirection: 'column', gap: 20, justifyContent: 'center' }}&gt;&#10;            &lt;Text style={{ fontSize: 20, color: '#0F172A', lineHeight: 1.5 }}&gt;&#10;                分层解耦、职责单一 —— 调用方向 &lt;span style={{ fontWeight: 'bold', color: '#1B4F8A' }}&gt;routers → services → adapters → 目标数据库&lt;/span&gt;&#10;            &lt;/Text&gt;&#10;&#10;            &lt;Box style={{ flexDirection: 'row', gap: 14, alignItems: 'stretch' }}&gt;&#10;                &lt;Box style={{ width: 4, background: '#1B4F8A', borderRadius: 2 }} /&gt;&#10;                &lt;Box style={{ flex: 1, flexDirection: 'column', gap: 6 }}&gt;&#10;                    &lt;Text style={{ fontSize: 19, fontWeight: 'bold', color: '#1B4F8A', lineHeight: 1.4 }}&gt;分层解耦&lt;/Text&gt;&#10;                    &lt;Text style={{ fontSize: 15, color: '#475569', lineHeight: 1.5 }}&gt;六层职责清晰：客户端、接入、安全、服务、适配、数据，任一层改动不外溢。&lt;/Text&gt;&#10;                &lt;/Box&gt;&#10;            &lt;/Box&gt;&#10;&#10;            &lt;Box style={{ flexDirection: 'row', gap: 14, alignItems: 'stretch' }}&gt;&#10;                &lt;Box style={{ width: 4, background: '#1B4F8A', borderRadius: 2 }} /&gt;&#10;                &lt;Box style={{ flex: 1, flexDirection: 'column', gap: 6 }}&gt;&#10;                    &lt;Text style={{ fontSize: 19, fontWeight: 'bold', color: '#1B4F8A', lineHeight: 1.4 }}&gt;适配器模式&lt;/Text&gt;&#10;                    &lt;Text style={{ fontSize: 15, color: '#475569', lineHeight: 1.5 }}&gt;统一 BaseDBAdapter 接口按 db_type 分发，7 类数据源收敛为 5 套实现，新增数据库只需加一个类。&lt;/Text&gt;&#10;                &lt;/Box&gt;&#10;            &lt;/Box&gt;&#10;&#10;            &lt;Box style={{ flexDirection: 'row', gap: 14, alignItems: 'stretch' }}&gt;&#10;                &lt;Box style={{ width: 4, background: '#1B4F8A', borderRadius: 2 }} /&gt;&#10;                &lt;Box style={{ flex: 1, flexDirection: 'column', gap: 6 }}&gt;&#10;                    &lt;Text style={{ fontSize: 19, fontWeight: 'bold', color: '#1B4F8A', lineHeight: 1.4 }}&gt;LLM 统一抽象&lt;/Text&gt;&#10;                    &lt;Text style={{ fontSize: 15, color: '#475569', lineHeight: 1.5 }}&gt;OpenAI 兼容 / Claude / Ollama 共用一套 chat · stream · ping 接口，换模型不改业务代码。&lt;/Text&gt;&#10;                &lt;/Box&gt;&#10;            &lt;/Box&gt;&#10;&#10;            &lt;Box style={{ flexDirection: 'row', gap: 14, alignItems: 'stretch' }}&gt;&#10;                &lt;Box style={{ width: 4, background: '#1B4F8A', borderRadius: 2 }} /&gt;&#10;                &lt;Box style={{ flex: 1, flexDirection: 'column', gap: 6 }}&gt;&#10;                    &lt;Text style={{ fontSize: 19, fontWeight: 'bold', color: '#1B4F8A', lineHeight: 1.4 }}&gt;安全纵深&lt;/Text&gt;&#10;                    &lt;Text style={{ fontSize: 15, color: '#475569', lineHeight: 1.5 }}&gt;登录态 → 路由级 → SQL 类型级三层鉴权，写操作落库待确认并二次校验，全程审计留痕。&lt;/Text&gt;&#10;                &lt;/Box&gt;&#10;            &lt;/Box&gt;&#10;        &lt;/Box&gt;&#10;    &lt;/Box&gt;&#10;&#10;    &lt;Box style={{ height: 40, flexDirection: 'row', alignItems: 'center', justifyContent: 'space-between' }}&gt;&#10;        &lt;Text style={{ fontSize: 14, color: '#94A3B8', lineHeight: 1.4 }}&gt;DataMind · 数据库 Agent Web 应用&lt;/Text&gt;&#10;        &lt;Text style={{ fontSize: 14, color: '#94A3B8', lineHeight: 1.4 }}&gt;01 / 0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571500" y="228600"/>
            <a:ext cx="762000" cy="276225"/>
          </a:xfrm>
          <a:prstGeom prst="roundRect">
            <a:avLst>
              <a:gd name="adj" fmla="val 41379"/>
            </a:avLst>
          </a:prstGeom>
          <a:solidFill>
            <a:srgbClr val="2E9E7B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53340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050" b="1">
                <a:solidFill>
                  <a:srgbClr val="FFFFFF"/>
                </a:solidFill>
                <a:latin typeface="PingFang SC"/>
                <a:ea typeface="PingFang SC"/>
              </a:rPr>
              <a:t>技术亮点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600075"/>
            <a:ext cx="110490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1B4F8A"/>
                </a:solidFill>
                <a:latin typeface="PingFang SC"/>
                <a:ea typeface="PingFang SC"/>
              </a:rPr>
              <a:t>系统技术架构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Id1"/>
          <a:srcRect l="0" t="24" r="0" b="24"/>
          <a:stretch>
            <a:fillRect/>
          </a:stretch>
        </p:blipFill>
        <p:spPr>
          <a:xfrm rot="0" flipH="0" flipV="0">
            <a:off x="571500" y="1200150"/>
            <a:ext cx="4953000" cy="506730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829300" y="1390650"/>
            <a:ext cx="57912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0F172A"/>
                </a:solidFill>
                <a:latin typeface="PingFang SC"/>
                <a:ea typeface="PingFang SC"/>
              </a:rPr>
              <a:t>分层解耦、职责单一</a:t>
            </a:r>
            <a:r>
              <a:rPr lang="en-US" sz="1500">
                <a:solidFill>
                  <a:srgbClr val="0F172A"/>
                </a:solidFill>
                <a:latin typeface="PingFang SC"/>
                <a:ea typeface="PingFang SC"/>
              </a:rPr>
              <a:t xml:space="preserve"> —— </a:t>
            </a:r>
            <a:r>
              <a:rPr lang="zh-CN" sz="1500">
                <a:solidFill>
                  <a:srgbClr val="0F172A"/>
                </a:solidFill>
                <a:latin typeface="PingFang SC"/>
                <a:ea typeface="PingFang SC"/>
              </a:rPr>
              <a:t>调用方向</a:t>
            </a:r>
            <a:r>
              <a:rPr lang="en-US" sz="1500">
                <a:solidFill>
                  <a:srgbClr val="0F172A"/>
                </a:solidFill>
                <a:latin typeface="PingFang SC"/>
                <a:ea typeface="PingFang SC"/>
              </a:rPr>
              <a:t xml:space="preserve"> </a:t>
            </a:r>
            <a:r>
              <a:rPr lang="en-US" sz="1500" b="1">
                <a:solidFill>
                  <a:srgbClr val="1B4F8A"/>
                </a:solidFill>
                <a:latin typeface="PingFang SC"/>
                <a:ea typeface="PingFang SC"/>
              </a:rPr>
              <a:t xml:space="preserve">routers → services → adapters → </a:t>
            </a:r>
            <a:r>
              <a:rPr lang="zh-CN" sz="1500" b="1">
                <a:solidFill>
                  <a:srgbClr val="1B4F8A"/>
                </a:solidFill>
                <a:latin typeface="PingFang SC"/>
                <a:ea typeface="PingFang SC"/>
              </a:rPr>
              <a:t>目标数据库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829300" y="2266950"/>
            <a:ext cx="38100" cy="619125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00750" y="2266950"/>
            <a:ext cx="56197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B4F8A"/>
                </a:solidFill>
                <a:latin typeface="PingFang SC"/>
                <a:ea typeface="PingFang SC"/>
              </a:rPr>
              <a:t>分层解耦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00750" y="2628900"/>
            <a:ext cx="5619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六层职责清晰：客户端、接入、安全、服务、适配、数据，任一层改动不外溢。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5829300" y="3076575"/>
            <a:ext cx="38100" cy="8763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00750" y="3076575"/>
            <a:ext cx="56197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B4F8A"/>
                </a:solidFill>
                <a:latin typeface="PingFang SC"/>
                <a:ea typeface="PingFang SC"/>
              </a:rPr>
              <a:t>适配器模式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00750" y="3438525"/>
            <a:ext cx="5619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统一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 xml:space="preserve"> BaseDBAdapter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接口按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 xml:space="preserve"> db_type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分发，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 xml:space="preserve">7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类数据源收敛为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 xml:space="preserve"> 5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套实现，新增数据库只需加一个类。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829300" y="4143375"/>
            <a:ext cx="38100" cy="8763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00750" y="4143375"/>
            <a:ext cx="56197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B4F8A"/>
                </a:solidFill>
                <a:latin typeface="PingFang SC"/>
                <a:ea typeface="PingFang SC"/>
              </a:rPr>
              <a:t xml:space="preserve">LLM </a:t>
            </a:r>
            <a:r>
              <a:rPr lang="zh-CN" sz="1425" b="1">
                <a:solidFill>
                  <a:srgbClr val="1B4F8A"/>
                </a:solidFill>
                <a:latin typeface="PingFang SC"/>
                <a:ea typeface="PingFang SC"/>
              </a:rPr>
              <a:t>统一抽象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00750" y="4505325"/>
            <a:ext cx="5619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 xml:space="preserve">OpenAI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兼容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 xml:space="preserve"> / Claude / Ollama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共用一套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 xml:space="preserve"> chat · stream · ping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接口，换模型不改业务代码。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829300" y="5210175"/>
            <a:ext cx="38100" cy="8763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00750" y="5210175"/>
            <a:ext cx="56197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B4F8A"/>
                </a:solidFill>
                <a:latin typeface="PingFang SC"/>
                <a:ea typeface="PingFang SC"/>
              </a:rPr>
              <a:t>安全纵深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000750" y="5572125"/>
            <a:ext cx="5619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登录态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路由级</a:t>
            </a:r>
            <a:r>
              <a:rPr lang="en-US" sz="1125">
                <a:solidFill>
                  <a:srgbClr val="475569"/>
                </a:solidFill>
                <a:latin typeface="PingFang SC"/>
                <a:ea typeface="PingFang SC"/>
              </a:rPr>
              <a:t xml:space="preserve"> → SQL </a:t>
            </a:r>
            <a:r>
              <a:rPr lang="zh-CN" sz="1125">
                <a:solidFill>
                  <a:srgbClr val="475569"/>
                </a:solidFill>
                <a:latin typeface="PingFang SC"/>
                <a:ea typeface="PingFang SC"/>
              </a:rPr>
              <a:t>类型级三层鉴权，写操作落库待确认并二次校验，全程审计留痕。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71500" y="636270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94A3B8"/>
                </a:solidFill>
                <a:latin typeface="PingFang SC"/>
                <a:ea typeface="PingFang SC"/>
              </a:rPr>
              <a:t xml:space="preserve">DataMind · </a:t>
            </a:r>
            <a:r>
              <a:rPr lang="zh-CN" sz="1050">
                <a:solidFill>
                  <a:srgbClr val="94A3B8"/>
                </a:solidFill>
                <a:latin typeface="PingFang SC"/>
                <a:ea typeface="PingFang SC"/>
              </a:rPr>
              <a:t>数据库</a:t>
            </a:r>
            <a:r>
              <a:rPr lang="en-US" sz="1050">
                <a:solidFill>
                  <a:srgbClr val="94A3B8"/>
                </a:solidFill>
                <a:latin typeface="PingFang SC"/>
                <a:ea typeface="PingFang SC"/>
              </a:rPr>
              <a:t xml:space="preserve"> Agent Web </a:t>
            </a:r>
            <a:r>
              <a:rPr lang="zh-CN" sz="1050">
                <a:solidFill>
                  <a:srgbClr val="94A3B8"/>
                </a:solidFill>
                <a:latin typeface="PingFang SC"/>
                <a:ea typeface="PingFang SC"/>
              </a:rPr>
              <a:t>应用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191875" y="6362700"/>
            <a:ext cx="428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94A3B8"/>
                </a:solidFill>
                <a:latin typeface="PingFang SC"/>
                <a:ea typeface="PingFang SC"/>
              </a:rPr>
              <a:t>01 / 01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2026-10-16T15:32:18Z</dcterms:created>
  <dcterms:modified xsi:type="dcterms:W3CDTF">2026-10-16T15:32:18Z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{"AIGC":{"Label":"1","ContentProducer":"00119111010856365494821B355","ProduceID":"01a1439c07b575a6bab1b606b38560f1","ReservedCode1":"","ContentPropagator":"00119111010856365494821B355","PropagateID":"01a1439c07b575a6bab1b606b38560f1","ReservedCode2":""}}</vt:lpwstr>
  </property>
</Properties>
</file>