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9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9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6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6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6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8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5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4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7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8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microsoft.com/office/2007/relationships/media" Target="../media/media5.mp4"/><Relationship Id="rId2" Type="http://schemas.openxmlformats.org/officeDocument/2006/relationships/video" Target="../media/media5.mp4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Relationship Id="rId3" Type="http://schemas.microsoft.com/office/2007/relationships/media" Target="../media/media7.mp4"/><Relationship Id="rId2" Type="http://schemas.openxmlformats.org/officeDocument/2006/relationships/video" Target="../media/media7.mp4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椭圆 193"/>
          <p:cNvSpPr/>
          <p:nvPr/>
        </p:nvSpPr>
        <p:spPr>
          <a:xfrm>
            <a:off x="7848600" y="-889000"/>
            <a:ext cx="5969000" cy="5969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椭圆 194"/>
          <p:cNvSpPr/>
          <p:nvPr/>
        </p:nvSpPr>
        <p:spPr>
          <a:xfrm>
            <a:off x="10007600" y="4089400"/>
            <a:ext cx="3810000" cy="3810000"/>
          </a:xfrm>
          <a:prstGeom prst="ellipse">
            <a:avLst/>
          </a:prstGeom>
          <a:solidFill>
            <a:srgbClr val="0B5FFF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矩形 195"/>
          <p:cNvSpPr/>
          <p:nvPr/>
        </p:nvSpPr>
        <p:spPr>
          <a:xfrm>
            <a:off x="685800" y="1905000"/>
            <a:ext cx="50800" cy="1270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990600" y="5153025"/>
            <a:ext cx="1219200" cy="25400"/>
          </a:xfrm>
          <a:prstGeom prst="rect">
            <a:avLst/>
          </a:prstGeom>
          <a:solidFill>
            <a:srgbClr val="0B5FFF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矩形 197"/>
          <p:cNvSpPr/>
          <p:nvPr/>
        </p:nvSpPr>
        <p:spPr>
          <a:xfrm>
            <a:off x="990600" y="1828800"/>
            <a:ext cx="7620000" cy="863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5000" b="1">
                <a:solidFill>
                  <a:srgbClr val="FFFFFF"/>
                </a:solidFill>
                <a:latin typeface="微软雅黑"/>
                <a:ea typeface="微软雅黑"/>
              </a:rPr>
              <a:t>DataMind</a:t>
            </a:r>
            <a:endParaRPr lang="zh-CN" sz="5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1016000" y="27432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000">
                <a:solidFill>
                  <a:srgbClr val="7FB3FF"/>
                </a:solidFill>
                <a:latin typeface="微软雅黑"/>
                <a:ea typeface="微软雅黑"/>
              </a:rPr>
              <a:t>数据库 Agent Web 应用</a:t>
            </a:r>
            <a:endParaRPr lang="zh-CN" sz="2000">
              <a:solidFill>
                <a:srgbClr val="7FB3FF"/>
              </a:solidFill>
              <a:latin typeface="微软雅黑"/>
              <a:ea typeface="微软雅黑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1016000" y="33274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9FB3C8"/>
                </a:solidFill>
                <a:latin typeface="微软雅黑"/>
                <a:ea typeface="微软雅黑"/>
              </a:rPr>
              <a:t>让不会写 SQL 的业务人员也能安全查数，让会写 SQL 的技术人员更高效。</a:t>
            </a:r>
            <a:endParaRPr lang="zh-CN" sz="1200">
              <a:solidFill>
                <a:srgbClr val="9FB3C8"/>
              </a:solidFill>
              <a:latin typeface="微软雅黑"/>
              <a:ea typeface="微软雅黑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1016000" y="41402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7FB3FF"/>
                </a:solidFill>
                <a:latin typeface="微软雅黑"/>
                <a:ea typeface="微软雅黑"/>
              </a:rPr>
              <a:t>AI Agent    ·    Multi-Database    ·    Security First</a:t>
            </a:r>
            <a:endParaRPr lang="zh-CN" sz="1100">
              <a:solidFill>
                <a:srgbClr val="7FB3FF"/>
              </a:solidFill>
              <a:latin typeface="微软雅黑"/>
              <a:ea typeface="微软雅黑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1016000" y="5305425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汇报人：刘瑶</a:t>
            </a:r>
            <a:endParaRPr lang="en-US" alt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1016000" y="568642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汇报时间：2026 年 10 月</a:t>
            </a:r>
            <a:endParaRPr 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1016000" y="609346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队伍名称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老山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冲锋队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6000" y="648017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队伍成员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刘瑶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、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郑海坤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矩形 32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27" name="矩形 32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28" name="矩形 327"/>
          <p:cNvSpPr/>
          <p:nvPr/>
        </p:nvSpPr>
        <p:spPr>
          <a:xfrm>
            <a:off x="6858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29" name="矩形 328"/>
          <p:cNvSpPr/>
          <p:nvPr/>
        </p:nvSpPr>
        <p:spPr>
          <a:xfrm>
            <a:off x="19050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0" name="矩形 329"/>
          <p:cNvSpPr/>
          <p:nvPr/>
        </p:nvSpPr>
        <p:spPr>
          <a:xfrm>
            <a:off x="62484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1" name="矩形 330"/>
          <p:cNvSpPr/>
          <p:nvPr/>
        </p:nvSpPr>
        <p:spPr>
          <a:xfrm>
            <a:off x="74676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2" name="矩形 331"/>
          <p:cNvSpPr/>
          <p:nvPr/>
        </p:nvSpPr>
        <p:spPr>
          <a:xfrm>
            <a:off x="6858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3" name="矩形 332"/>
          <p:cNvSpPr/>
          <p:nvPr/>
        </p:nvSpPr>
        <p:spPr>
          <a:xfrm>
            <a:off x="19050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4" name="矩形 333"/>
          <p:cNvSpPr/>
          <p:nvPr/>
        </p:nvSpPr>
        <p:spPr>
          <a:xfrm>
            <a:off x="62484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5" name="矩形 334"/>
          <p:cNvSpPr/>
          <p:nvPr/>
        </p:nvSpPr>
        <p:spPr>
          <a:xfrm>
            <a:off x="74676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6" name="矩形 33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目录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37" name="矩形 336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四大板块：从业务痛点到落地价值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39" name="矩形 33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02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40" name="矩形 339"/>
          <p:cNvSpPr/>
          <p:nvPr/>
        </p:nvSpPr>
        <p:spPr>
          <a:xfrm>
            <a:off x="9906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01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41" name="矩形 340"/>
          <p:cNvSpPr/>
          <p:nvPr/>
        </p:nvSpPr>
        <p:spPr>
          <a:xfrm>
            <a:off x="21336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项目背景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42" name="矩形 341"/>
          <p:cNvSpPr/>
          <p:nvPr/>
        </p:nvSpPr>
        <p:spPr>
          <a:xfrm>
            <a:off x="21336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痛点分析 · 解决方案 · 目标用户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43" name="矩形 342"/>
          <p:cNvSpPr/>
          <p:nvPr/>
        </p:nvSpPr>
        <p:spPr>
          <a:xfrm>
            <a:off x="65532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02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44" name="矩形 343"/>
          <p:cNvSpPr/>
          <p:nvPr/>
        </p:nvSpPr>
        <p:spPr>
          <a:xfrm>
            <a:off x="76962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系统功能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45" name="矩形 344"/>
          <p:cNvSpPr/>
          <p:nvPr/>
        </p:nvSpPr>
        <p:spPr>
          <a:xfrm>
            <a:off x="76962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功能全景 · 七大功能演示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9906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03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47" name="矩形 346"/>
          <p:cNvSpPr/>
          <p:nvPr/>
        </p:nvSpPr>
        <p:spPr>
          <a:xfrm>
            <a:off x="21336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技术亮点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48" name="矩形 347"/>
          <p:cNvSpPr/>
          <p:nvPr/>
        </p:nvSpPr>
        <p:spPr>
          <a:xfrm>
            <a:off x="21336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0" lvl="0" indent="0" algn="l" defTabSz="914400" hangingPunct="1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ptos"/>
                <a:ea typeface="Aptos"/>
                <a:cs typeface="+mn-cs"/>
              </a:defRPr>
            </a:pPr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AI Agent 集成 · SQL 分级鉴权 · 审计与监控</a:t>
            </a:r>
            <a:r>
              <a:rPr lang="en-US" alt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·工程化与安全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49" name="矩形 348"/>
          <p:cNvSpPr/>
          <p:nvPr/>
        </p:nvSpPr>
        <p:spPr>
          <a:xfrm>
            <a:off x="65532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04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50" name="矩形 349"/>
          <p:cNvSpPr/>
          <p:nvPr/>
        </p:nvSpPr>
        <p:spPr>
          <a:xfrm>
            <a:off x="76962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推广价值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51" name="矩形 350"/>
          <p:cNvSpPr/>
          <p:nvPr/>
        </p:nvSpPr>
        <p:spPr>
          <a:xfrm>
            <a:off x="76962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多数据源与大模型支持 · 多场景适用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椭圆 352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4" name="矩形 353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5" name="矩形 35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356" name="矩形 355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01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357" name="矩形 356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项目背景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58" name="矩形 357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痛点分析 · 解决方案 · 目标用户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359" name="矩形 358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360" name="矩形 35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03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矩形 361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3" name="矩形 36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64" name="矩形 363"/>
          <p:cNvSpPr/>
          <p:nvPr/>
        </p:nvSpPr>
        <p:spPr>
          <a:xfrm>
            <a:off x="6858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65" name="矩形 364"/>
          <p:cNvSpPr/>
          <p:nvPr/>
        </p:nvSpPr>
        <p:spPr>
          <a:xfrm>
            <a:off x="9652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6" name="椭圆 365"/>
          <p:cNvSpPr/>
          <p:nvPr/>
        </p:nvSpPr>
        <p:spPr>
          <a:xfrm>
            <a:off x="9906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7" name="椭圆 366"/>
          <p:cNvSpPr/>
          <p:nvPr/>
        </p:nvSpPr>
        <p:spPr>
          <a:xfrm>
            <a:off x="9906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8" name="椭圆 367"/>
          <p:cNvSpPr/>
          <p:nvPr/>
        </p:nvSpPr>
        <p:spPr>
          <a:xfrm>
            <a:off x="9906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9" name="矩形 368"/>
          <p:cNvSpPr/>
          <p:nvPr/>
        </p:nvSpPr>
        <p:spPr>
          <a:xfrm>
            <a:off x="43815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70" name="矩形 369"/>
          <p:cNvSpPr/>
          <p:nvPr/>
        </p:nvSpPr>
        <p:spPr>
          <a:xfrm>
            <a:off x="46609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1" name="椭圆 370"/>
          <p:cNvSpPr/>
          <p:nvPr/>
        </p:nvSpPr>
        <p:spPr>
          <a:xfrm>
            <a:off x="46863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2" name="椭圆 371"/>
          <p:cNvSpPr/>
          <p:nvPr/>
        </p:nvSpPr>
        <p:spPr>
          <a:xfrm>
            <a:off x="46863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3" name="椭圆 372"/>
          <p:cNvSpPr/>
          <p:nvPr/>
        </p:nvSpPr>
        <p:spPr>
          <a:xfrm>
            <a:off x="46863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4" name="矩形 373"/>
          <p:cNvSpPr/>
          <p:nvPr/>
        </p:nvSpPr>
        <p:spPr>
          <a:xfrm>
            <a:off x="80772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75" name="矩形 374"/>
          <p:cNvSpPr/>
          <p:nvPr/>
        </p:nvSpPr>
        <p:spPr>
          <a:xfrm>
            <a:off x="83566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6" name="椭圆 375"/>
          <p:cNvSpPr/>
          <p:nvPr/>
        </p:nvSpPr>
        <p:spPr>
          <a:xfrm>
            <a:off x="83820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7" name="椭圆 376"/>
          <p:cNvSpPr/>
          <p:nvPr/>
        </p:nvSpPr>
        <p:spPr>
          <a:xfrm>
            <a:off x="83820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8" name="椭圆 377"/>
          <p:cNvSpPr/>
          <p:nvPr/>
        </p:nvSpPr>
        <p:spPr>
          <a:xfrm>
            <a:off x="83820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9" name="矩形 378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痛点分析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80" name="矩形 379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在银行、运维、业务分析等场景中，取数与用数普遍存在三类问题。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1" name="矩形 380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82" name="矩形 381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04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83" name="矩形 382"/>
          <p:cNvSpPr/>
          <p:nvPr/>
        </p:nvSpPr>
        <p:spPr>
          <a:xfrm>
            <a:off x="9652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业务人员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84" name="矩形 383"/>
          <p:cNvSpPr/>
          <p:nvPr/>
        </p:nvSpPr>
        <p:spPr>
          <a:xfrm>
            <a:off x="11557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取数要提申请、等排期，链路长、周期久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5" name="矩形 384"/>
          <p:cNvSpPr/>
          <p:nvPr/>
        </p:nvSpPr>
        <p:spPr>
          <a:xfrm>
            <a:off x="11557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只能拿到数字拿不到图，做趋势还得靠 Excel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6" name="矩形 385"/>
          <p:cNvSpPr/>
          <p:nvPr/>
        </p:nvSpPr>
        <p:spPr>
          <a:xfrm>
            <a:off x="11557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想看数据却没有自助入口，处处依赖技术同事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7" name="矩形 386"/>
          <p:cNvSpPr/>
          <p:nvPr/>
        </p:nvSpPr>
        <p:spPr>
          <a:xfrm>
            <a:off x="46609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开发人员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88" name="矩形 387"/>
          <p:cNvSpPr/>
          <p:nvPr/>
        </p:nvSpPr>
        <p:spPr>
          <a:xfrm>
            <a:off x="48514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复杂 SQL 不熟练，常用查询反复重写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9" name="矩形 388"/>
          <p:cNvSpPr/>
          <p:nvPr/>
        </p:nvSpPr>
        <p:spPr>
          <a:xfrm>
            <a:off x="48514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大模型不了解真实表结构，生成的 SQL 不可直接用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0" name="矩形 389"/>
          <p:cNvSpPr/>
          <p:nvPr/>
        </p:nvSpPr>
        <p:spPr>
          <a:xfrm>
            <a:off x="48514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误执行 DML / DDL 会造成数据事故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1" name="矩形 390"/>
          <p:cNvSpPr/>
          <p:nvPr/>
        </p:nvSpPr>
        <p:spPr>
          <a:xfrm>
            <a:off x="83566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运维 / DBA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92" name="矩形 391"/>
          <p:cNvSpPr/>
          <p:nvPr/>
        </p:nvSpPr>
        <p:spPr>
          <a:xfrm>
            <a:off x="85471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负责系统多，难以熟悉所有库表结构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3" name="矩形 392"/>
          <p:cNvSpPr/>
          <p:nvPr/>
        </p:nvSpPr>
        <p:spPr>
          <a:xfrm>
            <a:off x="85471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各数据库语法与客户端不统一，运维繁琐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85471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缺少统一可观测视图：谁查了什么、哪里慢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矩形 39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04" name="矩形 40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解决方案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05" name="矩形 404"/>
          <p:cNvSpPr/>
          <p:nvPr/>
        </p:nvSpPr>
        <p:spPr>
          <a:xfrm>
            <a:off x="695325" y="1412240"/>
            <a:ext cx="10820400" cy="730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altLang="en-US" sz="1100">
                <a:sym typeface="+mn-ea"/>
              </a:rPr>
              <a:t>构建一个基于 </a:t>
            </a:r>
            <a:r>
              <a:rPr lang="en-US" altLang="zh-CN" sz="1100">
                <a:sym typeface="+mn-ea"/>
              </a:rPr>
              <a:t>AI Agent </a:t>
            </a:r>
            <a:r>
              <a:rPr lang="zh-CN" altLang="en-US" sz="1100">
                <a:sym typeface="+mn-ea"/>
              </a:rPr>
              <a:t>驱动的数据库查询与运维工作台</a:t>
            </a:r>
            <a:r>
              <a:rPr lang="en-US" sz="1100">
                <a:sym typeface="+mn-ea"/>
              </a:rPr>
              <a:t>，</a:t>
            </a:r>
            <a:r>
              <a:rPr lang="zh-CN" altLang="en-US" sz="1100">
                <a:sym typeface="+mn-ea"/>
              </a:rPr>
              <a:t>把「自然语言查询、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工作台、可视化报表、权限管理、运维监控」整合成一个闭环</a:t>
            </a:r>
            <a:r>
              <a:rPr lang="en-US" altLang="zh-CN" sz="1100">
                <a:sym typeface="+mn-ea"/>
              </a:rPr>
              <a:t>，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让不会写 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的业务人员也能安全地查数据，会写 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的技术人员效率更高效</a:t>
            </a:r>
            <a:r>
              <a:rPr lang="en-US" altLang="zh-CN" sz="1100">
                <a:sym typeface="+mn-ea"/>
              </a:rPr>
              <a:t>。</a:t>
            </a:r>
            <a:endParaRPr lang="en-US" altLang="zh-CN" sz="1100">
              <a:sym typeface="+mn-ea"/>
            </a:endParaRPr>
          </a:p>
        </p:txBody>
      </p:sp>
      <p:sp>
        <p:nvSpPr>
          <p:cNvPr id="406" name="矩形 40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07" name="矩形 40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05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2780665"/>
            <a:ext cx="7217410" cy="2000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椭圆 426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8" name="矩形 427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29" name="矩形 42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430" name="矩形 429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02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431" name="矩形 430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系统功能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32" name="矩形 431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功能全景 · 七大功能演示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433" name="矩形 432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434" name="矩形 433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06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矩形 43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7" name="矩形 43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38" name="矩形 437"/>
          <p:cNvSpPr/>
          <p:nvPr/>
        </p:nvSpPr>
        <p:spPr>
          <a:xfrm>
            <a:off x="685800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39" name="矩形 438"/>
          <p:cNvSpPr/>
          <p:nvPr/>
        </p:nvSpPr>
        <p:spPr>
          <a:xfrm>
            <a:off x="9398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0" name="矩形 439"/>
          <p:cNvSpPr/>
          <p:nvPr/>
        </p:nvSpPr>
        <p:spPr>
          <a:xfrm>
            <a:off x="3449638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1" name="矩形 440"/>
          <p:cNvSpPr/>
          <p:nvPr/>
        </p:nvSpPr>
        <p:spPr>
          <a:xfrm>
            <a:off x="3703638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2" name="矩形 441"/>
          <p:cNvSpPr/>
          <p:nvPr/>
        </p:nvSpPr>
        <p:spPr>
          <a:xfrm>
            <a:off x="6213475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3" name="矩形 442"/>
          <p:cNvSpPr/>
          <p:nvPr/>
        </p:nvSpPr>
        <p:spPr>
          <a:xfrm>
            <a:off x="6467475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4" name="矩形 443"/>
          <p:cNvSpPr/>
          <p:nvPr/>
        </p:nvSpPr>
        <p:spPr>
          <a:xfrm>
            <a:off x="8977313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5" name="矩形 444"/>
          <p:cNvSpPr/>
          <p:nvPr/>
        </p:nvSpPr>
        <p:spPr>
          <a:xfrm>
            <a:off x="9231313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6" name="矩形 445"/>
          <p:cNvSpPr/>
          <p:nvPr/>
        </p:nvSpPr>
        <p:spPr>
          <a:xfrm>
            <a:off x="685800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7" name="矩形 446"/>
          <p:cNvSpPr/>
          <p:nvPr/>
        </p:nvSpPr>
        <p:spPr>
          <a:xfrm>
            <a:off x="939800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8" name="矩形 447"/>
          <p:cNvSpPr/>
          <p:nvPr/>
        </p:nvSpPr>
        <p:spPr>
          <a:xfrm>
            <a:off x="3449638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9" name="矩形 448"/>
          <p:cNvSpPr/>
          <p:nvPr/>
        </p:nvSpPr>
        <p:spPr>
          <a:xfrm>
            <a:off x="3703638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0" name="矩形 449"/>
          <p:cNvSpPr/>
          <p:nvPr/>
        </p:nvSpPr>
        <p:spPr>
          <a:xfrm>
            <a:off x="6213475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51" name="矩形 450"/>
          <p:cNvSpPr/>
          <p:nvPr/>
        </p:nvSpPr>
        <p:spPr>
          <a:xfrm>
            <a:off x="6467475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2" name="矩形 451"/>
          <p:cNvSpPr/>
          <p:nvPr/>
        </p:nvSpPr>
        <p:spPr>
          <a:xfrm>
            <a:off x="8977313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53" name="矩形 452"/>
          <p:cNvSpPr/>
          <p:nvPr/>
        </p:nvSpPr>
        <p:spPr>
          <a:xfrm>
            <a:off x="9231313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4" name="矩形 45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功能全景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5" name="矩形 454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八大模块围绕「连接 → 查询 → 分析 → 报表 → 管理」闭环组织。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56" name="矩形 45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07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58" name="矩形 457"/>
          <p:cNvSpPr/>
          <p:nvPr/>
        </p:nvSpPr>
        <p:spPr>
          <a:xfrm>
            <a:off x="939800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连接管理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9" name="矩形 458"/>
          <p:cNvSpPr/>
          <p:nvPr/>
        </p:nvSpPr>
        <p:spPr>
          <a:xfrm>
            <a:off x="939800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8 类数据源、SSH 隧道、多环境标签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0" name="矩形 459"/>
          <p:cNvSpPr/>
          <p:nvPr/>
        </p:nvSpPr>
        <p:spPr>
          <a:xfrm>
            <a:off x="3703638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SQL 工作台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1" name="矩形 460"/>
          <p:cNvSpPr/>
          <p:nvPr/>
        </p:nvSpPr>
        <p:spPr>
          <a:xfrm>
            <a:off x="3703638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多 Tab 编辑、对象树、结果集直编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2" name="矩形 461"/>
          <p:cNvSpPr/>
          <p:nvPr/>
        </p:nvSpPr>
        <p:spPr>
          <a:xfrm>
            <a:off x="6467475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元数据管理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3" name="矩形 462"/>
          <p:cNvSpPr/>
          <p:nvPr/>
        </p:nvSpPr>
        <p:spPr>
          <a:xfrm>
            <a:off x="6467475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表 / 索引 / DDL / 视图 / 函数、结构对比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4" name="矩形 463"/>
          <p:cNvSpPr/>
          <p:nvPr/>
        </p:nvSpPr>
        <p:spPr>
          <a:xfrm>
            <a:off x="9231313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AI 智能查询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5" name="矩形 464"/>
          <p:cNvSpPr/>
          <p:nvPr/>
        </p:nvSpPr>
        <p:spPr>
          <a:xfrm>
            <a:off x="9231313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自然语言转 SQL、多轮会话、自动出图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6" name="矩形 465"/>
          <p:cNvSpPr/>
          <p:nvPr/>
        </p:nvSpPr>
        <p:spPr>
          <a:xfrm>
            <a:off x="939800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可视化报表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7" name="矩形 466"/>
          <p:cNvSpPr/>
          <p:nvPr/>
        </p:nvSpPr>
        <p:spPr>
          <a:xfrm>
            <a:off x="939800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11 种图表、拖拽仪表盘、分享大屏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8" name="矩形 467"/>
          <p:cNvSpPr/>
          <p:nvPr/>
        </p:nvSpPr>
        <p:spPr>
          <a:xfrm>
            <a:off x="3703638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文档导出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9" name="矩形 468"/>
          <p:cNvSpPr/>
          <p:nvPr/>
        </p:nvSpPr>
        <p:spPr>
          <a:xfrm>
            <a:off x="3703638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CSV / Excel / JSON、库文档导出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70" name="矩形 469"/>
          <p:cNvSpPr/>
          <p:nvPr/>
        </p:nvSpPr>
        <p:spPr>
          <a:xfrm>
            <a:off x="6467475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用户与角色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71" name="矩形 470"/>
          <p:cNvSpPr/>
          <p:nvPr/>
        </p:nvSpPr>
        <p:spPr>
          <a:xfrm>
            <a:off x="6467475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按角色控制权限、菜单与接口双重校验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9231313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运维监控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73" name="矩形 472"/>
          <p:cNvSpPr/>
          <p:nvPr/>
        </p:nvSpPr>
        <p:spPr>
          <a:xfrm>
            <a:off x="9231313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慢查询、连接概览、审计日志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7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77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478" name="矩形 477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9" name="矩形 47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80" name="椭圆 479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1" name="椭圆 480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2" name="椭圆 481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3" name="椭圆 482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4" name="矩形 48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自然语言查询数据库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85" name="矩形 484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86" name="矩形 485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08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88" name="矩形 487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489" name="矩形 488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一句话生成 SQL，无需手写语句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90" name="矩形 489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SSE 流式回传思考过程与 SQL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91" name="矩形 490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切换数据源即可跨库查询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92" name="矩形 491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结果一键导出 CSV / Excel / JSON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3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7" name="椭圆 6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" name="椭圆 7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9" name="椭圆 8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" name="椭圆 9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" name="矩形 10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自然语言生成图表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09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一句话查询数据并生成图表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根据数据特征自动选择图表类型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一键保存到可视化报表复用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拖拽式仪表盘可编辑、可分享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22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23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" name="矩形 2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" name="椭圆 25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7" name="椭圆 26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8" name="椭圆 27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" name="椭圆 28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" name="矩形 29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SQL 工作台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10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表 / 索引 / DDL / 视图 / 函数元数据管理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Agent 辅助快速生成 SQL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生成的 SQL 可填入编辑器继续编辑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执行历史留痕 + SQL 收藏复用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1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2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" name="矩形 43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5" name="椭圆 44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6" name="椭圆 45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" name="椭圆 46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" name="椭圆 47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9" name="矩形 48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SQL 语句分级安全控制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11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READ：只读查询自动执行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DML：UPDATE 确认后才生效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DDL：红色危险提示并展示完整语句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全部操作写入审计日志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60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61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3" name="矩形 6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64" name="椭圆 63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5" name="椭圆 64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6" name="椭圆 65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7" name="椭圆 66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8" name="矩形 67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运维监控与日志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12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32 秒）：连接概览 → 审计日志 → 慢查询 → 表结构对比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连接概览：查询量 / 耗时 / 成功率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审计日志：登录与 SQL 执行全量留痕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慢查询：按阈值统计耗时 SQL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表结构对比：多环境差异一目了然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79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80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2" name="矩形 81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83" name="椭圆 82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4" name="椭圆 83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5" name="椭圆 84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6" name="椭圆 85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7" name="矩形 86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数据库与大模型连接管理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13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数据库连接配置：7 类数据源支持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大模型连接配置：OpenAI / Claude / Ollama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一键测试数据库与大模型连通性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密码与 API Key 加密存储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98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99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100" name="矩形 99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02" name="椭圆 101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3" name="椭圆 102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4" name="椭圆 103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5" name="椭圆 104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6" name="矩形 10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用户与角色管理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14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用户管理：账号 / 角色 / 状态 / 重置密码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角色管理：按角色控制功能权限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权限项按模块分组勾选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前端菜单与后端接口双重控制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椭圆 115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矩形 116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119" name="矩形 118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03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技术亮点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AI Agent 集成 · SQL 分级鉴权 · 审计与监控</a:t>
            </a:r>
            <a:r>
              <a:rPr lang="en-US" alt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·</a:t>
            </a:r>
            <a:r>
              <a:rPr lang="en-US" alt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工程化与安全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15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6" name="矩形 12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27" name="矩形 126"/>
          <p:cNvSpPr/>
          <p:nvPr/>
        </p:nvSpPr>
        <p:spPr>
          <a:xfrm>
            <a:off x="6858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28" name="矩形 127"/>
          <p:cNvSpPr/>
          <p:nvPr/>
        </p:nvSpPr>
        <p:spPr>
          <a:xfrm>
            <a:off x="9906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9" name="矩形 128"/>
          <p:cNvSpPr/>
          <p:nvPr/>
        </p:nvSpPr>
        <p:spPr>
          <a:xfrm>
            <a:off x="62484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0" name="矩形 129"/>
          <p:cNvSpPr/>
          <p:nvPr/>
        </p:nvSpPr>
        <p:spPr>
          <a:xfrm>
            <a:off x="65532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1" name="矩形 130"/>
          <p:cNvSpPr/>
          <p:nvPr/>
        </p:nvSpPr>
        <p:spPr>
          <a:xfrm>
            <a:off x="6858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2" name="矩形 131"/>
          <p:cNvSpPr/>
          <p:nvPr/>
        </p:nvSpPr>
        <p:spPr>
          <a:xfrm>
            <a:off x="9906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3" name="矩形 132"/>
          <p:cNvSpPr/>
          <p:nvPr/>
        </p:nvSpPr>
        <p:spPr>
          <a:xfrm>
            <a:off x="62484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/>
          <p:nvPr/>
        </p:nvSpPr>
        <p:spPr>
          <a:xfrm>
            <a:off x="65532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5" name="矩形 134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AI Agent 深度集成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不是简单调用大模型，而是把「工具调用、失败自愈、经验复用」做成工程闭环。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16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906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工具调用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9906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Agent 按需调用 list_tables、get_columns、sample_data、explain 四个工具，实时获取真实表结构、采样数据与执行计划，从源头杜绝编造表名列名。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65532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失败自动修正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65532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READ 查询执行失败时，把真实报错回传 LLM 自动修正并重试；鉴权失败等非 SQL 错误不重试，避免无效循环。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9906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历史 SQL few-shot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9906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每轮对话注入历史执行成功的 SQL 作为示例，按提问相似度、表名重合度与执行频次加权排序后取前 3 条。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65532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多轮会话 + 流式透明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65532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上下文连续，可追问、可改条件；SSE 流式输出 thought → tool → sql → result，前端逐段渲染，过程完全透明。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表格 14"/>
          <p:cNvGraphicFramePr/>
          <p:nvPr/>
        </p:nvGraphicFramePr>
        <p:xfrm>
          <a:off x="685800" y="1986915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149" name="矩形 148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50" name="矩形 149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51" name="矩形 150"/>
          <p:cNvSpPr/>
          <p:nvPr/>
        </p:nvSpPr>
        <p:spPr>
          <a:xfrm>
            <a:off x="685800" y="5444490"/>
            <a:ext cx="10820400" cy="5334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txBody>
          <a:bodyPr/>
          <a:p/>
        </p:txBody>
      </p:sp>
      <p:sp>
        <p:nvSpPr>
          <p:cNvPr id="152" name="矩形 151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SQL 分级鉴权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按 SQL 类型分级鉴权：READ 自动执行、DML 需确认、DDL 高危二次确认。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17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14400" y="5571490"/>
            <a:ext cx="10363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所有 SQL 强制走服务层，不允许绕过鉴权直接调用适配器；确认时再次鉴权并写入审计。</a:t>
            </a:r>
            <a:endParaRPr lang="zh-CN" sz="1000">
              <a:solidFill>
                <a:srgbClr val="0A47C2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59" name="矩形 15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76" name="矩形 17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审计与监控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让每一次操作都可追溯、可观察。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18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1640500" y="1879600"/>
            <a:ext cx="3429000" cy="381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" name="矩形 1"/>
          <p:cNvSpPr/>
          <p:nvPr/>
        </p:nvSpPr>
        <p:spPr>
          <a:xfrm>
            <a:off x="1919900" y="21590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" name="椭圆 2"/>
          <p:cNvSpPr/>
          <p:nvPr/>
        </p:nvSpPr>
        <p:spPr>
          <a:xfrm>
            <a:off x="19453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" name="椭圆 3"/>
          <p:cNvSpPr/>
          <p:nvPr/>
        </p:nvSpPr>
        <p:spPr>
          <a:xfrm>
            <a:off x="1945300" y="3822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5" name="椭圆 4"/>
          <p:cNvSpPr/>
          <p:nvPr/>
        </p:nvSpPr>
        <p:spPr>
          <a:xfrm>
            <a:off x="1945300" y="4610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" name="椭圆 5"/>
          <p:cNvSpPr/>
          <p:nvPr/>
        </p:nvSpPr>
        <p:spPr>
          <a:xfrm>
            <a:off x="1945300" y="5397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7" name="矩形 6"/>
          <p:cNvSpPr/>
          <p:nvPr/>
        </p:nvSpPr>
        <p:spPr>
          <a:xfrm>
            <a:off x="6843100" y="1879600"/>
            <a:ext cx="3429000" cy="381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8" name="矩形 7"/>
          <p:cNvSpPr/>
          <p:nvPr/>
        </p:nvSpPr>
        <p:spPr>
          <a:xfrm>
            <a:off x="7122500" y="21590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9" name="椭圆 8"/>
          <p:cNvSpPr/>
          <p:nvPr/>
        </p:nvSpPr>
        <p:spPr>
          <a:xfrm>
            <a:off x="71479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" name="椭圆 9"/>
          <p:cNvSpPr/>
          <p:nvPr/>
        </p:nvSpPr>
        <p:spPr>
          <a:xfrm>
            <a:off x="7147900" y="3822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" name="椭圆 10"/>
          <p:cNvSpPr/>
          <p:nvPr/>
        </p:nvSpPr>
        <p:spPr>
          <a:xfrm>
            <a:off x="7147900" y="4610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" name="矩形 11"/>
          <p:cNvSpPr/>
          <p:nvPr/>
        </p:nvSpPr>
        <p:spPr>
          <a:xfrm>
            <a:off x="1919900" y="23622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审计日志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10400" y="29464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登录、SQL 执行、Agent 动作全量留痕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10400" y="3733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操作类型、SQL 文本、状态可追溯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10400" y="4521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支持导出 CSV / XLSX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10400" y="5308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按保留期自动清理（默认 180 天）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22500" y="23622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监控</a:t>
            </a:r>
            <a:endParaRPr lang="zh-CN" sz="1600" b="1">
              <a:solidFill>
                <a:srgbClr val="0F172A">
                  <a:alpha val="100000"/>
                </a:srgbClr>
              </a:solidFill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313000" y="29464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按耗时阈值统计查询慢 SQL</a:t>
            </a:r>
            <a:endParaRPr lang="zh-CN" sz="1000">
              <a:solidFill>
                <a:srgbClr val="475569">
                  <a:alpha val="100000"/>
                </a:srgbClr>
              </a:solidFill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13000" y="3733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连接概览：查询量 / 耗时 / 成功率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313000" y="4521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多环境表结构差异对比</a:t>
            </a:r>
            <a:endParaRPr lang="zh-CN" sz="1000">
              <a:solidFill>
                <a:srgbClr val="475569">
                  <a:alpha val="100000"/>
                </a:srgbClr>
              </a:solidFill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矩形 20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6" name="矩形 20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07" name="矩形 206"/>
          <p:cNvSpPr/>
          <p:nvPr/>
        </p:nvSpPr>
        <p:spPr>
          <a:xfrm>
            <a:off x="6858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08" name="矩形 207"/>
          <p:cNvSpPr/>
          <p:nvPr/>
        </p:nvSpPr>
        <p:spPr>
          <a:xfrm>
            <a:off x="9652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9" name="椭圆 208"/>
          <p:cNvSpPr/>
          <p:nvPr/>
        </p:nvSpPr>
        <p:spPr>
          <a:xfrm>
            <a:off x="9906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0" name="椭圆 209"/>
          <p:cNvSpPr/>
          <p:nvPr/>
        </p:nvSpPr>
        <p:spPr>
          <a:xfrm>
            <a:off x="9906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1" name="椭圆 210"/>
          <p:cNvSpPr/>
          <p:nvPr/>
        </p:nvSpPr>
        <p:spPr>
          <a:xfrm>
            <a:off x="9906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2" name="矩形 211"/>
          <p:cNvSpPr/>
          <p:nvPr/>
        </p:nvSpPr>
        <p:spPr>
          <a:xfrm>
            <a:off x="43815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13" name="矩形 212"/>
          <p:cNvSpPr/>
          <p:nvPr/>
        </p:nvSpPr>
        <p:spPr>
          <a:xfrm>
            <a:off x="46609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4" name="椭圆 213"/>
          <p:cNvSpPr/>
          <p:nvPr/>
        </p:nvSpPr>
        <p:spPr>
          <a:xfrm>
            <a:off x="46863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5" name="椭圆 214"/>
          <p:cNvSpPr/>
          <p:nvPr/>
        </p:nvSpPr>
        <p:spPr>
          <a:xfrm>
            <a:off x="46863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6" name="椭圆 215"/>
          <p:cNvSpPr/>
          <p:nvPr/>
        </p:nvSpPr>
        <p:spPr>
          <a:xfrm>
            <a:off x="46863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7" name="矩形 216"/>
          <p:cNvSpPr/>
          <p:nvPr/>
        </p:nvSpPr>
        <p:spPr>
          <a:xfrm>
            <a:off x="80772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18" name="矩形 217"/>
          <p:cNvSpPr/>
          <p:nvPr/>
        </p:nvSpPr>
        <p:spPr>
          <a:xfrm>
            <a:off x="83566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9" name="椭圆 218"/>
          <p:cNvSpPr/>
          <p:nvPr/>
        </p:nvSpPr>
        <p:spPr>
          <a:xfrm>
            <a:off x="83820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0" name="椭圆 219"/>
          <p:cNvSpPr/>
          <p:nvPr/>
        </p:nvSpPr>
        <p:spPr>
          <a:xfrm>
            <a:off x="8382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1" name="椭圆 220"/>
          <p:cNvSpPr/>
          <p:nvPr/>
        </p:nvSpPr>
        <p:spPr>
          <a:xfrm>
            <a:off x="83820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2" name="矩形 221"/>
          <p:cNvSpPr/>
          <p:nvPr/>
        </p:nvSpPr>
        <p:spPr>
          <a:xfrm>
            <a:off x="685800" y="5613400"/>
            <a:ext cx="10820400" cy="5080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txBody>
          <a:bodyPr/>
          <a:p/>
        </p:txBody>
      </p:sp>
      <p:sp>
        <p:nvSpPr>
          <p:cNvPr id="223" name="矩形 222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工程化与安全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安全围栏、统一规范与自动化测试，保证工程质量可靠。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19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9652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安全围栏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11557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Fernet 加密数据库密码、SSH 私钥与 AI Key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11557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对外只暴露 has_* 布尔值，不回传明文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11557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pbkdf2 密码哈希 + Cookie Session（24h）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46609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工程规范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48514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统一响应 {code, message, data}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48514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统一异常处理与请求校验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48514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数据文件相对 data/ 存储，迁移免改配置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83566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质量保障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36" name="矩形 235"/>
          <p:cNvSpPr/>
          <p:nvPr/>
        </p:nvSpPr>
        <p:spPr>
          <a:xfrm>
            <a:off x="85471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167 个后端自动化用例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85471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19 个前端 E2E 断言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85471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19 个 AI 查询验收案例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测试覆盖：用户与角色、连接池、SQL 执行、Agent、监控、元数据与导出、大模型连通性</a:t>
            </a:r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等。</a:t>
            </a:r>
            <a:endParaRPr lang="zh-CN" sz="1000">
              <a:solidFill>
                <a:srgbClr val="0A47C2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椭圆 240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2" name="矩形 241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43" name="矩形 24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244" name="矩形 243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04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推广价值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多数据源与大模型支持 · 多场景适用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247" name="矩形 24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20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 249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1" name="矩形 250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52" name="矩形 251"/>
          <p:cNvSpPr/>
          <p:nvPr/>
        </p:nvSpPr>
        <p:spPr>
          <a:xfrm>
            <a:off x="685800" y="190500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3" name="矩形 252"/>
          <p:cNvSpPr/>
          <p:nvPr/>
        </p:nvSpPr>
        <p:spPr>
          <a:xfrm>
            <a:off x="990600" y="22098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4" name="矩形 253"/>
          <p:cNvSpPr/>
          <p:nvPr/>
        </p:nvSpPr>
        <p:spPr>
          <a:xfrm>
            <a:off x="6248400" y="190500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5" name="矩形 254"/>
          <p:cNvSpPr/>
          <p:nvPr/>
        </p:nvSpPr>
        <p:spPr>
          <a:xfrm>
            <a:off x="6553200" y="22098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6" name="矩形 25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多数据源与大模型支持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57" name="矩形 256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模型与数据源接入配置简单快捷，开箱即用。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21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60" name="矩形 259"/>
          <p:cNvSpPr/>
          <p:nvPr/>
        </p:nvSpPr>
        <p:spPr>
          <a:xfrm>
            <a:off x="990600" y="238760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大模型接入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90600" y="287020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OpenAI 官方与兼容网关、Claude、Ollama 统一抽象，chat / stream / ping 一套接口；支持一键测试连通性，缺失 Key 时快速失败。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6553200" y="238760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数据源接入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6553200" y="287020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SQLite、MySQL、PostgreSQL、Oracle、MongoDB、OceanBase、GoldenDB，统一适配层屏蔽方言差异。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685800" y="51054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新增数据源只需实现适配器接口，注册后即可在连接管理中直接使用。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矩形 26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67" name="矩形 26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8" name="矩形 267"/>
          <p:cNvSpPr/>
          <p:nvPr/>
        </p:nvSpPr>
        <p:spPr>
          <a:xfrm>
            <a:off x="685800" y="19558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69" name="矩形 268"/>
          <p:cNvSpPr/>
          <p:nvPr/>
        </p:nvSpPr>
        <p:spPr>
          <a:xfrm>
            <a:off x="3403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0" name="矩形 269"/>
          <p:cNvSpPr/>
          <p:nvPr/>
        </p:nvSpPr>
        <p:spPr>
          <a:xfrm>
            <a:off x="7467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1" name="矩形 270"/>
          <p:cNvSpPr/>
          <p:nvPr/>
        </p:nvSpPr>
        <p:spPr>
          <a:xfrm>
            <a:off x="685800" y="33020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72" name="矩形 271"/>
          <p:cNvSpPr/>
          <p:nvPr/>
        </p:nvSpPr>
        <p:spPr>
          <a:xfrm>
            <a:off x="3403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3" name="矩形 272"/>
          <p:cNvSpPr/>
          <p:nvPr/>
        </p:nvSpPr>
        <p:spPr>
          <a:xfrm>
            <a:off x="7467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4" name="矩形 273"/>
          <p:cNvSpPr/>
          <p:nvPr/>
        </p:nvSpPr>
        <p:spPr>
          <a:xfrm>
            <a:off x="685800" y="46482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75" name="矩形 274"/>
          <p:cNvSpPr/>
          <p:nvPr/>
        </p:nvSpPr>
        <p:spPr>
          <a:xfrm>
            <a:off x="3403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6" name="矩形 275"/>
          <p:cNvSpPr/>
          <p:nvPr/>
        </p:nvSpPr>
        <p:spPr>
          <a:xfrm>
            <a:off x="7467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7" name="矩形 276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多场景适用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三类角色，三种典型用法。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79" name="矩形 278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22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990600" y="1625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用户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3733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核心需求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3" name="矩形 282"/>
          <p:cNvSpPr/>
          <p:nvPr/>
        </p:nvSpPr>
        <p:spPr>
          <a:xfrm>
            <a:off x="7797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典型场景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4" name="矩形 283"/>
          <p:cNvSpPr/>
          <p:nvPr/>
        </p:nvSpPr>
        <p:spPr>
          <a:xfrm>
            <a:off x="990600" y="23622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开发人员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85" name="矩形 284"/>
          <p:cNvSpPr/>
          <p:nvPr/>
        </p:nvSpPr>
        <p:spPr>
          <a:xfrm>
            <a:off x="3733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快速查数、编写与优化 SQL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86" name="矩形 285"/>
          <p:cNvSpPr/>
          <p:nvPr/>
        </p:nvSpPr>
        <p:spPr>
          <a:xfrm>
            <a:off x="7797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日常开发、SQL 验证与调优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87" name="矩形 286"/>
          <p:cNvSpPr/>
          <p:nvPr/>
        </p:nvSpPr>
        <p:spPr>
          <a:xfrm>
            <a:off x="990600" y="370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业务 / 产品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88" name="矩形 287"/>
          <p:cNvSpPr/>
          <p:nvPr/>
        </p:nvSpPr>
        <p:spPr>
          <a:xfrm>
            <a:off x="3733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自然语言取数、快速做报表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7797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数据分析、辅助决策、快速核对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90" name="矩形 289"/>
          <p:cNvSpPr/>
          <p:nvPr/>
        </p:nvSpPr>
        <p:spPr>
          <a:xfrm>
            <a:off x="990600" y="5054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DBA / 运维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91" name="矩形 290"/>
          <p:cNvSpPr/>
          <p:nvPr/>
        </p:nvSpPr>
        <p:spPr>
          <a:xfrm>
            <a:off x="3733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统一入口、便于管理、全量审计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7797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生产问题定位、数据治理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 293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5" name="矩形 29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96" name="矩形 295"/>
          <p:cNvSpPr/>
          <p:nvPr/>
        </p:nvSpPr>
        <p:spPr>
          <a:xfrm>
            <a:off x="685800" y="19558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7" name="矩形 296"/>
          <p:cNvSpPr/>
          <p:nvPr/>
        </p:nvSpPr>
        <p:spPr>
          <a:xfrm>
            <a:off x="990600" y="22860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8" name="矩形 297"/>
          <p:cNvSpPr/>
          <p:nvPr/>
        </p:nvSpPr>
        <p:spPr>
          <a:xfrm>
            <a:off x="685800" y="29464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9" name="矩形 298"/>
          <p:cNvSpPr/>
          <p:nvPr/>
        </p:nvSpPr>
        <p:spPr>
          <a:xfrm>
            <a:off x="990600" y="32766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0" name="矩形 299"/>
          <p:cNvSpPr/>
          <p:nvPr/>
        </p:nvSpPr>
        <p:spPr>
          <a:xfrm>
            <a:off x="685800" y="39370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01" name="矩形 300"/>
          <p:cNvSpPr/>
          <p:nvPr/>
        </p:nvSpPr>
        <p:spPr>
          <a:xfrm>
            <a:off x="990600" y="42672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2" name="矩形 301"/>
          <p:cNvSpPr/>
          <p:nvPr/>
        </p:nvSpPr>
        <p:spPr>
          <a:xfrm>
            <a:off x="685800" y="49276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03" name="矩形 302"/>
          <p:cNvSpPr/>
          <p:nvPr/>
        </p:nvSpPr>
        <p:spPr>
          <a:xfrm>
            <a:off x="990600" y="52578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4" name="矩形 30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后续计划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05" name="矩形 304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下一步演进方向。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06" name="矩形 30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23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08" name="矩形 307"/>
          <p:cNvSpPr/>
          <p:nvPr/>
        </p:nvSpPr>
        <p:spPr>
          <a:xfrm>
            <a:off x="1244600" y="22098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01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09" name="矩形 308"/>
          <p:cNvSpPr/>
          <p:nvPr/>
        </p:nvSpPr>
        <p:spPr>
          <a:xfrm>
            <a:off x="2006600" y="22352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补齐更多数据库对象支持（序列、触发器、存储过程等）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0" name="矩形 309"/>
          <p:cNvSpPr/>
          <p:nvPr/>
        </p:nvSpPr>
        <p:spPr>
          <a:xfrm>
            <a:off x="1244600" y="3200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02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2006600" y="32258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扩展 Agent 工具：索引建议、慢查询根因分析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1244600" y="4191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03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2006600" y="42164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增加团队协作与报表订阅推送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4" name="矩形 313"/>
          <p:cNvSpPr/>
          <p:nvPr/>
        </p:nvSpPr>
        <p:spPr>
          <a:xfrm>
            <a:off x="1244600" y="51816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04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15" name="矩形 314"/>
          <p:cNvSpPr/>
          <p:nvPr/>
        </p:nvSpPr>
        <p:spPr>
          <a:xfrm>
            <a:off x="2006600" y="52070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数据导出增加审核链路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椭圆 316"/>
          <p:cNvSpPr/>
          <p:nvPr/>
        </p:nvSpPr>
        <p:spPr>
          <a:xfrm>
            <a:off x="7874000" y="-1016000"/>
            <a:ext cx="5969000" cy="5969000"/>
          </a:xfrm>
          <a:prstGeom prst="ellipse">
            <a:avLst/>
          </a:prstGeom>
          <a:solidFill>
            <a:srgbClr val="0B5FFF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8" name="矩形 317"/>
          <p:cNvSpPr/>
          <p:nvPr/>
        </p:nvSpPr>
        <p:spPr>
          <a:xfrm>
            <a:off x="685800" y="2489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20" name="矩形 319"/>
          <p:cNvSpPr/>
          <p:nvPr/>
        </p:nvSpPr>
        <p:spPr>
          <a:xfrm>
            <a:off x="685800" y="27686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FFFFFF"/>
                </a:solidFill>
                <a:latin typeface="微软雅黑"/>
                <a:ea typeface="微软雅黑"/>
              </a:rPr>
              <a:t>让每个人都能安全、高效地与数据对话</a:t>
            </a:r>
            <a:endParaRPr lang="zh-CN" sz="3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711200" y="38100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DataMind · 数据库 Agent Web 应用 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711200" y="44450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>
                <a:solidFill>
                  <a:srgbClr val="0B5FFF"/>
                </a:solidFill>
                <a:latin typeface="微软雅黑"/>
                <a:ea typeface="微软雅黑"/>
              </a:rPr>
              <a:t>谢谢观看</a:t>
            </a:r>
            <a:endParaRPr lang="zh-CN" sz="1700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775335" y="5153025"/>
            <a:ext cx="1219200" cy="25400"/>
          </a:xfrm>
          <a:prstGeom prst="rect">
            <a:avLst/>
          </a:prstGeom>
          <a:solidFill>
            <a:srgbClr val="0B5FFF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矩形 201"/>
          <p:cNvSpPr/>
          <p:nvPr/>
        </p:nvSpPr>
        <p:spPr>
          <a:xfrm>
            <a:off x="800735" y="5305425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汇报人：刘瑶</a:t>
            </a:r>
            <a:endParaRPr lang="en-US" alt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800735" y="568642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汇报时间：2026 年 10 月</a:t>
            </a:r>
            <a:endParaRPr 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800735" y="609346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队伍名称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老山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冲锋队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0735" y="648017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队伍成员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刘瑶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、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郑海坤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3803</Words>
  <Application>WPS 演示</Application>
  <PresentationFormat/>
  <Paragraphs>493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方正雅意黑 GB18030L2</vt:lpstr>
      <vt:lpstr>Aptos</vt:lpstr>
      <vt:lpstr>Helvetica Neue</vt:lpstr>
      <vt:lpstr>微软雅黑</vt:lpstr>
      <vt:lpstr>宋体</vt:lpstr>
      <vt:lpstr>Arial Unicode MS</vt:lpstr>
      <vt:lpstr>汉仪书宋二KW</vt:lpstr>
      <vt:lpstr>Calibri</vt:lpstr>
      <vt:lpstr>微软雅黑</vt:lpstr>
      <vt:lpstr>华文仿宋</vt:lpstr>
      <vt:lpstr>Aptos</vt:lpstr>
      <vt:lpstr>Helvetica Neue Regular</vt:lpstr>
      <vt:lpstr>ChatGPT</vt:lpstr>
      <vt:lpstr>1_ChatGPT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笨小孩</cp:lastModifiedBy>
  <cp:revision>2</cp:revision>
  <dcterms:created xsi:type="dcterms:W3CDTF">2026-10-14T15:57:36Z</dcterms:created>
  <dcterms:modified xsi:type="dcterms:W3CDTF">2026-10-14T15:57:36Z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96583CA07E0BC41ABC76CF6A92350A16_43</vt:lpwstr>
  </property>
</Properties>
</file>