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0" r:id="rId21"/>
    <p:sldId id="272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9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5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4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7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8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1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.png"/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.png"/><Relationship Id="rId3" Type="http://schemas.microsoft.com/office/2007/relationships/media" Target="../media/media2.mp4"/><Relationship Id="rId2" Type="http://schemas.openxmlformats.org/officeDocument/2006/relationships/video" Target="NULL" TargetMode="Externa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.png"/><Relationship Id="rId3" Type="http://schemas.microsoft.com/office/2007/relationships/media" Target="../media/media3.mp4"/><Relationship Id="rId2" Type="http://schemas.openxmlformats.org/officeDocument/2006/relationships/video" Target="NULL" TargetMode="Externa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microsoft.com/office/2007/relationships/media" Target="../media/media4.mp4"/><Relationship Id="rId2" Type="http://schemas.openxmlformats.org/officeDocument/2006/relationships/video" Target="NULL" TargetMode="Externa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NULL" TargetMode="Externa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2.png"/><Relationship Id="rId3" Type="http://schemas.microsoft.com/office/2007/relationships/media" Target="../media/media6.mp4"/><Relationship Id="rId2" Type="http://schemas.openxmlformats.org/officeDocument/2006/relationships/video" Target="NULL" TargetMode="Externa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4.png"/><Relationship Id="rId3" Type="http://schemas.microsoft.com/office/2007/relationships/media" Target="../media/media7.mp4"/><Relationship Id="rId2" Type="http://schemas.openxmlformats.org/officeDocument/2006/relationships/video" Target="NULL" TargetMode="Externa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椭圆 193"/>
          <p:cNvSpPr/>
          <p:nvPr/>
        </p:nvSpPr>
        <p:spPr>
          <a:xfrm>
            <a:off x="7848600" y="-889000"/>
            <a:ext cx="5969000" cy="5969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5" name="椭圆 194"/>
          <p:cNvSpPr/>
          <p:nvPr/>
        </p:nvSpPr>
        <p:spPr>
          <a:xfrm>
            <a:off x="10007600" y="4089400"/>
            <a:ext cx="3810000" cy="3810000"/>
          </a:xfrm>
          <a:prstGeom prst="ellipse">
            <a:avLst/>
          </a:prstGeom>
          <a:solidFill>
            <a:srgbClr val="0B5FFF">
              <a:alpha val="6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6" name="矩形 195"/>
          <p:cNvSpPr/>
          <p:nvPr/>
        </p:nvSpPr>
        <p:spPr>
          <a:xfrm>
            <a:off x="685800" y="1905000"/>
            <a:ext cx="50800" cy="1270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990600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8" name="矩形 197"/>
          <p:cNvSpPr/>
          <p:nvPr/>
        </p:nvSpPr>
        <p:spPr>
          <a:xfrm>
            <a:off x="990600" y="18288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5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DataMind</a:t>
            </a:r>
            <a:endParaRPr lang="zh-CN" sz="5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016000" y="27432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000">
                <a:solidFill>
                  <a:srgbClr val="7FB3FF"/>
                </a:solidFill>
                <a:latin typeface="微软雅黑" panose="020B0503020204020204" charset="-122"/>
                <a:ea typeface="微软雅黑" panose="020B0503020204020204" charset="-122"/>
              </a:rPr>
              <a:t>数据库 Agent Web 应用</a:t>
            </a:r>
            <a:endParaRPr lang="zh-CN" sz="2000">
              <a:solidFill>
                <a:srgbClr val="7FB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1016000" y="33274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</a:rPr>
              <a:t>让不会写 SQL 的业务人员也能安全查数，让会写 SQL 的技术人员更高效。</a:t>
            </a:r>
            <a:endParaRPr lang="zh-CN" sz="120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1016000" y="41402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7FB3FF"/>
                </a:solidFill>
                <a:latin typeface="微软雅黑" panose="020B0503020204020204" charset="-122"/>
                <a:ea typeface="微软雅黑" panose="020B0503020204020204" charset="-122"/>
              </a:rPr>
              <a:t>AI Agent    ·    Multi-Database    ·    Security First</a:t>
            </a:r>
            <a:endParaRPr lang="zh-CN" sz="1100">
              <a:solidFill>
                <a:srgbClr val="7FB3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1016000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1016000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6000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000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矩形 32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7" name="矩形 32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28" name="矩形 327"/>
          <p:cNvSpPr/>
          <p:nvPr/>
        </p:nvSpPr>
        <p:spPr>
          <a:xfrm>
            <a:off x="6858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9" name="矩形 328"/>
          <p:cNvSpPr/>
          <p:nvPr/>
        </p:nvSpPr>
        <p:spPr>
          <a:xfrm>
            <a:off x="19050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0" name="矩形 329"/>
          <p:cNvSpPr/>
          <p:nvPr/>
        </p:nvSpPr>
        <p:spPr>
          <a:xfrm>
            <a:off x="6248400" y="18542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1" name="矩形 330"/>
          <p:cNvSpPr/>
          <p:nvPr/>
        </p:nvSpPr>
        <p:spPr>
          <a:xfrm>
            <a:off x="7467600" y="22860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2" name="矩形 331"/>
          <p:cNvSpPr/>
          <p:nvPr/>
        </p:nvSpPr>
        <p:spPr>
          <a:xfrm>
            <a:off x="6858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3" name="矩形 332"/>
          <p:cNvSpPr/>
          <p:nvPr/>
        </p:nvSpPr>
        <p:spPr>
          <a:xfrm>
            <a:off x="19050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4" name="矩形 333"/>
          <p:cNvSpPr/>
          <p:nvPr/>
        </p:nvSpPr>
        <p:spPr>
          <a:xfrm>
            <a:off x="6248400" y="3860800"/>
            <a:ext cx="5257800" cy="177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35" name="矩形 334"/>
          <p:cNvSpPr/>
          <p:nvPr/>
        </p:nvSpPr>
        <p:spPr>
          <a:xfrm>
            <a:off x="7467600" y="4292600"/>
            <a:ext cx="127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36" name="矩形 33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四大板块：从业务痛点到落地价值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矩形 339"/>
          <p:cNvSpPr/>
          <p:nvPr/>
        </p:nvSpPr>
        <p:spPr>
          <a:xfrm>
            <a:off x="9906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30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21336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21336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痛点分析 · 解决方案 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矩形 342"/>
          <p:cNvSpPr/>
          <p:nvPr/>
        </p:nvSpPr>
        <p:spPr>
          <a:xfrm>
            <a:off x="6553200" y="22860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30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矩形 343"/>
          <p:cNvSpPr/>
          <p:nvPr/>
        </p:nvSpPr>
        <p:spPr>
          <a:xfrm>
            <a:off x="7696200" y="23368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系统功能</a:t>
            </a:r>
            <a:endParaRPr lang="zh-CN" sz="1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7696200" y="2768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功能全景 · 七大功能演示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9906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30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矩形 346"/>
          <p:cNvSpPr/>
          <p:nvPr/>
        </p:nvSpPr>
        <p:spPr>
          <a:xfrm>
            <a:off x="21336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技术亮点</a:t>
            </a:r>
            <a:endParaRPr lang="zh-CN" sz="1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矩形 347"/>
          <p:cNvSpPr/>
          <p:nvPr/>
        </p:nvSpPr>
        <p:spPr>
          <a:xfrm>
            <a:off x="21336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0" lvl="0" indent="0" algn="l" defTabSz="914400" hangingPunct="1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ptos"/>
                <a:ea typeface="Aptos"/>
                <a:cs typeface="+mn-cs"/>
              </a:defRPr>
            </a:pP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系统架构 · 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AI Agent 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集成 · 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分级鉴权 · 工程质量</a:t>
            </a:r>
            <a:endParaRPr lang="zh-CN" altLang="en-US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6553200" y="4292600"/>
            <a:ext cx="8890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30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矩形 349"/>
          <p:cNvSpPr/>
          <p:nvPr/>
        </p:nvSpPr>
        <p:spPr>
          <a:xfrm>
            <a:off x="7696200" y="43434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推广价值</a:t>
            </a:r>
            <a:endParaRPr lang="zh-CN" sz="1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矩形 350"/>
          <p:cNvSpPr/>
          <p:nvPr/>
        </p:nvSpPr>
        <p:spPr>
          <a:xfrm>
            <a:off x="7696200" y="4775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多数据源与大模型支持 · 多场景适用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椭圆 352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4" name="矩形 353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55" name="矩形 35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356" name="矩形 355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7600" b="1">
              <a:solidFill>
                <a:srgbClr val="1E4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矩形 356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矩形 357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 panose="020B0503020204020204" charset="-122"/>
                <a:ea typeface="微软雅黑" panose="020B0503020204020204" charset="-122"/>
              </a:rPr>
              <a:t>痛点分析 · 解决方案 </a:t>
            </a:r>
            <a:endParaRPr lang="zh-CN" sz="1300">
              <a:solidFill>
                <a:srgbClr val="A9BD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矩形 35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矩形 35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矩形 3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3" name="矩形 3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364" name="矩形 363"/>
          <p:cNvSpPr/>
          <p:nvPr/>
        </p:nvSpPr>
        <p:spPr>
          <a:xfrm>
            <a:off x="6858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65" name="矩形 364"/>
          <p:cNvSpPr/>
          <p:nvPr/>
        </p:nvSpPr>
        <p:spPr>
          <a:xfrm>
            <a:off x="9652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6" name="椭圆 365"/>
          <p:cNvSpPr/>
          <p:nvPr/>
        </p:nvSpPr>
        <p:spPr>
          <a:xfrm>
            <a:off x="9906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7" name="椭圆 366"/>
          <p:cNvSpPr/>
          <p:nvPr/>
        </p:nvSpPr>
        <p:spPr>
          <a:xfrm>
            <a:off x="9906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8" name="椭圆 367"/>
          <p:cNvSpPr/>
          <p:nvPr/>
        </p:nvSpPr>
        <p:spPr>
          <a:xfrm>
            <a:off x="9906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69" name="矩形 368"/>
          <p:cNvSpPr/>
          <p:nvPr/>
        </p:nvSpPr>
        <p:spPr>
          <a:xfrm>
            <a:off x="43815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0" name="矩形 369"/>
          <p:cNvSpPr/>
          <p:nvPr/>
        </p:nvSpPr>
        <p:spPr>
          <a:xfrm>
            <a:off x="46609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1" name="椭圆 370"/>
          <p:cNvSpPr/>
          <p:nvPr/>
        </p:nvSpPr>
        <p:spPr>
          <a:xfrm>
            <a:off x="46863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2" name="椭圆 371"/>
          <p:cNvSpPr/>
          <p:nvPr/>
        </p:nvSpPr>
        <p:spPr>
          <a:xfrm>
            <a:off x="46863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3" name="椭圆 372"/>
          <p:cNvSpPr/>
          <p:nvPr/>
        </p:nvSpPr>
        <p:spPr>
          <a:xfrm>
            <a:off x="46863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4" name="矩形 373"/>
          <p:cNvSpPr/>
          <p:nvPr/>
        </p:nvSpPr>
        <p:spPr>
          <a:xfrm>
            <a:off x="8077200" y="1905000"/>
            <a:ext cx="3429000" cy="3937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75" name="矩形 374"/>
          <p:cNvSpPr/>
          <p:nvPr/>
        </p:nvSpPr>
        <p:spPr>
          <a:xfrm>
            <a:off x="8356600" y="2184400"/>
            <a:ext cx="3556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6" name="椭圆 375"/>
          <p:cNvSpPr/>
          <p:nvPr/>
        </p:nvSpPr>
        <p:spPr>
          <a:xfrm>
            <a:off x="8382000" y="30607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7" name="椭圆 376"/>
          <p:cNvSpPr/>
          <p:nvPr/>
        </p:nvSpPr>
        <p:spPr>
          <a:xfrm>
            <a:off x="8382000" y="3873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8" name="椭圆 377"/>
          <p:cNvSpPr/>
          <p:nvPr/>
        </p:nvSpPr>
        <p:spPr>
          <a:xfrm>
            <a:off x="8382000" y="4686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79" name="矩形 37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痛点分析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矩形 379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在银行、运维、业务分析等场景中，取数与用数普遍存在三类问题。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矩形 38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矩形 38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9652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业务人员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11557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取数要提申请、等排期，链路长、周期久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矩形 384"/>
          <p:cNvSpPr/>
          <p:nvPr/>
        </p:nvSpPr>
        <p:spPr>
          <a:xfrm>
            <a:off x="11557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只能拿到数字拿不到图，做趋势还得靠 Excel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矩形 385"/>
          <p:cNvSpPr/>
          <p:nvPr/>
        </p:nvSpPr>
        <p:spPr>
          <a:xfrm>
            <a:off x="11557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想看数据却没有自助入口，处处依赖技术同事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46609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开发人员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矩形 387"/>
          <p:cNvSpPr/>
          <p:nvPr/>
        </p:nvSpPr>
        <p:spPr>
          <a:xfrm>
            <a:off x="48514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复杂 SQL 不熟练，常用查询反复重写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矩形 388"/>
          <p:cNvSpPr/>
          <p:nvPr/>
        </p:nvSpPr>
        <p:spPr>
          <a:xfrm>
            <a:off x="48514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大模型不了解真实表结构，生成的 SQL 不可直接用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矩形 389"/>
          <p:cNvSpPr/>
          <p:nvPr/>
        </p:nvSpPr>
        <p:spPr>
          <a:xfrm>
            <a:off x="48514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误执行 DML / DDL 会造成数据事故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矩形 390"/>
          <p:cNvSpPr/>
          <p:nvPr/>
        </p:nvSpPr>
        <p:spPr>
          <a:xfrm>
            <a:off x="8356600" y="2387600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运维 / DBA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矩形 391"/>
          <p:cNvSpPr/>
          <p:nvPr/>
        </p:nvSpPr>
        <p:spPr>
          <a:xfrm>
            <a:off x="8547100" y="29718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负责系统多，难以熟悉所有库表结构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矩形 392"/>
          <p:cNvSpPr/>
          <p:nvPr/>
        </p:nvSpPr>
        <p:spPr>
          <a:xfrm>
            <a:off x="8547100" y="37846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各数据库语法与客户端不统一，运维繁琐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8547100" y="4597400"/>
            <a:ext cx="2959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缺少统一可观测视图：谁查了什么、哪里慢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矩形 39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04" name="矩形 4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矩形 404"/>
          <p:cNvSpPr/>
          <p:nvPr/>
        </p:nvSpPr>
        <p:spPr>
          <a:xfrm>
            <a:off x="695325" y="1412240"/>
            <a:ext cx="10820400" cy="73088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altLang="en-US" sz="1100">
                <a:sym typeface="+mn-ea"/>
              </a:rPr>
              <a:t>构建一个基于 </a:t>
            </a:r>
            <a:r>
              <a:rPr lang="en-US" altLang="zh-CN" sz="1100">
                <a:sym typeface="+mn-ea"/>
              </a:rPr>
              <a:t>AI Agent </a:t>
            </a:r>
            <a:r>
              <a:rPr lang="zh-CN" altLang="en-US" sz="1100">
                <a:sym typeface="+mn-ea"/>
              </a:rPr>
              <a:t>驱动的数据库查询与运维工作台</a:t>
            </a:r>
            <a:r>
              <a:rPr lang="en-US" sz="1100">
                <a:sym typeface="+mn-ea"/>
              </a:rPr>
              <a:t>，</a:t>
            </a:r>
            <a:r>
              <a:rPr lang="zh-CN" altLang="en-US" sz="1100">
                <a:sym typeface="+mn-ea"/>
              </a:rPr>
              <a:t>把「自然语言查询、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工作台、可视化报表、权限管理、运维监控」整合成一个闭环</a:t>
            </a:r>
            <a:r>
              <a:rPr lang="en-US" altLang="zh-CN" sz="1100">
                <a:sym typeface="+mn-ea"/>
              </a:rPr>
              <a:t>，</a:t>
            </a:r>
            <a:endParaRPr lang="zh-CN" altLang="en-US" sz="1100">
              <a:sym typeface="+mn-ea"/>
            </a:endParaRPr>
          </a:p>
          <a:p>
            <a:r>
              <a:rPr lang="zh-CN" altLang="en-US" sz="1100">
                <a:sym typeface="+mn-ea"/>
              </a:rPr>
              <a:t>让不会写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的业务人员也能安全地查数据，会写 </a:t>
            </a:r>
            <a:r>
              <a:rPr lang="en-US" altLang="zh-CN" sz="1100">
                <a:sym typeface="+mn-ea"/>
              </a:rPr>
              <a:t>SQL </a:t>
            </a:r>
            <a:r>
              <a:rPr lang="zh-CN" altLang="en-US" sz="1100">
                <a:sym typeface="+mn-ea"/>
              </a:rPr>
              <a:t>的技术人员效率更高效</a:t>
            </a:r>
            <a:r>
              <a:rPr lang="en-US" altLang="zh-CN" sz="1100">
                <a:sym typeface="+mn-ea"/>
              </a:rPr>
              <a:t>。</a:t>
            </a:r>
            <a:endParaRPr lang="en-US" altLang="zh-CN" sz="1100">
              <a:sym typeface="+mn-ea"/>
            </a:endParaRPr>
          </a:p>
        </p:txBody>
      </p:sp>
      <p:sp>
        <p:nvSpPr>
          <p:cNvPr id="406" name="矩形 4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0" y="2780665"/>
            <a:ext cx="7217410" cy="2000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椭圆 426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8" name="矩形 427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29" name="矩形 42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430" name="矩形 429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7600" b="1">
              <a:solidFill>
                <a:srgbClr val="1E4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系统功能</a:t>
            </a:r>
            <a:endParaRPr 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矩形 431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 panose="020B0503020204020204" charset="-122"/>
                <a:ea typeface="微软雅黑" panose="020B0503020204020204" charset="-122"/>
              </a:rPr>
              <a:t>功能全景 · 七大功能演示</a:t>
            </a:r>
            <a:endParaRPr lang="zh-CN" sz="1300">
              <a:solidFill>
                <a:srgbClr val="A9BD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矩形 432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矩形 433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矩形 43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37" name="矩形 43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38" name="矩形 437"/>
          <p:cNvSpPr/>
          <p:nvPr/>
        </p:nvSpPr>
        <p:spPr>
          <a:xfrm>
            <a:off x="685800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39" name="矩形 438"/>
          <p:cNvSpPr/>
          <p:nvPr/>
        </p:nvSpPr>
        <p:spPr>
          <a:xfrm>
            <a:off x="9398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0" name="矩形 439"/>
          <p:cNvSpPr/>
          <p:nvPr/>
        </p:nvSpPr>
        <p:spPr>
          <a:xfrm>
            <a:off x="3449638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1" name="矩形 440"/>
          <p:cNvSpPr/>
          <p:nvPr/>
        </p:nvSpPr>
        <p:spPr>
          <a:xfrm>
            <a:off x="3703638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2" name="矩形 441"/>
          <p:cNvSpPr/>
          <p:nvPr/>
        </p:nvSpPr>
        <p:spPr>
          <a:xfrm>
            <a:off x="6213475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3" name="矩形 442"/>
          <p:cNvSpPr/>
          <p:nvPr/>
        </p:nvSpPr>
        <p:spPr>
          <a:xfrm>
            <a:off x="6467475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4" name="矩形 443"/>
          <p:cNvSpPr/>
          <p:nvPr/>
        </p:nvSpPr>
        <p:spPr>
          <a:xfrm>
            <a:off x="8977313" y="18796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5" name="矩形 444"/>
          <p:cNvSpPr/>
          <p:nvPr/>
        </p:nvSpPr>
        <p:spPr>
          <a:xfrm>
            <a:off x="9231313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6" name="矩形 445"/>
          <p:cNvSpPr/>
          <p:nvPr/>
        </p:nvSpPr>
        <p:spPr>
          <a:xfrm>
            <a:off x="685800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7" name="矩形 446"/>
          <p:cNvSpPr/>
          <p:nvPr/>
        </p:nvSpPr>
        <p:spPr>
          <a:xfrm>
            <a:off x="939800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8" name="矩形 447"/>
          <p:cNvSpPr/>
          <p:nvPr/>
        </p:nvSpPr>
        <p:spPr>
          <a:xfrm>
            <a:off x="3449638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49" name="矩形 448"/>
          <p:cNvSpPr/>
          <p:nvPr/>
        </p:nvSpPr>
        <p:spPr>
          <a:xfrm>
            <a:off x="3703638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0" name="矩形 449"/>
          <p:cNvSpPr/>
          <p:nvPr/>
        </p:nvSpPr>
        <p:spPr>
          <a:xfrm>
            <a:off x="6213475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1" name="矩形 450"/>
          <p:cNvSpPr/>
          <p:nvPr/>
        </p:nvSpPr>
        <p:spPr>
          <a:xfrm>
            <a:off x="6467475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2" name="矩形 451"/>
          <p:cNvSpPr/>
          <p:nvPr/>
        </p:nvSpPr>
        <p:spPr>
          <a:xfrm>
            <a:off x="8977313" y="4013200"/>
            <a:ext cx="2528887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453" name="矩形 452"/>
          <p:cNvSpPr/>
          <p:nvPr/>
        </p:nvSpPr>
        <p:spPr>
          <a:xfrm>
            <a:off x="9231313" y="42672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54" name="矩形 45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功能全景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矩形 45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八大模块围绕「连接 → 查询 → 分析 → 报表 → 管理」闭环组织。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矩形 45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矩形 457"/>
          <p:cNvSpPr/>
          <p:nvPr/>
        </p:nvSpPr>
        <p:spPr>
          <a:xfrm>
            <a:off x="939800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连接管理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矩形 458"/>
          <p:cNvSpPr/>
          <p:nvPr/>
        </p:nvSpPr>
        <p:spPr>
          <a:xfrm>
            <a:off x="939800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en-US" alt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类数据源、SSH 隧道、多环境标签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矩形 459"/>
          <p:cNvSpPr/>
          <p:nvPr/>
        </p:nvSpPr>
        <p:spPr>
          <a:xfrm>
            <a:off x="3703638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SQL 工作台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矩形 460"/>
          <p:cNvSpPr/>
          <p:nvPr/>
        </p:nvSpPr>
        <p:spPr>
          <a:xfrm>
            <a:off x="3703638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多 Tab 编辑、对象树、结果集直编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矩形 461"/>
          <p:cNvSpPr/>
          <p:nvPr/>
        </p:nvSpPr>
        <p:spPr>
          <a:xfrm>
            <a:off x="6467475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元数据管理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矩形 462"/>
          <p:cNvSpPr/>
          <p:nvPr/>
        </p:nvSpPr>
        <p:spPr>
          <a:xfrm>
            <a:off x="6467475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表 / 索引 / DDL / 视图 / 函数、结构对比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矩形 463"/>
          <p:cNvSpPr/>
          <p:nvPr/>
        </p:nvSpPr>
        <p:spPr>
          <a:xfrm>
            <a:off x="9231313" y="23368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AI 智能查询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矩形 464"/>
          <p:cNvSpPr/>
          <p:nvPr/>
        </p:nvSpPr>
        <p:spPr>
          <a:xfrm>
            <a:off x="9231313" y="27178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自然语言转 SQL、多轮会话、自动出图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矩形 465"/>
          <p:cNvSpPr/>
          <p:nvPr/>
        </p:nvSpPr>
        <p:spPr>
          <a:xfrm>
            <a:off x="939800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可视化报表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矩形 466"/>
          <p:cNvSpPr/>
          <p:nvPr/>
        </p:nvSpPr>
        <p:spPr>
          <a:xfrm>
            <a:off x="939800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11 种图表、拖拽仪表盘、分享大屏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矩形 467"/>
          <p:cNvSpPr/>
          <p:nvPr/>
        </p:nvSpPr>
        <p:spPr>
          <a:xfrm>
            <a:off x="3703638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文档导出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矩形 468"/>
          <p:cNvSpPr/>
          <p:nvPr/>
        </p:nvSpPr>
        <p:spPr>
          <a:xfrm>
            <a:off x="3703638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CSV / Excel / JSON、库文档导出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矩形 469"/>
          <p:cNvSpPr/>
          <p:nvPr/>
        </p:nvSpPr>
        <p:spPr>
          <a:xfrm>
            <a:off x="6467475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用户与角色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矩形 470"/>
          <p:cNvSpPr/>
          <p:nvPr/>
        </p:nvSpPr>
        <p:spPr>
          <a:xfrm>
            <a:off x="6467475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按角色控制权限、菜单与接口双重校验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9231313" y="4470400"/>
            <a:ext cx="2020887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运维监控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矩形 472"/>
          <p:cNvSpPr/>
          <p:nvPr/>
        </p:nvSpPr>
        <p:spPr>
          <a:xfrm>
            <a:off x="9231313" y="4851400"/>
            <a:ext cx="2020887" cy="914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慢查询、连接概览、审计日志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7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77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5849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080" y="1628775"/>
            <a:ext cx="7086600" cy="3975100"/>
          </a:xfrm>
          <a:prstGeom prst="rect">
            <a:avLst/>
          </a:prstGeom>
        </p:spPr>
      </p:pic>
      <p:sp>
        <p:nvSpPr>
          <p:cNvPr id="478" name="矩形 477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9" name="矩形 478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80" name="椭圆 479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1" name="椭圆 480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2" name="椭圆 481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3" name="椭圆 482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4" name="矩形 48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自然语言查询数据库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矩形 48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矩形 48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矩形 487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矩形 488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一句话生成 SQL，无需手写语句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矩形 489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SSE 流式回传思考过程与 SQL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矩形 490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切换数据源即可跨库查询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矩形 491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结果一键导出 CSV / Excel / JSON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3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6854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500" y="1735455"/>
            <a:ext cx="7086600" cy="3975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7" name="椭圆 6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" name="椭圆 7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9" name="椭圆 8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" name="椭圆 9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" name="矩形 10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自然语言生成图表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一句话查询数据并生成图表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根据数据特征自动选择图表类型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一键保存到可视化报表复用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拖拽式仪表盘可编辑、可分享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22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23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7869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" name="矩形 2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" name="椭圆 25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7" name="椭圆 26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8" name="椭圆 27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" name="椭圆 28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" name="矩形 29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SQL 工作台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表 / 索引 / DDL / 视图 / 函数元数据管理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Agent 辅助快速生成 SQL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生成的 SQL 可填入编辑器继续编辑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执行历史留痕 + SQL 收藏复用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41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42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7800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4" name="矩形 43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45" name="椭圆 44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6" name="椭圆 45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7" name="椭圆 46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8" name="椭圆 47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9" name="矩形 48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SQL 语句分级安全控制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READ：只读查询自动执行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DML：UPDATE 确认后才生效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DDL：红色危险提示并展示完整语句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全部操作写入审计日志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60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61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4234.000000"/>
                </p14:media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3" name="矩形 6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64" name="椭圆 63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5" name="椭圆 64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6" name="椭圆 65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7" name="椭圆 66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68" name="矩形 67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运维监控与日志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连接概览：查询量 / 耗时 / 成功率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审计日志：登录与 SQL 执行全量留痕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慢查询：按阈值统计耗时 SQL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表结构对比：多环境差异一目了然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79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80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5351.000000" end="2470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2" name="矩形 81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83" name="椭圆 82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4" name="椭圆 83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5" name="椭圆 84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6" name="椭圆 85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87" name="矩形 8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数据库与大模型连接管理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数据库连接配置：7 类数据源支持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大模型连接配置：OpenAI / Claude / Ollama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一键测试数据库与大模型连通性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密码与 API Key 加密存储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video-frame"/>
          <p:cNvSpPr>
            <a:spLocks noGrp="1"/>
          </p:cNvSpPr>
          <p:nvPr/>
        </p:nvSpPr>
        <p:spPr>
          <a:xfrm>
            <a:off x="685800" y="1651000"/>
            <a:ext cx="7112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p/>
        </p:txBody>
      </p:sp>
      <p:pic>
        <p:nvPicPr>
          <p:cNvPr id="98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pic>
        <p:nvPicPr>
          <p:cNvPr id="99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st="5009.000000" end="3217.000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500" y="1663700"/>
            <a:ext cx="7086600" cy="3975100"/>
          </a:xfrm>
          <a:prstGeom prst="rect">
            <a:avLst/>
          </a:prstGeom>
        </p:spPr>
      </p:pic>
      <p:sp>
        <p:nvSpPr>
          <p:cNvPr id="100" name="矩形 9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02" name="椭圆 101"/>
          <p:cNvSpPr/>
          <p:nvPr/>
        </p:nvSpPr>
        <p:spPr>
          <a:xfrm>
            <a:off x="8128000" y="22225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3" name="椭圆 102"/>
          <p:cNvSpPr/>
          <p:nvPr/>
        </p:nvSpPr>
        <p:spPr>
          <a:xfrm>
            <a:off x="8128000" y="30353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4" name="椭圆 103"/>
          <p:cNvSpPr/>
          <p:nvPr/>
        </p:nvSpPr>
        <p:spPr>
          <a:xfrm>
            <a:off x="8128000" y="38481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5" name="椭圆 104"/>
          <p:cNvSpPr/>
          <p:nvPr/>
        </p:nvSpPr>
        <p:spPr>
          <a:xfrm>
            <a:off x="8128000" y="466090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06" name="矩形 10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功能演示 · 用户与角色管理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8128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293100" y="21336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用户管理：账号 / 角色 / 状态 / 重置密码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293100" y="29464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角色管理：按角色控制功能权限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293100" y="37592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权限项按模块分组勾选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93100" y="4572000"/>
            <a:ext cx="32131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前端菜单与后端接口双重控制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椭圆 115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7" name="矩形 116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119" name="矩形 118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7600" b="1">
              <a:solidFill>
                <a:srgbClr val="1E4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技术亮点</a:t>
            </a:r>
            <a:endParaRPr 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系统架构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·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Agent 集成 · SQL 分级鉴权 ·</a:t>
            </a:r>
            <a:r>
              <a:rPr lang="en-US" alt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工程</a:t>
            </a:r>
            <a:r>
              <a:rPr lang="zh-CN" sz="1300">
                <a:solidFill>
                  <a:srgbClr val="A9BDD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质量</a:t>
            </a:r>
            <a:endParaRPr lang="zh-CN" sz="1300">
              <a:solidFill>
                <a:srgbClr val="A9BDD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6" name="矩形 12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35" name="矩形 134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821" t="9944" r="5500" b="575"/>
          <a:stretch>
            <a:fillRect/>
          </a:stretch>
        </p:blipFill>
        <p:spPr>
          <a:xfrm>
            <a:off x="551180" y="1183640"/>
            <a:ext cx="4891405" cy="505206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829300" y="1262380"/>
            <a:ext cx="38100" cy="619125"/>
          </a:xfrm>
          <a:prstGeom prst="roundRect">
            <a:avLst>
              <a:gd name="adj" fmla="val 50000"/>
            </a:avLst>
          </a:prstGeom>
          <a:solidFill>
            <a:srgbClr val="1B4F8A"/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000750" y="1262380"/>
            <a:ext cx="56197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 panose="020B0400000000000000" charset="-122"/>
                <a:ea typeface="PingFang SC" panose="020B0400000000000000" charset="-122"/>
              </a:rPr>
              <a:t>分层解耦</a:t>
            </a:r>
            <a:endParaRPr lang="zh-CN" sz="1425" b="1">
              <a:solidFill>
                <a:srgbClr val="1B4F8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6000750" y="1624330"/>
            <a:ext cx="5619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六层职责清晰：客户端、接入、安全、服务、适配、数据，任一层改动不外溢。</a:t>
            </a:r>
            <a:endParaRPr lang="zh-CN" sz="1125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829300" y="2359025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000750" y="2359025"/>
            <a:ext cx="56197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 panose="020B0400000000000000" charset="-122"/>
                <a:ea typeface="PingFang SC" panose="020B0400000000000000" charset="-122"/>
              </a:rPr>
              <a:t>适配器模式</a:t>
            </a:r>
            <a:endParaRPr lang="zh-CN" sz="1425" b="1">
              <a:solidFill>
                <a:srgbClr val="1B4F8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000750" y="2720975"/>
            <a:ext cx="5619750" cy="514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统一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BaseDBAdapter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接口按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db_type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分发，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7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类数据源收敛为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5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套实现，新增数据库只种类需加一个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适配器。</a:t>
            </a:r>
            <a:endParaRPr lang="zh-CN" sz="1125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829300" y="3784600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000750" y="3784600"/>
            <a:ext cx="56197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B4F8A"/>
                </a:solidFill>
                <a:latin typeface="PingFang SC" panose="020B0400000000000000" charset="-122"/>
                <a:ea typeface="PingFang SC" panose="020B0400000000000000" charset="-122"/>
              </a:rPr>
              <a:t>LLM </a:t>
            </a:r>
            <a:r>
              <a:rPr lang="zh-CN" sz="1425" b="1">
                <a:solidFill>
                  <a:srgbClr val="1B4F8A"/>
                </a:solidFill>
                <a:latin typeface="PingFang SC" panose="020B0400000000000000" charset="-122"/>
                <a:ea typeface="PingFang SC" panose="020B0400000000000000" charset="-122"/>
              </a:rPr>
              <a:t>统一抽象</a:t>
            </a:r>
            <a:endParaRPr lang="zh-CN" sz="1425" b="1">
              <a:solidFill>
                <a:srgbClr val="1B4F8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6000750" y="4146550"/>
            <a:ext cx="5619750" cy="514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OpenAI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兼容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/ Claude / Ollama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共用一套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chat · stream · ping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接口，换模型不改业务代码。</a:t>
            </a:r>
            <a:endParaRPr lang="zh-CN" sz="1125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829300" y="5210175"/>
            <a:ext cx="38100" cy="8763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6000750" y="5210175"/>
            <a:ext cx="56197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B4F8A"/>
                </a:solidFill>
                <a:latin typeface="PingFang SC" panose="020B0400000000000000" charset="-122"/>
                <a:ea typeface="PingFang SC" panose="020B0400000000000000" charset="-122"/>
              </a:rPr>
              <a:t>安全纵深</a:t>
            </a:r>
            <a:endParaRPr lang="zh-CN" sz="1425" b="1">
              <a:solidFill>
                <a:srgbClr val="1B4F8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6000750" y="5572125"/>
            <a:ext cx="5619750" cy="514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登录态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路由级</a:t>
            </a:r>
            <a:r>
              <a:rPr lang="en-US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 → SQL </a:t>
            </a:r>
            <a:r>
              <a:rPr lang="zh-CN" sz="1125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</a:rPr>
              <a:t>类型级三层鉴权，写操作落库待确认并二次校验，全程审计留痕。</a:t>
            </a:r>
            <a:endParaRPr lang="zh-CN" sz="1125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6" name="矩形 12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27" name="矩形 126"/>
          <p:cNvSpPr/>
          <p:nvPr/>
        </p:nvSpPr>
        <p:spPr>
          <a:xfrm>
            <a:off x="6858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28" name="矩形 127"/>
          <p:cNvSpPr/>
          <p:nvPr/>
        </p:nvSpPr>
        <p:spPr>
          <a:xfrm>
            <a:off x="9906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6248400" y="1879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0" name="矩形 129"/>
          <p:cNvSpPr/>
          <p:nvPr/>
        </p:nvSpPr>
        <p:spPr>
          <a:xfrm>
            <a:off x="6553200" y="2133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1" name="矩形 130"/>
          <p:cNvSpPr/>
          <p:nvPr/>
        </p:nvSpPr>
        <p:spPr>
          <a:xfrm>
            <a:off x="6858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9906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3" name="矩形 132"/>
          <p:cNvSpPr/>
          <p:nvPr/>
        </p:nvSpPr>
        <p:spPr>
          <a:xfrm>
            <a:off x="6248400" y="4038600"/>
            <a:ext cx="5257800" cy="193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553200" y="429260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35" name="矩形 134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AI Agent 深度集成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不是简单调用大模型，而是把「工具调用、失败自愈、经验复用」做成工程闭环。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906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9906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Agent 按需调用 list_tables、get_columns、sample_data、explain 四个工具，实时获取真实表结构、采样数据与执行计划，从源头杜绝编造表名列名。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6553200" y="2311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失败自动修正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6553200" y="2717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READ 查询执行失败时，把真实报错回传 LLM 自动修正并重试；鉴权失败等非 SQL 错误不重试，避免无效循环。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9906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历史 SQL few-shot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9906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每轮对话注入历史执行成功的 SQL 作为示例，按提问相似度、表名重合度与执行频次加权排序后取前 3 条。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6553200" y="44704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多轮会话 + 流式透明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6553200" y="4876800"/>
            <a:ext cx="4648200" cy="939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上下文连续，可追问、可改条件；SSE 流式输出 thought → tool → sql → result，前端逐段渲染，过程完全透明。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表格 14"/>
          <p:cNvGraphicFramePr/>
          <p:nvPr/>
        </p:nvGraphicFramePr>
        <p:xfrm>
          <a:off x="685800" y="1986915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149" name="矩形 148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50" name="矩形 149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151" name="矩形 150"/>
          <p:cNvSpPr/>
          <p:nvPr/>
        </p:nvSpPr>
        <p:spPr>
          <a:xfrm>
            <a:off x="685800" y="5444490"/>
            <a:ext cx="10820400" cy="533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txBody>
          <a:bodyPr/>
          <a:p/>
        </p:txBody>
      </p:sp>
      <p:sp>
        <p:nvSpPr>
          <p:cNvPr id="152" name="矩形 151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SQL 分级鉴权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按 SQL 类型分级鉴权：READ 自动执行、DML 需确认、DDL 高危二次确认。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914400" y="5571490"/>
            <a:ext cx="10363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0A47C2"/>
                </a:solidFill>
                <a:latin typeface="微软雅黑" panose="020B0503020204020204" charset="-122"/>
                <a:ea typeface="微软雅黑" panose="020B0503020204020204" charset="-122"/>
              </a:rPr>
              <a:t>所有 SQL 强制走服务层，不允许绕过鉴权直接调用适配器；确认时再次鉴权并写入审计。</a:t>
            </a:r>
            <a:endParaRPr lang="zh-CN" sz="1000">
              <a:solidFill>
                <a:srgbClr val="0A47C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矩形 204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6" name="矩形 205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07" name="矩形 206"/>
          <p:cNvSpPr/>
          <p:nvPr/>
        </p:nvSpPr>
        <p:spPr>
          <a:xfrm>
            <a:off x="6739255" y="1628775"/>
            <a:ext cx="4085590" cy="2167255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08" name="矩形 207"/>
          <p:cNvSpPr/>
          <p:nvPr/>
        </p:nvSpPr>
        <p:spPr>
          <a:xfrm>
            <a:off x="7018655" y="1764665"/>
            <a:ext cx="355600" cy="762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09" name="椭圆 208"/>
          <p:cNvSpPr/>
          <p:nvPr/>
        </p:nvSpPr>
        <p:spPr>
          <a:xfrm>
            <a:off x="7044055" y="264096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0" name="椭圆 209"/>
          <p:cNvSpPr/>
          <p:nvPr/>
        </p:nvSpPr>
        <p:spPr>
          <a:xfrm>
            <a:off x="7044055" y="299783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1" name="椭圆 210"/>
          <p:cNvSpPr/>
          <p:nvPr/>
        </p:nvSpPr>
        <p:spPr>
          <a:xfrm>
            <a:off x="7044055" y="335470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2" name="矩形 211"/>
          <p:cNvSpPr/>
          <p:nvPr/>
        </p:nvSpPr>
        <p:spPr>
          <a:xfrm>
            <a:off x="1941830" y="3939540"/>
            <a:ext cx="4085590" cy="226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3" name="矩形 212"/>
          <p:cNvSpPr/>
          <p:nvPr/>
        </p:nvSpPr>
        <p:spPr>
          <a:xfrm>
            <a:off x="2144395" y="4121785"/>
            <a:ext cx="355600" cy="762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4" name="椭圆 213"/>
          <p:cNvSpPr/>
          <p:nvPr/>
        </p:nvSpPr>
        <p:spPr>
          <a:xfrm>
            <a:off x="2246630" y="499808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5" name="椭圆 214"/>
          <p:cNvSpPr/>
          <p:nvPr/>
        </p:nvSpPr>
        <p:spPr>
          <a:xfrm>
            <a:off x="2246630" y="535495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6" name="椭圆 215"/>
          <p:cNvSpPr/>
          <p:nvPr/>
        </p:nvSpPr>
        <p:spPr>
          <a:xfrm>
            <a:off x="2246630" y="571182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7" name="矩形 216"/>
          <p:cNvSpPr/>
          <p:nvPr/>
        </p:nvSpPr>
        <p:spPr>
          <a:xfrm>
            <a:off x="6785610" y="3985895"/>
            <a:ext cx="4085590" cy="2167255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18" name="矩形 217"/>
          <p:cNvSpPr/>
          <p:nvPr/>
        </p:nvSpPr>
        <p:spPr>
          <a:xfrm>
            <a:off x="7065010" y="4121785"/>
            <a:ext cx="355600" cy="762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19" name="椭圆 218"/>
          <p:cNvSpPr/>
          <p:nvPr/>
        </p:nvSpPr>
        <p:spPr>
          <a:xfrm>
            <a:off x="7090410" y="499808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0" name="椭圆 219"/>
          <p:cNvSpPr/>
          <p:nvPr/>
        </p:nvSpPr>
        <p:spPr>
          <a:xfrm>
            <a:off x="7090410" y="535495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1" name="椭圆 220"/>
          <p:cNvSpPr/>
          <p:nvPr/>
        </p:nvSpPr>
        <p:spPr>
          <a:xfrm>
            <a:off x="7090410" y="5711825"/>
            <a:ext cx="76200" cy="762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23" name="矩形 222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工程</a:t>
            </a: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审计监控</a:t>
            </a:r>
            <a:r>
              <a:rPr lang="en-US" alt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安全围栏、统一规范</a:t>
            </a:r>
            <a:r>
              <a:rPr lang="en-US" alt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多项</a:t>
            </a:r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测试，保证工程质量可靠。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7018655" y="1961515"/>
            <a:ext cx="2870200" cy="33528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安全围栏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7209155" y="255206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Fernet 加密数据库密码、SSH 私钥与 AI Key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7209155" y="290893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pbkdf2 密码哈希 + Cookie Session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7209155" y="326580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后端双重控制权限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二次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鉴权</a:t>
            </a:r>
            <a:endParaRPr lang="zh-CN" altLang="en-US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2221230" y="4324985"/>
            <a:ext cx="2870200" cy="32194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统一规范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2411730" y="490918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统一响应 {code, message, data}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2411730" y="526605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统一异常处理与请求校验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2411730" y="562292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数据文件相对 data/ 存储，迁移免改配置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7065010" y="4324985"/>
            <a:ext cx="2870200" cy="32194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多项</a:t>
            </a:r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7255510" y="490918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167 个后端自动化用例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7255510" y="526605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19 个前端 E2E </a:t>
            </a:r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7255510" y="5622925"/>
            <a:ext cx="2959100" cy="60071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19 个 AI 查询验收案例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25320" y="1583055"/>
            <a:ext cx="4085590" cy="223647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" name="椭圆 2"/>
          <p:cNvSpPr/>
          <p:nvPr/>
        </p:nvSpPr>
        <p:spPr>
          <a:xfrm>
            <a:off x="2230415" y="2712720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4" name="椭圆 3"/>
          <p:cNvSpPr/>
          <p:nvPr/>
        </p:nvSpPr>
        <p:spPr>
          <a:xfrm>
            <a:off x="2230415" y="2997835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5" name="椭圆 4"/>
          <p:cNvSpPr/>
          <p:nvPr/>
        </p:nvSpPr>
        <p:spPr>
          <a:xfrm>
            <a:off x="2230415" y="3354705"/>
            <a:ext cx="63500" cy="63500"/>
          </a:xfrm>
          <a:prstGeom prst="ellipse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12" name="矩形 11"/>
          <p:cNvSpPr/>
          <p:nvPr/>
        </p:nvSpPr>
        <p:spPr>
          <a:xfrm>
            <a:off x="2205015" y="2111375"/>
            <a:ext cx="2870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审计监控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95515" y="262382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登录、SQL 执行、Agent 动作全量留痕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5515" y="2908935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操作类型、SQL 文本、状态可追溯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57120" y="3274695"/>
            <a:ext cx="2959100" cy="32194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数据源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查询量/耗时/成功率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表结构变化</a:t>
            </a:r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</a:t>
            </a:r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监控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1033485" y="5080000"/>
            <a:ext cx="2959100" cy="711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endParaRPr lang="en-US" altLang="zh-CN" sz="1000">
              <a:solidFill>
                <a:srgbClr val="47556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44395" y="1769110"/>
            <a:ext cx="355600" cy="762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椭圆 240"/>
          <p:cNvSpPr/>
          <p:nvPr/>
        </p:nvSpPr>
        <p:spPr>
          <a:xfrm>
            <a:off x="8890000" y="3810000"/>
            <a:ext cx="4318000" cy="4318000"/>
          </a:xfrm>
          <a:prstGeom prst="ellipse">
            <a:avLst/>
          </a:prstGeom>
          <a:solidFill>
            <a:srgbClr val="0B5FFF">
              <a:alpha val="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42" name="矩形 241"/>
          <p:cNvSpPr/>
          <p:nvPr/>
        </p:nvSpPr>
        <p:spPr>
          <a:xfrm>
            <a:off x="711200" y="3505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43" name="矩形 242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44" name="矩形 243"/>
          <p:cNvSpPr/>
          <p:nvPr/>
        </p:nvSpPr>
        <p:spPr>
          <a:xfrm>
            <a:off x="685800" y="2108200"/>
            <a:ext cx="4064000" cy="1422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7600" b="1">
                <a:solidFill>
                  <a:srgbClr val="1E4A8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7600" b="1">
              <a:solidFill>
                <a:srgbClr val="1E4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85800" y="3708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推广价值</a:t>
            </a:r>
            <a:endParaRPr 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711200" y="4419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 panose="020B0503020204020204" charset="-122"/>
                <a:ea typeface="微软雅黑" panose="020B0503020204020204" charset="-122"/>
              </a:rPr>
              <a:t>多数据源与大模型支持 · 多场景适用</a:t>
            </a:r>
            <a:endParaRPr lang="zh-CN" sz="1300">
              <a:solidFill>
                <a:srgbClr val="A9BD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6E88A8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zh-CN" sz="900">
              <a:solidFill>
                <a:srgbClr val="6E8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1" name="矩形 250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52" name="矩形 251"/>
          <p:cNvSpPr/>
          <p:nvPr/>
        </p:nvSpPr>
        <p:spPr>
          <a:xfrm>
            <a:off x="685800" y="233553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3" name="矩形 252"/>
          <p:cNvSpPr/>
          <p:nvPr/>
        </p:nvSpPr>
        <p:spPr>
          <a:xfrm>
            <a:off x="990600" y="264033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4" name="矩形 253"/>
          <p:cNvSpPr/>
          <p:nvPr/>
        </p:nvSpPr>
        <p:spPr>
          <a:xfrm>
            <a:off x="6248400" y="2335530"/>
            <a:ext cx="5257800" cy="2895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5" name="矩形 254"/>
          <p:cNvSpPr/>
          <p:nvPr/>
        </p:nvSpPr>
        <p:spPr>
          <a:xfrm>
            <a:off x="6553200" y="2640330"/>
            <a:ext cx="304800" cy="381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56" name="矩形 255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多数据源与大模型支持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685800" y="1265555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模型与数据源接入配置简单快捷</a:t>
            </a:r>
            <a:r>
              <a:rPr lang="en-US" alt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接入多数主流数据库和大模型</a:t>
            </a:r>
            <a:r>
              <a:rPr lang="en-US" alt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矩形 259"/>
          <p:cNvSpPr/>
          <p:nvPr/>
        </p:nvSpPr>
        <p:spPr>
          <a:xfrm>
            <a:off x="990600" y="281813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大模型接入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90600" y="330073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OpenAI 官方与兼容网关、Claude、Ollama 统一抽象，chat / stream / ping 一套接口；支持一键测试连通性，缺失 Key 时快速失败。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6553200" y="2818130"/>
            <a:ext cx="46482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数据源接入</a:t>
            </a:r>
            <a:endParaRPr lang="zh-CN"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6553200" y="3300730"/>
            <a:ext cx="4648200" cy="165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SQLite、MySQL、PostgreSQL、Oracle、MongoDB、OceanBase、GoldenDB，统一适配层屏蔽方言差异。</a:t>
            </a:r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新数据库种类接入只需实现适配器接口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注册后即可在连接管理中直接使用</a:t>
            </a:r>
            <a:r>
              <a:rPr lang="en-US" altLang="zh-CN" sz="10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0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矩形 265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67" name="矩形 266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68" name="矩形 267"/>
          <p:cNvSpPr/>
          <p:nvPr/>
        </p:nvSpPr>
        <p:spPr>
          <a:xfrm>
            <a:off x="685800" y="19558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69" name="矩形 268"/>
          <p:cNvSpPr/>
          <p:nvPr/>
        </p:nvSpPr>
        <p:spPr>
          <a:xfrm>
            <a:off x="3403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0" name="矩形 269"/>
          <p:cNvSpPr/>
          <p:nvPr/>
        </p:nvSpPr>
        <p:spPr>
          <a:xfrm>
            <a:off x="7467600" y="22352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685800" y="33020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2" name="矩形 271"/>
          <p:cNvSpPr/>
          <p:nvPr/>
        </p:nvSpPr>
        <p:spPr>
          <a:xfrm>
            <a:off x="3403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3" name="矩形 272"/>
          <p:cNvSpPr/>
          <p:nvPr/>
        </p:nvSpPr>
        <p:spPr>
          <a:xfrm>
            <a:off x="7467600" y="35814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4" name="矩形 273"/>
          <p:cNvSpPr/>
          <p:nvPr/>
        </p:nvSpPr>
        <p:spPr>
          <a:xfrm>
            <a:off x="685800" y="4648200"/>
            <a:ext cx="10820400" cy="1168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75" name="矩形 274"/>
          <p:cNvSpPr/>
          <p:nvPr/>
        </p:nvSpPr>
        <p:spPr>
          <a:xfrm>
            <a:off x="3403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6" name="矩形 275"/>
          <p:cNvSpPr/>
          <p:nvPr/>
        </p:nvSpPr>
        <p:spPr>
          <a:xfrm>
            <a:off x="7467600" y="4927600"/>
            <a:ext cx="12700" cy="60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77" name="矩形 276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多场景适用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三类角色，三种典型用法。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990600" y="1625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endParaRPr lang="zh-CN" sz="10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733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核心需求</a:t>
            </a:r>
            <a:endParaRPr lang="zh-CN" sz="10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7797800" y="1625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sz="10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990600" y="23622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开发人员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3733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快速查数、编写与优化 SQL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7797800" y="2387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日常开发、SQL 验证与调优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990600" y="3708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业务 / 产品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3733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自然语言取数、快速做报表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7797800" y="3733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数据分析、辅助决策、快速核对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矩形 289"/>
          <p:cNvSpPr/>
          <p:nvPr/>
        </p:nvSpPr>
        <p:spPr>
          <a:xfrm>
            <a:off x="990600" y="5054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DBA / 运维</a:t>
            </a:r>
            <a:endParaRPr lang="zh-CN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3733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统一入口、便于管理、全量审计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7797800" y="5080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生产问题定位、数据治理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685800" y="1041400"/>
            <a:ext cx="5080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5" name="矩形 294"/>
          <p:cNvSpPr/>
          <p:nvPr/>
        </p:nvSpPr>
        <p:spPr>
          <a:xfrm>
            <a:off x="685800" y="6324600"/>
            <a:ext cx="108204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p/>
        </p:txBody>
      </p:sp>
      <p:sp>
        <p:nvSpPr>
          <p:cNvPr id="296" name="矩形 295"/>
          <p:cNvSpPr/>
          <p:nvPr/>
        </p:nvSpPr>
        <p:spPr>
          <a:xfrm>
            <a:off x="685800" y="19558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7" name="矩形 296"/>
          <p:cNvSpPr/>
          <p:nvPr/>
        </p:nvSpPr>
        <p:spPr>
          <a:xfrm>
            <a:off x="990600" y="22860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298" name="矩形 297"/>
          <p:cNvSpPr/>
          <p:nvPr/>
        </p:nvSpPr>
        <p:spPr>
          <a:xfrm>
            <a:off x="685800" y="29464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99" name="矩形 298"/>
          <p:cNvSpPr/>
          <p:nvPr/>
        </p:nvSpPr>
        <p:spPr>
          <a:xfrm>
            <a:off x="990600" y="32766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0" name="矩形 299"/>
          <p:cNvSpPr/>
          <p:nvPr/>
        </p:nvSpPr>
        <p:spPr>
          <a:xfrm>
            <a:off x="685800" y="39370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1" name="矩形 300"/>
          <p:cNvSpPr/>
          <p:nvPr/>
        </p:nvSpPr>
        <p:spPr>
          <a:xfrm>
            <a:off x="990600" y="42672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2" name="矩形 301"/>
          <p:cNvSpPr/>
          <p:nvPr/>
        </p:nvSpPr>
        <p:spPr>
          <a:xfrm>
            <a:off x="685800" y="4927600"/>
            <a:ext cx="10820400" cy="812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03" name="矩形 302"/>
          <p:cNvSpPr/>
          <p:nvPr/>
        </p:nvSpPr>
        <p:spPr>
          <a:xfrm>
            <a:off x="990600" y="5257800"/>
            <a:ext cx="38100" cy="1524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04" name="矩形 303"/>
          <p:cNvSpPr/>
          <p:nvPr/>
        </p:nvSpPr>
        <p:spPr>
          <a:xfrm>
            <a:off x="685800" y="533400"/>
            <a:ext cx="108204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685800" y="1193800"/>
            <a:ext cx="10820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下一步演进方向。</a:t>
            </a:r>
            <a:endParaRPr lang="zh-CN" sz="11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685800" y="6426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11214100" y="642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矩形 307"/>
          <p:cNvSpPr/>
          <p:nvPr/>
        </p:nvSpPr>
        <p:spPr>
          <a:xfrm>
            <a:off x="1244600" y="2209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5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矩形 308"/>
          <p:cNvSpPr/>
          <p:nvPr/>
        </p:nvSpPr>
        <p:spPr>
          <a:xfrm>
            <a:off x="2006600" y="22352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补齐更多数据库对象支持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1244600" y="3200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5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2006600" y="32258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扩展 Agent 工具：索引建议、慢查询根因分析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1244600" y="4191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5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2006600" y="42164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增加团队协作与报表订阅推送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矩形 313"/>
          <p:cNvSpPr/>
          <p:nvPr/>
        </p:nvSpPr>
        <p:spPr>
          <a:xfrm>
            <a:off x="1244600" y="51816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5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矩形 314"/>
          <p:cNvSpPr/>
          <p:nvPr/>
        </p:nvSpPr>
        <p:spPr>
          <a:xfrm>
            <a:off x="2006600" y="5207000"/>
            <a:ext cx="91694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数据导出增加</a:t>
            </a:r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授权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椭圆 316"/>
          <p:cNvSpPr/>
          <p:nvPr/>
        </p:nvSpPr>
        <p:spPr>
          <a:xfrm>
            <a:off x="7874000" y="-1016000"/>
            <a:ext cx="5969000" cy="5969000"/>
          </a:xfrm>
          <a:prstGeom prst="ellipse">
            <a:avLst/>
          </a:prstGeom>
          <a:solidFill>
            <a:srgbClr val="0B5FFF">
              <a:alpha val="7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18" name="矩形 317"/>
          <p:cNvSpPr/>
          <p:nvPr/>
        </p:nvSpPr>
        <p:spPr>
          <a:xfrm>
            <a:off x="685800" y="2489200"/>
            <a:ext cx="558800" cy="508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txBody>
          <a:bodyPr/>
          <a:p/>
        </p:txBody>
      </p:sp>
      <p:sp>
        <p:nvSpPr>
          <p:cNvPr id="320" name="矩形 319"/>
          <p:cNvSpPr/>
          <p:nvPr/>
        </p:nvSpPr>
        <p:spPr>
          <a:xfrm>
            <a:off x="685800" y="27686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让每个人都能安全、高效地与数据对话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711200" y="3810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>
                <a:solidFill>
                  <a:srgbClr val="A9BDD6"/>
                </a:solidFill>
                <a:latin typeface="微软雅黑" panose="020B0503020204020204" charset="-122"/>
                <a:ea typeface="微软雅黑" panose="020B0503020204020204" charset="-122"/>
              </a:rPr>
              <a:t>DataMind · 数据库 Agent Web 应用 </a:t>
            </a:r>
            <a:endParaRPr lang="zh-CN" sz="1300">
              <a:solidFill>
                <a:srgbClr val="A9BDD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711200" y="44450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700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lang="zh-CN" sz="1700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775335" y="5153025"/>
            <a:ext cx="1219200" cy="25400"/>
          </a:xfrm>
          <a:prstGeom prst="rect">
            <a:avLst/>
          </a:prstGeom>
          <a:solidFill>
            <a:srgbClr val="0B5FFF">
              <a:alpha val="7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2" name="矩形 201"/>
          <p:cNvSpPr/>
          <p:nvPr/>
        </p:nvSpPr>
        <p:spPr>
          <a:xfrm>
            <a:off x="800735" y="5305425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汇报人：刘瑶</a:t>
            </a:r>
            <a:endParaRPr lang="en-US" altLang="zh-CN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800735" y="568642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汇报时间：2026 年 10 月</a:t>
            </a:r>
            <a:endParaRPr lang="zh-CN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0735" y="609346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队伍名称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老山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冲锋队</a:t>
            </a:r>
            <a:endParaRPr lang="zh-CN" altLang="en-US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0735" y="6480175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>
              <a:buClrTx/>
              <a:buSzTx/>
              <a:buFontTx/>
            </a:pPr>
            <a:r>
              <a:rPr 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队伍成员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刘瑶</a:t>
            </a:r>
            <a:r>
              <a:rPr lang="en-US" altLang="zh-CN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100">
                <a:solidFill>
                  <a:srgbClr val="A9C4E8"/>
                </a:solidFill>
                <a:latin typeface="微软雅黑" panose="020B0503020204020204" charset="-122"/>
                <a:ea typeface="微软雅黑" panose="020B0503020204020204" charset="-122"/>
              </a:rPr>
              <a:t>郑海坤</a:t>
            </a:r>
            <a:endParaRPr lang="zh-CN" altLang="en-US" sz="1100">
              <a:solidFill>
                <a:srgbClr val="A9C4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3870</Words>
  <Application>WPS 演示</Application>
  <PresentationFormat/>
  <Paragraphs>495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方正雅意黑 GB18030L2</vt:lpstr>
      <vt:lpstr>Aptos</vt:lpstr>
      <vt:lpstr>Helvetica Neue</vt:lpstr>
      <vt:lpstr>宋体</vt:lpstr>
      <vt:lpstr>Arial Unicode MS</vt:lpstr>
      <vt:lpstr>汉仪书宋二KW</vt:lpstr>
      <vt:lpstr>Calibri</vt:lpstr>
      <vt:lpstr>Aptos</vt:lpstr>
      <vt:lpstr>微软雅黑</vt:lpstr>
      <vt:lpstr>华文仿宋</vt:lpstr>
      <vt:lpstr>PingFang SC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笨小孩</cp:lastModifiedBy>
  <cp:revision>5</cp:revision>
  <dcterms:created xsi:type="dcterms:W3CDTF">2026-10-16T08:28:50Z</dcterms:created>
  <dcterms:modified xsi:type="dcterms:W3CDTF">2026-10-16T08:28:50Z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296740B0D52E4AAEA9A6CF6A78A1F4D4_43</vt:lpwstr>
  </property>
</Properties>
</file>