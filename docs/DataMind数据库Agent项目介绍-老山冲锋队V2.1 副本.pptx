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.xml" ContentType="application/vnd.openxmlformats-officedocument.presentationml.notesSlide+xml"/>
  <Override PartName="/ppt/theme/theme3.xml" ContentType="application/vnd.openxmlformats-officedocument.theme+xml"/>
  <Override PartName="/ppt/notesSlides/notesSlide1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6.xml" ContentType="application/vnd.openxmlformats-officedocument.presentationml.notesSlid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notesSlides/notesSlide22.xml" ContentType="application/vnd.openxmlformats-officedocument.presentationml.notesSlide+xml"/>
  <Override PartName="/ppt/notesSlides/notesSlide24.xml" ContentType="application/vnd.openxmlformats-officedocument.presentationml.notesSlide+xml"/>
  <Override PartName="/docProps/app.xml" ContentType="application/vnd.openxmlformats-officedocument.extended-properties+xml"/>
  <Override PartName="/ppt/notesSlides/notesSlide23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14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21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19.xml" ContentType="application/vnd.openxmlformats-officedocument.presentationml.slide+xml"/>
  <Override PartName="/ppt/slides/slide17.xml" ContentType="application/vnd.openxmlformats-officedocument.presentationml.slide+xml"/>
  <Override PartName="/docProps/custom.xml" ContentType="application/vnd.openxmlformats-officedocument.custom-properties+xml"/>
  <Override PartName="/ppt/slideLayouts/slideLayout12.xml" ContentType="application/vnd.openxmlformats-officedocument.presentationml.slideLayout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3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16.xml" ContentType="application/vnd.openxmlformats-officedocument.presentationml.slide+xml"/>
  <Override PartName="/ppt/slideLayouts/slideLayout3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Slides/notesSlide12.xml" ContentType="application/vnd.openxmlformats-officedocument.presentationml.notes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9.xml" ContentType="application/vnd.openxmlformats-officedocument.presentationml.notesSlide+xml"/>
  <Override PartName="/ppt/slides/slide20.xml" ContentType="application/vnd.openxmlformats-officedocument.presentationml.slide+xml"/>
  <Override PartName="/ppt/slides/slide12.xml" ContentType="application/vnd.openxmlformats-officedocument.presentationml.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9.xml" ContentType="application/vnd.openxmlformats-officedocument.presentationml.slide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slideLayouts/slideLayout4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6.xml" ContentType="application/vnd.openxmlformats-officedocument.presentationml.slideLayout+xml"/>
  <Override PartName="/ppt/notesSlides/notesSlide8.xml" ContentType="application/vnd.openxmlformats-officedocument.presentationml.notesSlide+xml"/>
  <Override PartName="/ppt/slideLayouts/slideLayout8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s/slide13.xml" ContentType="application/vnd.openxmlformats-officedocument.presentationml.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3" Type="http://schemas.openxmlformats.org/officeDocument/2006/relationships/custom-properties" Target="docProps/custom.xml" /><Relationship Id="rId0" Type="http://schemas.openxmlformats.org/officeDocument/2006/relationships/officeDocument" Target="ppt/presentation.xml" /></Relationships>
</file>

<file path=ppt/presentation.xml><?xml version="1.0" encoding="utf-8"?>
<p:presentation xmlns:r="http://schemas.openxmlformats.org/officeDocument/2006/relationships" xmlns:p="http://schemas.openxmlformats.org/presentationml/2006/main" xmlns:a="http://schemas.openxmlformats.org/drawingml/2006/main" firstSlideNum="1">
  <p:sldMasterIdLst>
    <p:sldMasterId id="2147483648" r:id="rId0"/>
    <p:sldMasterId id="2147483655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>
  <p:normalViewPr>
    <p:restoredLeft sz="15620"/>
    <p:restoredTop sz="94660"/>
  </p:normalViewPr>
  <p:gridSpacing cx="72008" cy="72008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8.xml" /><Relationship Id="rId7" Type="http://schemas.openxmlformats.org/officeDocument/2006/relationships/slide" Target="slides/slide6.xml" /><Relationship Id="rId6" Type="http://schemas.openxmlformats.org/officeDocument/2006/relationships/slide" Target="slides/slide5.xml" /><Relationship Id="rId5" Type="http://schemas.openxmlformats.org/officeDocument/2006/relationships/slide" Target="slides/slide4.xml" /><Relationship Id="rId4" Type="http://schemas.openxmlformats.org/officeDocument/2006/relationships/slide" Target="slides/slide3.xml" /><Relationship Id="rId14" Type="http://schemas.openxmlformats.org/officeDocument/2006/relationships/slide" Target="slides/slide13.xml" /><Relationship Id="rId27" Type="http://schemas.openxmlformats.org/officeDocument/2006/relationships/presProps" Target="presProps.xml" /><Relationship Id="rId24" Type="http://schemas.openxmlformats.org/officeDocument/2006/relationships/slide" Target="slides/slide23.xml" /><Relationship Id="rId23" Type="http://schemas.openxmlformats.org/officeDocument/2006/relationships/slide" Target="slides/slide22.xml" /><Relationship Id="rId19" Type="http://schemas.openxmlformats.org/officeDocument/2006/relationships/slide" Target="slides/slide18.xml" /><Relationship Id="rId18" Type="http://schemas.openxmlformats.org/officeDocument/2006/relationships/slide" Target="slides/slide17.xml" /><Relationship Id="rId21" Type="http://schemas.openxmlformats.org/officeDocument/2006/relationships/slide" Target="slides/slide20.xml" /><Relationship Id="rId20" Type="http://schemas.openxmlformats.org/officeDocument/2006/relationships/slide" Target="slides/slide19.xml" /><Relationship Id="rId25" Type="http://schemas.openxmlformats.org/officeDocument/2006/relationships/slide" Target="slides/slide24.xml" /><Relationship Id="rId2" Type="http://schemas.openxmlformats.org/officeDocument/2006/relationships/slide" Target="slides/slide1.xml" /><Relationship Id="rId8" Type="http://schemas.openxmlformats.org/officeDocument/2006/relationships/slide" Target="slides/slide7.xml" /><Relationship Id="rId16" Type="http://schemas.openxmlformats.org/officeDocument/2006/relationships/slide" Target="slides/slide15.xml" /><Relationship Id="rId3" Type="http://schemas.openxmlformats.org/officeDocument/2006/relationships/slide" Target="slides/slide2.xml" /><Relationship Id="rId29" Type="http://schemas.openxmlformats.org/officeDocument/2006/relationships/viewProps" Target="viewProps.xml" /><Relationship Id="rId26" Type="http://schemas.openxmlformats.org/officeDocument/2006/relationships/notesMaster" Target="notesMasters/notesMaster1.xml" /><Relationship Id="rId12" Type="http://schemas.openxmlformats.org/officeDocument/2006/relationships/slide" Target="slides/slide11.xml" /><Relationship Id="rId22" Type="http://schemas.openxmlformats.org/officeDocument/2006/relationships/slide" Target="slides/slide21.xml" /><Relationship Id="rId15" Type="http://schemas.openxmlformats.org/officeDocument/2006/relationships/slide" Target="slides/slide14.xml" /><Relationship Id="rId17" Type="http://schemas.openxmlformats.org/officeDocument/2006/relationships/slide" Target="slides/slide16.xml" /><Relationship Id="rId10" Type="http://schemas.openxmlformats.org/officeDocument/2006/relationships/slide" Target="slides/slide9.xml" /><Relationship Id="rId1" Type="http://schemas.openxmlformats.org/officeDocument/2006/relationships/slideMaster" Target="slideMasters/slideMaster2.xml" /><Relationship Id="rId13" Type="http://schemas.openxmlformats.org/officeDocument/2006/relationships/slide" Target="slides/slide12.xml" /><Relationship Id="rId11" Type="http://schemas.openxmlformats.org/officeDocument/2006/relationships/slide" Target="slides/slide10.xml" /><Relationship Id="rId28" Type="http://schemas.openxmlformats.org/officeDocument/2006/relationships/tableStyles" Target="tableStyles.xml" /><Relationship Id="rId0" Type="http://schemas.openxmlformats.org/officeDocument/2006/relationships/slideMaster" Target="slideMasters/slide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3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/>
          </a:p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/>
          </a:p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/>
          </a:p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/>
          </a:p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/>
          </a:p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9.xml" 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0.xml" 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1.xml" 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2.xml" 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3.xml" 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4.xml" 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5.xml" 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6.xml" 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7.xml" 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8.xml" 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.xml" 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9.xml" 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0.xml" 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1.xml" 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2.xml" 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3.xml" 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4.xml" 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.xml" 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.xml" /></Relationships>
</file>

<file path=ppt/notesSlides/_rels/notesSlide2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.xml" /></Relationships>
</file>

<file path=ppt/notesSlides/_rels/notesSlide2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.xml" /></Relationships>
</file>

<file path=ppt/notesSlides/_rels/notesSlide2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6.xml" /></Relationships>
</file>

<file path=ppt/notesSlides/_rels/notesSlide2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7.xml" /></Relationships>
</file>

<file path=ppt/notesSlides/_rels/notesSlide2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8.xml" 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/>
              <a:t>播放视频（约 60 秒），数据源为 Oracle（UAT）：</a:t>
            </a:r>
            <a:endParaRPr/>
          </a:p>
          <a:p>
            <a:pPr/>
            <a:r>
              <a:rPr/>
              <a:t>案例一：提问「按分行层级统计近30天各个分行的交易笔数、交易总额，生成图表」，Agent 生成 SELECT o.ORG_NAME AS BRANCH_NAME, COUNT(t.LOG_ID) AS TRANS_CNT, ROUND(SUM(t.AMOUNT), 2) AS TRANS_AMT ... WHERE o.ORG_LEVEL = 'BRANCH' AND t.TRANS_TIME &gt;= TRUNC(SYSDATE) - 30 GROUP BY o.ORG_NAME，返回 6 家分行（360～1380 笔），自动渲染柱状图并点击「保存到可视化报表」；</a:t>
            </a:r>
            <a:endParaRPr/>
          </a:p>
          <a:p>
            <a:pPr/>
            <a:r>
              <a:rPr/>
              <a:t>案例二：新建对话后提问「近30天成功交易笔数和金额趋势，生成图表」，Agent 生成按 TRANS_TIME 逐日聚合（STATUS=SUCCESS）的 SQL，返回 31 天数据，自动选择折线图并同样保存到可视化报表；</a:t>
            </a:r>
            <a:endParaRPr/>
          </a:p>
          <a:p>
            <a:pPr/>
            <a:r>
              <a:rPr/>
              <a:t>结尾进入「可视化报表」页，可见刚保存的两张图表（笔数与金额量级差异大时前端自动拆分双 Y 轴）。</a:t>
            </a:r>
            <a:endParaRPr/>
          </a:p>
          <a:p>
            <a:pPr/>
            <a:endParaRPr/>
          </a:p>
          <a:p>
            <a:pPr/>
            <a:r>
              <a:rPr/>
              <a:t>[Sources]</a:t>
            </a:r>
            <a:endParaRPr/>
          </a:p>
          <a:p>
            <a:pPr/>
            <a:r>
              <a:rPr/>
              <a:t>视频为本地运行实例的录屏；数据源为远端 Oracle UAT 库（T_TRANS_LOG / T_ORG）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/>
              <a:t>播放视频（约 55 秒），完整演示 SQL 工作台与 Agent 协同：</a:t>
            </a:r>
            <a:endParaRPr/>
          </a:p>
          <a:p>
            <a:pPr/>
            <a:r>
              <a:rPr/>
              <a:t>案例一：数据源切换为「OceanBase（本地）」，在编辑器输入 SELECT * FROM `t_org`; 并点击「▶ 执行」，返回 55 行机构数据；</a:t>
            </a:r>
            <a:endParaRPr/>
          </a:p>
          <a:p>
            <a:pPr/>
            <a:r>
              <a:rPr/>
              <a:t>案例二：点击右侧竖条展开 AI Agent 面板、新建会话，输入「统计近90天各地区的成功交易笔数和交易金额，按金额从高到低」，Agent 生成 SELECT o.REGION AS REGION, COUNT(t.LOG_ID) AS CNT, ROUND(SUM(t.AMOUNT),2) AS AMT FROM t_trans_log t JOIN t_org o ON o.ORG_ID = t.ORG_ID WHERE UPPER(t.STATUS) = 'SUCCESS' AND t.TRANS_TIME &gt;= NOW() - INTERVAL 90 DAY GROUP BY o.REGION ORDER BY AMT DESC，并给出结论（共 6 个地区，合计约 1.67 万笔 / 16.86 亿元，深圳金额最高）；随后点击「填入编辑器」将 SQL 回填到工作台编辑器，再点右上角「▶ 执行」得到结果集，最后点右上角「收藏」，命名为「近90天各地区的成功交易统计」并保存成功（出现「已收藏」提示）；</a:t>
            </a:r>
            <a:endParaRPr/>
          </a:p>
          <a:p>
            <a:pPr/>
            <a:r>
              <a:rPr/>
              <a:t>结尾依次切换左侧「历史」页签（本次两条 SQL 的执行记录，含行数与耗时）与「收藏」页签（新增的收藏项排在首位）。</a:t>
            </a:r>
            <a:endParaRPr/>
          </a:p>
          <a:p>
            <a:pPr/>
            <a:endParaRPr/>
          </a:p>
          <a:p>
            <a:pPr/>
            <a:r>
              <a:rPr/>
              <a:t>[Sources]</a:t>
            </a:r>
            <a:endParaRPr/>
          </a:p>
          <a:p>
            <a:pPr/>
            <a:r>
              <a:rPr/>
              <a:t>视频为本地运行实例的录屏；数据源为 OceanBase CE 4.4.2.1（bank_db，T_ORG 55 行 / T_TRANS_LOG 10 万行）；Agent 生成 SQL 的模型为 openai · deepseek-v4-flash</a:t>
            </a:r>
            <a:endParaRPr/>
          </a:p>
        </p:txBody>
      </p:sp>
      <p:sp>
        <p:nvSpPr>
          <p:cNvPr id="8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/>
              <a:t>播放视频（约 52 秒），三个写操作场景均需人工确认：</a:t>
            </a:r>
            <a:endParaRPr/>
          </a:p>
          <a:p>
            <a:pPr/>
            <a:r>
              <a:rPr/>
              <a:t>案例一（工作台发起 DML）：数据源选「OceanBase（本地）」，执行 UPDATE `t_user` SET `GENDER` = 'F', `UPDATED_AT` = NOW() WHERE `USER_NAME` = '乔华';，弹出「写操作确认」（DML · warning，预览待执行 SQL），点「确认执行」后生效（影响 2 行）；</a:t>
            </a:r>
            <a:endParaRPr/>
          </a:p>
          <a:p>
            <a:pPr/>
            <a:r>
              <a:rPr/>
              <a:t>案例二（Agent 发起 DDL）：展开右侧 AI Agent、新建会话，输入「把用户表的用户名称字段长度改成300」，Agent 生成 ALTER TABLE `t_user` MODIFY COLUMN `USER_NAME` VARCHAR(300); 并弹出红色「危险操作确认」（DDL · danger），确认后执行；</a:t>
            </a:r>
            <a:endParaRPr/>
          </a:p>
          <a:p>
            <a:pPr/>
            <a:r>
              <a:rPr/>
              <a:t>案例三（高危操作被拦下）：继续输入「删除用户表」，Agent 生成 DROP TABLE `t_user`，同样红色高危提示，点「取消」后提示「已取消执行」，表未被删除。</a:t>
            </a:r>
            <a:endParaRPr/>
          </a:p>
          <a:p>
            <a:pPr/>
            <a:endParaRPr/>
          </a:p>
          <a:p>
            <a:pPr/>
            <a:r>
              <a:rPr/>
              <a:t>[Sources]</a:t>
            </a:r>
            <a:endParaRPr/>
          </a:p>
          <a:p>
            <a:pPr/>
            <a:r>
              <a:rPr/>
              <a:t>视频为本地运行实例的录屏；数据源为 OceanBase CE 4.4.2.1 bank_db（T_USER）；READ 自动执行、DML/DDL 待确认以及 5 分钟过期机制见 services/sql_service.py</a:t>
            </a:r>
            <a:endParaRPr/>
          </a:p>
        </p:txBody>
      </p:sp>
      <p:sp>
        <p:nvSpPr>
          <p:cNvPr id="12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/>
              <a:t>播放视频（约 32 秒），四个监控能力依次演示：</a:t>
            </a:r>
            <a:endParaRPr/>
          </a:p>
          <a:p>
            <a:pPr/>
            <a:r>
              <a:rPr/>
              <a:t>第一步：打开「连接概览」，基于执行历史（query_history）统计累计查询 336 次、今日 103 次、 10 个数据源，并列出各库的查询次数、平均/最大耗时、成功率与最近执行时间；</a:t>
            </a:r>
            <a:endParaRPr/>
          </a:p>
          <a:p>
            <a:pPr/>
            <a:r>
              <a:rPr/>
              <a:t>第二步：切到「审计日志」，查看登录与执行 SQL 的全量记录（含操作类型、风险类型、数据源、用户、IP、SQL），可见上一页演示中被拒绝的 DROP TABLE 也被如实记下（rejected）；</a:t>
            </a:r>
            <a:endParaRPr/>
          </a:p>
          <a:p>
            <a:pPr/>
            <a:r>
              <a:rPr/>
              <a:t>第三步：切到「慢查询」，把耗时阈值从默认 1000ms 改为 100ms 并点击「查询」，列出超过阈值的慢 SQL（含数据源、耗时、行数、状态、SQL、时间）；</a:t>
            </a:r>
            <a:endParaRPr/>
          </a:p>
          <a:p>
            <a:pPr/>
            <a:r>
              <a:rPr/>
              <a:t>第四步：切到「表结构对比」，源数据源选 Oracle（SIT）、目标数据源选 Oracle（UAT），点「对比」得到差异：T_ORG 在目标库多出 CREATED_AT 列，T_USER.USER_NAME 由 varchar2(300) 变为 varchar2(100)。</a:t>
            </a:r>
            <a:endParaRPr/>
          </a:p>
          <a:p>
            <a:pPr/>
            <a:endParaRPr/>
          </a:p>
          <a:p>
            <a:pPr/>
            <a:r>
              <a:rPr/>
              <a:t>[Sources]</a:t>
            </a:r>
            <a:endParaRPr/>
          </a:p>
          <a:p>
            <a:pPr/>
            <a:r>
              <a:rPr/>
              <a:t>视频为本地运行实例的录屏；数据来自 query_history / audit_logs 与远端 Oracle SIT、UAT 库；慢查询阈值、连接概览与 schema diff 实现见 routers/monitor.py 与 services/metadata_service.py</a:t>
            </a:r>
            <a:endParaRPr/>
          </a:p>
        </p:txBody>
      </p:sp>
      <p:sp>
        <p:nvSpPr>
          <p:cNvPr id="16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/>
              <a:t>播放视频（约 23 秒），两步验证连接可用性：</a:t>
            </a:r>
            <a:endParaRPr/>
          </a:p>
          <a:p>
            <a:pPr/>
            <a:r>
              <a:rPr/>
              <a:t>第一步：打开「设置 · 数据库连接配置」，在连接列表里点击第一个数据源「OceanBase（本地）」的「测试」按钮，弹出「连接测试结果」弹窗，反馈「连接成功」（底层调 POST /api/connections/{id}/connect）；</a:t>
            </a:r>
            <a:endParaRPr/>
          </a:p>
          <a:p>
            <a:pPr/>
            <a:r>
              <a:rPr/>
              <a:t>第二步：切到「大模型连接配置」，点击第二个模型「Ollama（本地）· qwen3.8:27b」的「测试」按钮，右上角提示「连接成功，模型 qwen3.8:27b 响应正常（2301 ms）」。</a:t>
            </a:r>
            <a:endParaRPr/>
          </a:p>
          <a:p>
            <a:pPr/>
            <a:endParaRPr/>
          </a:p>
          <a:p>
            <a:pPr/>
            <a:r>
              <a:rPr/>
              <a:t>[Sources]</a:t>
            </a:r>
            <a:endParaRPr/>
          </a:p>
          <a:p>
            <a:pPr/>
            <a:r>
              <a:rPr/>
              <a:t>视频为本地运行实例的录屏；数据库连接见 routers/connections.py（POST /api/connections/{id}/connect），大模型测试见 routers/system.py（POST /api/config/ai/test）；API Key 经 Fernet 加密存储</a:t>
            </a:r>
            <a:endParaRPr/>
          </a:p>
        </p:txBody>
      </p:sp>
      <p:sp>
        <p:nvSpPr>
          <p:cNvPr id="20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2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/>
              <a:t>播放视频（约 23 秒），从用户到角色依次演示：</a:t>
            </a:r>
            <a:endParaRPr/>
          </a:p>
          <a:p>
            <a:pPr/>
            <a:r>
              <a:rPr/>
              <a:t>第一步：从左侧菜单打开「用户管理」，列出账号、显示名、角色、状态与最后登录时间，操作列可编辑、重置密码、禁用/删除（当前 5 个账号：管理员 与 技术/业务各两类账号）；</a:t>
            </a:r>
            <a:endParaRPr/>
          </a:p>
          <a:p>
            <a:pPr/>
            <a:r>
              <a:rPr/>
              <a:t>第二步：切到「角色管理」，左侧列出 5 个内置角色（管理员 / 技术管理 / 技术查询 / 业务管理 / 业务查询）；</a:t>
            </a:r>
            <a:endParaRPr/>
          </a:p>
          <a:p>
            <a:pPr/>
            <a:r>
              <a:rPr/>
              <a:t>第三步：依次点击「技术管理」「技术查询」「业务查询」三个角色，右侧实时切换该角色的名称/编码/说明、「功能权限」按模块分组的勾选状态与角色成员（技术管理 12 项、技术查询 6 项、业务查询 4 项权限，选中行会高亮）。</a:t>
            </a:r>
            <a:endParaRPr/>
          </a:p>
          <a:p>
            <a:pPr/>
            <a:endParaRPr/>
          </a:p>
          <a:p>
            <a:pPr/>
            <a:r>
              <a:rPr/>
              <a:t>[Sources]</a:t>
            </a:r>
            <a:endParaRPr/>
          </a:p>
          <a:p>
            <a:pPr/>
            <a:r>
              <a:rPr/>
              <a:t>视频为本地运行实例的录屏；角色与权限码定义见 backend/app/permissions.py（BUILTIN_ROLES / PERMISSIONS），前端路由守卫与菜单按 meta.permission 控制</a:t>
            </a:r>
            <a:endParaRPr/>
          </a:p>
        </p:txBody>
      </p:sp>
      <p:sp>
        <p:nvSpPr>
          <p:cNvPr id="2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2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/>
              <a:t>先给观众一个清晰的路线图：从为什么做，到产品能力、技术亮点，再到工程治理。</a:t>
            </a:r>
            <a:endParaRPr/>
          </a:p>
          <a:p>
            <a:pPr/>
            <a:r>
              <a:rPr/>
              <a:t>说明后续每一部分都服务于同一个判断：这是一个可运行、可测试、可部署的完整产品。</a:t>
            </a:r>
            <a:endParaRPr/>
          </a:p>
        </p:txBody>
      </p:sp>
      <p:sp>
        <p:nvSpPr>
          <p:cNvPr id="28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/>
              <a:t>强调 Agent 能力的层次：不只是生成 SQL，还包括 Schema 感知、多轮对话、解释优化和流式输出。</a:t>
            </a:r>
            <a:endParaRPr/>
          </a:p>
          <a:p>
            <a:pPr/>
            <a:r>
              <a:rPr/>
              <a:t>下一页会展开工程实现中的工具调用与失败重试。</a:t>
            </a:r>
            <a:endParaRPr/>
          </a:p>
        </p:txBody>
      </p:sp>
      <p:sp>
        <p:nvSpPr>
          <p:cNvPr id="32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/>
              <a:t>这是项目的信任基础：让 AI 能生成 SQL，但不让 AI 拥有不受控的写权限。</a:t>
            </a:r>
            <a:endParaRPr/>
          </a:p>
          <a:p>
            <a:pPr/>
            <a:r>
              <a:rPr/>
              <a:t>可对比“直接给 AI 数据库权限”的传统做法，突出安全设计。</a:t>
            </a:r>
            <a:endParaRPr/>
          </a:p>
        </p:txBody>
      </p:sp>
      <p:sp>
        <p:nvSpPr>
          <p:cNvPr id="36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/>
              <a:t>审计与监控是系统可治理的体现，也是企业级部署的关键。</a:t>
            </a:r>
            <a:endParaRPr/>
          </a:p>
          <a:p>
            <a:pPr/>
            <a:r>
              <a:rPr/>
              <a:t>强调审计导出与自动清理，以及 Prometheus 指标对运维友好。</a:t>
            </a:r>
            <a:endParaRPr/>
          </a:p>
        </p:txBody>
      </p:sp>
      <p:sp>
        <p:nvSpPr>
          <p:cNvPr id="40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4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/>
              <a:t>开场控制在 15 秒内：这是一个前后端分离、AI Agent 驱动的数据库查询与运维工作台。</a:t>
            </a:r>
            <a:endParaRPr/>
          </a:p>
          <a:p>
            <a:pPr/>
            <a:r>
              <a:rPr/>
              <a:t>一句话说清用户价值：不会 SQL 的人也能查询，会 SQL 的人更快。</a:t>
            </a:r>
            <a:endParaRPr/>
          </a:p>
        </p:txBody>
      </p:sp>
      <p:sp>
        <p:nvSpPr>
          <p:cNvPr id="4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4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/>
              <a:t>企业级完整性：加密、分级授权、全量审计、指标与测试。</a:t>
            </a:r>
            <a:endParaRPr/>
          </a:p>
          <a:p>
            <a:pPr/>
            <a:endParaRPr/>
          </a:p>
          <a:p>
            <a:pPr/>
            <a:r>
              <a:rPr/>
              <a:t>[Sources]</a:t>
            </a:r>
            <a:endParaRPr/>
          </a:p>
          <a:p>
            <a:pPr/>
            <a:r>
              <a:rPr/>
              <a:t>backend/app/security.py、permissions.py、main.py（/metrics）；后端 117 项 pytest 用例，96 个 API 接口</a:t>
            </a:r>
            <a:endParaRPr/>
          </a:p>
        </p:txBody>
      </p:sp>
      <p:sp>
        <p:nvSpPr>
          <p:cNvPr id="48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5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/>
              <a:t>先给观众一个清晰的路线图：从为什么做，到产品能力、技术亮点，再到工程治理。</a:t>
            </a:r>
            <a:endParaRPr/>
          </a:p>
          <a:p>
            <a:pPr/>
            <a:r>
              <a:rPr/>
              <a:t>说明后续每一部分都服务于同一个判断：这是一个可运行、可测试、可部署的完整产品。</a:t>
            </a:r>
            <a:endParaRPr/>
          </a:p>
        </p:txBody>
      </p:sp>
      <p:sp>
        <p:nvSpPr>
          <p:cNvPr id="52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5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/>
              <a:t>重点讲“同一套 Agent 工具如何屏蔽数据库方言差异”。</a:t>
            </a:r>
            <a:endParaRPr/>
          </a:p>
          <a:p>
            <a:pPr/>
            <a:r>
              <a:rPr/>
              <a:t>例如获取表结构在不同数据库里调用不同 SQL，但上层服务无感知。</a:t>
            </a:r>
            <a:endParaRPr/>
          </a:p>
        </p:txBody>
      </p:sp>
      <p:sp>
        <p:nvSpPr>
          <p:cNvPr id="56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5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/>
              <a:t>定位一句话：不会 SQL 的人也能查数，会 SQL 的人更快。</a:t>
            </a:r>
            <a:endParaRPr/>
          </a:p>
          <a:p>
            <a:pPr/>
            <a:endParaRPr/>
          </a:p>
          <a:p>
            <a:pPr/>
            <a:r>
              <a:rPr/>
              <a:t>[Sources]</a:t>
            </a:r>
            <a:endParaRPr/>
          </a:p>
          <a:p>
            <a:pPr/>
            <a:r>
              <a:rPr/>
              <a:t>来源：仓库 需求说明书V2.0/V3.0.md、AGENTS.md、README.md；界面截图取自本地运行实例</a:t>
            </a:r>
            <a:endParaRPr/>
          </a:p>
        </p:txBody>
      </p:sp>
      <p:sp>
        <p:nvSpPr>
          <p:cNvPr id="60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6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/>
              <a:t>定位一句话：不会 SQL 的人也能查数，会 SQL 的人更快。</a:t>
            </a:r>
            <a:endParaRPr/>
          </a:p>
          <a:p>
            <a:pPr/>
            <a:endParaRPr/>
          </a:p>
          <a:p>
            <a:pPr/>
            <a:r>
              <a:rPr/>
              <a:t>[Sources]</a:t>
            </a:r>
            <a:endParaRPr/>
          </a:p>
          <a:p>
            <a:pPr/>
            <a:r>
              <a:rPr/>
              <a:t>来源：仓库 需求说明书V2.0/V3.0.md、AGENTS.md、README.md；界面截图取自本地运行实例</a:t>
            </a:r>
            <a:endParaRPr/>
          </a:p>
        </p:txBody>
      </p:sp>
      <p:sp>
        <p:nvSpPr>
          <p:cNvPr id="6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6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/>
              <a:t>收尾回到用户价值，并给出下一步计划。</a:t>
            </a:r>
            <a:endParaRPr/>
          </a:p>
          <a:p>
            <a:pPr/>
            <a:endParaRPr/>
          </a:p>
          <a:p>
            <a:pPr/>
            <a:r>
              <a:rPr/>
              <a:t>[Sources]</a:t>
            </a:r>
            <a:endParaRPr/>
          </a:p>
          <a:p>
            <a:pPr/>
            <a:r>
              <a:rPr/>
              <a:t>来源：仓库 需求说明书V2.0/V3.0.md、AGENTS.md、README.md；界面截图取自本地运行实例</a:t>
            </a:r>
            <a:endParaRPr/>
          </a:p>
        </p:txBody>
      </p:sp>
      <p:sp>
        <p:nvSpPr>
          <p:cNvPr id="68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7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/>
              <a:t>先给观众一个清晰的路线图：从为什么做，到产品能力、技术亮点，再到工程治理。</a:t>
            </a:r>
            <a:endParaRPr/>
          </a:p>
          <a:p>
            <a:pPr/>
            <a:r>
              <a:rPr/>
              <a:t>说明后续每一部分都服务于同一个判断：这是一个可运行、可测试、可部署的完整产品。</a:t>
            </a:r>
            <a:endParaRPr/>
          </a:p>
        </p:txBody>
      </p:sp>
      <p:sp>
        <p:nvSpPr>
          <p:cNvPr id="72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7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/>
              <a:t>先给观众一个清晰的路线图：从为什么做，到产品能力、技术亮点，再到工程治理。</a:t>
            </a:r>
            <a:endParaRPr/>
          </a:p>
          <a:p>
            <a:pPr/>
            <a:r>
              <a:rPr/>
              <a:t>说明后续每一部分都服务于同一个判断：这是一个可运行、可测试、可部署的完整产品。</a:t>
            </a:r>
            <a:endParaRPr/>
          </a:p>
        </p:txBody>
      </p:sp>
      <p:sp>
        <p:nvSpPr>
          <p:cNvPr id="76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7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/>
              <a:t>用真实工作流举例：产品经理打开网页，输入“本月新增用户按日分组”，系统生成 SQL、返回结果，并可一键生成图表。</a:t>
            </a:r>
            <a:endParaRPr/>
          </a:p>
          <a:p>
            <a:pPr/>
            <a:r>
              <a:rPr/>
              <a:t>不要逐条念，重点突出从“会写 SQL”到“会描述需求”的降低门槛。</a:t>
            </a:r>
            <a:endParaRPr/>
          </a:p>
        </p:txBody>
      </p:sp>
      <p:sp>
        <p:nvSpPr>
          <p:cNvPr id="80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8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/>
              <a:t>用真实工作流举例：产品经理打开网页，输入“本月新增用户按日分组”，系统生成 SQL、返回结果，并可一键生成图表。</a:t>
            </a:r>
            <a:endParaRPr/>
          </a:p>
          <a:p>
            <a:pPr/>
            <a:r>
              <a:rPr/>
              <a:t>不要逐条念，重点突出从“会写 SQL”到“会描述需求”的降低门槛。</a:t>
            </a:r>
            <a:endParaRPr/>
          </a:p>
        </p:txBody>
      </p:sp>
      <p:sp>
        <p:nvSpPr>
          <p:cNvPr id="8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8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/>
              <a:t>先给观众一个清晰的路线图：从为什么做，到产品能力、技术亮点，再到工程治理。</a:t>
            </a:r>
            <a:endParaRPr/>
          </a:p>
          <a:p>
            <a:pPr/>
            <a:r>
              <a:rPr/>
              <a:t>说明后续每一部分都服务于同一个判断：这是一个可运行、可测试、可部署的完整产品。</a:t>
            </a:r>
            <a:endParaRPr/>
          </a:p>
        </p:txBody>
      </p:sp>
      <p:sp>
        <p:nvSpPr>
          <p:cNvPr id="88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9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/>
              <a:t>不逐条念功能，强调模块围绕工作流组织：连接、查询、分析、报表、管理。</a:t>
            </a:r>
            <a:endParaRPr/>
          </a:p>
          <a:p>
            <a:pPr/>
            <a:endParaRPr/>
          </a:p>
          <a:p>
            <a:pPr/>
            <a:r>
              <a:rPr/>
              <a:t>[Sources]</a:t>
            </a:r>
            <a:endParaRPr/>
          </a:p>
          <a:p>
            <a:pPr/>
            <a:r>
              <a:rPr/>
              <a:t>来源：仓库 需求说明书V2.0/V3.0.md、AGENTS.md、README.md；界面截图取自本地运行实例</a:t>
            </a:r>
            <a:endParaRPr/>
          </a:p>
        </p:txBody>
      </p:sp>
      <p:sp>
        <p:nvSpPr>
          <p:cNvPr id="92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>
      <p:nvGrpSpPr>
        <p:cNvPr id="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9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/>
              <a:t>播放视频（约 40 秒），包含两个查询案例：</a:t>
            </a:r>
            <a:endParaRPr/>
          </a:p>
          <a:p>
            <a:pPr/>
            <a:r>
              <a:rPr/>
              <a:t>案例一：选择「本地演示库 (SQLite)」，提问「查询所有用户信息」，Agent 生成 SELECT id, username, email, age, created_at FROM users 并返回 8 条记录；</a:t>
            </a:r>
            <a:endParaRPr/>
          </a:p>
          <a:p>
            <a:pPr/>
            <a:r>
              <a:rPr/>
              <a:t>案例二：新建对话并切换到「Oracle（UAT）」，提问「查询所有机构，列出机构号、机构名称、机构层级和所在地区，按机构号排序」，Agent 生成 SELECT ORG_ID, ORG_NAME, ORG_LEVEL, REGION FROM BANK.T_ORG ORDER BY ORG_ID，返回 55 家机构（HEAD/BRANCH/SUB_BRANCH 层级）；结果出来后点击 CSV 将结果集导出（导出成功提示 + 浏览器下载，CSV 共 55 行数据）。</a:t>
            </a:r>
            <a:endParaRPr/>
          </a:p>
          <a:p>
            <a:pPr/>
            <a:endParaRPr/>
          </a:p>
          <a:p>
            <a:pPr/>
            <a:r>
              <a:rPr/>
              <a:t>[Sources]</a:t>
            </a:r>
            <a:endParaRPr/>
          </a:p>
          <a:p>
            <a:pPr/>
            <a:r>
              <a:rPr/>
              <a:t>视频为本地运行实例的录屏；数据源为内置演示库（SQLite）与远端 Oracle UAT 库（T_ORG 表）</a:t>
            </a:r>
            <a:endParaRPr/>
          </a:p>
        </p:txBody>
      </p:sp>
      <p:sp>
        <p:nvSpPr>
          <p:cNvPr id="96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2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2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2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2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2.xml" /></Relationships>
</file>

<file path=ppt/slideLayouts/_rels/slideLayout1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2.xml" /></Relationships>
</file>

<file path=ppt/slideLayouts/slideLayout1.xml><?xml version="1.0" encoding="utf-8"?>
<p:sldLayout xmlns:p="http://schemas.openxmlformats.org/presentationml/2006/main" xmlns:a="http://schemas.openxmlformats.org/drawing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/>
            <a:endParaRPr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/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>
  <p:cSld name="Section Header">
    <p:spTree>
      <p:nvGrpSpPr>
        <p:cNvPr id="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/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>
  <p:cSld name="Title and Body">
    <p:spTree>
      <p:nvGrpSpPr>
        <p:cNvPr id="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/>
            <a:endParaRPr/>
          </a:p>
        </p:txBody>
      </p:sp>
      <p:sp>
        <p:nvSpPr>
          <p:cNvPr id="8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/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>
  <p:cSld name="Title and Two Column"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/>
            <a:endParaRPr/>
          </a:p>
        </p:txBody>
      </p:sp>
      <p:sp>
        <p:nvSpPr>
          <p:cNvPr id="11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/>
            <a:endParaRPr/>
          </a:p>
        </p:txBody>
      </p:sp>
      <p:sp>
        <p:nvSpPr>
          <p:cNvPr id="12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/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>
  <p:cSld name="Title and One Column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/>
            <a:endParaRPr/>
          </a:p>
        </p:txBody>
      </p:sp>
      <p:sp>
        <p:nvSpPr>
          <p:cNvPr id="15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/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type="blank">
  <p:cSld name="Blank"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type="title">
  <p:cSld name="Title Slide"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/>
            <a:endParaRPr/>
          </a:p>
        </p:txBody>
      </p:sp>
      <p:sp>
        <p:nvSpPr>
          <p:cNvPr id="19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/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>
  <p:cSld name="Section Header"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/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>
  <p:cSld name="Title and Body"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/>
            <a:endParaRPr/>
          </a:p>
        </p:txBody>
      </p:sp>
      <p:sp>
        <p:nvSpPr>
          <p:cNvPr id="24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/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>
  <p:cSld name="Title and Two Column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/>
            <a:endParaRPr/>
          </a:p>
        </p:txBody>
      </p:sp>
      <p:sp>
        <p:nvSpPr>
          <p:cNvPr id="27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/>
            <a:endParaRPr/>
          </a:p>
        </p:txBody>
      </p:sp>
      <p:sp>
        <p:nvSpPr>
          <p:cNvPr id="28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/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>
  <p:cSld name="Title and One Column"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/>
            <a:endParaRPr/>
          </a:p>
        </p:txBody>
      </p:sp>
      <p:sp>
        <p:nvSpPr>
          <p:cNvPr id="31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/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p="http://schemas.openxmlformats.org/presentationml/2006/main" xmlns:a="http://schemas.openxmlformats.org/drawingml/2006/main" type="blank">
  <p:cSld name="Blank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5" Type="http://schemas.openxmlformats.org/officeDocument/2006/relationships/slideLayout" Target="../slideLayouts/slideLayout6.xml" /><Relationship Id="rId4" Type="http://schemas.openxmlformats.org/officeDocument/2006/relationships/slideLayout" Target="../slideLayouts/slideLayout5.xml" /><Relationship Id="rId2" Type="http://schemas.openxmlformats.org/officeDocument/2006/relationships/slideLayout" Target="../slideLayouts/slideLayout3.xml" /><Relationship Id="rId6" Type="http://schemas.openxmlformats.org/officeDocument/2006/relationships/theme" Target="../theme/theme1.xml" /><Relationship Id="rId1" Type="http://schemas.openxmlformats.org/officeDocument/2006/relationships/slideLayout" Target="../slideLayouts/slideLayout2.xml" /><Relationship Id="rId3" Type="http://schemas.openxmlformats.org/officeDocument/2006/relationships/slideLayout" Target="../slideLayouts/slideLayout4.xml" /><Relationship Id="rId0" Type="http://schemas.openxmlformats.org/officeDocument/2006/relationships/slideLayout" Target="../slideLayouts/slideLayout1.xml" /></Relationships>
</file>

<file path=ppt/slideMasters/_rels/slideMaster2.xml.rels><?xml version="1.0" encoding="UTF-8" standalone="yes"?><Relationships xmlns="http://schemas.openxmlformats.org/package/2006/relationships"><Relationship Id="rId5" Type="http://schemas.openxmlformats.org/officeDocument/2006/relationships/slideLayout" Target="../slideLayouts/slideLayout12.xml" /><Relationship Id="rId4" Type="http://schemas.openxmlformats.org/officeDocument/2006/relationships/slideLayout" Target="../slideLayouts/slideLayout11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6" Type="http://schemas.openxmlformats.org/officeDocument/2006/relationships/theme" Target="../theme/theme2.xml" /><Relationship Id="rId1" Type="http://schemas.openxmlformats.org/officeDocument/2006/relationships/slideLayout" Target="../slideLayouts/slideLayout8.xml" /><Relationship Id="rId0" Type="http://schemas.openxmlformats.org/officeDocument/2006/relationships/slideLayout" Target="../slideLayouts/slideLayout7.xml" /></Relationships>
</file>

<file path=ppt/slideMasters/slideMaster1.xml><?xml version="1.0" encoding="utf-8"?>
<p:sldMaster xmlns:r="http://schemas.openxmlformats.org/officeDocument/2006/relationships"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r="http://schemas.openxmlformats.org/officeDocument/2006/relationships"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0"/>
    <p:sldLayoutId id="2147483657" r:id="rId1"/>
    <p:sldLayoutId id="2147483658" r:id="rId2"/>
    <p:sldLayoutId id="2147483659" r:id="rId3"/>
    <p:sldLayoutId id="2147483660" r:id="rId4"/>
    <p:sldLayoutId id="2147483661" r:id="rId5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1.xml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8.xml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9.xml" /><Relationship Id="rId0" Type="http://schemas.openxmlformats.org/officeDocument/2006/relationships/slideLayout" Target="../slideLayouts/slideLayout7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0.xml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1.xml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2.xml" /><Relationship Id="rId0" Type="http://schemas.openxmlformats.org/officeDocument/2006/relationships/slideLayout" Target="../slideLayouts/slideLayout7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3.xml" /><Relationship Id="rId0" Type="http://schemas.openxmlformats.org/officeDocument/2006/relationships/slideLayout" Target="../slideLayouts/slideLayout6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4.xml" /><Relationship Id="rId0" Type="http://schemas.openxmlformats.org/officeDocument/2006/relationships/slideLayout" Target="../slideLayouts/slideLayout6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.xml" /><Relationship Id="rId0" Type="http://schemas.openxmlformats.org/officeDocument/2006/relationships/slideLayout" Target="../slideLayouts/slideLayout6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.xml" /><Relationship Id="rId0" Type="http://schemas.openxmlformats.org/officeDocument/2006/relationships/slideLayout" Target="../slideLayouts/slideLayout6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.xml" /><Relationship Id="rId0" Type="http://schemas.openxmlformats.org/officeDocument/2006/relationships/slideLayout" Target="../slideLayouts/slideLayout6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.xml" /><Relationship Id="rId0" Type="http://schemas.openxmlformats.org/officeDocument/2006/relationships/slideLayout" Target="../slideLayouts/slideLayout6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5.xml" /><Relationship Id="rId0" Type="http://schemas.openxmlformats.org/officeDocument/2006/relationships/slideLayout" Target="../slideLayouts/slideLayout6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6.xml" /><Relationship Id="rId0" Type="http://schemas.openxmlformats.org/officeDocument/2006/relationships/slideLayout" Target="../slideLayouts/slideLayout6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7.xml" /><Relationship Id="rId0" Type="http://schemas.openxmlformats.org/officeDocument/2006/relationships/slideLayout" Target="../slideLayouts/slideLayout7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8.xml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9.xml" /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0.xml" /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2.xml" /><Relationship Id="rId0" Type="http://schemas.openxmlformats.org/officeDocument/2006/relationships/slideLayout" Target="../slideLayouts/slideLayout6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3.xml" /><Relationship Id="rId0" Type="http://schemas.openxmlformats.org/officeDocument/2006/relationships/slideLayout" Target="../slideLayouts/slideLayout1.xml" 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4.xml" /><Relationship Id="rId0" Type="http://schemas.openxmlformats.org/officeDocument/2006/relationships/slideLayout" Target="../slideLayouts/slideLayout1.xml" 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5.xml" /><Relationship Id="rId0" Type="http://schemas.openxmlformats.org/officeDocument/2006/relationships/slideLayout" Target="../slideLayouts/slideLayout6.xml" 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6.xml" /><Relationship Id="rId0" Type="http://schemas.openxmlformats.org/officeDocument/2006/relationships/slideLayout" Target="../slideLayouts/slideLayout6.xml" 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7.xml" /><Relationship Id="rId0" Type="http://schemas.openxmlformats.org/officeDocument/2006/relationships/slideLayout" Target="../slideLayouts/slideLayout6.xml" 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B1830"/>
        </a:solidFill>
      </p:bgPr>
    </p:bg>
    <p:spTree>
      <p:nvGrpSpPr>
        <p:cNvPr id="1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"/>
          <p:cNvSpPr/>
          <p:nvPr/>
        </p:nvSpPr>
        <p:spPr>
          <a:xfrm>
            <a:off x="7848600" y="-889000"/>
            <a:ext cx="5969000" cy="5969000"/>
          </a:xfrm>
          <a:prstGeom prst="ellipse">
            <a:avLst/>
          </a:prstGeom>
          <a:solidFill>
            <a:srgbClr val="0B5FFF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6" name=""/>
          <p:cNvSpPr/>
          <p:nvPr/>
        </p:nvSpPr>
        <p:spPr>
          <a:xfrm>
            <a:off x="10007600" y="4089400"/>
            <a:ext cx="3810000" cy="3810000"/>
          </a:xfrm>
          <a:prstGeom prst="ellipse">
            <a:avLst/>
          </a:prstGeom>
          <a:solidFill>
            <a:srgbClr val="0B5FFF">
              <a:alpha val="6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7" name=""/>
          <p:cNvSpPr/>
          <p:nvPr/>
        </p:nvSpPr>
        <p:spPr>
          <a:xfrm>
            <a:off x="685800" y="1905000"/>
            <a:ext cx="50800" cy="12700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88" name=""/>
          <p:cNvSpPr/>
          <p:nvPr/>
        </p:nvSpPr>
        <p:spPr>
          <a:xfrm>
            <a:off x="990600" y="5740400"/>
            <a:ext cx="1219200" cy="25400"/>
          </a:xfrm>
          <a:prstGeom prst="rect">
            <a:avLst/>
          </a:prstGeom>
          <a:solidFill>
            <a:srgbClr val="0B5FFF">
              <a:alpha val="7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9" name=""/>
          <p:cNvSpPr/>
          <p:nvPr/>
        </p:nvSpPr>
        <p:spPr>
          <a:xfrm>
            <a:off x="990600" y="1828800"/>
            <a:ext cx="7620000" cy="863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5000" b="1">
                <a:solidFill>
                  <a:srgbClr val="FFFFFF"/>
                </a:solidFill>
                <a:latin typeface="微软雅黑"/>
                <a:ea typeface="微软雅黑"/>
              </a:rPr>
              <a:t>DataMind</a:t>
            </a:r>
            <a:endParaRPr lang="zh-CN" sz="50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90" name=""/>
          <p:cNvSpPr/>
          <p:nvPr/>
        </p:nvSpPr>
        <p:spPr>
          <a:xfrm>
            <a:off x="1016000" y="2743200"/>
            <a:ext cx="7620000" cy="406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000">
                <a:solidFill>
                  <a:srgbClr val="7FB3FF"/>
                </a:solidFill>
                <a:latin typeface="微软雅黑"/>
                <a:ea typeface="微软雅黑"/>
              </a:rPr>
              <a:t>数据库 Agent Web 应用</a:t>
            </a:r>
            <a:endParaRPr/>
          </a:p>
        </p:txBody>
      </p:sp>
      <p:sp>
        <p:nvSpPr>
          <p:cNvPr id="191" name=""/>
          <p:cNvSpPr/>
          <p:nvPr/>
        </p:nvSpPr>
        <p:spPr>
          <a:xfrm>
            <a:off x="1016000" y="3327400"/>
            <a:ext cx="88900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9FB3C8"/>
                </a:solidFill>
                <a:latin typeface="微软雅黑"/>
                <a:ea typeface="微软雅黑"/>
              </a:rPr>
              <a:t>让不会写 SQL 的业务人员也能安全查数，让会写 SQL 的技术人员更高效。</a:t>
            </a:r>
            <a:endParaRPr/>
          </a:p>
        </p:txBody>
      </p:sp>
      <p:sp>
        <p:nvSpPr>
          <p:cNvPr id="192" name=""/>
          <p:cNvSpPr/>
          <p:nvPr/>
        </p:nvSpPr>
        <p:spPr>
          <a:xfrm>
            <a:off x="1016000" y="4140200"/>
            <a:ext cx="9144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7FB3FF"/>
                </a:solidFill>
                <a:latin typeface="微软雅黑"/>
                <a:ea typeface="微软雅黑"/>
              </a:rPr>
              <a:t>AI Agent    ·    Multi-Database    ·    Security First</a:t>
            </a:r>
            <a:endParaRPr/>
          </a:p>
        </p:txBody>
      </p:sp>
      <p:sp>
        <p:nvSpPr>
          <p:cNvPr id="193" name=""/>
          <p:cNvSpPr/>
          <p:nvPr/>
        </p:nvSpPr>
        <p:spPr>
          <a:xfrm>
            <a:off x="1016000" y="5918200"/>
            <a:ext cx="83820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5C7A9E"/>
                </a:solidFill>
                <a:latin typeface="微软雅黑"/>
                <a:ea typeface="微软雅黑"/>
              </a:rPr>
              <a:t>DataMind v2.0   ·   数据库 Agent Web 应用   ·  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3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14" name="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315" name=""/>
          <p:cNvSpPr/>
          <p:nvPr/>
        </p:nvSpPr>
        <p:spPr>
          <a:xfrm>
            <a:off x="685800" y="1854200"/>
            <a:ext cx="5257800" cy="177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316" name=""/>
          <p:cNvSpPr/>
          <p:nvPr/>
        </p:nvSpPr>
        <p:spPr>
          <a:xfrm>
            <a:off x="1905000" y="2286000"/>
            <a:ext cx="12700" cy="9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317" name=""/>
          <p:cNvSpPr/>
          <p:nvPr/>
        </p:nvSpPr>
        <p:spPr>
          <a:xfrm>
            <a:off x="6248400" y="1854200"/>
            <a:ext cx="5257800" cy="177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318" name=""/>
          <p:cNvSpPr/>
          <p:nvPr/>
        </p:nvSpPr>
        <p:spPr>
          <a:xfrm>
            <a:off x="7467600" y="2286000"/>
            <a:ext cx="12700" cy="9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319" name=""/>
          <p:cNvSpPr/>
          <p:nvPr/>
        </p:nvSpPr>
        <p:spPr>
          <a:xfrm>
            <a:off x="685800" y="3860800"/>
            <a:ext cx="5257800" cy="177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320" name=""/>
          <p:cNvSpPr/>
          <p:nvPr/>
        </p:nvSpPr>
        <p:spPr>
          <a:xfrm>
            <a:off x="1905000" y="4292600"/>
            <a:ext cx="12700" cy="9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321" name=""/>
          <p:cNvSpPr/>
          <p:nvPr/>
        </p:nvSpPr>
        <p:spPr>
          <a:xfrm>
            <a:off x="6248400" y="3860800"/>
            <a:ext cx="5257800" cy="177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322" name=""/>
          <p:cNvSpPr/>
          <p:nvPr/>
        </p:nvSpPr>
        <p:spPr>
          <a:xfrm>
            <a:off x="7467600" y="4292600"/>
            <a:ext cx="12700" cy="9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323" name="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400" b="1">
                <a:solidFill>
                  <a:srgbClr val="0F172A"/>
                </a:solidFill>
                <a:latin typeface="微软雅黑"/>
                <a:ea typeface="微软雅黑"/>
              </a:rPr>
              <a:t>目录</a:t>
            </a:r>
            <a:endParaRPr lang="zh-CN" sz="24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324" name=""/>
          <p:cNvSpPr/>
          <p:nvPr/>
        </p:nvSpPr>
        <p:spPr>
          <a:xfrm>
            <a:off x="685800" y="1193800"/>
            <a:ext cx="108204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475569"/>
                </a:solidFill>
                <a:latin typeface="微软雅黑"/>
                <a:ea typeface="微软雅黑"/>
              </a:rPr>
              <a:t>四大板块：从业务痛点到落地价值</a:t>
            </a:r>
            <a:endParaRPr/>
          </a:p>
        </p:txBody>
      </p:sp>
      <p:sp>
        <p:nvSpPr>
          <p:cNvPr id="325" name="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DataMind · 数据库 Agent Web 应用</a:t>
            </a:r>
            <a:endParaRPr/>
          </a:p>
        </p:txBody>
      </p:sp>
      <p:sp>
        <p:nvSpPr>
          <p:cNvPr id="326" name="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02</a:t>
            </a:r>
            <a:endParaRPr/>
          </a:p>
        </p:txBody>
      </p:sp>
      <p:sp>
        <p:nvSpPr>
          <p:cNvPr id="327" name=""/>
          <p:cNvSpPr/>
          <p:nvPr/>
        </p:nvSpPr>
        <p:spPr>
          <a:xfrm>
            <a:off x="990600" y="2286000"/>
            <a:ext cx="8890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3000" b="1">
                <a:solidFill>
                  <a:srgbClr val="0B5FFF"/>
                </a:solidFill>
                <a:latin typeface="微软雅黑"/>
                <a:ea typeface="微软雅黑"/>
              </a:rPr>
              <a:t>01</a:t>
            </a:r>
            <a:endParaRPr lang="zh-CN" sz="3000" b="1">
              <a:solidFill>
                <a:srgbClr val="0B5FFF"/>
              </a:solidFill>
              <a:latin typeface="微软雅黑"/>
              <a:ea typeface="微软雅黑"/>
            </a:endParaRPr>
          </a:p>
        </p:txBody>
      </p:sp>
      <p:sp>
        <p:nvSpPr>
          <p:cNvPr id="328" name=""/>
          <p:cNvSpPr/>
          <p:nvPr/>
        </p:nvSpPr>
        <p:spPr>
          <a:xfrm>
            <a:off x="2133600" y="2336800"/>
            <a:ext cx="35052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700" b="1">
                <a:solidFill>
                  <a:srgbClr val="0F172A"/>
                </a:solidFill>
                <a:latin typeface="微软雅黑"/>
                <a:ea typeface="微软雅黑"/>
              </a:rPr>
              <a:t>项目背景</a:t>
            </a:r>
            <a:endParaRPr lang="zh-CN" sz="17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329" name=""/>
          <p:cNvSpPr/>
          <p:nvPr/>
        </p:nvSpPr>
        <p:spPr>
          <a:xfrm>
            <a:off x="2133600" y="2768600"/>
            <a:ext cx="3505200" cy="584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痛点分析 · 解决方案 · 目标用户</a:t>
            </a:r>
            <a:endParaRPr/>
          </a:p>
        </p:txBody>
      </p:sp>
      <p:sp>
        <p:nvSpPr>
          <p:cNvPr id="330" name=""/>
          <p:cNvSpPr/>
          <p:nvPr/>
        </p:nvSpPr>
        <p:spPr>
          <a:xfrm>
            <a:off x="6553200" y="2286000"/>
            <a:ext cx="8890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3000" b="1">
                <a:solidFill>
                  <a:srgbClr val="0B5FFF"/>
                </a:solidFill>
                <a:latin typeface="微软雅黑"/>
                <a:ea typeface="微软雅黑"/>
              </a:rPr>
              <a:t>02</a:t>
            </a:r>
            <a:endParaRPr lang="zh-CN" sz="3000" b="1">
              <a:solidFill>
                <a:srgbClr val="0B5FFF"/>
              </a:solidFill>
              <a:latin typeface="微软雅黑"/>
              <a:ea typeface="微软雅黑"/>
            </a:endParaRPr>
          </a:p>
        </p:txBody>
      </p:sp>
      <p:sp>
        <p:nvSpPr>
          <p:cNvPr id="331" name=""/>
          <p:cNvSpPr/>
          <p:nvPr/>
        </p:nvSpPr>
        <p:spPr>
          <a:xfrm>
            <a:off x="7696200" y="2336800"/>
            <a:ext cx="35052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700" b="1">
                <a:solidFill>
                  <a:srgbClr val="0F172A"/>
                </a:solidFill>
                <a:latin typeface="微软雅黑"/>
                <a:ea typeface="微软雅黑"/>
              </a:rPr>
              <a:t>系统功能</a:t>
            </a:r>
            <a:endParaRPr lang="zh-CN" sz="17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332" name=""/>
          <p:cNvSpPr/>
          <p:nvPr/>
        </p:nvSpPr>
        <p:spPr>
          <a:xfrm>
            <a:off x="7696200" y="2768600"/>
            <a:ext cx="3505200" cy="584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功能全景 · 七大功能演示</a:t>
            </a:r>
            <a:endParaRPr/>
          </a:p>
        </p:txBody>
      </p:sp>
      <p:sp>
        <p:nvSpPr>
          <p:cNvPr id="333" name=""/>
          <p:cNvSpPr/>
          <p:nvPr/>
        </p:nvSpPr>
        <p:spPr>
          <a:xfrm>
            <a:off x="990600" y="4292600"/>
            <a:ext cx="8890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3000" b="1">
                <a:solidFill>
                  <a:srgbClr val="0B5FFF"/>
                </a:solidFill>
                <a:latin typeface="微软雅黑"/>
                <a:ea typeface="微软雅黑"/>
              </a:rPr>
              <a:t>03</a:t>
            </a:r>
            <a:endParaRPr lang="zh-CN" sz="3000" b="1">
              <a:solidFill>
                <a:srgbClr val="0B5FFF"/>
              </a:solidFill>
              <a:latin typeface="微软雅黑"/>
              <a:ea typeface="微软雅黑"/>
            </a:endParaRPr>
          </a:p>
        </p:txBody>
      </p:sp>
      <p:sp>
        <p:nvSpPr>
          <p:cNvPr id="334" name=""/>
          <p:cNvSpPr/>
          <p:nvPr/>
        </p:nvSpPr>
        <p:spPr>
          <a:xfrm>
            <a:off x="2133600" y="4343400"/>
            <a:ext cx="35052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700" b="1">
                <a:solidFill>
                  <a:srgbClr val="0F172A"/>
                </a:solidFill>
                <a:latin typeface="微软雅黑"/>
                <a:ea typeface="微软雅黑"/>
              </a:rPr>
              <a:t>技术亮点</a:t>
            </a:r>
            <a:endParaRPr lang="zh-CN" sz="17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335" name=""/>
          <p:cNvSpPr/>
          <p:nvPr/>
        </p:nvSpPr>
        <p:spPr>
          <a:xfrm>
            <a:off x="2133600" y="4775200"/>
            <a:ext cx="3505200" cy="584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marL="0" lvl="0" indent="0" algn="l" defTabSz="914400" hangingPunct="1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Aptos"/>
                <a:ea typeface="Aptos"/>
                <a:cs typeface="+mn-cs"/>
              </a:defRPr>
            </a:pPr>
            <a:r>
              <a:rPr lang="zh-CN" sz="1000" b="0" i="0" u="none" strike="noStrike">
                <a:solidFill>
                  <a:srgbClr val="475569">
                    <a:alpha val="100000"/>
                  </a:srgbClr>
                </a:solidFill>
                <a:latin typeface="微软雅黑"/>
                <a:ea typeface="微软雅黑"/>
                <a:cs typeface="+mn-cs"/>
              </a:rPr>
              <a:t>AI Agent 集成 · SQL 分级鉴权 · 审计与监控</a:t>
            </a:r>
            <a:r>
              <a:rPr lang="zh-CN" sz="1000" b="0" i="0" u="none" strike="noStrike">
                <a:solidFill>
                  <a:srgbClr val="475569">
                    <a:alpha val="100000"/>
                  </a:srgbClr>
                </a:solidFill>
                <a:latin typeface="微软雅黑"/>
                <a:ea typeface="微软雅黑"/>
                <a:cs typeface="+mn-cs"/>
              </a:rPr>
              <a:t>·工程化与安全</a:t>
            </a:r>
            <a:endParaRPr sz="1800">
              <a:solidFill>
                <a:schemeClr val="tx1">
                  <a:alpha val="100000"/>
                </a:schemeClr>
              </a:solidFill>
              <a:latin typeface="Aptos"/>
              <a:ea typeface="Aptos"/>
              <a:cs typeface="+mn-cs"/>
            </a:endParaRPr>
          </a:p>
        </p:txBody>
      </p:sp>
      <p:sp>
        <p:nvSpPr>
          <p:cNvPr id="336" name=""/>
          <p:cNvSpPr/>
          <p:nvPr/>
        </p:nvSpPr>
        <p:spPr>
          <a:xfrm>
            <a:off x="6553200" y="4292600"/>
            <a:ext cx="8890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3000" b="1">
                <a:solidFill>
                  <a:srgbClr val="0B5FFF"/>
                </a:solidFill>
                <a:latin typeface="微软雅黑"/>
                <a:ea typeface="微软雅黑"/>
              </a:rPr>
              <a:t>04</a:t>
            </a:r>
            <a:endParaRPr lang="zh-CN" sz="3000" b="1">
              <a:solidFill>
                <a:srgbClr val="0B5FFF"/>
              </a:solidFill>
              <a:latin typeface="微软雅黑"/>
              <a:ea typeface="微软雅黑"/>
            </a:endParaRPr>
          </a:p>
        </p:txBody>
      </p:sp>
      <p:sp>
        <p:nvSpPr>
          <p:cNvPr id="337" name=""/>
          <p:cNvSpPr/>
          <p:nvPr/>
        </p:nvSpPr>
        <p:spPr>
          <a:xfrm>
            <a:off x="7696200" y="4343400"/>
            <a:ext cx="35052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700" b="1">
                <a:solidFill>
                  <a:srgbClr val="0F172A"/>
                </a:solidFill>
                <a:latin typeface="微软雅黑"/>
                <a:ea typeface="微软雅黑"/>
              </a:rPr>
              <a:t>推广价值</a:t>
            </a:r>
            <a:endParaRPr lang="zh-CN" sz="17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338" name=""/>
          <p:cNvSpPr/>
          <p:nvPr/>
        </p:nvSpPr>
        <p:spPr>
          <a:xfrm>
            <a:off x="7696200" y="4775200"/>
            <a:ext cx="3505200" cy="584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多数据源与大模型支持 · 多场景适用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B1830"/>
        </a:solidFill>
      </p:bgPr>
    </p:bg>
    <p:spTree>
      <p:nvGrpSpPr>
        <p:cNvPr id="3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"/>
          <p:cNvSpPr/>
          <p:nvPr/>
        </p:nvSpPr>
        <p:spPr>
          <a:xfrm>
            <a:off x="8890000" y="3810000"/>
            <a:ext cx="4318000" cy="4318000"/>
          </a:xfrm>
          <a:prstGeom prst="ellipse">
            <a:avLst/>
          </a:prstGeom>
          <a:solidFill>
            <a:srgbClr val="0B5FFF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41" name=""/>
          <p:cNvSpPr/>
          <p:nvPr/>
        </p:nvSpPr>
        <p:spPr>
          <a:xfrm>
            <a:off x="711200" y="3505200"/>
            <a:ext cx="5588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42" name="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/>
          <a:p/>
        </p:txBody>
      </p:sp>
      <p:sp>
        <p:nvSpPr>
          <p:cNvPr id="343" name=""/>
          <p:cNvSpPr/>
          <p:nvPr/>
        </p:nvSpPr>
        <p:spPr>
          <a:xfrm>
            <a:off x="685800" y="2108200"/>
            <a:ext cx="4064000" cy="1422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7600" b="1">
                <a:solidFill>
                  <a:srgbClr val="1E4A8F"/>
                </a:solidFill>
                <a:latin typeface="微软雅黑"/>
                <a:ea typeface="微软雅黑"/>
              </a:rPr>
              <a:t>01</a:t>
            </a:r>
            <a:endParaRPr lang="zh-CN" sz="7600" b="1">
              <a:solidFill>
                <a:srgbClr val="1E4A8F"/>
              </a:solidFill>
              <a:latin typeface="微软雅黑"/>
              <a:ea typeface="微软雅黑"/>
            </a:endParaRPr>
          </a:p>
        </p:txBody>
      </p:sp>
      <p:sp>
        <p:nvSpPr>
          <p:cNvPr id="344" name=""/>
          <p:cNvSpPr/>
          <p:nvPr/>
        </p:nvSpPr>
        <p:spPr>
          <a:xfrm>
            <a:off x="685800" y="37084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3200" b="1">
                <a:solidFill>
                  <a:srgbClr val="FFFFFF"/>
                </a:solidFill>
                <a:latin typeface="微软雅黑"/>
                <a:ea typeface="微软雅黑"/>
              </a:rPr>
              <a:t>项目背景</a:t>
            </a:r>
            <a:endParaRPr lang="zh-CN" sz="32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345" name=""/>
          <p:cNvSpPr/>
          <p:nvPr/>
        </p:nvSpPr>
        <p:spPr>
          <a:xfrm>
            <a:off x="711200" y="4419600"/>
            <a:ext cx="91440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300">
                <a:solidFill>
                  <a:srgbClr val="A9BDD6"/>
                </a:solidFill>
                <a:latin typeface="微软雅黑"/>
                <a:ea typeface="微软雅黑"/>
              </a:rPr>
              <a:t>痛点分析 · 解决方案 · 目标用户</a:t>
            </a:r>
            <a:endParaRPr/>
          </a:p>
        </p:txBody>
      </p:sp>
      <p:sp>
        <p:nvSpPr>
          <p:cNvPr id="346" name="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6E88A8"/>
                </a:solidFill>
                <a:latin typeface="微软雅黑"/>
                <a:ea typeface="微软雅黑"/>
              </a:rPr>
              <a:t>DataMind · 数据库 Agent Web 应用</a:t>
            </a:r>
            <a:endParaRPr/>
          </a:p>
        </p:txBody>
      </p:sp>
      <p:sp>
        <p:nvSpPr>
          <p:cNvPr id="347" name="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6E88A8"/>
                </a:solidFill>
                <a:latin typeface="微软雅黑"/>
                <a:ea typeface="微软雅黑"/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3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50" name="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351" name=""/>
          <p:cNvSpPr/>
          <p:nvPr/>
        </p:nvSpPr>
        <p:spPr>
          <a:xfrm>
            <a:off x="685800" y="1905000"/>
            <a:ext cx="3429000" cy="3937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352" name=""/>
          <p:cNvSpPr/>
          <p:nvPr/>
        </p:nvSpPr>
        <p:spPr>
          <a:xfrm>
            <a:off x="965200" y="2184400"/>
            <a:ext cx="3556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53" name=""/>
          <p:cNvSpPr/>
          <p:nvPr/>
        </p:nvSpPr>
        <p:spPr>
          <a:xfrm>
            <a:off x="990600" y="30607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54" name=""/>
          <p:cNvSpPr/>
          <p:nvPr/>
        </p:nvSpPr>
        <p:spPr>
          <a:xfrm>
            <a:off x="990600" y="38735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55" name=""/>
          <p:cNvSpPr/>
          <p:nvPr/>
        </p:nvSpPr>
        <p:spPr>
          <a:xfrm>
            <a:off x="990600" y="46863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56" name=""/>
          <p:cNvSpPr/>
          <p:nvPr/>
        </p:nvSpPr>
        <p:spPr>
          <a:xfrm>
            <a:off x="4381500" y="1905000"/>
            <a:ext cx="3429000" cy="3937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357" name=""/>
          <p:cNvSpPr/>
          <p:nvPr/>
        </p:nvSpPr>
        <p:spPr>
          <a:xfrm>
            <a:off x="4660900" y="2184400"/>
            <a:ext cx="3556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58" name=""/>
          <p:cNvSpPr/>
          <p:nvPr/>
        </p:nvSpPr>
        <p:spPr>
          <a:xfrm>
            <a:off x="4686300" y="30607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59" name=""/>
          <p:cNvSpPr/>
          <p:nvPr/>
        </p:nvSpPr>
        <p:spPr>
          <a:xfrm>
            <a:off x="4686300" y="38735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60" name=""/>
          <p:cNvSpPr/>
          <p:nvPr/>
        </p:nvSpPr>
        <p:spPr>
          <a:xfrm>
            <a:off x="4686300" y="46863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61" name=""/>
          <p:cNvSpPr/>
          <p:nvPr/>
        </p:nvSpPr>
        <p:spPr>
          <a:xfrm>
            <a:off x="8077200" y="1905000"/>
            <a:ext cx="3429000" cy="3937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362" name=""/>
          <p:cNvSpPr/>
          <p:nvPr/>
        </p:nvSpPr>
        <p:spPr>
          <a:xfrm>
            <a:off x="8356600" y="2184400"/>
            <a:ext cx="3556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63" name=""/>
          <p:cNvSpPr/>
          <p:nvPr/>
        </p:nvSpPr>
        <p:spPr>
          <a:xfrm>
            <a:off x="8382000" y="30607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64" name=""/>
          <p:cNvSpPr/>
          <p:nvPr/>
        </p:nvSpPr>
        <p:spPr>
          <a:xfrm>
            <a:off x="8382000" y="38735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65" name=""/>
          <p:cNvSpPr/>
          <p:nvPr/>
        </p:nvSpPr>
        <p:spPr>
          <a:xfrm>
            <a:off x="8382000" y="46863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66" name="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400" b="1">
                <a:solidFill>
                  <a:srgbClr val="0F172A"/>
                </a:solidFill>
                <a:latin typeface="微软雅黑"/>
                <a:ea typeface="微软雅黑"/>
              </a:rPr>
              <a:t>痛点分析</a:t>
            </a:r>
            <a:endParaRPr lang="zh-CN" sz="24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367" name=""/>
          <p:cNvSpPr/>
          <p:nvPr/>
        </p:nvSpPr>
        <p:spPr>
          <a:xfrm>
            <a:off x="685800" y="1193800"/>
            <a:ext cx="108204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475569"/>
                </a:solidFill>
                <a:latin typeface="微软雅黑"/>
                <a:ea typeface="微软雅黑"/>
              </a:rPr>
              <a:t>在银行、运维、业务分析等场景中，取数与用数普遍存在三类问题。</a:t>
            </a:r>
            <a:endParaRPr/>
          </a:p>
        </p:txBody>
      </p:sp>
      <p:sp>
        <p:nvSpPr>
          <p:cNvPr id="368" name="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DataMind · 数据库 Agent Web 应用</a:t>
            </a:r>
            <a:endParaRPr/>
          </a:p>
        </p:txBody>
      </p:sp>
      <p:sp>
        <p:nvSpPr>
          <p:cNvPr id="369" name="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04</a:t>
            </a:r>
            <a:endParaRPr/>
          </a:p>
        </p:txBody>
      </p:sp>
      <p:sp>
        <p:nvSpPr>
          <p:cNvPr id="370" name=""/>
          <p:cNvSpPr/>
          <p:nvPr/>
        </p:nvSpPr>
        <p:spPr>
          <a:xfrm>
            <a:off x="965200" y="2387600"/>
            <a:ext cx="28702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600" b="1">
                <a:solidFill>
                  <a:srgbClr val="0F172A"/>
                </a:solidFill>
                <a:latin typeface="微软雅黑"/>
                <a:ea typeface="微软雅黑"/>
              </a:rPr>
              <a:t>业务人员</a:t>
            </a:r>
            <a:endParaRPr lang="zh-CN" sz="16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371" name=""/>
          <p:cNvSpPr/>
          <p:nvPr/>
        </p:nvSpPr>
        <p:spPr>
          <a:xfrm>
            <a:off x="1155700" y="2971800"/>
            <a:ext cx="2959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取数要提申请、等排期，链路长、周期久</a:t>
            </a:r>
            <a:endParaRPr/>
          </a:p>
        </p:txBody>
      </p:sp>
      <p:sp>
        <p:nvSpPr>
          <p:cNvPr id="372" name=""/>
          <p:cNvSpPr/>
          <p:nvPr/>
        </p:nvSpPr>
        <p:spPr>
          <a:xfrm>
            <a:off x="1155700" y="3784600"/>
            <a:ext cx="2959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只能拿到数字拿不到图，做趋势还得靠 Excel</a:t>
            </a:r>
            <a:endParaRPr/>
          </a:p>
        </p:txBody>
      </p:sp>
      <p:sp>
        <p:nvSpPr>
          <p:cNvPr id="373" name=""/>
          <p:cNvSpPr/>
          <p:nvPr/>
        </p:nvSpPr>
        <p:spPr>
          <a:xfrm>
            <a:off x="1155700" y="4597400"/>
            <a:ext cx="2959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想看数据却没有自助入口，处处依赖技术同事</a:t>
            </a:r>
            <a:endParaRPr/>
          </a:p>
        </p:txBody>
      </p:sp>
      <p:sp>
        <p:nvSpPr>
          <p:cNvPr id="374" name=""/>
          <p:cNvSpPr/>
          <p:nvPr/>
        </p:nvSpPr>
        <p:spPr>
          <a:xfrm>
            <a:off x="4660900" y="2387600"/>
            <a:ext cx="28702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600" b="1">
                <a:solidFill>
                  <a:srgbClr val="0F172A"/>
                </a:solidFill>
                <a:latin typeface="微软雅黑"/>
                <a:ea typeface="微软雅黑"/>
              </a:rPr>
              <a:t>开发人员</a:t>
            </a:r>
            <a:endParaRPr lang="zh-CN" sz="16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375" name=""/>
          <p:cNvSpPr/>
          <p:nvPr/>
        </p:nvSpPr>
        <p:spPr>
          <a:xfrm>
            <a:off x="4851400" y="2971800"/>
            <a:ext cx="2959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复杂 SQL 不熟练，常用查询反复重写</a:t>
            </a:r>
            <a:endParaRPr/>
          </a:p>
        </p:txBody>
      </p:sp>
      <p:sp>
        <p:nvSpPr>
          <p:cNvPr id="376" name=""/>
          <p:cNvSpPr/>
          <p:nvPr/>
        </p:nvSpPr>
        <p:spPr>
          <a:xfrm>
            <a:off x="4851400" y="3784600"/>
            <a:ext cx="2959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大模型不了解真实表结构，生成的 SQL 不可直接用</a:t>
            </a:r>
            <a:endParaRPr/>
          </a:p>
        </p:txBody>
      </p:sp>
      <p:sp>
        <p:nvSpPr>
          <p:cNvPr id="377" name=""/>
          <p:cNvSpPr/>
          <p:nvPr/>
        </p:nvSpPr>
        <p:spPr>
          <a:xfrm>
            <a:off x="4851400" y="4597400"/>
            <a:ext cx="2959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误执行 DML / DDL 会造成数据事故</a:t>
            </a:r>
            <a:endParaRPr/>
          </a:p>
        </p:txBody>
      </p:sp>
      <p:sp>
        <p:nvSpPr>
          <p:cNvPr id="378" name=""/>
          <p:cNvSpPr/>
          <p:nvPr/>
        </p:nvSpPr>
        <p:spPr>
          <a:xfrm>
            <a:off x="8356600" y="2387600"/>
            <a:ext cx="28702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600" b="1">
                <a:solidFill>
                  <a:srgbClr val="0F172A"/>
                </a:solidFill>
                <a:latin typeface="微软雅黑"/>
                <a:ea typeface="微软雅黑"/>
              </a:rPr>
              <a:t>运维 / DBA</a:t>
            </a:r>
            <a:endParaRPr lang="zh-CN" sz="16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379" name=""/>
          <p:cNvSpPr/>
          <p:nvPr/>
        </p:nvSpPr>
        <p:spPr>
          <a:xfrm>
            <a:off x="8547100" y="2971800"/>
            <a:ext cx="2959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负责系统多，难以熟悉所有库表结构</a:t>
            </a:r>
            <a:endParaRPr/>
          </a:p>
        </p:txBody>
      </p:sp>
      <p:sp>
        <p:nvSpPr>
          <p:cNvPr id="380" name=""/>
          <p:cNvSpPr/>
          <p:nvPr/>
        </p:nvSpPr>
        <p:spPr>
          <a:xfrm>
            <a:off x="8547100" y="3784600"/>
            <a:ext cx="2959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各数据库语法与客户端不统一，运维繁琐</a:t>
            </a:r>
            <a:endParaRPr/>
          </a:p>
        </p:txBody>
      </p:sp>
      <p:sp>
        <p:nvSpPr>
          <p:cNvPr id="381" name=""/>
          <p:cNvSpPr/>
          <p:nvPr/>
        </p:nvSpPr>
        <p:spPr>
          <a:xfrm>
            <a:off x="8547100" y="4597400"/>
            <a:ext cx="2959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缺少统一可观测视图：谁查了什么、哪里慢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3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84" name="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385" name=""/>
          <p:cNvSpPr/>
          <p:nvPr/>
        </p:nvSpPr>
        <p:spPr>
          <a:xfrm>
            <a:off x="685800" y="1879600"/>
            <a:ext cx="3429000" cy="19304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386" name=""/>
          <p:cNvSpPr/>
          <p:nvPr/>
        </p:nvSpPr>
        <p:spPr>
          <a:xfrm>
            <a:off x="4381500" y="1879600"/>
            <a:ext cx="3429000" cy="19304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387" name=""/>
          <p:cNvSpPr/>
          <p:nvPr/>
        </p:nvSpPr>
        <p:spPr>
          <a:xfrm>
            <a:off x="8077200" y="1879600"/>
            <a:ext cx="3429000" cy="19304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388" name=""/>
          <p:cNvSpPr/>
          <p:nvPr/>
        </p:nvSpPr>
        <p:spPr>
          <a:xfrm>
            <a:off x="685800" y="4038600"/>
            <a:ext cx="3429000" cy="19304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389" name=""/>
          <p:cNvSpPr/>
          <p:nvPr/>
        </p:nvSpPr>
        <p:spPr>
          <a:xfrm>
            <a:off x="4381500" y="4038600"/>
            <a:ext cx="3429000" cy="19304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390" name=""/>
          <p:cNvSpPr/>
          <p:nvPr/>
        </p:nvSpPr>
        <p:spPr>
          <a:xfrm>
            <a:off x="8077200" y="4038600"/>
            <a:ext cx="3429000" cy="19304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391" name="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400" b="1">
                <a:solidFill>
                  <a:srgbClr val="0F172A"/>
                </a:solidFill>
                <a:latin typeface="微软雅黑"/>
                <a:ea typeface="微软雅黑"/>
              </a:rPr>
              <a:t>解决方案</a:t>
            </a:r>
            <a:endParaRPr lang="zh-CN" sz="24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392" name=""/>
          <p:cNvSpPr/>
          <p:nvPr/>
        </p:nvSpPr>
        <p:spPr>
          <a:xfrm>
            <a:off x="685800" y="1193800"/>
            <a:ext cx="108204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475569"/>
                </a:solidFill>
                <a:latin typeface="微软雅黑"/>
                <a:ea typeface="微软雅黑"/>
              </a:rPr>
              <a:t>构建 AI Agent 驱动的数据库查询与运维工作台，把六项能力串成一个闭环。</a:t>
            </a:r>
            <a:endParaRPr/>
          </a:p>
        </p:txBody>
      </p:sp>
      <p:sp>
        <p:nvSpPr>
          <p:cNvPr id="393" name="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DataMind · 数据库 Agent Web 应用</a:t>
            </a:r>
            <a:endParaRPr/>
          </a:p>
        </p:txBody>
      </p:sp>
      <p:sp>
        <p:nvSpPr>
          <p:cNvPr id="394" name="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05</a:t>
            </a:r>
            <a:endParaRPr/>
          </a:p>
        </p:txBody>
      </p:sp>
      <p:sp>
        <p:nvSpPr>
          <p:cNvPr id="395" name=""/>
          <p:cNvSpPr/>
          <p:nvPr/>
        </p:nvSpPr>
        <p:spPr>
          <a:xfrm>
            <a:off x="965200" y="21336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 b="1">
                <a:solidFill>
                  <a:srgbClr val="0B5FFF"/>
                </a:solidFill>
                <a:latin typeface="微软雅黑"/>
                <a:ea typeface="微软雅黑"/>
              </a:rPr>
              <a:t>01</a:t>
            </a:r>
            <a:endParaRPr lang="zh-CN" sz="1200" b="1">
              <a:solidFill>
                <a:srgbClr val="0B5FFF"/>
              </a:solidFill>
              <a:latin typeface="微软雅黑"/>
              <a:ea typeface="微软雅黑"/>
            </a:endParaRPr>
          </a:p>
        </p:txBody>
      </p:sp>
      <p:sp>
        <p:nvSpPr>
          <p:cNvPr id="396" name=""/>
          <p:cNvSpPr/>
          <p:nvPr/>
        </p:nvSpPr>
        <p:spPr>
          <a:xfrm>
            <a:off x="965200" y="2438400"/>
            <a:ext cx="28702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500" b="1">
                <a:solidFill>
                  <a:srgbClr val="0F172A"/>
                </a:solidFill>
                <a:latin typeface="微软雅黑"/>
                <a:ea typeface="微软雅黑"/>
              </a:rPr>
              <a:t>连接管理</a:t>
            </a:r>
            <a:endParaRPr lang="zh-CN" sz="15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397" name=""/>
          <p:cNvSpPr/>
          <p:nvPr/>
        </p:nvSpPr>
        <p:spPr>
          <a:xfrm>
            <a:off x="965200" y="2844800"/>
            <a:ext cx="2870200" cy="787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8 类数据源、SSH 隧道、多环境标签</a:t>
            </a:r>
            <a:endParaRPr/>
          </a:p>
        </p:txBody>
      </p:sp>
      <p:sp>
        <p:nvSpPr>
          <p:cNvPr id="398" name=""/>
          <p:cNvSpPr/>
          <p:nvPr/>
        </p:nvSpPr>
        <p:spPr>
          <a:xfrm>
            <a:off x="4660900" y="21336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 b="1">
                <a:solidFill>
                  <a:srgbClr val="0B5FFF"/>
                </a:solidFill>
                <a:latin typeface="微软雅黑"/>
                <a:ea typeface="微软雅黑"/>
              </a:rPr>
              <a:t>02</a:t>
            </a:r>
            <a:endParaRPr lang="zh-CN" sz="1200" b="1">
              <a:solidFill>
                <a:srgbClr val="0B5FFF"/>
              </a:solidFill>
              <a:latin typeface="微软雅黑"/>
              <a:ea typeface="微软雅黑"/>
            </a:endParaRPr>
          </a:p>
        </p:txBody>
      </p:sp>
      <p:sp>
        <p:nvSpPr>
          <p:cNvPr id="399" name=""/>
          <p:cNvSpPr/>
          <p:nvPr/>
        </p:nvSpPr>
        <p:spPr>
          <a:xfrm>
            <a:off x="4660900" y="2438400"/>
            <a:ext cx="28702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500" b="1">
                <a:solidFill>
                  <a:srgbClr val="0F172A"/>
                </a:solidFill>
                <a:latin typeface="微软雅黑"/>
                <a:ea typeface="微软雅黑"/>
              </a:rPr>
              <a:t>SQL 工作台</a:t>
            </a:r>
            <a:endParaRPr lang="zh-CN" sz="15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400" name=""/>
          <p:cNvSpPr/>
          <p:nvPr/>
        </p:nvSpPr>
        <p:spPr>
          <a:xfrm>
            <a:off x="4660900" y="2844800"/>
            <a:ext cx="2870200" cy="787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多 Tab 编辑、对象树、结果集直接编辑</a:t>
            </a:r>
            <a:endParaRPr/>
          </a:p>
        </p:txBody>
      </p:sp>
      <p:sp>
        <p:nvSpPr>
          <p:cNvPr id="401" name=""/>
          <p:cNvSpPr/>
          <p:nvPr/>
        </p:nvSpPr>
        <p:spPr>
          <a:xfrm>
            <a:off x="8356600" y="21336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 b="1">
                <a:solidFill>
                  <a:srgbClr val="0B5FFF"/>
                </a:solidFill>
                <a:latin typeface="微软雅黑"/>
                <a:ea typeface="微软雅黑"/>
              </a:rPr>
              <a:t>03</a:t>
            </a:r>
            <a:endParaRPr lang="zh-CN" sz="1200" b="1">
              <a:solidFill>
                <a:srgbClr val="0B5FFF"/>
              </a:solidFill>
              <a:latin typeface="微软雅黑"/>
              <a:ea typeface="微软雅黑"/>
            </a:endParaRPr>
          </a:p>
        </p:txBody>
      </p:sp>
      <p:sp>
        <p:nvSpPr>
          <p:cNvPr id="402" name=""/>
          <p:cNvSpPr/>
          <p:nvPr/>
        </p:nvSpPr>
        <p:spPr>
          <a:xfrm>
            <a:off x="8356600" y="2438400"/>
            <a:ext cx="28702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500" b="1">
                <a:solidFill>
                  <a:srgbClr val="0F172A"/>
                </a:solidFill>
                <a:latin typeface="微软雅黑"/>
                <a:ea typeface="微软雅黑"/>
              </a:rPr>
              <a:t>元数据管理</a:t>
            </a:r>
            <a:endParaRPr lang="zh-CN" sz="15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403" name=""/>
          <p:cNvSpPr/>
          <p:nvPr/>
        </p:nvSpPr>
        <p:spPr>
          <a:xfrm>
            <a:off x="8356600" y="2844800"/>
            <a:ext cx="2870200" cy="787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表 / 索引 / DDL / 视图 / 函数，多环境结构对比</a:t>
            </a:r>
            <a:endParaRPr/>
          </a:p>
        </p:txBody>
      </p:sp>
      <p:sp>
        <p:nvSpPr>
          <p:cNvPr id="404" name=""/>
          <p:cNvSpPr/>
          <p:nvPr/>
        </p:nvSpPr>
        <p:spPr>
          <a:xfrm>
            <a:off x="965200" y="42926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 b="1">
                <a:solidFill>
                  <a:srgbClr val="0B5FFF"/>
                </a:solidFill>
                <a:latin typeface="微软雅黑"/>
                <a:ea typeface="微软雅黑"/>
              </a:rPr>
              <a:t>04</a:t>
            </a:r>
            <a:endParaRPr lang="zh-CN" sz="1200" b="1">
              <a:solidFill>
                <a:srgbClr val="0B5FFF"/>
              </a:solidFill>
              <a:latin typeface="微软雅黑"/>
              <a:ea typeface="微软雅黑"/>
            </a:endParaRPr>
          </a:p>
        </p:txBody>
      </p:sp>
      <p:sp>
        <p:nvSpPr>
          <p:cNvPr id="405" name=""/>
          <p:cNvSpPr/>
          <p:nvPr/>
        </p:nvSpPr>
        <p:spPr>
          <a:xfrm>
            <a:off x="965200" y="4597400"/>
            <a:ext cx="28702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500" b="1">
                <a:solidFill>
                  <a:srgbClr val="0F172A"/>
                </a:solidFill>
                <a:latin typeface="微软雅黑"/>
                <a:ea typeface="微软雅黑"/>
              </a:rPr>
              <a:t>可视化报表</a:t>
            </a:r>
            <a:endParaRPr lang="zh-CN" sz="15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406" name=""/>
          <p:cNvSpPr/>
          <p:nvPr/>
        </p:nvSpPr>
        <p:spPr>
          <a:xfrm>
            <a:off x="965200" y="5003800"/>
            <a:ext cx="2870200" cy="787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11 种图表、拖拽仪表盘、分享大屏</a:t>
            </a:r>
            <a:endParaRPr/>
          </a:p>
        </p:txBody>
      </p:sp>
      <p:sp>
        <p:nvSpPr>
          <p:cNvPr id="407" name=""/>
          <p:cNvSpPr/>
          <p:nvPr/>
        </p:nvSpPr>
        <p:spPr>
          <a:xfrm>
            <a:off x="4660900" y="42926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 b="1">
                <a:solidFill>
                  <a:srgbClr val="0B5FFF"/>
                </a:solidFill>
                <a:latin typeface="微软雅黑"/>
                <a:ea typeface="微软雅黑"/>
              </a:rPr>
              <a:t>05</a:t>
            </a:r>
            <a:endParaRPr lang="zh-CN" sz="1200" b="1">
              <a:solidFill>
                <a:srgbClr val="0B5FFF"/>
              </a:solidFill>
              <a:latin typeface="微软雅黑"/>
              <a:ea typeface="微软雅黑"/>
            </a:endParaRPr>
          </a:p>
        </p:txBody>
      </p:sp>
      <p:sp>
        <p:nvSpPr>
          <p:cNvPr id="408" name=""/>
          <p:cNvSpPr/>
          <p:nvPr/>
        </p:nvSpPr>
        <p:spPr>
          <a:xfrm>
            <a:off x="4660900" y="4597400"/>
            <a:ext cx="28702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500" b="1">
                <a:solidFill>
                  <a:srgbClr val="0F172A"/>
                </a:solidFill>
                <a:latin typeface="微软雅黑"/>
                <a:ea typeface="微软雅黑"/>
              </a:rPr>
              <a:t>权限与审计</a:t>
            </a:r>
            <a:endParaRPr lang="zh-CN" sz="15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409" name=""/>
          <p:cNvSpPr/>
          <p:nvPr/>
        </p:nvSpPr>
        <p:spPr>
          <a:xfrm>
            <a:off x="4660900" y="5003800"/>
            <a:ext cx="2870200" cy="787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RBAC 角色权限、SQL 分级鉴权、全量留痕</a:t>
            </a:r>
            <a:endParaRPr/>
          </a:p>
        </p:txBody>
      </p:sp>
      <p:sp>
        <p:nvSpPr>
          <p:cNvPr id="410" name=""/>
          <p:cNvSpPr/>
          <p:nvPr/>
        </p:nvSpPr>
        <p:spPr>
          <a:xfrm>
            <a:off x="8356600" y="42926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 b="1">
                <a:solidFill>
                  <a:srgbClr val="0B5FFF"/>
                </a:solidFill>
                <a:latin typeface="微软雅黑"/>
                <a:ea typeface="微软雅黑"/>
              </a:rPr>
              <a:t>06</a:t>
            </a:r>
            <a:endParaRPr lang="zh-CN" sz="1200" b="1">
              <a:solidFill>
                <a:srgbClr val="0B5FFF"/>
              </a:solidFill>
              <a:latin typeface="微软雅黑"/>
              <a:ea typeface="微软雅黑"/>
            </a:endParaRPr>
          </a:p>
        </p:txBody>
      </p:sp>
      <p:sp>
        <p:nvSpPr>
          <p:cNvPr id="411" name=""/>
          <p:cNvSpPr/>
          <p:nvPr/>
        </p:nvSpPr>
        <p:spPr>
          <a:xfrm>
            <a:off x="8356600" y="4597400"/>
            <a:ext cx="28702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500" b="1">
                <a:solidFill>
                  <a:srgbClr val="0F172A"/>
                </a:solidFill>
                <a:latin typeface="微软雅黑"/>
                <a:ea typeface="微软雅黑"/>
              </a:rPr>
              <a:t>运维监控</a:t>
            </a:r>
            <a:endParaRPr lang="zh-CN" sz="15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412" name=""/>
          <p:cNvSpPr/>
          <p:nvPr/>
        </p:nvSpPr>
        <p:spPr>
          <a:xfrm>
            <a:off x="8356600" y="5003800"/>
            <a:ext cx="2870200" cy="787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连接概览、慢查询统计、审计日志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B1830"/>
        </a:solidFill>
      </p:bgPr>
    </p:bg>
    <p:spTree>
      <p:nvGrpSpPr>
        <p:cNvPr id="4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"/>
          <p:cNvSpPr/>
          <p:nvPr/>
        </p:nvSpPr>
        <p:spPr>
          <a:xfrm>
            <a:off x="8890000" y="3810000"/>
            <a:ext cx="4318000" cy="4318000"/>
          </a:xfrm>
          <a:prstGeom prst="ellipse">
            <a:avLst/>
          </a:prstGeom>
          <a:solidFill>
            <a:srgbClr val="0B5FFF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15" name=""/>
          <p:cNvSpPr/>
          <p:nvPr/>
        </p:nvSpPr>
        <p:spPr>
          <a:xfrm>
            <a:off x="711200" y="3505200"/>
            <a:ext cx="5588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16" name="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/>
          <a:p/>
        </p:txBody>
      </p:sp>
      <p:sp>
        <p:nvSpPr>
          <p:cNvPr id="417" name=""/>
          <p:cNvSpPr/>
          <p:nvPr/>
        </p:nvSpPr>
        <p:spPr>
          <a:xfrm>
            <a:off x="685800" y="2108200"/>
            <a:ext cx="4064000" cy="1422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7600" b="1">
                <a:solidFill>
                  <a:srgbClr val="1E4A8F"/>
                </a:solidFill>
                <a:latin typeface="微软雅黑"/>
                <a:ea typeface="微软雅黑"/>
              </a:rPr>
              <a:t>02</a:t>
            </a:r>
            <a:endParaRPr lang="zh-CN" sz="7600" b="1">
              <a:solidFill>
                <a:srgbClr val="1E4A8F"/>
              </a:solidFill>
              <a:latin typeface="微软雅黑"/>
              <a:ea typeface="微软雅黑"/>
            </a:endParaRPr>
          </a:p>
        </p:txBody>
      </p:sp>
      <p:sp>
        <p:nvSpPr>
          <p:cNvPr id="418" name=""/>
          <p:cNvSpPr/>
          <p:nvPr/>
        </p:nvSpPr>
        <p:spPr>
          <a:xfrm>
            <a:off x="685800" y="37084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3200" b="1">
                <a:solidFill>
                  <a:srgbClr val="FFFFFF"/>
                </a:solidFill>
                <a:latin typeface="微软雅黑"/>
                <a:ea typeface="微软雅黑"/>
              </a:rPr>
              <a:t>系统功能</a:t>
            </a:r>
            <a:endParaRPr lang="zh-CN" sz="32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419" name=""/>
          <p:cNvSpPr/>
          <p:nvPr/>
        </p:nvSpPr>
        <p:spPr>
          <a:xfrm>
            <a:off x="711200" y="4419600"/>
            <a:ext cx="91440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300">
                <a:solidFill>
                  <a:srgbClr val="A9BDD6"/>
                </a:solidFill>
                <a:latin typeface="微软雅黑"/>
                <a:ea typeface="微软雅黑"/>
              </a:rPr>
              <a:t>功能全景 · 七大功能演示</a:t>
            </a:r>
            <a:endParaRPr/>
          </a:p>
        </p:txBody>
      </p:sp>
      <p:sp>
        <p:nvSpPr>
          <p:cNvPr id="420" name="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6E88A8"/>
                </a:solidFill>
                <a:latin typeface="微软雅黑"/>
                <a:ea typeface="微软雅黑"/>
              </a:rPr>
              <a:t>DataMind · 数据库 Agent Web 应用</a:t>
            </a:r>
            <a:endParaRPr/>
          </a:p>
        </p:txBody>
      </p:sp>
      <p:sp>
        <p:nvSpPr>
          <p:cNvPr id="421" name="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6E88A8"/>
                </a:solidFill>
                <a:latin typeface="微软雅黑"/>
                <a:ea typeface="微软雅黑"/>
              </a:rPr>
              <a:t>06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4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24" name="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425" name=""/>
          <p:cNvSpPr/>
          <p:nvPr/>
        </p:nvSpPr>
        <p:spPr>
          <a:xfrm>
            <a:off x="685800" y="1879600"/>
            <a:ext cx="2528887" cy="190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426" name=""/>
          <p:cNvSpPr/>
          <p:nvPr/>
        </p:nvSpPr>
        <p:spPr>
          <a:xfrm>
            <a:off x="939800" y="2133600"/>
            <a:ext cx="304800" cy="381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27" name=""/>
          <p:cNvSpPr/>
          <p:nvPr/>
        </p:nvSpPr>
        <p:spPr>
          <a:xfrm>
            <a:off x="3449638" y="1879600"/>
            <a:ext cx="2528887" cy="190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428" name=""/>
          <p:cNvSpPr/>
          <p:nvPr/>
        </p:nvSpPr>
        <p:spPr>
          <a:xfrm>
            <a:off x="3703638" y="2133600"/>
            <a:ext cx="304800" cy="381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29" name=""/>
          <p:cNvSpPr/>
          <p:nvPr/>
        </p:nvSpPr>
        <p:spPr>
          <a:xfrm>
            <a:off x="6213475" y="1879600"/>
            <a:ext cx="2528887" cy="190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430" name=""/>
          <p:cNvSpPr/>
          <p:nvPr/>
        </p:nvSpPr>
        <p:spPr>
          <a:xfrm>
            <a:off x="6467475" y="2133600"/>
            <a:ext cx="304800" cy="381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31" name=""/>
          <p:cNvSpPr/>
          <p:nvPr/>
        </p:nvSpPr>
        <p:spPr>
          <a:xfrm>
            <a:off x="8977313" y="1879600"/>
            <a:ext cx="2528887" cy="190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432" name=""/>
          <p:cNvSpPr/>
          <p:nvPr/>
        </p:nvSpPr>
        <p:spPr>
          <a:xfrm>
            <a:off x="9231313" y="2133600"/>
            <a:ext cx="304800" cy="381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33" name=""/>
          <p:cNvSpPr/>
          <p:nvPr/>
        </p:nvSpPr>
        <p:spPr>
          <a:xfrm>
            <a:off x="685800" y="4013200"/>
            <a:ext cx="2528887" cy="190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434" name=""/>
          <p:cNvSpPr/>
          <p:nvPr/>
        </p:nvSpPr>
        <p:spPr>
          <a:xfrm>
            <a:off x="939800" y="4267200"/>
            <a:ext cx="304800" cy="381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35" name=""/>
          <p:cNvSpPr/>
          <p:nvPr/>
        </p:nvSpPr>
        <p:spPr>
          <a:xfrm>
            <a:off x="3449638" y="4013200"/>
            <a:ext cx="2528887" cy="190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436" name=""/>
          <p:cNvSpPr/>
          <p:nvPr/>
        </p:nvSpPr>
        <p:spPr>
          <a:xfrm>
            <a:off x="3703638" y="4267200"/>
            <a:ext cx="304800" cy="381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37" name=""/>
          <p:cNvSpPr/>
          <p:nvPr/>
        </p:nvSpPr>
        <p:spPr>
          <a:xfrm>
            <a:off x="6213475" y="4013200"/>
            <a:ext cx="2528887" cy="190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438" name=""/>
          <p:cNvSpPr/>
          <p:nvPr/>
        </p:nvSpPr>
        <p:spPr>
          <a:xfrm>
            <a:off x="6467475" y="4267200"/>
            <a:ext cx="304800" cy="381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39" name=""/>
          <p:cNvSpPr/>
          <p:nvPr/>
        </p:nvSpPr>
        <p:spPr>
          <a:xfrm>
            <a:off x="8977313" y="4013200"/>
            <a:ext cx="2528887" cy="190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440" name=""/>
          <p:cNvSpPr/>
          <p:nvPr/>
        </p:nvSpPr>
        <p:spPr>
          <a:xfrm>
            <a:off x="9231313" y="4267200"/>
            <a:ext cx="304800" cy="381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41" name="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400" b="1">
                <a:solidFill>
                  <a:srgbClr val="0F172A"/>
                </a:solidFill>
                <a:latin typeface="微软雅黑"/>
                <a:ea typeface="微软雅黑"/>
              </a:rPr>
              <a:t>功能全景</a:t>
            </a:r>
            <a:endParaRPr lang="zh-CN" sz="24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442" name=""/>
          <p:cNvSpPr/>
          <p:nvPr/>
        </p:nvSpPr>
        <p:spPr>
          <a:xfrm>
            <a:off x="685800" y="1193800"/>
            <a:ext cx="108204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475569"/>
                </a:solidFill>
                <a:latin typeface="微软雅黑"/>
                <a:ea typeface="微软雅黑"/>
              </a:rPr>
              <a:t>八大模块围绕「连接 → 查询 → 分析 → 报表 → 管理」闭环组织。</a:t>
            </a:r>
            <a:endParaRPr/>
          </a:p>
        </p:txBody>
      </p:sp>
      <p:sp>
        <p:nvSpPr>
          <p:cNvPr id="443" name="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DataMind · 数据库 Agent Web 应用</a:t>
            </a:r>
            <a:endParaRPr/>
          </a:p>
        </p:txBody>
      </p:sp>
      <p:sp>
        <p:nvSpPr>
          <p:cNvPr id="444" name="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07</a:t>
            </a:r>
            <a:endParaRPr/>
          </a:p>
        </p:txBody>
      </p:sp>
      <p:sp>
        <p:nvSpPr>
          <p:cNvPr id="445" name=""/>
          <p:cNvSpPr/>
          <p:nvPr/>
        </p:nvSpPr>
        <p:spPr>
          <a:xfrm>
            <a:off x="939800" y="2336800"/>
            <a:ext cx="2020887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300" b="1">
                <a:solidFill>
                  <a:srgbClr val="0F172A"/>
                </a:solidFill>
                <a:latin typeface="微软雅黑"/>
                <a:ea typeface="微软雅黑"/>
              </a:rPr>
              <a:t>连接管理</a:t>
            </a:r>
            <a:endParaRPr lang="zh-CN" sz="13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446" name=""/>
          <p:cNvSpPr/>
          <p:nvPr/>
        </p:nvSpPr>
        <p:spPr>
          <a:xfrm>
            <a:off x="939800" y="2717800"/>
            <a:ext cx="2020887" cy="914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475569"/>
                </a:solidFill>
                <a:latin typeface="微软雅黑"/>
                <a:ea typeface="微软雅黑"/>
              </a:rPr>
              <a:t>8 类数据源、SSH 隧道、多环境标签</a:t>
            </a:r>
            <a:endParaRPr/>
          </a:p>
        </p:txBody>
      </p:sp>
      <p:sp>
        <p:nvSpPr>
          <p:cNvPr id="447" name=""/>
          <p:cNvSpPr/>
          <p:nvPr/>
        </p:nvSpPr>
        <p:spPr>
          <a:xfrm>
            <a:off x="3703638" y="2336800"/>
            <a:ext cx="2020887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300" b="1">
                <a:solidFill>
                  <a:srgbClr val="0F172A"/>
                </a:solidFill>
                <a:latin typeface="微软雅黑"/>
                <a:ea typeface="微软雅黑"/>
              </a:rPr>
              <a:t>SQL 工作台</a:t>
            </a:r>
            <a:endParaRPr lang="zh-CN" sz="13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448" name=""/>
          <p:cNvSpPr/>
          <p:nvPr/>
        </p:nvSpPr>
        <p:spPr>
          <a:xfrm>
            <a:off x="3703638" y="2717800"/>
            <a:ext cx="2020887" cy="914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475569"/>
                </a:solidFill>
                <a:latin typeface="微软雅黑"/>
                <a:ea typeface="微软雅黑"/>
              </a:rPr>
              <a:t>多 Tab 编辑、对象树、结果集直编</a:t>
            </a:r>
            <a:endParaRPr/>
          </a:p>
        </p:txBody>
      </p:sp>
      <p:sp>
        <p:nvSpPr>
          <p:cNvPr id="449" name=""/>
          <p:cNvSpPr/>
          <p:nvPr/>
        </p:nvSpPr>
        <p:spPr>
          <a:xfrm>
            <a:off x="6467475" y="2336800"/>
            <a:ext cx="2020887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300" b="1">
                <a:solidFill>
                  <a:srgbClr val="0F172A"/>
                </a:solidFill>
                <a:latin typeface="微软雅黑"/>
                <a:ea typeface="微软雅黑"/>
              </a:rPr>
              <a:t>元数据管理</a:t>
            </a:r>
            <a:endParaRPr lang="zh-CN" sz="13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450" name=""/>
          <p:cNvSpPr/>
          <p:nvPr/>
        </p:nvSpPr>
        <p:spPr>
          <a:xfrm>
            <a:off x="6467475" y="2717800"/>
            <a:ext cx="2020887" cy="914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475569"/>
                </a:solidFill>
                <a:latin typeface="微软雅黑"/>
                <a:ea typeface="微软雅黑"/>
              </a:rPr>
              <a:t>表 / 索引 / DDL / 视图 / 函数、结构对比</a:t>
            </a:r>
            <a:endParaRPr/>
          </a:p>
        </p:txBody>
      </p:sp>
      <p:sp>
        <p:nvSpPr>
          <p:cNvPr id="451" name=""/>
          <p:cNvSpPr/>
          <p:nvPr/>
        </p:nvSpPr>
        <p:spPr>
          <a:xfrm>
            <a:off x="9231313" y="2336800"/>
            <a:ext cx="2020887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300" b="1">
                <a:solidFill>
                  <a:srgbClr val="0F172A"/>
                </a:solidFill>
                <a:latin typeface="微软雅黑"/>
                <a:ea typeface="微软雅黑"/>
              </a:rPr>
              <a:t>AI 智能查询</a:t>
            </a:r>
            <a:endParaRPr lang="zh-CN" sz="13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452" name=""/>
          <p:cNvSpPr/>
          <p:nvPr/>
        </p:nvSpPr>
        <p:spPr>
          <a:xfrm>
            <a:off x="9231313" y="2717800"/>
            <a:ext cx="2020887" cy="914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475569"/>
                </a:solidFill>
                <a:latin typeface="微软雅黑"/>
                <a:ea typeface="微软雅黑"/>
              </a:rPr>
              <a:t>自然语言转 SQL、多轮会话、自动出图</a:t>
            </a:r>
            <a:endParaRPr/>
          </a:p>
        </p:txBody>
      </p:sp>
      <p:sp>
        <p:nvSpPr>
          <p:cNvPr id="453" name=""/>
          <p:cNvSpPr/>
          <p:nvPr/>
        </p:nvSpPr>
        <p:spPr>
          <a:xfrm>
            <a:off x="939800" y="4470400"/>
            <a:ext cx="2020887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300" b="1">
                <a:solidFill>
                  <a:srgbClr val="0F172A"/>
                </a:solidFill>
                <a:latin typeface="微软雅黑"/>
                <a:ea typeface="微软雅黑"/>
              </a:rPr>
              <a:t>可视化报表</a:t>
            </a:r>
            <a:endParaRPr lang="zh-CN" sz="13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454" name=""/>
          <p:cNvSpPr/>
          <p:nvPr/>
        </p:nvSpPr>
        <p:spPr>
          <a:xfrm>
            <a:off x="939800" y="4851400"/>
            <a:ext cx="2020887" cy="914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475569"/>
                </a:solidFill>
                <a:latin typeface="微软雅黑"/>
                <a:ea typeface="微软雅黑"/>
              </a:rPr>
              <a:t>11 种图表、拖拽仪表盘、分享大屏</a:t>
            </a:r>
            <a:endParaRPr/>
          </a:p>
        </p:txBody>
      </p:sp>
      <p:sp>
        <p:nvSpPr>
          <p:cNvPr id="455" name=""/>
          <p:cNvSpPr/>
          <p:nvPr/>
        </p:nvSpPr>
        <p:spPr>
          <a:xfrm>
            <a:off x="3703638" y="4470400"/>
            <a:ext cx="2020887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300" b="1">
                <a:solidFill>
                  <a:srgbClr val="0F172A"/>
                </a:solidFill>
                <a:latin typeface="微软雅黑"/>
                <a:ea typeface="微软雅黑"/>
              </a:rPr>
              <a:t>文档导出</a:t>
            </a:r>
            <a:endParaRPr lang="zh-CN" sz="13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456" name=""/>
          <p:cNvSpPr/>
          <p:nvPr/>
        </p:nvSpPr>
        <p:spPr>
          <a:xfrm>
            <a:off x="3703638" y="4851400"/>
            <a:ext cx="2020887" cy="914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475569"/>
                </a:solidFill>
                <a:latin typeface="微软雅黑"/>
                <a:ea typeface="微软雅黑"/>
              </a:rPr>
              <a:t>CSV / Excel / JSON、库文档导出</a:t>
            </a:r>
            <a:endParaRPr/>
          </a:p>
        </p:txBody>
      </p:sp>
      <p:sp>
        <p:nvSpPr>
          <p:cNvPr id="457" name=""/>
          <p:cNvSpPr/>
          <p:nvPr/>
        </p:nvSpPr>
        <p:spPr>
          <a:xfrm>
            <a:off x="6467475" y="4470400"/>
            <a:ext cx="2020887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300" b="1">
                <a:solidFill>
                  <a:srgbClr val="0F172A"/>
                </a:solidFill>
                <a:latin typeface="微软雅黑"/>
                <a:ea typeface="微软雅黑"/>
              </a:rPr>
              <a:t>用户与角色</a:t>
            </a:r>
            <a:endParaRPr lang="zh-CN" sz="13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458" name=""/>
          <p:cNvSpPr/>
          <p:nvPr/>
        </p:nvSpPr>
        <p:spPr>
          <a:xfrm>
            <a:off x="6467475" y="4851400"/>
            <a:ext cx="2020887" cy="914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475569"/>
                </a:solidFill>
                <a:latin typeface="微软雅黑"/>
                <a:ea typeface="微软雅黑"/>
              </a:rPr>
              <a:t>按角色控制权限、菜单与接口双重校验</a:t>
            </a:r>
            <a:endParaRPr/>
          </a:p>
        </p:txBody>
      </p:sp>
      <p:sp>
        <p:nvSpPr>
          <p:cNvPr id="459" name=""/>
          <p:cNvSpPr/>
          <p:nvPr/>
        </p:nvSpPr>
        <p:spPr>
          <a:xfrm>
            <a:off x="9231313" y="4470400"/>
            <a:ext cx="2020887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300" b="1">
                <a:solidFill>
                  <a:srgbClr val="0F172A"/>
                </a:solidFill>
                <a:latin typeface="微软雅黑"/>
                <a:ea typeface="微软雅黑"/>
              </a:rPr>
              <a:t>运维监控</a:t>
            </a:r>
            <a:endParaRPr lang="zh-CN" sz="13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460" name=""/>
          <p:cNvSpPr/>
          <p:nvPr/>
        </p:nvSpPr>
        <p:spPr>
          <a:xfrm>
            <a:off x="9231313" y="4851400"/>
            <a:ext cx="2020887" cy="914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475569"/>
                </a:solidFill>
                <a:latin typeface="微软雅黑"/>
                <a:ea typeface="微软雅黑"/>
              </a:rPr>
              <a:t>慢查询、连接概览、审计日志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p14="http://schemas.microsoft.com/office/powerpoint/2010/main" xmlns:r="http://schemas.openxmlformats.org/officeDocument/2006/relationships" xmlns:p="http://schemas.openxmlformats.org/presentationml/2006/main" xmlns:a="http://schemas.openxmlformats.org/drawingml/2006/main" xmlns:mc="http://schemas.openxmlformats.org/markup-compatibility/2006" mc:Ignorable="p14">
  <p:cSld>
    <p:bg>
      <p:bgPr>
        <a:solidFill>
          <a:srgbClr val="FFFFFF"/>
        </a:solidFill>
        <a:effectLst/>
      </p:bgPr>
    </p:bg>
    <p:spTree>
      <p:nvGrpSpPr>
        <p:cNvPr id="4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video-frame"/>
          <p:cNvSpPr>
            <a:spLocks noGrp="1"/>
          </p:cNvSpPr>
          <p:nvPr/>
        </p:nvSpPr>
        <p:spPr>
          <a:xfrm>
            <a:off x="685800" y="1651000"/>
            <a:ext cx="711200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p/>
        </p:txBody>
      </p:sp>
      <p:pic>
        <p:nvPicPr>
          <p:cNvPr id="463" name="video-poster"/>
          <p:cNvPicPr>
            <a:picLocks noChangeAspect="1"/>
          </p:cNvPicPr>
          <p:nvPr/>
        </p:nvPicPr>
        <p:blipFill>
          <a:blip r:embed="pptx:/ppt/media/image1.png/a9zakn"/>
          <a:stretch>
            <a:fillRect/>
          </a:stretch>
        </p:blipFill>
        <p:spPr>
          <a:xfrm>
            <a:off x="698500" y="1663700"/>
            <a:ext cx="7086600" cy="3975100"/>
          </a:xfrm>
          <a:prstGeom prst="rect">
            <a:avLst/>
          </a:prstGeom>
        </p:spPr>
      </p:pic>
      <p:pic>
        <p:nvPicPr>
          <p:cNvPr id="464" name="video">
            <a:hlinkClick r:id="" action="ppaction://media"/>
          </p:cNvPr>
          <p:cNvPicPr>
            <a:picLocks noChangeAspect="1"/>
          </p:cNvPicPr>
          <p:nvPr>
            <a:videoFile r:link="pptx:/ppt/media/media1.mp4/a9zakn"/>
            <p:extLst>
              <p:ext uri="{DAA4B4D4-6D71-4841-9C94-3DE7FCFB9230}">
                <p14:media r:embed="pptx:/ppt/media/media1.mp4/a9zakn"/>
              </p:ext>
            </p:extLst>
          </p:nvPr>
        </p:nvPicPr>
        <p:blipFill>
          <a:blip r:embed="pptx:/ppt/media/image1.png/a9zakn"/>
          <a:stretch>
            <a:fillRect/>
          </a:stretch>
        </p:blipFill>
        <p:spPr>
          <a:xfrm>
            <a:off x="698500" y="1663700"/>
            <a:ext cx="7086600" cy="3975100"/>
          </a:xfrm>
          <a:prstGeom prst="rect">
            <a:avLst/>
          </a:prstGeom>
        </p:spPr>
      </p:pic>
      <p:sp>
        <p:nvSpPr>
          <p:cNvPr id="465" name="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66" name="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467" name=""/>
          <p:cNvSpPr/>
          <p:nvPr/>
        </p:nvSpPr>
        <p:spPr>
          <a:xfrm>
            <a:off x="8128000" y="22225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68" name=""/>
          <p:cNvSpPr/>
          <p:nvPr/>
        </p:nvSpPr>
        <p:spPr>
          <a:xfrm>
            <a:off x="8128000" y="30353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69" name=""/>
          <p:cNvSpPr/>
          <p:nvPr/>
        </p:nvSpPr>
        <p:spPr>
          <a:xfrm>
            <a:off x="8128000" y="38481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70" name=""/>
          <p:cNvSpPr/>
          <p:nvPr/>
        </p:nvSpPr>
        <p:spPr>
          <a:xfrm>
            <a:off x="8128000" y="46609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71" name="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400" b="1">
                <a:solidFill>
                  <a:srgbClr val="0F172A"/>
                </a:solidFill>
                <a:latin typeface="微软雅黑"/>
                <a:ea typeface="微软雅黑"/>
              </a:rPr>
              <a:t>功能演示 · 自然语言查询数据库</a:t>
            </a:r>
            <a:endParaRPr lang="zh-CN" sz="24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472" name="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DataMind · 数据库 Agent Web 应用</a:t>
            </a:r>
            <a:endParaRPr/>
          </a:p>
        </p:txBody>
      </p:sp>
      <p:sp>
        <p:nvSpPr>
          <p:cNvPr id="473" name="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08</a:t>
            </a:r>
            <a:endParaRPr/>
          </a:p>
        </p:txBody>
      </p:sp>
      <p:sp>
        <p:nvSpPr>
          <p:cNvPr id="474" name=""/>
          <p:cNvSpPr/>
          <p:nvPr/>
        </p:nvSpPr>
        <p:spPr>
          <a:xfrm>
            <a:off x="685800" y="5753100"/>
            <a:ext cx="7112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▶ 点击画面播放演示视频（约 40 秒）：演示库查用户 → Oracle（UAT）查机构 → 导出 CSV</a:t>
            </a:r>
            <a:endParaRPr/>
          </a:p>
        </p:txBody>
      </p:sp>
      <p:sp>
        <p:nvSpPr>
          <p:cNvPr id="475" name=""/>
          <p:cNvSpPr/>
          <p:nvPr/>
        </p:nvSpPr>
        <p:spPr>
          <a:xfrm>
            <a:off x="8128000" y="1651000"/>
            <a:ext cx="33782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 b="1">
                <a:solidFill>
                  <a:srgbClr val="0B5FFF"/>
                </a:solidFill>
                <a:latin typeface="微软雅黑"/>
                <a:ea typeface="微软雅黑"/>
              </a:rPr>
              <a:t>核心亮点</a:t>
            </a:r>
            <a:endParaRPr lang="zh-CN" sz="1200" b="1">
              <a:solidFill>
                <a:srgbClr val="0B5FFF"/>
              </a:solidFill>
              <a:latin typeface="微软雅黑"/>
              <a:ea typeface="微软雅黑"/>
            </a:endParaRPr>
          </a:p>
        </p:txBody>
      </p:sp>
      <p:sp>
        <p:nvSpPr>
          <p:cNvPr id="476" name=""/>
          <p:cNvSpPr/>
          <p:nvPr/>
        </p:nvSpPr>
        <p:spPr>
          <a:xfrm>
            <a:off x="8293100" y="21336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一句话生成 SQL，无需手写语句</a:t>
            </a:r>
            <a:endParaRPr/>
          </a:p>
        </p:txBody>
      </p:sp>
      <p:sp>
        <p:nvSpPr>
          <p:cNvPr id="477" name=""/>
          <p:cNvSpPr/>
          <p:nvPr/>
        </p:nvSpPr>
        <p:spPr>
          <a:xfrm>
            <a:off x="8293100" y="29464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SSE 流式回传思考过程与 SQL</a:t>
            </a:r>
            <a:endParaRPr/>
          </a:p>
        </p:txBody>
      </p:sp>
      <p:sp>
        <p:nvSpPr>
          <p:cNvPr id="478" name=""/>
          <p:cNvSpPr/>
          <p:nvPr/>
        </p:nvSpPr>
        <p:spPr>
          <a:xfrm>
            <a:off x="8293100" y="37592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切换数据源即可跨库查询</a:t>
            </a:r>
            <a:endParaRPr/>
          </a:p>
        </p:txBody>
      </p:sp>
      <p:sp>
        <p:nvSpPr>
          <p:cNvPr id="479" name=""/>
          <p:cNvSpPr/>
          <p:nvPr/>
        </p:nvSpPr>
        <p:spPr>
          <a:xfrm>
            <a:off x="8293100" y="45720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结果一键导出 CSV / Excel / JSON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p14="http://schemas.microsoft.com/office/powerpoint/2010/main" xmlns:r="http://schemas.openxmlformats.org/officeDocument/2006/relationships" xmlns:p="http://schemas.openxmlformats.org/presentationml/2006/main" xmlns:a="http://schemas.openxmlformats.org/drawingml/2006/main" xmlns:mc="http://schemas.openxmlformats.org/markup-compatibility/2006" mc:Ignorable="p14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deo-frame"/>
          <p:cNvSpPr>
            <a:spLocks noGrp="1"/>
          </p:cNvSpPr>
          <p:nvPr/>
        </p:nvSpPr>
        <p:spPr>
          <a:xfrm>
            <a:off x="685800" y="1651000"/>
            <a:ext cx="711200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p/>
        </p:txBody>
      </p:sp>
      <p:pic>
        <p:nvPicPr>
          <p:cNvPr id="3" name="video-poster"/>
          <p:cNvPicPr>
            <a:picLocks noChangeAspect="1"/>
          </p:cNvPicPr>
          <p:nvPr/>
        </p:nvPicPr>
        <p:blipFill>
          <a:blip r:embed="pptx:/ppt/media/image2.png/a9zakn"/>
          <a:stretch>
            <a:fillRect/>
          </a:stretch>
        </p:blipFill>
        <p:spPr>
          <a:xfrm>
            <a:off x="698500" y="1663700"/>
            <a:ext cx="7086600" cy="3975100"/>
          </a:xfrm>
          <a:prstGeom prst="rect">
            <a:avLst/>
          </a:prstGeom>
        </p:spPr>
      </p:pic>
      <p:pic>
        <p:nvPicPr>
          <p:cNvPr id="4" name="video">
            <a:hlinkClick r:id="" action="ppaction://media"/>
          </p:cNvPr>
          <p:cNvPicPr>
            <a:picLocks noChangeAspect="1"/>
          </p:cNvPicPr>
          <p:nvPr>
            <a:videoFile r:link="pptx:/ppt/media/media2.mp4/a9zakn"/>
            <p:extLst>
              <p:ext uri="{DAA4B4D4-6D71-4841-9C94-3DE7FCFB9230}">
                <p14:media r:embed="pptx:/ppt/media/media2.mp4/a9zakn"/>
              </p:ext>
            </p:extLst>
          </p:nvPr>
        </p:nvPicPr>
        <p:blipFill>
          <a:blip r:embed="pptx:/ppt/media/image2.png/a9zakn"/>
          <a:stretch>
            <a:fillRect/>
          </a:stretch>
        </p:blipFill>
        <p:spPr>
          <a:xfrm>
            <a:off x="698500" y="1663700"/>
            <a:ext cx="7086600" cy="3975100"/>
          </a:xfrm>
          <a:prstGeom prst="rect">
            <a:avLst/>
          </a:prstGeom>
        </p:spPr>
      </p:pic>
      <p:sp>
        <p:nvSpPr>
          <p:cNvPr id="5" name="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6" name="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7" name=""/>
          <p:cNvSpPr/>
          <p:nvPr/>
        </p:nvSpPr>
        <p:spPr>
          <a:xfrm>
            <a:off x="8128000" y="22225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8" name=""/>
          <p:cNvSpPr/>
          <p:nvPr/>
        </p:nvSpPr>
        <p:spPr>
          <a:xfrm>
            <a:off x="8128000" y="30353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9" name=""/>
          <p:cNvSpPr/>
          <p:nvPr/>
        </p:nvSpPr>
        <p:spPr>
          <a:xfrm>
            <a:off x="8128000" y="38481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0" name=""/>
          <p:cNvSpPr/>
          <p:nvPr/>
        </p:nvSpPr>
        <p:spPr>
          <a:xfrm>
            <a:off x="8128000" y="46609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1" name="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400" b="1">
                <a:solidFill>
                  <a:srgbClr val="0F172A"/>
                </a:solidFill>
                <a:latin typeface="微软雅黑"/>
                <a:ea typeface="微软雅黑"/>
              </a:rPr>
              <a:t>功能演示 · 自然语言生成图表</a:t>
            </a:r>
            <a:endParaRPr lang="zh-CN" sz="24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12" name="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DataMind · 数据库 Agent Web 应用</a:t>
            </a:r>
            <a:endParaRPr/>
          </a:p>
        </p:txBody>
      </p:sp>
      <p:sp>
        <p:nvSpPr>
          <p:cNvPr id="13" name="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09</a:t>
            </a:r>
            <a:endParaRPr/>
          </a:p>
        </p:txBody>
      </p:sp>
      <p:sp>
        <p:nvSpPr>
          <p:cNvPr id="14" name=""/>
          <p:cNvSpPr/>
          <p:nvPr/>
        </p:nvSpPr>
        <p:spPr>
          <a:xfrm>
            <a:off x="685800" y="5753100"/>
            <a:ext cx="7112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▶ 点击画面播放演示视频（约 60 秒）：Oracle 查分行笔数与金额 → 自动出图 → 保存报表</a:t>
            </a:r>
            <a:endParaRPr/>
          </a:p>
        </p:txBody>
      </p:sp>
      <p:sp>
        <p:nvSpPr>
          <p:cNvPr id="15" name=""/>
          <p:cNvSpPr/>
          <p:nvPr/>
        </p:nvSpPr>
        <p:spPr>
          <a:xfrm>
            <a:off x="8128000" y="1651000"/>
            <a:ext cx="33782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 b="1">
                <a:solidFill>
                  <a:srgbClr val="0B5FFF"/>
                </a:solidFill>
                <a:latin typeface="微软雅黑"/>
                <a:ea typeface="微软雅黑"/>
              </a:rPr>
              <a:t>核心亮点</a:t>
            </a:r>
            <a:endParaRPr lang="zh-CN" sz="1200" b="1">
              <a:solidFill>
                <a:srgbClr val="0B5FFF"/>
              </a:solidFill>
              <a:latin typeface="微软雅黑"/>
              <a:ea typeface="微软雅黑"/>
            </a:endParaRPr>
          </a:p>
        </p:txBody>
      </p:sp>
      <p:sp>
        <p:nvSpPr>
          <p:cNvPr id="16" name=""/>
          <p:cNvSpPr/>
          <p:nvPr/>
        </p:nvSpPr>
        <p:spPr>
          <a:xfrm>
            <a:off x="8293100" y="21336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一句话查询数据并生成图表</a:t>
            </a:r>
            <a:endParaRPr/>
          </a:p>
        </p:txBody>
      </p:sp>
      <p:sp>
        <p:nvSpPr>
          <p:cNvPr id="17" name=""/>
          <p:cNvSpPr/>
          <p:nvPr/>
        </p:nvSpPr>
        <p:spPr>
          <a:xfrm>
            <a:off x="8293100" y="29464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根据数据特征自动选择图表类型</a:t>
            </a:r>
            <a:endParaRPr/>
          </a:p>
        </p:txBody>
      </p:sp>
      <p:sp>
        <p:nvSpPr>
          <p:cNvPr id="18" name=""/>
          <p:cNvSpPr/>
          <p:nvPr/>
        </p:nvSpPr>
        <p:spPr>
          <a:xfrm>
            <a:off x="8293100" y="37592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一键保存到可视化报表复用</a:t>
            </a:r>
            <a:endParaRPr/>
          </a:p>
        </p:txBody>
      </p:sp>
      <p:sp>
        <p:nvSpPr>
          <p:cNvPr id="19" name=""/>
          <p:cNvSpPr/>
          <p:nvPr/>
        </p:nvSpPr>
        <p:spPr>
          <a:xfrm>
            <a:off x="8293100" y="45720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拖拽式仪表盘可编辑、可分享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p14="http://schemas.microsoft.com/office/powerpoint/2010/main" xmlns:r="http://schemas.openxmlformats.org/officeDocument/2006/relationships" xmlns:p="http://schemas.openxmlformats.org/presentationml/2006/main" xmlns:a="http://schemas.openxmlformats.org/drawingml/2006/main" xmlns:mc="http://schemas.openxmlformats.org/markup-compatibility/2006" mc:Ignorable="p14">
  <p:cSld>
    <p:bg>
      <p:bgPr>
        <a:solidFill>
          <a:srgbClr val="FFFFFF"/>
        </a:solidFill>
        <a:effectLst/>
      </p:bgPr>
    </p:bg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video-frame"/>
          <p:cNvSpPr>
            <a:spLocks noGrp="1"/>
          </p:cNvSpPr>
          <p:nvPr/>
        </p:nvSpPr>
        <p:spPr>
          <a:xfrm>
            <a:off x="685800" y="1651000"/>
            <a:ext cx="711200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p/>
        </p:txBody>
      </p:sp>
      <p:pic>
        <p:nvPicPr>
          <p:cNvPr id="22" name="video-poster"/>
          <p:cNvPicPr>
            <a:picLocks noChangeAspect="1"/>
          </p:cNvPicPr>
          <p:nvPr/>
        </p:nvPicPr>
        <p:blipFill>
          <a:blip r:embed="pptx:/ppt/media/image3.png/a9zakn"/>
          <a:stretch>
            <a:fillRect/>
          </a:stretch>
        </p:blipFill>
        <p:spPr>
          <a:xfrm>
            <a:off x="698500" y="1663700"/>
            <a:ext cx="7086600" cy="3975100"/>
          </a:xfrm>
          <a:prstGeom prst="rect">
            <a:avLst/>
          </a:prstGeom>
        </p:spPr>
      </p:pic>
      <p:pic>
        <p:nvPicPr>
          <p:cNvPr id="23" name="video">
            <a:hlinkClick r:id="" action="ppaction://media"/>
          </p:cNvPr>
          <p:cNvPicPr>
            <a:picLocks noChangeAspect="1"/>
          </p:cNvPicPr>
          <p:nvPr>
            <a:videoFile r:link="pptx:/ppt/media/media3.mp4/a9zakn"/>
            <p:extLst>
              <p:ext uri="{DAA4B4D4-6D71-4841-9C94-3DE7FCFB9230}">
                <p14:media r:embed="pptx:/ppt/media/media3.mp4/a9zakn"/>
              </p:ext>
            </p:extLst>
          </p:nvPr>
        </p:nvPicPr>
        <p:blipFill>
          <a:blip r:embed="pptx:/ppt/media/image3.png/a9zakn"/>
          <a:stretch>
            <a:fillRect/>
          </a:stretch>
        </p:blipFill>
        <p:spPr>
          <a:xfrm>
            <a:off x="698500" y="1663700"/>
            <a:ext cx="7086600" cy="3975100"/>
          </a:xfrm>
          <a:prstGeom prst="rect">
            <a:avLst/>
          </a:prstGeom>
        </p:spPr>
      </p:pic>
      <p:sp>
        <p:nvSpPr>
          <p:cNvPr id="24" name="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5" name="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26" name=""/>
          <p:cNvSpPr/>
          <p:nvPr/>
        </p:nvSpPr>
        <p:spPr>
          <a:xfrm>
            <a:off x="8128000" y="22225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7" name=""/>
          <p:cNvSpPr/>
          <p:nvPr/>
        </p:nvSpPr>
        <p:spPr>
          <a:xfrm>
            <a:off x="8128000" y="30353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8" name=""/>
          <p:cNvSpPr/>
          <p:nvPr/>
        </p:nvSpPr>
        <p:spPr>
          <a:xfrm>
            <a:off x="8128000" y="38481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9" name=""/>
          <p:cNvSpPr/>
          <p:nvPr/>
        </p:nvSpPr>
        <p:spPr>
          <a:xfrm>
            <a:off x="8128000" y="46609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0" name="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400" b="1">
                <a:solidFill>
                  <a:srgbClr val="0F172A"/>
                </a:solidFill>
                <a:latin typeface="微软雅黑"/>
                <a:ea typeface="微软雅黑"/>
              </a:rPr>
              <a:t>功能演示 · SQL 工作台</a:t>
            </a:r>
            <a:endParaRPr lang="zh-CN" sz="24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31" name="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DataMind · 数据库 Agent Web 应用</a:t>
            </a:r>
            <a:endParaRPr/>
          </a:p>
        </p:txBody>
      </p:sp>
      <p:sp>
        <p:nvSpPr>
          <p:cNvPr id="32" name="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10</a:t>
            </a:r>
            <a:endParaRPr/>
          </a:p>
        </p:txBody>
      </p:sp>
      <p:sp>
        <p:nvSpPr>
          <p:cNvPr id="33" name=""/>
          <p:cNvSpPr/>
          <p:nvPr/>
        </p:nvSpPr>
        <p:spPr>
          <a:xfrm>
            <a:off x="685800" y="5753100"/>
            <a:ext cx="7112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▶ 点击画面播放演示视频（约 55 秒）：OceanBase 执行 SQL → Agent 生成聚合 SQL → 收藏命名</a:t>
            </a:r>
            <a:endParaRPr/>
          </a:p>
        </p:txBody>
      </p:sp>
      <p:sp>
        <p:nvSpPr>
          <p:cNvPr id="34" name=""/>
          <p:cNvSpPr/>
          <p:nvPr/>
        </p:nvSpPr>
        <p:spPr>
          <a:xfrm>
            <a:off x="8128000" y="1651000"/>
            <a:ext cx="33782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 b="1">
                <a:solidFill>
                  <a:srgbClr val="0B5FFF"/>
                </a:solidFill>
                <a:latin typeface="微软雅黑"/>
                <a:ea typeface="微软雅黑"/>
              </a:rPr>
              <a:t>核心亮点</a:t>
            </a:r>
            <a:endParaRPr lang="zh-CN" sz="1200" b="1">
              <a:solidFill>
                <a:srgbClr val="0B5FFF"/>
              </a:solidFill>
              <a:latin typeface="微软雅黑"/>
              <a:ea typeface="微软雅黑"/>
            </a:endParaRPr>
          </a:p>
        </p:txBody>
      </p:sp>
      <p:sp>
        <p:nvSpPr>
          <p:cNvPr id="35" name=""/>
          <p:cNvSpPr/>
          <p:nvPr/>
        </p:nvSpPr>
        <p:spPr>
          <a:xfrm>
            <a:off x="8293100" y="21336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表 / 索引 / DDL / 视图 / 函数元数据管理</a:t>
            </a:r>
            <a:endParaRPr/>
          </a:p>
        </p:txBody>
      </p:sp>
      <p:sp>
        <p:nvSpPr>
          <p:cNvPr id="36" name=""/>
          <p:cNvSpPr/>
          <p:nvPr/>
        </p:nvSpPr>
        <p:spPr>
          <a:xfrm>
            <a:off x="8293100" y="29464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Agent 辅助快速生成 SQL</a:t>
            </a:r>
            <a:endParaRPr/>
          </a:p>
        </p:txBody>
      </p:sp>
      <p:sp>
        <p:nvSpPr>
          <p:cNvPr id="37" name=""/>
          <p:cNvSpPr/>
          <p:nvPr/>
        </p:nvSpPr>
        <p:spPr>
          <a:xfrm>
            <a:off x="8293100" y="37592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生成的 SQL 可填入编辑器继续编辑</a:t>
            </a:r>
            <a:endParaRPr/>
          </a:p>
        </p:txBody>
      </p:sp>
      <p:sp>
        <p:nvSpPr>
          <p:cNvPr id="38" name=""/>
          <p:cNvSpPr/>
          <p:nvPr/>
        </p:nvSpPr>
        <p:spPr>
          <a:xfrm>
            <a:off x="8293100" y="45720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执行历史留痕 + SQL 收藏复用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p14="http://schemas.microsoft.com/office/powerpoint/2010/main" xmlns:r="http://schemas.openxmlformats.org/officeDocument/2006/relationships" xmlns:p="http://schemas.openxmlformats.org/presentationml/2006/main" xmlns:a="http://schemas.openxmlformats.org/drawingml/2006/main" xmlns:mc="http://schemas.openxmlformats.org/markup-compatibility/2006" mc:Ignorable="p14">
  <p:cSld>
    <p:bg>
      <p:bgPr>
        <a:solidFill>
          <a:srgbClr val="FFFFFF"/>
        </a:solidFill>
        <a:effectLst/>
      </p:bgPr>
    </p:bg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video-frame"/>
          <p:cNvSpPr>
            <a:spLocks noGrp="1"/>
          </p:cNvSpPr>
          <p:nvPr/>
        </p:nvSpPr>
        <p:spPr>
          <a:xfrm>
            <a:off x="685800" y="1651000"/>
            <a:ext cx="711200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p/>
        </p:txBody>
      </p:sp>
      <p:pic>
        <p:nvPicPr>
          <p:cNvPr id="41" name="video-poster"/>
          <p:cNvPicPr>
            <a:picLocks noChangeAspect="1"/>
          </p:cNvPicPr>
          <p:nvPr/>
        </p:nvPicPr>
        <p:blipFill>
          <a:blip r:embed="pptx:/ppt/media/image4.png/a9zakn"/>
          <a:stretch>
            <a:fillRect/>
          </a:stretch>
        </p:blipFill>
        <p:spPr>
          <a:xfrm>
            <a:off x="698500" y="1663700"/>
            <a:ext cx="7086600" cy="3975100"/>
          </a:xfrm>
          <a:prstGeom prst="rect">
            <a:avLst/>
          </a:prstGeom>
        </p:spPr>
      </p:pic>
      <p:pic>
        <p:nvPicPr>
          <p:cNvPr id="42" name="video">
            <a:hlinkClick r:id="" action="ppaction://media"/>
          </p:cNvPr>
          <p:cNvPicPr>
            <a:picLocks noChangeAspect="1"/>
          </p:cNvPicPr>
          <p:nvPr>
            <a:videoFile r:link="pptx:/ppt/media/media4.mp4/a9zakn"/>
            <p:extLst>
              <p:ext uri="{DAA4B4D4-6D71-4841-9C94-3DE7FCFB9230}">
                <p14:media r:embed="pptx:/ppt/media/media4.mp4/a9zakn"/>
              </p:ext>
            </p:extLst>
          </p:nvPr>
        </p:nvPicPr>
        <p:blipFill>
          <a:blip r:embed="pptx:/ppt/media/image4.png/a9zakn"/>
          <a:stretch>
            <a:fillRect/>
          </a:stretch>
        </p:blipFill>
        <p:spPr>
          <a:xfrm>
            <a:off x="698500" y="1663700"/>
            <a:ext cx="7086600" cy="3975100"/>
          </a:xfrm>
          <a:prstGeom prst="rect">
            <a:avLst/>
          </a:prstGeom>
        </p:spPr>
      </p:pic>
      <p:sp>
        <p:nvSpPr>
          <p:cNvPr id="43" name="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4" name="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45" name=""/>
          <p:cNvSpPr/>
          <p:nvPr/>
        </p:nvSpPr>
        <p:spPr>
          <a:xfrm>
            <a:off x="8128000" y="22225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6" name=""/>
          <p:cNvSpPr/>
          <p:nvPr/>
        </p:nvSpPr>
        <p:spPr>
          <a:xfrm>
            <a:off x="8128000" y="30353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7" name=""/>
          <p:cNvSpPr/>
          <p:nvPr/>
        </p:nvSpPr>
        <p:spPr>
          <a:xfrm>
            <a:off x="8128000" y="38481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8" name=""/>
          <p:cNvSpPr/>
          <p:nvPr/>
        </p:nvSpPr>
        <p:spPr>
          <a:xfrm>
            <a:off x="8128000" y="46609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9" name="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400" b="1">
                <a:solidFill>
                  <a:srgbClr val="0F172A"/>
                </a:solidFill>
                <a:latin typeface="微软雅黑"/>
                <a:ea typeface="微软雅黑"/>
              </a:rPr>
              <a:t>功能演示 · SQL 语句分级安全控制</a:t>
            </a:r>
            <a:endParaRPr lang="zh-CN" sz="24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50" name="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DataMind · 数据库 Agent Web 应用</a:t>
            </a:r>
            <a:endParaRPr/>
          </a:p>
        </p:txBody>
      </p:sp>
      <p:sp>
        <p:nvSpPr>
          <p:cNvPr id="51" name="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11</a:t>
            </a:r>
            <a:endParaRPr/>
          </a:p>
        </p:txBody>
      </p:sp>
      <p:sp>
        <p:nvSpPr>
          <p:cNvPr id="52" name=""/>
          <p:cNvSpPr/>
          <p:nvPr/>
        </p:nvSpPr>
        <p:spPr>
          <a:xfrm>
            <a:off x="685800" y="5753100"/>
            <a:ext cx="7112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▶ 点击画面播放演示视频（约 52 秒）：UPDATE 确认执行 → 改字段长度确认执行 → 删表取消执行</a:t>
            </a:r>
            <a:endParaRPr/>
          </a:p>
        </p:txBody>
      </p:sp>
      <p:sp>
        <p:nvSpPr>
          <p:cNvPr id="53" name=""/>
          <p:cNvSpPr/>
          <p:nvPr/>
        </p:nvSpPr>
        <p:spPr>
          <a:xfrm>
            <a:off x="8128000" y="1651000"/>
            <a:ext cx="33782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 b="1">
                <a:solidFill>
                  <a:srgbClr val="0B5FFF"/>
                </a:solidFill>
                <a:latin typeface="微软雅黑"/>
                <a:ea typeface="微软雅黑"/>
              </a:rPr>
              <a:t>核心亮点</a:t>
            </a:r>
            <a:endParaRPr lang="zh-CN" sz="1200" b="1">
              <a:solidFill>
                <a:srgbClr val="0B5FFF"/>
              </a:solidFill>
              <a:latin typeface="微软雅黑"/>
              <a:ea typeface="微软雅黑"/>
            </a:endParaRPr>
          </a:p>
        </p:txBody>
      </p:sp>
      <p:sp>
        <p:nvSpPr>
          <p:cNvPr id="54" name=""/>
          <p:cNvSpPr/>
          <p:nvPr/>
        </p:nvSpPr>
        <p:spPr>
          <a:xfrm>
            <a:off x="8293100" y="21336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READ：只读查询自动执行</a:t>
            </a:r>
            <a:endParaRPr/>
          </a:p>
        </p:txBody>
      </p:sp>
      <p:sp>
        <p:nvSpPr>
          <p:cNvPr id="55" name=""/>
          <p:cNvSpPr/>
          <p:nvPr/>
        </p:nvSpPr>
        <p:spPr>
          <a:xfrm>
            <a:off x="8293100" y="29464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DML：UPDATE 确认后才生效</a:t>
            </a:r>
            <a:endParaRPr/>
          </a:p>
        </p:txBody>
      </p:sp>
      <p:sp>
        <p:nvSpPr>
          <p:cNvPr id="56" name=""/>
          <p:cNvSpPr/>
          <p:nvPr/>
        </p:nvSpPr>
        <p:spPr>
          <a:xfrm>
            <a:off x="8293100" y="37592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DDL：红色危险提示并展示完整语句</a:t>
            </a:r>
            <a:endParaRPr/>
          </a:p>
        </p:txBody>
      </p:sp>
      <p:sp>
        <p:nvSpPr>
          <p:cNvPr id="57" name=""/>
          <p:cNvSpPr/>
          <p:nvPr/>
        </p:nvSpPr>
        <p:spPr>
          <a:xfrm>
            <a:off x="8293100" y="45720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全部操作写入审计日志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p14="http://schemas.microsoft.com/office/powerpoint/2010/main" xmlns:r="http://schemas.openxmlformats.org/officeDocument/2006/relationships" xmlns:p="http://schemas.openxmlformats.org/presentationml/2006/main" xmlns:a="http://schemas.openxmlformats.org/drawingml/2006/main" xmlns:mc="http://schemas.openxmlformats.org/markup-compatibility/2006" mc:Ignorable="p14">
  <p:cSld>
    <p:bg>
      <p:bgPr>
        <a:solidFill>
          <a:srgbClr val="FFFFFF"/>
        </a:solidFill>
        <a:effectLst/>
      </p:bgPr>
    </p:bg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video-frame"/>
          <p:cNvSpPr>
            <a:spLocks noGrp="1"/>
          </p:cNvSpPr>
          <p:nvPr/>
        </p:nvSpPr>
        <p:spPr>
          <a:xfrm>
            <a:off x="685800" y="1651000"/>
            <a:ext cx="711200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p/>
        </p:txBody>
      </p:sp>
      <p:pic>
        <p:nvPicPr>
          <p:cNvPr id="60" name="video-poster"/>
          <p:cNvPicPr>
            <a:picLocks noChangeAspect="1"/>
          </p:cNvPicPr>
          <p:nvPr/>
        </p:nvPicPr>
        <p:blipFill>
          <a:blip r:embed="pptx:/ppt/media/image5.png/a9zakn"/>
          <a:stretch>
            <a:fillRect/>
          </a:stretch>
        </p:blipFill>
        <p:spPr>
          <a:xfrm>
            <a:off x="698500" y="1663700"/>
            <a:ext cx="7086600" cy="3975100"/>
          </a:xfrm>
          <a:prstGeom prst="rect">
            <a:avLst/>
          </a:prstGeom>
        </p:spPr>
      </p:pic>
      <p:pic>
        <p:nvPicPr>
          <p:cNvPr id="61" name="video">
            <a:hlinkClick r:id="" action="ppaction://media"/>
          </p:cNvPr>
          <p:cNvPicPr>
            <a:picLocks noChangeAspect="1"/>
          </p:cNvPicPr>
          <p:nvPr>
            <a:videoFile r:link="pptx:/ppt/media/media5.mp4/a9zakn"/>
            <p:extLst>
              <p:ext uri="{DAA4B4D4-6D71-4841-9C94-3DE7FCFB9230}">
                <p14:media r:embed="pptx:/ppt/media/media5.mp4/a9zakn"/>
              </p:ext>
            </p:extLst>
          </p:nvPr>
        </p:nvPicPr>
        <p:blipFill>
          <a:blip r:embed="pptx:/ppt/media/image5.png/a9zakn"/>
          <a:stretch>
            <a:fillRect/>
          </a:stretch>
        </p:blipFill>
        <p:spPr>
          <a:xfrm>
            <a:off x="698500" y="1663700"/>
            <a:ext cx="7086600" cy="3975100"/>
          </a:xfrm>
          <a:prstGeom prst="rect">
            <a:avLst/>
          </a:prstGeom>
        </p:spPr>
      </p:pic>
      <p:sp>
        <p:nvSpPr>
          <p:cNvPr id="62" name="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63" name="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64" name=""/>
          <p:cNvSpPr/>
          <p:nvPr/>
        </p:nvSpPr>
        <p:spPr>
          <a:xfrm>
            <a:off x="8128000" y="22225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65" name=""/>
          <p:cNvSpPr/>
          <p:nvPr/>
        </p:nvSpPr>
        <p:spPr>
          <a:xfrm>
            <a:off x="8128000" y="30353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66" name=""/>
          <p:cNvSpPr/>
          <p:nvPr/>
        </p:nvSpPr>
        <p:spPr>
          <a:xfrm>
            <a:off x="8128000" y="38481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67" name=""/>
          <p:cNvSpPr/>
          <p:nvPr/>
        </p:nvSpPr>
        <p:spPr>
          <a:xfrm>
            <a:off x="8128000" y="46609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68" name="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400" b="1">
                <a:solidFill>
                  <a:srgbClr val="0F172A"/>
                </a:solidFill>
                <a:latin typeface="微软雅黑"/>
                <a:ea typeface="微软雅黑"/>
              </a:rPr>
              <a:t>功能演示 · 运维监控与日志</a:t>
            </a:r>
            <a:endParaRPr lang="zh-CN" sz="24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69" name="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DataMind · 数据库 Agent Web 应用</a:t>
            </a:r>
            <a:endParaRPr/>
          </a:p>
        </p:txBody>
      </p:sp>
      <p:sp>
        <p:nvSpPr>
          <p:cNvPr id="70" name="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12</a:t>
            </a:r>
            <a:endParaRPr/>
          </a:p>
        </p:txBody>
      </p:sp>
      <p:sp>
        <p:nvSpPr>
          <p:cNvPr id="71" name=""/>
          <p:cNvSpPr/>
          <p:nvPr/>
        </p:nvSpPr>
        <p:spPr>
          <a:xfrm>
            <a:off x="685800" y="5753100"/>
            <a:ext cx="7112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▶ 点击画面播放演示视频（约 32 秒）：连接概览 → 审计日志 → 慢查询 → 表结构对比</a:t>
            </a:r>
            <a:endParaRPr/>
          </a:p>
        </p:txBody>
      </p:sp>
      <p:sp>
        <p:nvSpPr>
          <p:cNvPr id="72" name=""/>
          <p:cNvSpPr/>
          <p:nvPr/>
        </p:nvSpPr>
        <p:spPr>
          <a:xfrm>
            <a:off x="8128000" y="1651000"/>
            <a:ext cx="33782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 b="1">
                <a:solidFill>
                  <a:srgbClr val="0B5FFF"/>
                </a:solidFill>
                <a:latin typeface="微软雅黑"/>
                <a:ea typeface="微软雅黑"/>
              </a:rPr>
              <a:t>核心亮点</a:t>
            </a:r>
            <a:endParaRPr lang="zh-CN" sz="1200" b="1">
              <a:solidFill>
                <a:srgbClr val="0B5FFF"/>
              </a:solidFill>
              <a:latin typeface="微软雅黑"/>
              <a:ea typeface="微软雅黑"/>
            </a:endParaRPr>
          </a:p>
        </p:txBody>
      </p:sp>
      <p:sp>
        <p:nvSpPr>
          <p:cNvPr id="73" name=""/>
          <p:cNvSpPr/>
          <p:nvPr/>
        </p:nvSpPr>
        <p:spPr>
          <a:xfrm>
            <a:off x="8293100" y="21336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连接概览：查询量 / 耗时 / 成功率</a:t>
            </a:r>
            <a:endParaRPr/>
          </a:p>
        </p:txBody>
      </p:sp>
      <p:sp>
        <p:nvSpPr>
          <p:cNvPr id="74" name=""/>
          <p:cNvSpPr/>
          <p:nvPr/>
        </p:nvSpPr>
        <p:spPr>
          <a:xfrm>
            <a:off x="8293100" y="29464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审计日志：登录与 SQL 执行全量留痕</a:t>
            </a:r>
            <a:endParaRPr/>
          </a:p>
        </p:txBody>
      </p:sp>
      <p:sp>
        <p:nvSpPr>
          <p:cNvPr id="75" name=""/>
          <p:cNvSpPr/>
          <p:nvPr/>
        </p:nvSpPr>
        <p:spPr>
          <a:xfrm>
            <a:off x="8293100" y="37592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慢查询：按阈值统计耗时 SQL</a:t>
            </a:r>
            <a:endParaRPr/>
          </a:p>
        </p:txBody>
      </p:sp>
      <p:sp>
        <p:nvSpPr>
          <p:cNvPr id="76" name=""/>
          <p:cNvSpPr/>
          <p:nvPr/>
        </p:nvSpPr>
        <p:spPr>
          <a:xfrm>
            <a:off x="8293100" y="45720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表结构对比：多环境差异一目了然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p14="http://schemas.microsoft.com/office/powerpoint/2010/main" xmlns:r="http://schemas.openxmlformats.org/officeDocument/2006/relationships" xmlns:p="http://schemas.openxmlformats.org/presentationml/2006/main" xmlns:a="http://schemas.openxmlformats.org/drawingml/2006/main" xmlns:mc="http://schemas.openxmlformats.org/markup-compatibility/2006" mc:Ignorable="p14">
  <p:cSld>
    <p:bg>
      <p:bgPr>
        <a:solidFill>
          <a:srgbClr val="FFFFFF"/>
        </a:solidFill>
        <a:effectLst/>
      </p:bgPr>
    </p:bg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video-frame"/>
          <p:cNvSpPr>
            <a:spLocks noGrp="1"/>
          </p:cNvSpPr>
          <p:nvPr/>
        </p:nvSpPr>
        <p:spPr>
          <a:xfrm>
            <a:off x="685800" y="1651000"/>
            <a:ext cx="711200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p/>
        </p:txBody>
      </p:sp>
      <p:pic>
        <p:nvPicPr>
          <p:cNvPr id="79" name="video-poster"/>
          <p:cNvPicPr>
            <a:picLocks noChangeAspect="1"/>
          </p:cNvPicPr>
          <p:nvPr/>
        </p:nvPicPr>
        <p:blipFill>
          <a:blip r:embed="pptx:/ppt/media/image6.png/a9zakn"/>
          <a:stretch>
            <a:fillRect/>
          </a:stretch>
        </p:blipFill>
        <p:spPr>
          <a:xfrm>
            <a:off x="698500" y="1663700"/>
            <a:ext cx="7086600" cy="3975100"/>
          </a:xfrm>
          <a:prstGeom prst="rect">
            <a:avLst/>
          </a:prstGeom>
        </p:spPr>
      </p:pic>
      <p:pic>
        <p:nvPicPr>
          <p:cNvPr id="80" name="video">
            <a:hlinkClick r:id="" action="ppaction://media"/>
          </p:cNvPr>
          <p:cNvPicPr>
            <a:picLocks noChangeAspect="1"/>
          </p:cNvPicPr>
          <p:nvPr>
            <a:videoFile r:link="pptx:/ppt/media/media6.mp4/a9zakn"/>
            <p:extLst>
              <p:ext uri="{DAA4B4D4-6D71-4841-9C94-3DE7FCFB9230}">
                <p14:media r:embed="pptx:/ppt/media/media6.mp4/a9zakn"/>
              </p:ext>
            </p:extLst>
          </p:nvPr>
        </p:nvPicPr>
        <p:blipFill>
          <a:blip r:embed="pptx:/ppt/media/image6.png/a9zakn"/>
          <a:stretch>
            <a:fillRect/>
          </a:stretch>
        </p:blipFill>
        <p:spPr>
          <a:xfrm>
            <a:off x="698500" y="1663700"/>
            <a:ext cx="7086600" cy="3975100"/>
          </a:xfrm>
          <a:prstGeom prst="rect">
            <a:avLst/>
          </a:prstGeom>
        </p:spPr>
      </p:pic>
      <p:sp>
        <p:nvSpPr>
          <p:cNvPr id="81" name="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82" name="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83" name=""/>
          <p:cNvSpPr/>
          <p:nvPr/>
        </p:nvSpPr>
        <p:spPr>
          <a:xfrm>
            <a:off x="8128000" y="22225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84" name=""/>
          <p:cNvSpPr/>
          <p:nvPr/>
        </p:nvSpPr>
        <p:spPr>
          <a:xfrm>
            <a:off x="8128000" y="30353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85" name=""/>
          <p:cNvSpPr/>
          <p:nvPr/>
        </p:nvSpPr>
        <p:spPr>
          <a:xfrm>
            <a:off x="8128000" y="38481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86" name=""/>
          <p:cNvSpPr/>
          <p:nvPr/>
        </p:nvSpPr>
        <p:spPr>
          <a:xfrm>
            <a:off x="8128000" y="46609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87" name="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400" b="1">
                <a:solidFill>
                  <a:srgbClr val="0F172A"/>
                </a:solidFill>
                <a:latin typeface="微软雅黑"/>
                <a:ea typeface="微软雅黑"/>
              </a:rPr>
              <a:t>功能演示 · 数据库与大模型连接管理</a:t>
            </a:r>
            <a:endParaRPr lang="zh-CN" sz="24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88" name="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DataMind · 数据库 Agent Web 应用</a:t>
            </a:r>
            <a:endParaRPr/>
          </a:p>
        </p:txBody>
      </p:sp>
      <p:sp>
        <p:nvSpPr>
          <p:cNvPr id="89" name="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13</a:t>
            </a:r>
            <a:endParaRPr/>
          </a:p>
        </p:txBody>
      </p:sp>
      <p:sp>
        <p:nvSpPr>
          <p:cNvPr id="90" name=""/>
          <p:cNvSpPr/>
          <p:nvPr/>
        </p:nvSpPr>
        <p:spPr>
          <a:xfrm>
            <a:off x="685800" y="5753100"/>
            <a:ext cx="7112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▶ 点击画面播放演示视频（约 23 秒）：数据库连接一键测连 → 大模型配置测试第二个模型</a:t>
            </a:r>
            <a:endParaRPr/>
          </a:p>
        </p:txBody>
      </p:sp>
      <p:sp>
        <p:nvSpPr>
          <p:cNvPr id="91" name=""/>
          <p:cNvSpPr/>
          <p:nvPr/>
        </p:nvSpPr>
        <p:spPr>
          <a:xfrm>
            <a:off x="8128000" y="1651000"/>
            <a:ext cx="33782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 b="1">
                <a:solidFill>
                  <a:srgbClr val="0B5FFF"/>
                </a:solidFill>
                <a:latin typeface="微软雅黑"/>
                <a:ea typeface="微软雅黑"/>
              </a:rPr>
              <a:t>核心亮点</a:t>
            </a:r>
            <a:endParaRPr lang="zh-CN" sz="1200" b="1">
              <a:solidFill>
                <a:srgbClr val="0B5FFF"/>
              </a:solidFill>
              <a:latin typeface="微软雅黑"/>
              <a:ea typeface="微软雅黑"/>
            </a:endParaRPr>
          </a:p>
        </p:txBody>
      </p:sp>
      <p:sp>
        <p:nvSpPr>
          <p:cNvPr id="92" name=""/>
          <p:cNvSpPr/>
          <p:nvPr/>
        </p:nvSpPr>
        <p:spPr>
          <a:xfrm>
            <a:off x="8293100" y="21336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数据库连接配置：7 类数据源支持</a:t>
            </a:r>
            <a:endParaRPr/>
          </a:p>
        </p:txBody>
      </p:sp>
      <p:sp>
        <p:nvSpPr>
          <p:cNvPr id="93" name=""/>
          <p:cNvSpPr/>
          <p:nvPr/>
        </p:nvSpPr>
        <p:spPr>
          <a:xfrm>
            <a:off x="8293100" y="29464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大模型连接配置：OpenAI / Claude / Ollama</a:t>
            </a:r>
            <a:endParaRPr/>
          </a:p>
        </p:txBody>
      </p:sp>
      <p:sp>
        <p:nvSpPr>
          <p:cNvPr id="94" name=""/>
          <p:cNvSpPr/>
          <p:nvPr/>
        </p:nvSpPr>
        <p:spPr>
          <a:xfrm>
            <a:off x="8293100" y="37592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一键测试数据库与大模型连通性</a:t>
            </a:r>
            <a:endParaRPr/>
          </a:p>
        </p:txBody>
      </p:sp>
      <p:sp>
        <p:nvSpPr>
          <p:cNvPr id="95" name=""/>
          <p:cNvSpPr/>
          <p:nvPr/>
        </p:nvSpPr>
        <p:spPr>
          <a:xfrm>
            <a:off x="8293100" y="45720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密码与 API Key 加密存储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p14="http://schemas.microsoft.com/office/powerpoint/2010/main" xmlns:r="http://schemas.openxmlformats.org/officeDocument/2006/relationships" xmlns:p="http://schemas.openxmlformats.org/presentationml/2006/main" xmlns:a="http://schemas.openxmlformats.org/drawingml/2006/main" xmlns:mc="http://schemas.openxmlformats.org/markup-compatibility/2006" mc:Ignorable="p14">
  <p:cSld>
    <p:bg>
      <p:bgPr>
        <a:solidFill>
          <a:srgbClr val="FFFFFF"/>
        </a:solidFill>
        <a:effectLst/>
      </p:bgPr>
    </p:bg>
    <p:spTree>
      <p:nvGrpSpPr>
        <p:cNvPr id="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video-frame"/>
          <p:cNvSpPr>
            <a:spLocks noGrp="1"/>
          </p:cNvSpPr>
          <p:nvPr/>
        </p:nvSpPr>
        <p:spPr>
          <a:xfrm>
            <a:off x="685800" y="1651000"/>
            <a:ext cx="711200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p/>
        </p:txBody>
      </p:sp>
      <p:pic>
        <p:nvPicPr>
          <p:cNvPr id="98" name="video-poster"/>
          <p:cNvPicPr>
            <a:picLocks noChangeAspect="1"/>
          </p:cNvPicPr>
          <p:nvPr/>
        </p:nvPicPr>
        <p:blipFill>
          <a:blip r:embed="pptx:/ppt/media/image7.png/a9zakn"/>
          <a:stretch>
            <a:fillRect/>
          </a:stretch>
        </p:blipFill>
        <p:spPr>
          <a:xfrm>
            <a:off x="698500" y="1663700"/>
            <a:ext cx="7086600" cy="3975100"/>
          </a:xfrm>
          <a:prstGeom prst="rect">
            <a:avLst/>
          </a:prstGeom>
        </p:spPr>
      </p:pic>
      <p:pic>
        <p:nvPicPr>
          <p:cNvPr id="99" name="video">
            <a:hlinkClick r:id="" action="ppaction://media"/>
          </p:cNvPr>
          <p:cNvPicPr>
            <a:picLocks noChangeAspect="1"/>
          </p:cNvPicPr>
          <p:nvPr>
            <a:videoFile r:link="pptx:/ppt/media/media7.mp4/a9zakn"/>
            <p:extLst>
              <p:ext uri="{DAA4B4D4-6D71-4841-9C94-3DE7FCFB9230}">
                <p14:media r:embed="pptx:/ppt/media/media7.mp4/a9zakn"/>
              </p:ext>
            </p:extLst>
          </p:nvPr>
        </p:nvPicPr>
        <p:blipFill>
          <a:blip r:embed="pptx:/ppt/media/image7.png/a9zakn"/>
          <a:stretch>
            <a:fillRect/>
          </a:stretch>
        </p:blipFill>
        <p:spPr>
          <a:xfrm>
            <a:off x="698500" y="1663700"/>
            <a:ext cx="7086600" cy="3975100"/>
          </a:xfrm>
          <a:prstGeom prst="rect">
            <a:avLst/>
          </a:prstGeom>
        </p:spPr>
      </p:pic>
      <p:sp>
        <p:nvSpPr>
          <p:cNvPr id="100" name="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01" name="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102" name=""/>
          <p:cNvSpPr/>
          <p:nvPr/>
        </p:nvSpPr>
        <p:spPr>
          <a:xfrm>
            <a:off x="8128000" y="22225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03" name=""/>
          <p:cNvSpPr/>
          <p:nvPr/>
        </p:nvSpPr>
        <p:spPr>
          <a:xfrm>
            <a:off x="8128000" y="30353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04" name=""/>
          <p:cNvSpPr/>
          <p:nvPr/>
        </p:nvSpPr>
        <p:spPr>
          <a:xfrm>
            <a:off x="8128000" y="38481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05" name=""/>
          <p:cNvSpPr/>
          <p:nvPr/>
        </p:nvSpPr>
        <p:spPr>
          <a:xfrm>
            <a:off x="8128000" y="46609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06" name="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400" b="1">
                <a:solidFill>
                  <a:srgbClr val="0F172A"/>
                </a:solidFill>
                <a:latin typeface="微软雅黑"/>
                <a:ea typeface="微软雅黑"/>
              </a:rPr>
              <a:t>功能演示 · 用户与角色管理</a:t>
            </a:r>
            <a:endParaRPr lang="zh-CN" sz="24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107" name="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DataMind · 数据库 Agent Web 应用</a:t>
            </a:r>
            <a:endParaRPr/>
          </a:p>
        </p:txBody>
      </p:sp>
      <p:sp>
        <p:nvSpPr>
          <p:cNvPr id="108" name="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14</a:t>
            </a:r>
            <a:endParaRPr/>
          </a:p>
        </p:txBody>
      </p:sp>
      <p:sp>
        <p:nvSpPr>
          <p:cNvPr id="109" name=""/>
          <p:cNvSpPr/>
          <p:nvPr/>
        </p:nvSpPr>
        <p:spPr>
          <a:xfrm>
            <a:off x="685800" y="5753100"/>
            <a:ext cx="7112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▶ 点击画面播放演示视频（约 23 秒）：用户管理 → 角色管理 → 查看技术管理 / 技术查询 / 业务查询</a:t>
            </a:r>
            <a:endParaRPr/>
          </a:p>
        </p:txBody>
      </p:sp>
      <p:sp>
        <p:nvSpPr>
          <p:cNvPr id="110" name=""/>
          <p:cNvSpPr/>
          <p:nvPr/>
        </p:nvSpPr>
        <p:spPr>
          <a:xfrm>
            <a:off x="8128000" y="1651000"/>
            <a:ext cx="33782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 b="1">
                <a:solidFill>
                  <a:srgbClr val="0B5FFF"/>
                </a:solidFill>
                <a:latin typeface="微软雅黑"/>
                <a:ea typeface="微软雅黑"/>
              </a:rPr>
              <a:t>核心亮点</a:t>
            </a:r>
            <a:endParaRPr lang="zh-CN" sz="1200" b="1">
              <a:solidFill>
                <a:srgbClr val="0B5FFF"/>
              </a:solidFill>
              <a:latin typeface="微软雅黑"/>
              <a:ea typeface="微软雅黑"/>
            </a:endParaRPr>
          </a:p>
        </p:txBody>
      </p:sp>
      <p:sp>
        <p:nvSpPr>
          <p:cNvPr id="111" name=""/>
          <p:cNvSpPr/>
          <p:nvPr/>
        </p:nvSpPr>
        <p:spPr>
          <a:xfrm>
            <a:off x="8293100" y="21336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用户管理：账号 / 角色 / 状态 / 重置密码</a:t>
            </a:r>
            <a:endParaRPr/>
          </a:p>
        </p:txBody>
      </p:sp>
      <p:sp>
        <p:nvSpPr>
          <p:cNvPr id="112" name=""/>
          <p:cNvSpPr/>
          <p:nvPr/>
        </p:nvSpPr>
        <p:spPr>
          <a:xfrm>
            <a:off x="8293100" y="29464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角色管理：按角色控制功能权限</a:t>
            </a:r>
            <a:endParaRPr/>
          </a:p>
        </p:txBody>
      </p:sp>
      <p:sp>
        <p:nvSpPr>
          <p:cNvPr id="113" name=""/>
          <p:cNvSpPr/>
          <p:nvPr/>
        </p:nvSpPr>
        <p:spPr>
          <a:xfrm>
            <a:off x="8293100" y="37592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权限项按模块分组勾选</a:t>
            </a:r>
            <a:endParaRPr/>
          </a:p>
        </p:txBody>
      </p:sp>
      <p:sp>
        <p:nvSpPr>
          <p:cNvPr id="114" name=""/>
          <p:cNvSpPr/>
          <p:nvPr/>
        </p:nvSpPr>
        <p:spPr>
          <a:xfrm>
            <a:off x="8293100" y="45720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前端菜单与后端接口双重控制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0B1830"/>
        </a:solidFill>
      </p:bgPr>
    </p:bg>
    <p:spTree>
      <p:nvGrpSpPr>
        <p:cNvPr id="1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"/>
          <p:cNvSpPr/>
          <p:nvPr/>
        </p:nvSpPr>
        <p:spPr>
          <a:xfrm>
            <a:off x="8890000" y="3810000"/>
            <a:ext cx="4318000" cy="4318000"/>
          </a:xfrm>
          <a:prstGeom prst="ellipse">
            <a:avLst/>
          </a:prstGeom>
          <a:solidFill>
            <a:srgbClr val="0B5FFF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7" name=""/>
          <p:cNvSpPr/>
          <p:nvPr/>
        </p:nvSpPr>
        <p:spPr>
          <a:xfrm>
            <a:off x="711200" y="3505200"/>
            <a:ext cx="5588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18" name="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/>
          <a:p/>
        </p:txBody>
      </p:sp>
      <p:sp>
        <p:nvSpPr>
          <p:cNvPr id="119" name=""/>
          <p:cNvSpPr/>
          <p:nvPr/>
        </p:nvSpPr>
        <p:spPr>
          <a:xfrm>
            <a:off x="685800" y="2108200"/>
            <a:ext cx="4064000" cy="1422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7600" b="1">
                <a:solidFill>
                  <a:srgbClr val="1E4A8F"/>
                </a:solidFill>
                <a:latin typeface="微软雅黑"/>
                <a:ea typeface="微软雅黑"/>
              </a:rPr>
              <a:t>03</a:t>
            </a:r>
            <a:endParaRPr lang="zh-CN" sz="7600" b="1">
              <a:solidFill>
                <a:srgbClr val="1E4A8F"/>
              </a:solidFill>
              <a:latin typeface="微软雅黑"/>
              <a:ea typeface="微软雅黑"/>
            </a:endParaRPr>
          </a:p>
        </p:txBody>
      </p:sp>
      <p:sp>
        <p:nvSpPr>
          <p:cNvPr id="120" name=""/>
          <p:cNvSpPr/>
          <p:nvPr/>
        </p:nvSpPr>
        <p:spPr>
          <a:xfrm>
            <a:off x="685800" y="37084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3200" b="1">
                <a:solidFill>
                  <a:srgbClr val="FFFFFF"/>
                </a:solidFill>
                <a:latin typeface="微软雅黑"/>
                <a:ea typeface="微软雅黑"/>
              </a:rPr>
              <a:t>技术亮点</a:t>
            </a:r>
            <a:endParaRPr lang="zh-CN" sz="32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21" name=""/>
          <p:cNvSpPr/>
          <p:nvPr/>
        </p:nvSpPr>
        <p:spPr>
          <a:xfrm>
            <a:off x="711200" y="4419600"/>
            <a:ext cx="91440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300">
                <a:solidFill>
                  <a:srgbClr val="A9BDD6">
                    <a:alpha val="100000"/>
                  </a:srgbClr>
                </a:solidFill>
                <a:latin typeface="微软雅黑"/>
                <a:ea typeface="微软雅黑"/>
                <a:cs typeface="+mn-cs"/>
              </a:rPr>
              <a:t>AI Agent 集成 · SQL 分级鉴权 · 审计与监控</a:t>
            </a:r>
            <a:r>
              <a:rPr lang="zh-CN" sz="1300">
                <a:solidFill>
                  <a:srgbClr val="A9BDD6">
                    <a:alpha val="100000"/>
                  </a:srgbClr>
                </a:solidFill>
                <a:latin typeface="微软雅黑"/>
                <a:ea typeface="微软雅黑"/>
                <a:cs typeface="+mn-cs"/>
              </a:rPr>
              <a:t>·工程化与安全</a:t>
            </a:r>
            <a:endParaRPr/>
          </a:p>
        </p:txBody>
      </p:sp>
      <p:sp>
        <p:nvSpPr>
          <p:cNvPr id="122" name="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6E88A8"/>
                </a:solidFill>
                <a:latin typeface="微软雅黑"/>
                <a:ea typeface="微软雅黑"/>
              </a:rPr>
              <a:t>DataMind · 数据库 Agent Web 应用</a:t>
            </a:r>
            <a:endParaRPr/>
          </a:p>
        </p:txBody>
      </p:sp>
      <p:sp>
        <p:nvSpPr>
          <p:cNvPr id="123" name="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6E88A8"/>
                </a:solidFill>
                <a:latin typeface="微软雅黑"/>
                <a:ea typeface="微软雅黑"/>
              </a:rPr>
              <a:t>15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26" name="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127" name=""/>
          <p:cNvSpPr/>
          <p:nvPr/>
        </p:nvSpPr>
        <p:spPr>
          <a:xfrm>
            <a:off x="685800" y="1879600"/>
            <a:ext cx="5257800" cy="19304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128" name=""/>
          <p:cNvSpPr/>
          <p:nvPr/>
        </p:nvSpPr>
        <p:spPr>
          <a:xfrm>
            <a:off x="990600" y="2133600"/>
            <a:ext cx="304800" cy="381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29" name=""/>
          <p:cNvSpPr/>
          <p:nvPr/>
        </p:nvSpPr>
        <p:spPr>
          <a:xfrm>
            <a:off x="6248400" y="1879600"/>
            <a:ext cx="5257800" cy="19304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130" name=""/>
          <p:cNvSpPr/>
          <p:nvPr/>
        </p:nvSpPr>
        <p:spPr>
          <a:xfrm>
            <a:off x="6553200" y="2133600"/>
            <a:ext cx="304800" cy="381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31" name=""/>
          <p:cNvSpPr/>
          <p:nvPr/>
        </p:nvSpPr>
        <p:spPr>
          <a:xfrm>
            <a:off x="685800" y="4038600"/>
            <a:ext cx="5257800" cy="19304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132" name=""/>
          <p:cNvSpPr/>
          <p:nvPr/>
        </p:nvSpPr>
        <p:spPr>
          <a:xfrm>
            <a:off x="990600" y="4292600"/>
            <a:ext cx="304800" cy="381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33" name=""/>
          <p:cNvSpPr/>
          <p:nvPr/>
        </p:nvSpPr>
        <p:spPr>
          <a:xfrm>
            <a:off x="6248400" y="4038600"/>
            <a:ext cx="5257800" cy="19304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134" name=""/>
          <p:cNvSpPr/>
          <p:nvPr/>
        </p:nvSpPr>
        <p:spPr>
          <a:xfrm>
            <a:off x="6553200" y="4292600"/>
            <a:ext cx="304800" cy="381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35" name="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400" b="1">
                <a:solidFill>
                  <a:srgbClr val="0F172A"/>
                </a:solidFill>
                <a:latin typeface="微软雅黑"/>
                <a:ea typeface="微软雅黑"/>
              </a:rPr>
              <a:t>AI Agent 深度集成</a:t>
            </a:r>
            <a:endParaRPr lang="zh-CN" sz="24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136" name=""/>
          <p:cNvSpPr/>
          <p:nvPr/>
        </p:nvSpPr>
        <p:spPr>
          <a:xfrm>
            <a:off x="685800" y="1193800"/>
            <a:ext cx="108204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475569"/>
                </a:solidFill>
                <a:latin typeface="微软雅黑"/>
                <a:ea typeface="微软雅黑"/>
              </a:rPr>
              <a:t>不是简单调用大模型，而是把「工具调用、失败自愈、经验复用」做成工程闭环。</a:t>
            </a:r>
            <a:endParaRPr/>
          </a:p>
        </p:txBody>
      </p:sp>
      <p:sp>
        <p:nvSpPr>
          <p:cNvPr id="137" name="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DataMind · 数据库 Agent Web 应用</a:t>
            </a:r>
            <a:endParaRPr/>
          </a:p>
        </p:txBody>
      </p:sp>
      <p:sp>
        <p:nvSpPr>
          <p:cNvPr id="138" name="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16</a:t>
            </a:r>
            <a:endParaRPr/>
          </a:p>
        </p:txBody>
      </p:sp>
      <p:sp>
        <p:nvSpPr>
          <p:cNvPr id="139" name=""/>
          <p:cNvSpPr/>
          <p:nvPr/>
        </p:nvSpPr>
        <p:spPr>
          <a:xfrm>
            <a:off x="990600" y="2311400"/>
            <a:ext cx="46482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500" b="1">
                <a:solidFill>
                  <a:srgbClr val="0F172A"/>
                </a:solidFill>
                <a:latin typeface="微软雅黑"/>
                <a:ea typeface="微软雅黑"/>
              </a:rPr>
              <a:t>工具调用</a:t>
            </a:r>
            <a:endParaRPr lang="zh-CN" sz="15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140" name=""/>
          <p:cNvSpPr/>
          <p:nvPr/>
        </p:nvSpPr>
        <p:spPr>
          <a:xfrm>
            <a:off x="990600" y="2717800"/>
            <a:ext cx="4648200" cy="939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Agent 按需调用 list_tables、get_columns、sample_data、explain 四个工具，实时获取真实表结构、采样数据与执行计划，从源头杜绝编造表名列名。</a:t>
            </a:r>
            <a:endParaRPr/>
          </a:p>
        </p:txBody>
      </p:sp>
      <p:sp>
        <p:nvSpPr>
          <p:cNvPr id="141" name=""/>
          <p:cNvSpPr/>
          <p:nvPr/>
        </p:nvSpPr>
        <p:spPr>
          <a:xfrm>
            <a:off x="6553200" y="2311400"/>
            <a:ext cx="46482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500" b="1">
                <a:solidFill>
                  <a:srgbClr val="0F172A"/>
                </a:solidFill>
                <a:latin typeface="微软雅黑"/>
                <a:ea typeface="微软雅黑"/>
              </a:rPr>
              <a:t>失败自动修正</a:t>
            </a:r>
            <a:endParaRPr lang="zh-CN" sz="15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142" name=""/>
          <p:cNvSpPr/>
          <p:nvPr/>
        </p:nvSpPr>
        <p:spPr>
          <a:xfrm>
            <a:off x="6553200" y="2717800"/>
            <a:ext cx="4648200" cy="939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READ 查询执行失败时，把真实报错回传 LLM 自动修正并重试；鉴权失败等非 SQL 错误不重试，避免无效循环。</a:t>
            </a:r>
            <a:endParaRPr/>
          </a:p>
        </p:txBody>
      </p:sp>
      <p:sp>
        <p:nvSpPr>
          <p:cNvPr id="143" name=""/>
          <p:cNvSpPr/>
          <p:nvPr/>
        </p:nvSpPr>
        <p:spPr>
          <a:xfrm>
            <a:off x="990600" y="4470400"/>
            <a:ext cx="46482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500" b="1">
                <a:solidFill>
                  <a:srgbClr val="0F172A"/>
                </a:solidFill>
                <a:latin typeface="微软雅黑"/>
                <a:ea typeface="微软雅黑"/>
              </a:rPr>
              <a:t>历史 SQL few-shot</a:t>
            </a:r>
            <a:endParaRPr lang="zh-CN" sz="15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144" name=""/>
          <p:cNvSpPr/>
          <p:nvPr/>
        </p:nvSpPr>
        <p:spPr>
          <a:xfrm>
            <a:off x="990600" y="4876800"/>
            <a:ext cx="4648200" cy="939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每轮对话注入历史执行成功的 SQL 作为示例，按提问相似度、表名重合度与执行频次加权排序后取前 3 条。</a:t>
            </a:r>
            <a:endParaRPr/>
          </a:p>
        </p:txBody>
      </p:sp>
      <p:sp>
        <p:nvSpPr>
          <p:cNvPr id="145" name=""/>
          <p:cNvSpPr/>
          <p:nvPr/>
        </p:nvSpPr>
        <p:spPr>
          <a:xfrm>
            <a:off x="6553200" y="4470400"/>
            <a:ext cx="46482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500" b="1">
                <a:solidFill>
                  <a:srgbClr val="0F172A"/>
                </a:solidFill>
                <a:latin typeface="微软雅黑"/>
                <a:ea typeface="微软雅黑"/>
              </a:rPr>
              <a:t>多轮会话 + 流式透明</a:t>
            </a:r>
            <a:endParaRPr lang="zh-CN" sz="15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146" name=""/>
          <p:cNvSpPr/>
          <p:nvPr/>
        </p:nvSpPr>
        <p:spPr>
          <a:xfrm>
            <a:off x="6553200" y="4876800"/>
            <a:ext cx="4648200" cy="939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上下文连续，可追问、可改条件；SSE 流式输出 thought → tool → sql → result，前端逐段渲染，过程完全透明。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16="http://schemas.microsoft.com/office/drawing/2014/main" xmlns:p="http://schemas.openxmlformats.org/presentationml/2006/main" xmlns:a="http://schemas.openxmlformats.org/drawingml/2006/main" xmlns:mc="http://schemas.openxmlformats.org/markup-compatibility/2006" mc:Ignorable="a16">
  <p:cSld>
    <p:spTree>
      <p:nvGrpSpPr>
        <p:cNvPr id="1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8" name="表格 14"/>
          <p:cNvGraphicFramePr/>
          <p:nvPr/>
        </p:nvGraphicFramePr>
        <p:xfrm>
          <a:off x="685800" y="2489200"/>
          <a:ext cx="10820400" cy="2857500"/>
        </p:xfrm>
        <a:graphic>
          <a:graphicData uri="http://schemas.openxmlformats.org/drawingml/2006/table">
            <a:tbl>
              <a:tblPr firstRow="1" bandRow="1"/>
              <a:tblGrid>
                <a:gridCol w="3606800">
                  <a:extLst>
                    <a:ext uri="{9D8B030D-6E8A-4147-A177-3AD203B41FA5}">
                      <a16:colId val="1"/>
                    </a:ext>
                  </a:extLst>
                </a:gridCol>
                <a:gridCol w="3606800">
                  <a:extLst>
                    <a:ext uri="{9D8B030D-6E8A-4147-A177-3AD203B41FA5}">
                      <a16:colId val="2"/>
                    </a:ext>
                  </a:extLst>
                </a:gridCol>
                <a:gridCol w="3606800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操作类型</a:t>
                      </a:r>
                      <a:endParaRPr sz="12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66675" marB="66675" anchor="ctr">
                    <a:solidFill>
                      <a:srgbClr val="0B18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授权方式</a:t>
                      </a:r>
                      <a:endParaRPr sz="12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66675" marB="66675" anchor="ctr">
                    <a:solidFill>
                      <a:srgbClr val="0B18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执行说明</a:t>
                      </a:r>
                      <a:endParaRPr sz="12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66675" marB="66675" anchor="ctr">
                    <a:solidFill>
                      <a:srgbClr val="0B1830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SELECT / SHOW / DESC / EXPLAIN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自动执行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只读查询直接返回结果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extLst>
                  <a:ext uri="{0D108BD9-81ED-4DB2-BD59-A6C34878D82A}">
                    <a16:rowId val="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INSERT / UPDATE / DELETE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手动确认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返回影响预览与 execution_id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extLst>
                  <a:ext uri="{0D108BD9-81ED-4DB2-BD59-A6C34878D82A}">
                    <a16:rowId val="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CREATE / ALTER / DROP / TRUNCATE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高危确认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红色警告并展示完整 DDL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extLst>
                  <a:ext uri="{0D108BD9-81ED-4DB2-BD59-A6C34878D82A}">
                    <a16:rowId val="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多条混合 SQL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逐条确认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按 SQL 类型分别处理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149" name="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50" name="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151" name=""/>
          <p:cNvSpPr/>
          <p:nvPr/>
        </p:nvSpPr>
        <p:spPr>
          <a:xfrm>
            <a:off x="685800" y="5588000"/>
            <a:ext cx="10820400" cy="533400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txBody>
          <a:bodyPr/>
          <a:p/>
        </p:txBody>
      </p:sp>
      <p:sp>
        <p:nvSpPr>
          <p:cNvPr id="152" name="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400" b="1">
                <a:solidFill>
                  <a:srgbClr val="0F172A"/>
                </a:solidFill>
                <a:latin typeface="微软雅黑"/>
                <a:ea typeface="微软雅黑"/>
              </a:rPr>
              <a:t>SQL 分级鉴权</a:t>
            </a:r>
            <a:endParaRPr lang="zh-CN" sz="24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153" name=""/>
          <p:cNvSpPr/>
          <p:nvPr/>
        </p:nvSpPr>
        <p:spPr>
          <a:xfrm>
            <a:off x="685800" y="1193800"/>
            <a:ext cx="108204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475569"/>
                </a:solidFill>
                <a:latin typeface="微软雅黑"/>
                <a:ea typeface="微软雅黑"/>
              </a:rPr>
              <a:t>按 SQL 类型分级鉴权：READ 自动执行、DML 需确认、DDL 高危二次确认。</a:t>
            </a:r>
            <a:endParaRPr/>
          </a:p>
        </p:txBody>
      </p:sp>
      <p:sp>
        <p:nvSpPr>
          <p:cNvPr id="154" name="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DataMind · 数据库 Agent Web 应用</a:t>
            </a:r>
            <a:endParaRPr/>
          </a:p>
        </p:txBody>
      </p:sp>
      <p:sp>
        <p:nvSpPr>
          <p:cNvPr id="155" name="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17</a:t>
            </a:r>
            <a:endParaRPr/>
          </a:p>
        </p:txBody>
      </p:sp>
      <p:sp>
        <p:nvSpPr>
          <p:cNvPr id="156" name=""/>
          <p:cNvSpPr/>
          <p:nvPr/>
        </p:nvSpPr>
        <p:spPr>
          <a:xfrm>
            <a:off x="914400" y="5715000"/>
            <a:ext cx="103632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0A47C2"/>
                </a:solidFill>
                <a:latin typeface="微软雅黑"/>
                <a:ea typeface="微软雅黑"/>
              </a:rPr>
              <a:t>所有 SQL 强制走服务层，不允许绕过鉴权直接调用适配器；确认时再次鉴权并写入审计。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59" name="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160" name=""/>
          <p:cNvSpPr/>
          <p:nvPr/>
        </p:nvSpPr>
        <p:spPr>
          <a:xfrm rot="0" flipH="0" flipV="0">
            <a:off x="1640500" y="1879600"/>
            <a:ext cx="3429000" cy="3810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161" name=""/>
          <p:cNvSpPr/>
          <p:nvPr/>
        </p:nvSpPr>
        <p:spPr>
          <a:xfrm rot="0" flipH="0" flipV="0">
            <a:off x="1919900" y="2159000"/>
            <a:ext cx="3556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62" name=""/>
          <p:cNvSpPr/>
          <p:nvPr/>
        </p:nvSpPr>
        <p:spPr>
          <a:xfrm rot="0" flipH="0" flipV="0">
            <a:off x="1945300" y="30353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63" name=""/>
          <p:cNvSpPr/>
          <p:nvPr/>
        </p:nvSpPr>
        <p:spPr>
          <a:xfrm rot="0" flipH="0" flipV="0">
            <a:off x="1945300" y="38227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64" name=""/>
          <p:cNvSpPr/>
          <p:nvPr/>
        </p:nvSpPr>
        <p:spPr>
          <a:xfrm rot="0" flipH="0" flipV="0">
            <a:off x="1945300" y="46101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65" name=""/>
          <p:cNvSpPr/>
          <p:nvPr/>
        </p:nvSpPr>
        <p:spPr>
          <a:xfrm rot="0" flipH="0" flipV="0">
            <a:off x="1945300" y="53975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66" name=""/>
          <p:cNvSpPr/>
          <p:nvPr/>
        </p:nvSpPr>
        <p:spPr>
          <a:xfrm rot="0" flipH="0" flipV="0">
            <a:off x="6843100" y="1879600"/>
            <a:ext cx="3429000" cy="3810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167" name=""/>
          <p:cNvSpPr/>
          <p:nvPr/>
        </p:nvSpPr>
        <p:spPr>
          <a:xfrm rot="0" flipH="0" flipV="0">
            <a:off x="7122500" y="2159000"/>
            <a:ext cx="3556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68" name=""/>
          <p:cNvSpPr/>
          <p:nvPr/>
        </p:nvSpPr>
        <p:spPr>
          <a:xfrm rot="0" flipH="0" flipV="0">
            <a:off x="7147900" y="30353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69" name=""/>
          <p:cNvSpPr/>
          <p:nvPr/>
        </p:nvSpPr>
        <p:spPr>
          <a:xfrm rot="0" flipH="0" flipV="0">
            <a:off x="7147900" y="38227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70" name=""/>
          <p:cNvSpPr/>
          <p:nvPr/>
        </p:nvSpPr>
        <p:spPr>
          <a:xfrm rot="0" flipH="0" flipV="0">
            <a:off x="7147900" y="46101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71" name="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400" b="1">
                <a:solidFill>
                  <a:srgbClr val="0F172A"/>
                </a:solidFill>
                <a:latin typeface="微软雅黑"/>
                <a:ea typeface="微软雅黑"/>
              </a:rPr>
              <a:t>审计与监控</a:t>
            </a:r>
            <a:endParaRPr lang="zh-CN" sz="24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172" name=""/>
          <p:cNvSpPr/>
          <p:nvPr/>
        </p:nvSpPr>
        <p:spPr>
          <a:xfrm>
            <a:off x="685800" y="1193800"/>
            <a:ext cx="108204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475569"/>
                </a:solidFill>
                <a:latin typeface="微软雅黑"/>
                <a:ea typeface="微软雅黑"/>
              </a:rPr>
              <a:t>让每一次操作都可追溯、可观察。</a:t>
            </a:r>
            <a:endParaRPr/>
          </a:p>
        </p:txBody>
      </p:sp>
      <p:sp>
        <p:nvSpPr>
          <p:cNvPr id="173" name="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DataMind · 数据库 Agent Web 应用</a:t>
            </a:r>
            <a:endParaRPr/>
          </a:p>
        </p:txBody>
      </p:sp>
      <p:sp>
        <p:nvSpPr>
          <p:cNvPr id="174" name="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18</a:t>
            </a:r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1919900" y="2362200"/>
            <a:ext cx="28702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600" b="1">
                <a:solidFill>
                  <a:srgbClr val="0F172A"/>
                </a:solidFill>
                <a:latin typeface="微软雅黑"/>
                <a:ea typeface="微软雅黑"/>
              </a:rPr>
              <a:t>审计日志</a:t>
            </a:r>
            <a:endParaRPr lang="zh-CN" sz="16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176" name=""/>
          <p:cNvSpPr/>
          <p:nvPr/>
        </p:nvSpPr>
        <p:spPr>
          <a:xfrm rot="0" flipH="0" flipV="0">
            <a:off x="2110400" y="2946400"/>
            <a:ext cx="29591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登录、SQL 执行、Agent 动作全量留痕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2110400" y="3733800"/>
            <a:ext cx="29591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操作类型、SQL 文本、状态可追溯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2110400" y="4521200"/>
            <a:ext cx="29591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支持导出 CSV / XLSX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2110400" y="5308600"/>
            <a:ext cx="29591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按保留期自动清理（默认 180 天）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7122500" y="2362200"/>
            <a:ext cx="28702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600" b="1">
                <a:solidFill>
                  <a:srgbClr val="0F172A">
                    <a:alpha val="100000"/>
                  </a:srgbClr>
                </a:solidFill>
                <a:latin typeface="微软雅黑"/>
                <a:ea typeface="微软雅黑"/>
                <a:cs typeface="+mn-cs"/>
              </a:rPr>
              <a:t>监控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7313000" y="2946400"/>
            <a:ext cx="29591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>
                    <a:alpha val="100000"/>
                  </a:srgbClr>
                </a:solidFill>
                <a:latin typeface="微软雅黑"/>
                <a:ea typeface="微软雅黑"/>
                <a:cs typeface="+mn-cs"/>
              </a:rPr>
              <a:t>按耗时阈值统计查询慢 SQL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7313000" y="3733800"/>
            <a:ext cx="29591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连接概览：查询量 / 耗时 / 成功率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7313000" y="4521200"/>
            <a:ext cx="29591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>
                    <a:alpha val="100000"/>
                  </a:srgbClr>
                </a:solidFill>
                <a:latin typeface="微软雅黑"/>
                <a:ea typeface="微软雅黑"/>
                <a:cs typeface="+mn-cs"/>
              </a:rPr>
              <a:t>多环境表结构差异对比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96" name="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197" name=""/>
          <p:cNvSpPr/>
          <p:nvPr/>
        </p:nvSpPr>
        <p:spPr>
          <a:xfrm>
            <a:off x="685800" y="1905000"/>
            <a:ext cx="3429000" cy="3530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198" name=""/>
          <p:cNvSpPr/>
          <p:nvPr/>
        </p:nvSpPr>
        <p:spPr>
          <a:xfrm>
            <a:off x="965200" y="2184400"/>
            <a:ext cx="3556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99" name=""/>
          <p:cNvSpPr/>
          <p:nvPr/>
        </p:nvSpPr>
        <p:spPr>
          <a:xfrm>
            <a:off x="990600" y="30607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00" name=""/>
          <p:cNvSpPr/>
          <p:nvPr/>
        </p:nvSpPr>
        <p:spPr>
          <a:xfrm>
            <a:off x="990600" y="38481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01" name=""/>
          <p:cNvSpPr/>
          <p:nvPr/>
        </p:nvSpPr>
        <p:spPr>
          <a:xfrm>
            <a:off x="990600" y="46355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02" name=""/>
          <p:cNvSpPr/>
          <p:nvPr/>
        </p:nvSpPr>
        <p:spPr>
          <a:xfrm>
            <a:off x="4381500" y="1905000"/>
            <a:ext cx="3429000" cy="3530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203" name=""/>
          <p:cNvSpPr/>
          <p:nvPr/>
        </p:nvSpPr>
        <p:spPr>
          <a:xfrm>
            <a:off x="4660900" y="2184400"/>
            <a:ext cx="3556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04" name=""/>
          <p:cNvSpPr/>
          <p:nvPr/>
        </p:nvSpPr>
        <p:spPr>
          <a:xfrm>
            <a:off x="4686300" y="30607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05" name=""/>
          <p:cNvSpPr/>
          <p:nvPr/>
        </p:nvSpPr>
        <p:spPr>
          <a:xfrm>
            <a:off x="4686300" y="38481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06" name=""/>
          <p:cNvSpPr/>
          <p:nvPr/>
        </p:nvSpPr>
        <p:spPr>
          <a:xfrm>
            <a:off x="4686300" y="46355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07" name=""/>
          <p:cNvSpPr/>
          <p:nvPr/>
        </p:nvSpPr>
        <p:spPr>
          <a:xfrm>
            <a:off x="8077200" y="1905000"/>
            <a:ext cx="3429000" cy="3530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208" name=""/>
          <p:cNvSpPr/>
          <p:nvPr/>
        </p:nvSpPr>
        <p:spPr>
          <a:xfrm>
            <a:off x="8356600" y="2184400"/>
            <a:ext cx="3556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09" name=""/>
          <p:cNvSpPr/>
          <p:nvPr/>
        </p:nvSpPr>
        <p:spPr>
          <a:xfrm>
            <a:off x="8382000" y="30607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10" name=""/>
          <p:cNvSpPr/>
          <p:nvPr/>
        </p:nvSpPr>
        <p:spPr>
          <a:xfrm>
            <a:off x="8382000" y="38481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11" name=""/>
          <p:cNvSpPr/>
          <p:nvPr/>
        </p:nvSpPr>
        <p:spPr>
          <a:xfrm>
            <a:off x="8382000" y="46355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12" name=""/>
          <p:cNvSpPr/>
          <p:nvPr/>
        </p:nvSpPr>
        <p:spPr>
          <a:xfrm>
            <a:off x="685800" y="5613400"/>
            <a:ext cx="10820400" cy="508000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txBody>
          <a:bodyPr/>
          <a:p/>
        </p:txBody>
      </p:sp>
      <p:sp>
        <p:nvSpPr>
          <p:cNvPr id="213" name="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400" b="1">
                <a:solidFill>
                  <a:srgbClr val="0F172A"/>
                </a:solidFill>
                <a:latin typeface="微软雅黑"/>
                <a:ea typeface="微软雅黑"/>
              </a:rPr>
              <a:t>工程化与安全</a:t>
            </a:r>
            <a:endParaRPr lang="zh-CN" sz="24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214" name=""/>
          <p:cNvSpPr/>
          <p:nvPr/>
        </p:nvSpPr>
        <p:spPr>
          <a:xfrm>
            <a:off x="685800" y="1193800"/>
            <a:ext cx="108204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475569"/>
                </a:solidFill>
                <a:latin typeface="微软雅黑"/>
                <a:ea typeface="微软雅黑"/>
              </a:rPr>
              <a:t>安全围栏、统一规范与自动化测试，保证工程质量可靠。</a:t>
            </a:r>
            <a:endParaRPr/>
          </a:p>
        </p:txBody>
      </p:sp>
      <p:sp>
        <p:nvSpPr>
          <p:cNvPr id="215" name="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DataMind · 数据库 Agent Web 应用</a:t>
            </a:r>
            <a:endParaRPr/>
          </a:p>
        </p:txBody>
      </p:sp>
      <p:sp>
        <p:nvSpPr>
          <p:cNvPr id="216" name="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19</a:t>
            </a:r>
            <a:endParaRPr/>
          </a:p>
        </p:txBody>
      </p:sp>
      <p:sp>
        <p:nvSpPr>
          <p:cNvPr id="217" name=""/>
          <p:cNvSpPr/>
          <p:nvPr/>
        </p:nvSpPr>
        <p:spPr>
          <a:xfrm>
            <a:off x="965200" y="2387600"/>
            <a:ext cx="28702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600" b="1">
                <a:solidFill>
                  <a:srgbClr val="0F172A"/>
                </a:solidFill>
                <a:latin typeface="微软雅黑"/>
                <a:ea typeface="微软雅黑"/>
              </a:rPr>
              <a:t>安全围栏</a:t>
            </a:r>
            <a:endParaRPr lang="zh-CN" sz="16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218" name=""/>
          <p:cNvSpPr/>
          <p:nvPr/>
        </p:nvSpPr>
        <p:spPr>
          <a:xfrm>
            <a:off x="1155700" y="2971800"/>
            <a:ext cx="29591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Fernet 加密数据库密码、SSH 私钥与 AI Key</a:t>
            </a:r>
            <a:endParaRPr/>
          </a:p>
        </p:txBody>
      </p:sp>
      <p:sp>
        <p:nvSpPr>
          <p:cNvPr id="219" name=""/>
          <p:cNvSpPr/>
          <p:nvPr/>
        </p:nvSpPr>
        <p:spPr>
          <a:xfrm>
            <a:off x="1155700" y="3759200"/>
            <a:ext cx="29591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对外只暴露 has_* 布尔值，不回传明文</a:t>
            </a:r>
            <a:endParaRPr/>
          </a:p>
        </p:txBody>
      </p:sp>
      <p:sp>
        <p:nvSpPr>
          <p:cNvPr id="220" name=""/>
          <p:cNvSpPr/>
          <p:nvPr/>
        </p:nvSpPr>
        <p:spPr>
          <a:xfrm>
            <a:off x="1155700" y="4546600"/>
            <a:ext cx="29591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pbkdf2 密码哈希 + Cookie Session（24h）</a:t>
            </a:r>
            <a:endParaRPr/>
          </a:p>
        </p:txBody>
      </p:sp>
      <p:sp>
        <p:nvSpPr>
          <p:cNvPr id="221" name=""/>
          <p:cNvSpPr/>
          <p:nvPr/>
        </p:nvSpPr>
        <p:spPr>
          <a:xfrm>
            <a:off x="4660900" y="2387600"/>
            <a:ext cx="28702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600" b="1">
                <a:solidFill>
                  <a:srgbClr val="0F172A"/>
                </a:solidFill>
                <a:latin typeface="微软雅黑"/>
                <a:ea typeface="微软雅黑"/>
              </a:rPr>
              <a:t>工程规范</a:t>
            </a:r>
            <a:endParaRPr lang="zh-CN" sz="16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222" name=""/>
          <p:cNvSpPr/>
          <p:nvPr/>
        </p:nvSpPr>
        <p:spPr>
          <a:xfrm>
            <a:off x="4851400" y="2971800"/>
            <a:ext cx="29591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统一响应 {code, message, data}</a:t>
            </a:r>
            <a:endParaRPr/>
          </a:p>
        </p:txBody>
      </p:sp>
      <p:sp>
        <p:nvSpPr>
          <p:cNvPr id="223" name=""/>
          <p:cNvSpPr/>
          <p:nvPr/>
        </p:nvSpPr>
        <p:spPr>
          <a:xfrm>
            <a:off x="4851400" y="3759200"/>
            <a:ext cx="29591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统一异常处理与请求校验</a:t>
            </a:r>
            <a:endParaRPr/>
          </a:p>
        </p:txBody>
      </p:sp>
      <p:sp>
        <p:nvSpPr>
          <p:cNvPr id="224" name=""/>
          <p:cNvSpPr/>
          <p:nvPr/>
        </p:nvSpPr>
        <p:spPr>
          <a:xfrm>
            <a:off x="4851400" y="4546600"/>
            <a:ext cx="29591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数据文件相对 data/ 存储，迁移免改配置</a:t>
            </a:r>
            <a:endParaRPr/>
          </a:p>
        </p:txBody>
      </p:sp>
      <p:sp>
        <p:nvSpPr>
          <p:cNvPr id="225" name=""/>
          <p:cNvSpPr/>
          <p:nvPr/>
        </p:nvSpPr>
        <p:spPr>
          <a:xfrm>
            <a:off x="8356600" y="2387600"/>
            <a:ext cx="28702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600" b="1">
                <a:solidFill>
                  <a:srgbClr val="0F172A"/>
                </a:solidFill>
                <a:latin typeface="微软雅黑"/>
                <a:ea typeface="微软雅黑"/>
              </a:rPr>
              <a:t>质量保障</a:t>
            </a:r>
            <a:endParaRPr lang="zh-CN" sz="16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226" name=""/>
          <p:cNvSpPr/>
          <p:nvPr/>
        </p:nvSpPr>
        <p:spPr>
          <a:xfrm>
            <a:off x="8547100" y="2971800"/>
            <a:ext cx="29591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167 个后端自动化用例</a:t>
            </a:r>
            <a:endParaRPr/>
          </a:p>
        </p:txBody>
      </p:sp>
      <p:sp>
        <p:nvSpPr>
          <p:cNvPr id="227" name=""/>
          <p:cNvSpPr/>
          <p:nvPr/>
        </p:nvSpPr>
        <p:spPr>
          <a:xfrm>
            <a:off x="8547100" y="3759200"/>
            <a:ext cx="29591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19 个前端 E2E 断言</a:t>
            </a:r>
            <a:endParaRPr/>
          </a:p>
        </p:txBody>
      </p:sp>
      <p:sp>
        <p:nvSpPr>
          <p:cNvPr id="228" name=""/>
          <p:cNvSpPr/>
          <p:nvPr/>
        </p:nvSpPr>
        <p:spPr>
          <a:xfrm>
            <a:off x="8547100" y="4546600"/>
            <a:ext cx="29591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19 个 AI 查询验收案例</a:t>
            </a:r>
            <a:endParaRPr/>
          </a:p>
        </p:txBody>
      </p:sp>
      <p:sp>
        <p:nvSpPr>
          <p:cNvPr id="229" name=""/>
          <p:cNvSpPr/>
          <p:nvPr/>
        </p:nvSpPr>
        <p:spPr>
          <a:xfrm>
            <a:off x="914400" y="5740400"/>
            <a:ext cx="103632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0A47C2"/>
                </a:solidFill>
                <a:latin typeface="微软雅黑"/>
                <a:ea typeface="微软雅黑"/>
              </a:rPr>
              <a:t>测试覆盖：用户与角色、连接池、SQL 执行、Agent、监控、元数据与导出、大模型连通性。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0B1830"/>
        </a:solidFill>
      </p:bgPr>
    </p:bg>
    <p:spTree>
      <p:nvGrpSpPr>
        <p:cNvPr id="2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"/>
          <p:cNvSpPr/>
          <p:nvPr/>
        </p:nvSpPr>
        <p:spPr>
          <a:xfrm>
            <a:off x="8890000" y="3810000"/>
            <a:ext cx="4318000" cy="4318000"/>
          </a:xfrm>
          <a:prstGeom prst="ellipse">
            <a:avLst/>
          </a:prstGeom>
          <a:solidFill>
            <a:srgbClr val="0B5FFF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2" name=""/>
          <p:cNvSpPr/>
          <p:nvPr/>
        </p:nvSpPr>
        <p:spPr>
          <a:xfrm>
            <a:off x="711200" y="3505200"/>
            <a:ext cx="5588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33" name="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/>
          <a:p/>
        </p:txBody>
      </p:sp>
      <p:sp>
        <p:nvSpPr>
          <p:cNvPr id="234" name=""/>
          <p:cNvSpPr/>
          <p:nvPr/>
        </p:nvSpPr>
        <p:spPr>
          <a:xfrm>
            <a:off x="685800" y="2108200"/>
            <a:ext cx="4064000" cy="1422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7600" b="1">
                <a:solidFill>
                  <a:srgbClr val="1E4A8F"/>
                </a:solidFill>
                <a:latin typeface="微软雅黑"/>
                <a:ea typeface="微软雅黑"/>
              </a:rPr>
              <a:t>04</a:t>
            </a:r>
            <a:endParaRPr lang="zh-CN" sz="7600" b="1">
              <a:solidFill>
                <a:srgbClr val="1E4A8F"/>
              </a:solidFill>
              <a:latin typeface="微软雅黑"/>
              <a:ea typeface="微软雅黑"/>
            </a:endParaRPr>
          </a:p>
        </p:txBody>
      </p:sp>
      <p:sp>
        <p:nvSpPr>
          <p:cNvPr id="235" name=""/>
          <p:cNvSpPr/>
          <p:nvPr/>
        </p:nvSpPr>
        <p:spPr>
          <a:xfrm>
            <a:off x="685800" y="37084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3200" b="1">
                <a:solidFill>
                  <a:srgbClr val="FFFFFF"/>
                </a:solidFill>
                <a:latin typeface="微软雅黑"/>
                <a:ea typeface="微软雅黑"/>
              </a:rPr>
              <a:t>推广价值</a:t>
            </a:r>
            <a:endParaRPr lang="zh-CN" sz="32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236" name=""/>
          <p:cNvSpPr/>
          <p:nvPr/>
        </p:nvSpPr>
        <p:spPr>
          <a:xfrm>
            <a:off x="711200" y="4419600"/>
            <a:ext cx="91440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300">
                <a:solidFill>
                  <a:srgbClr val="A9BDD6"/>
                </a:solidFill>
                <a:latin typeface="微软雅黑"/>
                <a:ea typeface="微软雅黑"/>
              </a:rPr>
              <a:t>多数据源与大模型支持 · 多场景适用</a:t>
            </a:r>
            <a:endParaRPr/>
          </a:p>
        </p:txBody>
      </p:sp>
      <p:sp>
        <p:nvSpPr>
          <p:cNvPr id="237" name="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6E88A8"/>
                </a:solidFill>
                <a:latin typeface="微软雅黑"/>
                <a:ea typeface="微软雅黑"/>
              </a:rPr>
              <a:t>DataMind · 数据库 Agent Web 应用</a:t>
            </a:r>
            <a:endParaRPr/>
          </a:p>
        </p:txBody>
      </p:sp>
      <p:sp>
        <p:nvSpPr>
          <p:cNvPr id="238" name="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6E88A8"/>
                </a:solidFill>
                <a:latin typeface="微软雅黑"/>
                <a:ea typeface="微软雅黑"/>
              </a:rPr>
              <a:t>20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2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41" name="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242" name=""/>
          <p:cNvSpPr/>
          <p:nvPr/>
        </p:nvSpPr>
        <p:spPr>
          <a:xfrm>
            <a:off x="685800" y="1905000"/>
            <a:ext cx="5257800" cy="2895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243" name=""/>
          <p:cNvSpPr/>
          <p:nvPr/>
        </p:nvSpPr>
        <p:spPr>
          <a:xfrm>
            <a:off x="990600" y="2209800"/>
            <a:ext cx="304800" cy="381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44" name=""/>
          <p:cNvSpPr/>
          <p:nvPr/>
        </p:nvSpPr>
        <p:spPr>
          <a:xfrm>
            <a:off x="6248400" y="1905000"/>
            <a:ext cx="5257800" cy="2895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245" name=""/>
          <p:cNvSpPr/>
          <p:nvPr/>
        </p:nvSpPr>
        <p:spPr>
          <a:xfrm>
            <a:off x="6553200" y="2209800"/>
            <a:ext cx="304800" cy="381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46" name="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400" b="1">
                <a:solidFill>
                  <a:srgbClr val="0F172A"/>
                </a:solidFill>
                <a:latin typeface="微软雅黑"/>
                <a:ea typeface="微软雅黑"/>
              </a:rPr>
              <a:t>多数据源与大模型支持</a:t>
            </a:r>
            <a:endParaRPr lang="zh-CN" sz="24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247" name=""/>
          <p:cNvSpPr/>
          <p:nvPr/>
        </p:nvSpPr>
        <p:spPr>
          <a:xfrm>
            <a:off x="685800" y="1193800"/>
            <a:ext cx="108204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475569"/>
                </a:solidFill>
                <a:latin typeface="微软雅黑"/>
                <a:ea typeface="微软雅黑"/>
              </a:rPr>
              <a:t>模型与数据源接入配置简单快捷，开箱即用。</a:t>
            </a:r>
            <a:endParaRPr/>
          </a:p>
        </p:txBody>
      </p:sp>
      <p:sp>
        <p:nvSpPr>
          <p:cNvPr id="248" name="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DataMind · 数据库 Agent Web 应用</a:t>
            </a:r>
            <a:endParaRPr/>
          </a:p>
        </p:txBody>
      </p:sp>
      <p:sp>
        <p:nvSpPr>
          <p:cNvPr id="249" name="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21</a:t>
            </a:r>
            <a:endParaRPr/>
          </a:p>
        </p:txBody>
      </p:sp>
      <p:sp>
        <p:nvSpPr>
          <p:cNvPr id="250" name=""/>
          <p:cNvSpPr/>
          <p:nvPr/>
        </p:nvSpPr>
        <p:spPr>
          <a:xfrm>
            <a:off x="990600" y="2387600"/>
            <a:ext cx="46482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600" b="1">
                <a:solidFill>
                  <a:srgbClr val="0F172A"/>
                </a:solidFill>
                <a:latin typeface="微软雅黑"/>
                <a:ea typeface="微软雅黑"/>
              </a:rPr>
              <a:t>大模型接入</a:t>
            </a:r>
            <a:endParaRPr lang="zh-CN" sz="16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251" name=""/>
          <p:cNvSpPr/>
          <p:nvPr/>
        </p:nvSpPr>
        <p:spPr>
          <a:xfrm>
            <a:off x="990600" y="2870200"/>
            <a:ext cx="4648200" cy="165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OpenAI 官方与兼容网关、Claude、Ollama 统一抽象，chat / stream / ping 一套接口；支持一键测试连通性，缺失 Key 时快速失败。</a:t>
            </a:r>
            <a:endParaRPr/>
          </a:p>
        </p:txBody>
      </p:sp>
      <p:sp>
        <p:nvSpPr>
          <p:cNvPr id="252" name=""/>
          <p:cNvSpPr/>
          <p:nvPr/>
        </p:nvSpPr>
        <p:spPr>
          <a:xfrm>
            <a:off x="6553200" y="2387600"/>
            <a:ext cx="46482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600" b="1">
                <a:solidFill>
                  <a:srgbClr val="0F172A"/>
                </a:solidFill>
                <a:latin typeface="微软雅黑"/>
                <a:ea typeface="微软雅黑"/>
              </a:rPr>
              <a:t>数据源接入</a:t>
            </a:r>
            <a:endParaRPr lang="zh-CN" sz="16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253" name=""/>
          <p:cNvSpPr/>
          <p:nvPr/>
        </p:nvSpPr>
        <p:spPr>
          <a:xfrm>
            <a:off x="6553200" y="2870200"/>
            <a:ext cx="4648200" cy="165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475569"/>
                </a:solidFill>
                <a:latin typeface="微软雅黑"/>
                <a:ea typeface="微软雅黑"/>
              </a:rPr>
              <a:t>SQLite、MySQL、PostgreSQL、Oracle、MongoDB、OceanBase、GoldenDB，统一适配层屏蔽方言差异。</a:t>
            </a:r>
            <a:endParaRPr/>
          </a:p>
        </p:txBody>
      </p:sp>
      <p:sp>
        <p:nvSpPr>
          <p:cNvPr id="254" name=""/>
          <p:cNvSpPr/>
          <p:nvPr/>
        </p:nvSpPr>
        <p:spPr>
          <a:xfrm>
            <a:off x="685800" y="5105400"/>
            <a:ext cx="108204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94A3B8"/>
                </a:solidFill>
                <a:latin typeface="微软雅黑"/>
                <a:ea typeface="微软雅黑"/>
              </a:rPr>
              <a:t>新增数据源只需实现适配器接口，注册后即可在连接管理中直接使用。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2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57" name="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258" name=""/>
          <p:cNvSpPr/>
          <p:nvPr/>
        </p:nvSpPr>
        <p:spPr>
          <a:xfrm>
            <a:off x="685800" y="1955800"/>
            <a:ext cx="10820400" cy="11684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259" name=""/>
          <p:cNvSpPr/>
          <p:nvPr/>
        </p:nvSpPr>
        <p:spPr>
          <a:xfrm>
            <a:off x="3403600" y="2235200"/>
            <a:ext cx="12700" cy="60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260" name=""/>
          <p:cNvSpPr/>
          <p:nvPr/>
        </p:nvSpPr>
        <p:spPr>
          <a:xfrm>
            <a:off x="7467600" y="2235200"/>
            <a:ext cx="12700" cy="60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261" name=""/>
          <p:cNvSpPr/>
          <p:nvPr/>
        </p:nvSpPr>
        <p:spPr>
          <a:xfrm>
            <a:off x="685800" y="3302000"/>
            <a:ext cx="10820400" cy="11684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262" name=""/>
          <p:cNvSpPr/>
          <p:nvPr/>
        </p:nvSpPr>
        <p:spPr>
          <a:xfrm>
            <a:off x="3403600" y="3581400"/>
            <a:ext cx="12700" cy="60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263" name=""/>
          <p:cNvSpPr/>
          <p:nvPr/>
        </p:nvSpPr>
        <p:spPr>
          <a:xfrm>
            <a:off x="7467600" y="3581400"/>
            <a:ext cx="12700" cy="60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264" name=""/>
          <p:cNvSpPr/>
          <p:nvPr/>
        </p:nvSpPr>
        <p:spPr>
          <a:xfrm>
            <a:off x="685800" y="4648200"/>
            <a:ext cx="10820400" cy="11684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265" name=""/>
          <p:cNvSpPr/>
          <p:nvPr/>
        </p:nvSpPr>
        <p:spPr>
          <a:xfrm>
            <a:off x="3403600" y="4927600"/>
            <a:ext cx="12700" cy="60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266" name=""/>
          <p:cNvSpPr/>
          <p:nvPr/>
        </p:nvSpPr>
        <p:spPr>
          <a:xfrm>
            <a:off x="7467600" y="4927600"/>
            <a:ext cx="12700" cy="60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267" name="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400" b="1">
                <a:solidFill>
                  <a:srgbClr val="0F172A"/>
                </a:solidFill>
                <a:latin typeface="微软雅黑"/>
                <a:ea typeface="微软雅黑"/>
              </a:rPr>
              <a:t>多场景适用</a:t>
            </a:r>
            <a:endParaRPr lang="zh-CN" sz="24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268" name=""/>
          <p:cNvSpPr/>
          <p:nvPr/>
        </p:nvSpPr>
        <p:spPr>
          <a:xfrm>
            <a:off x="685800" y="1193800"/>
            <a:ext cx="108204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475569"/>
                </a:solidFill>
                <a:latin typeface="微软雅黑"/>
                <a:ea typeface="微软雅黑"/>
              </a:rPr>
              <a:t>三类角色，三种典型用法。</a:t>
            </a:r>
            <a:endParaRPr/>
          </a:p>
        </p:txBody>
      </p:sp>
      <p:sp>
        <p:nvSpPr>
          <p:cNvPr id="269" name="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DataMind · 数据库 Agent Web 应用</a:t>
            </a:r>
            <a:endParaRPr/>
          </a:p>
        </p:txBody>
      </p:sp>
      <p:sp>
        <p:nvSpPr>
          <p:cNvPr id="270" name="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22</a:t>
            </a:r>
            <a:endParaRPr/>
          </a:p>
        </p:txBody>
      </p:sp>
      <p:sp>
        <p:nvSpPr>
          <p:cNvPr id="271" name=""/>
          <p:cNvSpPr/>
          <p:nvPr/>
        </p:nvSpPr>
        <p:spPr>
          <a:xfrm>
            <a:off x="990600" y="16256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94A3B8"/>
                </a:solidFill>
                <a:latin typeface="微软雅黑"/>
                <a:ea typeface="微软雅黑"/>
              </a:rPr>
              <a:t>用户</a:t>
            </a:r>
            <a:endParaRPr/>
          </a:p>
        </p:txBody>
      </p:sp>
      <p:sp>
        <p:nvSpPr>
          <p:cNvPr id="272" name=""/>
          <p:cNvSpPr/>
          <p:nvPr/>
        </p:nvSpPr>
        <p:spPr>
          <a:xfrm>
            <a:off x="3733800" y="16256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94A3B8"/>
                </a:solidFill>
                <a:latin typeface="微软雅黑"/>
                <a:ea typeface="微软雅黑"/>
              </a:rPr>
              <a:t>核心需求</a:t>
            </a:r>
            <a:endParaRPr/>
          </a:p>
        </p:txBody>
      </p:sp>
      <p:sp>
        <p:nvSpPr>
          <p:cNvPr id="273" name=""/>
          <p:cNvSpPr/>
          <p:nvPr/>
        </p:nvSpPr>
        <p:spPr>
          <a:xfrm>
            <a:off x="7797800" y="16256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94A3B8"/>
                </a:solidFill>
                <a:latin typeface="微软雅黑"/>
                <a:ea typeface="微软雅黑"/>
              </a:rPr>
              <a:t>典型场景</a:t>
            </a:r>
            <a:endParaRPr/>
          </a:p>
        </p:txBody>
      </p:sp>
      <p:sp>
        <p:nvSpPr>
          <p:cNvPr id="274" name=""/>
          <p:cNvSpPr/>
          <p:nvPr/>
        </p:nvSpPr>
        <p:spPr>
          <a:xfrm>
            <a:off x="990600" y="2362200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 b="1">
                <a:solidFill>
                  <a:srgbClr val="0F172A"/>
                </a:solidFill>
                <a:latin typeface="微软雅黑"/>
                <a:ea typeface="微软雅黑"/>
              </a:rPr>
              <a:t>开发人员</a:t>
            </a:r>
            <a:endParaRPr lang="zh-CN" sz="14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275" name=""/>
          <p:cNvSpPr/>
          <p:nvPr/>
        </p:nvSpPr>
        <p:spPr>
          <a:xfrm>
            <a:off x="3733800" y="23876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475569"/>
                </a:solidFill>
                <a:latin typeface="微软雅黑"/>
                <a:ea typeface="微软雅黑"/>
              </a:rPr>
              <a:t>快速查数、编写与优化 SQL</a:t>
            </a:r>
            <a:endParaRPr/>
          </a:p>
        </p:txBody>
      </p:sp>
      <p:sp>
        <p:nvSpPr>
          <p:cNvPr id="276" name=""/>
          <p:cNvSpPr/>
          <p:nvPr/>
        </p:nvSpPr>
        <p:spPr>
          <a:xfrm>
            <a:off x="7797800" y="23876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475569"/>
                </a:solidFill>
                <a:latin typeface="微软雅黑"/>
                <a:ea typeface="微软雅黑"/>
              </a:rPr>
              <a:t>日常开发、SQL 验证与调优</a:t>
            </a:r>
            <a:endParaRPr/>
          </a:p>
        </p:txBody>
      </p:sp>
      <p:sp>
        <p:nvSpPr>
          <p:cNvPr id="277" name=""/>
          <p:cNvSpPr/>
          <p:nvPr/>
        </p:nvSpPr>
        <p:spPr>
          <a:xfrm>
            <a:off x="990600" y="3708400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 b="1">
                <a:solidFill>
                  <a:srgbClr val="0F172A"/>
                </a:solidFill>
                <a:latin typeface="微软雅黑"/>
                <a:ea typeface="微软雅黑"/>
              </a:rPr>
              <a:t>业务 / 产品</a:t>
            </a:r>
            <a:endParaRPr lang="zh-CN" sz="14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278" name=""/>
          <p:cNvSpPr/>
          <p:nvPr/>
        </p:nvSpPr>
        <p:spPr>
          <a:xfrm>
            <a:off x="3733800" y="37338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475569"/>
                </a:solidFill>
                <a:latin typeface="微软雅黑"/>
                <a:ea typeface="微软雅黑"/>
              </a:rPr>
              <a:t>自然语言取数、快速做报表</a:t>
            </a:r>
            <a:endParaRPr/>
          </a:p>
        </p:txBody>
      </p:sp>
      <p:sp>
        <p:nvSpPr>
          <p:cNvPr id="279" name=""/>
          <p:cNvSpPr/>
          <p:nvPr/>
        </p:nvSpPr>
        <p:spPr>
          <a:xfrm>
            <a:off x="7797800" y="37338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475569"/>
                </a:solidFill>
                <a:latin typeface="微软雅黑"/>
                <a:ea typeface="微软雅黑"/>
              </a:rPr>
              <a:t>数据分析、辅助决策、快速核对</a:t>
            </a:r>
            <a:endParaRPr/>
          </a:p>
        </p:txBody>
      </p:sp>
      <p:sp>
        <p:nvSpPr>
          <p:cNvPr id="280" name=""/>
          <p:cNvSpPr/>
          <p:nvPr/>
        </p:nvSpPr>
        <p:spPr>
          <a:xfrm>
            <a:off x="990600" y="5054600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 b="1">
                <a:solidFill>
                  <a:srgbClr val="0F172A"/>
                </a:solidFill>
                <a:latin typeface="微软雅黑"/>
                <a:ea typeface="微软雅黑"/>
              </a:rPr>
              <a:t>DBA / 运维</a:t>
            </a:r>
            <a:endParaRPr lang="zh-CN" sz="14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281" name=""/>
          <p:cNvSpPr/>
          <p:nvPr/>
        </p:nvSpPr>
        <p:spPr>
          <a:xfrm>
            <a:off x="3733800" y="50800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475569"/>
                </a:solidFill>
                <a:latin typeface="微软雅黑"/>
                <a:ea typeface="微软雅黑"/>
              </a:rPr>
              <a:t>统一入口、便于管理、全量审计</a:t>
            </a:r>
            <a:endParaRPr/>
          </a:p>
        </p:txBody>
      </p:sp>
      <p:sp>
        <p:nvSpPr>
          <p:cNvPr id="282" name=""/>
          <p:cNvSpPr/>
          <p:nvPr/>
        </p:nvSpPr>
        <p:spPr>
          <a:xfrm>
            <a:off x="7797800" y="50800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475569"/>
                </a:solidFill>
                <a:latin typeface="微软雅黑"/>
                <a:ea typeface="微软雅黑"/>
              </a:rPr>
              <a:t>生产问题定位、数据治理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2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85" name="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286" name=""/>
          <p:cNvSpPr/>
          <p:nvPr/>
        </p:nvSpPr>
        <p:spPr>
          <a:xfrm>
            <a:off x="685800" y="1955800"/>
            <a:ext cx="10820400" cy="812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287" name=""/>
          <p:cNvSpPr/>
          <p:nvPr/>
        </p:nvSpPr>
        <p:spPr>
          <a:xfrm>
            <a:off x="990600" y="2286000"/>
            <a:ext cx="38100" cy="1524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88" name=""/>
          <p:cNvSpPr/>
          <p:nvPr/>
        </p:nvSpPr>
        <p:spPr>
          <a:xfrm>
            <a:off x="685800" y="2946400"/>
            <a:ext cx="10820400" cy="812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289" name=""/>
          <p:cNvSpPr/>
          <p:nvPr/>
        </p:nvSpPr>
        <p:spPr>
          <a:xfrm>
            <a:off x="990600" y="3276600"/>
            <a:ext cx="38100" cy="1524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90" name=""/>
          <p:cNvSpPr/>
          <p:nvPr/>
        </p:nvSpPr>
        <p:spPr>
          <a:xfrm>
            <a:off x="685800" y="3937000"/>
            <a:ext cx="10820400" cy="812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291" name=""/>
          <p:cNvSpPr/>
          <p:nvPr/>
        </p:nvSpPr>
        <p:spPr>
          <a:xfrm>
            <a:off x="990600" y="4267200"/>
            <a:ext cx="38100" cy="1524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92" name=""/>
          <p:cNvSpPr/>
          <p:nvPr/>
        </p:nvSpPr>
        <p:spPr>
          <a:xfrm>
            <a:off x="685800" y="4927600"/>
            <a:ext cx="10820400" cy="812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293" name=""/>
          <p:cNvSpPr/>
          <p:nvPr/>
        </p:nvSpPr>
        <p:spPr>
          <a:xfrm>
            <a:off x="990600" y="5257800"/>
            <a:ext cx="38100" cy="1524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94" name="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400" b="1">
                <a:solidFill>
                  <a:srgbClr val="0F172A"/>
                </a:solidFill>
                <a:latin typeface="微软雅黑"/>
                <a:ea typeface="微软雅黑"/>
              </a:rPr>
              <a:t>后续计划</a:t>
            </a:r>
            <a:endParaRPr lang="zh-CN" sz="2400" b="1">
              <a:solidFill>
                <a:srgbClr val="0F172A"/>
              </a:solidFill>
              <a:latin typeface="微软雅黑"/>
              <a:ea typeface="微软雅黑"/>
            </a:endParaRPr>
          </a:p>
        </p:txBody>
      </p:sp>
      <p:sp>
        <p:nvSpPr>
          <p:cNvPr id="295" name=""/>
          <p:cNvSpPr/>
          <p:nvPr/>
        </p:nvSpPr>
        <p:spPr>
          <a:xfrm>
            <a:off x="685800" y="1193800"/>
            <a:ext cx="108204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475569"/>
                </a:solidFill>
                <a:latin typeface="微软雅黑"/>
                <a:ea typeface="微软雅黑"/>
              </a:rPr>
              <a:t>下一步演进方向。</a:t>
            </a:r>
            <a:endParaRPr/>
          </a:p>
        </p:txBody>
      </p:sp>
      <p:sp>
        <p:nvSpPr>
          <p:cNvPr id="296" name="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DataMind · 数据库 Agent Web 应用</a:t>
            </a:r>
            <a:endParaRPr/>
          </a:p>
        </p:txBody>
      </p:sp>
      <p:sp>
        <p:nvSpPr>
          <p:cNvPr id="297" name="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94A3B8"/>
                </a:solidFill>
                <a:latin typeface="微软雅黑"/>
                <a:ea typeface="微软雅黑"/>
              </a:rPr>
              <a:t>23</a:t>
            </a:r>
            <a:endParaRPr/>
          </a:p>
        </p:txBody>
      </p:sp>
      <p:sp>
        <p:nvSpPr>
          <p:cNvPr id="298" name=""/>
          <p:cNvSpPr/>
          <p:nvPr/>
        </p:nvSpPr>
        <p:spPr>
          <a:xfrm>
            <a:off x="1244600" y="2209800"/>
            <a:ext cx="7620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500" b="1">
                <a:solidFill>
                  <a:srgbClr val="0B5FFF"/>
                </a:solidFill>
                <a:latin typeface="微软雅黑"/>
                <a:ea typeface="微软雅黑"/>
              </a:rPr>
              <a:t>01</a:t>
            </a:r>
            <a:endParaRPr lang="zh-CN" sz="1500" b="1">
              <a:solidFill>
                <a:srgbClr val="0B5FFF"/>
              </a:solidFill>
              <a:latin typeface="微软雅黑"/>
              <a:ea typeface="微软雅黑"/>
            </a:endParaRPr>
          </a:p>
        </p:txBody>
      </p:sp>
      <p:sp>
        <p:nvSpPr>
          <p:cNvPr id="299" name=""/>
          <p:cNvSpPr/>
          <p:nvPr/>
        </p:nvSpPr>
        <p:spPr>
          <a:xfrm>
            <a:off x="2006600" y="2235200"/>
            <a:ext cx="91694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0F172A"/>
                </a:solidFill>
                <a:latin typeface="微软雅黑"/>
                <a:ea typeface="微软雅黑"/>
              </a:rPr>
              <a:t>补齐更多数据库对象支持（序列、触发器、存储过程等）</a:t>
            </a:r>
            <a:endParaRPr/>
          </a:p>
        </p:txBody>
      </p:sp>
      <p:sp>
        <p:nvSpPr>
          <p:cNvPr id="300" name=""/>
          <p:cNvSpPr/>
          <p:nvPr/>
        </p:nvSpPr>
        <p:spPr>
          <a:xfrm>
            <a:off x="1244600" y="3200400"/>
            <a:ext cx="7620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500" b="1">
                <a:solidFill>
                  <a:srgbClr val="0B5FFF"/>
                </a:solidFill>
                <a:latin typeface="微软雅黑"/>
                <a:ea typeface="微软雅黑"/>
              </a:rPr>
              <a:t>02</a:t>
            </a:r>
            <a:endParaRPr lang="zh-CN" sz="1500" b="1">
              <a:solidFill>
                <a:srgbClr val="0B5FFF"/>
              </a:solidFill>
              <a:latin typeface="微软雅黑"/>
              <a:ea typeface="微软雅黑"/>
            </a:endParaRPr>
          </a:p>
        </p:txBody>
      </p:sp>
      <p:sp>
        <p:nvSpPr>
          <p:cNvPr id="301" name=""/>
          <p:cNvSpPr/>
          <p:nvPr/>
        </p:nvSpPr>
        <p:spPr>
          <a:xfrm>
            <a:off x="2006600" y="3225800"/>
            <a:ext cx="91694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0F172A"/>
                </a:solidFill>
                <a:latin typeface="微软雅黑"/>
                <a:ea typeface="微软雅黑"/>
              </a:rPr>
              <a:t>扩展 Agent 工具：索引建议、慢查询根因分析</a:t>
            </a:r>
            <a:endParaRPr/>
          </a:p>
        </p:txBody>
      </p:sp>
      <p:sp>
        <p:nvSpPr>
          <p:cNvPr id="302" name=""/>
          <p:cNvSpPr/>
          <p:nvPr/>
        </p:nvSpPr>
        <p:spPr>
          <a:xfrm>
            <a:off x="1244600" y="4191000"/>
            <a:ext cx="7620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500" b="1">
                <a:solidFill>
                  <a:srgbClr val="0B5FFF"/>
                </a:solidFill>
                <a:latin typeface="微软雅黑"/>
                <a:ea typeface="微软雅黑"/>
              </a:rPr>
              <a:t>03</a:t>
            </a:r>
            <a:endParaRPr lang="zh-CN" sz="1500" b="1">
              <a:solidFill>
                <a:srgbClr val="0B5FFF"/>
              </a:solidFill>
              <a:latin typeface="微软雅黑"/>
              <a:ea typeface="微软雅黑"/>
            </a:endParaRPr>
          </a:p>
        </p:txBody>
      </p:sp>
      <p:sp>
        <p:nvSpPr>
          <p:cNvPr id="303" name=""/>
          <p:cNvSpPr/>
          <p:nvPr/>
        </p:nvSpPr>
        <p:spPr>
          <a:xfrm>
            <a:off x="2006600" y="4216400"/>
            <a:ext cx="91694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0F172A"/>
                </a:solidFill>
                <a:latin typeface="微软雅黑"/>
                <a:ea typeface="微软雅黑"/>
              </a:rPr>
              <a:t>增加团队协作与报表订阅推送</a:t>
            </a:r>
            <a:endParaRPr/>
          </a:p>
        </p:txBody>
      </p:sp>
      <p:sp>
        <p:nvSpPr>
          <p:cNvPr id="304" name=""/>
          <p:cNvSpPr/>
          <p:nvPr/>
        </p:nvSpPr>
        <p:spPr>
          <a:xfrm>
            <a:off x="1244600" y="5181600"/>
            <a:ext cx="7620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500" b="1">
                <a:solidFill>
                  <a:srgbClr val="0B5FFF"/>
                </a:solidFill>
                <a:latin typeface="微软雅黑"/>
                <a:ea typeface="微软雅黑"/>
              </a:rPr>
              <a:t>04</a:t>
            </a:r>
            <a:endParaRPr lang="zh-CN" sz="1500" b="1">
              <a:solidFill>
                <a:srgbClr val="0B5FFF"/>
              </a:solidFill>
              <a:latin typeface="微软雅黑"/>
              <a:ea typeface="微软雅黑"/>
            </a:endParaRPr>
          </a:p>
        </p:txBody>
      </p:sp>
      <p:sp>
        <p:nvSpPr>
          <p:cNvPr id="305" name=""/>
          <p:cNvSpPr/>
          <p:nvPr/>
        </p:nvSpPr>
        <p:spPr>
          <a:xfrm>
            <a:off x="2006600" y="5207000"/>
            <a:ext cx="91694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0F172A"/>
                </a:solidFill>
                <a:latin typeface="微软雅黑"/>
                <a:ea typeface="微软雅黑"/>
              </a:rPr>
              <a:t>数据导出增加审核链路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0B1830"/>
        </a:solidFill>
        <a:effectLst/>
      </p:bgPr>
    </p:bg>
    <p:spTree>
      <p:nvGrpSpPr>
        <p:cNvPr id="3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"/>
          <p:cNvSpPr/>
          <p:nvPr/>
        </p:nvSpPr>
        <p:spPr>
          <a:xfrm>
            <a:off x="7874000" y="-1016000"/>
            <a:ext cx="5969000" cy="5969000"/>
          </a:xfrm>
          <a:prstGeom prst="ellipse">
            <a:avLst/>
          </a:prstGeom>
          <a:solidFill>
            <a:srgbClr val="0B5FFF">
              <a:alpha val="7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08" name=""/>
          <p:cNvSpPr/>
          <p:nvPr/>
        </p:nvSpPr>
        <p:spPr>
          <a:xfrm>
            <a:off x="685800" y="2489200"/>
            <a:ext cx="5588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09" name=""/>
          <p:cNvSpPr/>
          <p:nvPr/>
        </p:nvSpPr>
        <p:spPr>
          <a:xfrm>
            <a:off x="685800" y="2768600"/>
            <a:ext cx="10922000" cy="762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3000" b="1">
                <a:solidFill>
                  <a:srgbClr val="FFFFFF"/>
                </a:solidFill>
                <a:latin typeface="微软雅黑"/>
                <a:ea typeface="微软雅黑"/>
              </a:rPr>
              <a:t>让每个人都能安全、高效地与数据对话</a:t>
            </a:r>
            <a:endParaRPr lang="zh-CN" sz="30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310" name=""/>
          <p:cNvSpPr/>
          <p:nvPr/>
        </p:nvSpPr>
        <p:spPr>
          <a:xfrm>
            <a:off x="711200" y="3810000"/>
            <a:ext cx="91440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300">
                <a:solidFill>
                  <a:srgbClr val="A9BDD6"/>
                </a:solidFill>
                <a:latin typeface="微软雅黑"/>
                <a:ea typeface="微软雅黑"/>
              </a:rPr>
              <a:t>DataMind · 数据库 Agent Web 应用 · v2.0</a:t>
            </a:r>
            <a:endParaRPr/>
          </a:p>
        </p:txBody>
      </p:sp>
      <p:sp>
        <p:nvSpPr>
          <p:cNvPr id="311" name=""/>
          <p:cNvSpPr/>
          <p:nvPr/>
        </p:nvSpPr>
        <p:spPr>
          <a:xfrm>
            <a:off x="711200" y="4470400"/>
            <a:ext cx="38100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0B5FFF"/>
                </a:solidFill>
                <a:latin typeface="微软雅黑"/>
                <a:ea typeface="微软雅黑"/>
              </a:rPr>
              <a:t>谢谢观看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1_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2026-10-14T23:11:22Z</dcterms:created>
  <dcterms:modified xsi:type="dcterms:W3CDTF">2026-10-14T23:11:22Z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2052-12.1.29166.29166</vt:lpwstr>
  </property>
  <property fmtid="{D5CDD505-2E9C-101B-9397-08002B2CF9AE}" pid="3" name="ICV">
    <vt:lpwstr>96583CA07E0BC41ABC76CF6A92350A16_43</vt:lpwstr>
  </property>
</Properties>
</file>