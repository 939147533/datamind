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3"/>
  </p:sldMasterIdLst>
  <p:notesMasterIdLst>
    <p:notesMasterId r:id="rId5"/>
  </p:notesMasterIdLst>
  <p:handoutMasterIdLst>
    <p:handoutMasterId r:id="rId27"/>
  </p:handoutMasterIdLst>
  <p:sldIdLst>
    <p:sldId id="273" r:id="rId4"/>
    <p:sldId id="274" r:id="rId6"/>
    <p:sldId id="280" r:id="rId7"/>
    <p:sldId id="275" r:id="rId8"/>
    <p:sldId id="283" r:id="rId9"/>
    <p:sldId id="258" r:id="rId10"/>
    <p:sldId id="281" r:id="rId11"/>
    <p:sldId id="259" r:id="rId12"/>
    <p:sldId id="260" r:id="rId13"/>
    <p:sldId id="261" r:id="rId14"/>
    <p:sldId id="262" r:id="rId15"/>
    <p:sldId id="263" r:id="rId16"/>
    <p:sldId id="264" r:id="rId17"/>
    <p:sldId id="266" r:id="rId18"/>
    <p:sldId id="267" r:id="rId19"/>
    <p:sldId id="282" r:id="rId20"/>
    <p:sldId id="276" r:id="rId21"/>
    <p:sldId id="277" r:id="rId22"/>
    <p:sldId id="278" r:id="rId23"/>
    <p:sldId id="279" r:id="rId24"/>
    <p:sldId id="271" r:id="rId25"/>
    <p:sldId id="272" r:id="rId2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开场控制在 15 秒内：这是一个前后端分离、AI Agent 驱动的数据库查询与运维工作台。</a:t>
            </a:r>
          </a:p>
          <a:p>
            <a:r>
              <a:t>一句话说清用户价值：不会 SQL 的人也能查询，会 SQL 的人更快。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先给观众一个清晰的路线图：从为什么做，到产品能力、技术亮点，再到工程治理。</a:t>
            </a:r>
          </a:p>
          <a:p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先给观众一个清晰的路线图：从为什么做，到产品能力、技术亮点，再到工程治理。</a:t>
            </a:r>
          </a:p>
          <a:p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用真实工作流举例：产品经理打开网页，输入“本月新增用户按日分组”，系统生成 SQL、返回结果，并可一键生成图表。</a:t>
            </a:r>
          </a:p>
          <a:p>
            <a:r>
              <a:t>不要逐条念，重点突出从“会写 SQL”到“会描述需求”的降低门槛。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用真实工作流举例：产品经理打开网页，输入“本月新增用户按日分组”，系统生成 SQL、返回结果，并可一键生成图表。</a:t>
            </a:r>
          </a:p>
          <a:p>
            <a:r>
              <a:t>不要逐条念，重点突出从“会写 SQL”到“会描述需求”的降低门槛。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定位一句话：不会 SQL 的人也能查数，会 SQL 的人更快。</a:t>
            </a:r>
          </a:p>
          <a:p/>
          <a:p>
            <a:r>
              <a:t>[Sources]</a:t>
            </a:r>
          </a:p>
          <a:p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先给观众一个清晰的路线图：从为什么做，到产品能力、技术亮点，再到工程治理。</a:t>
            </a:r>
          </a:p>
          <a:p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不逐条念功能，强调模块围绕工作流组织：连接、查询、分析、报表、管理。</a:t>
            </a:r>
          </a:p>
          <a:p/>
          <a:p>
            <a:r>
              <a:t>[Sources]</a:t>
            </a:r>
          </a:p>
          <a:p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播放视频（约 40 秒），包含两个查询案例：</a:t>
            </a:r>
          </a:p>
          <a:p>
            <a:r>
              <a:t>案例一：选择「本地演示库 (SQLite)」，提问「查询所有用户信息」，Agent 生成 SELECT id, username, email, age, created_at FROM users 并返回 8 条记录；</a:t>
            </a:r>
          </a:p>
          <a:p>
            <a:r>
              <a:t>案例二：新建对话并切换到「Oracle（UAT）」，提问「查询所有机构，列出机构号、机构名称、机构层级和所在地区，按机构号排序」，Agent 生成 SELECT ORG_ID, ORG_NAME, ORG_LEVEL, REGION FROM BANK.T_ORG ORDER BY ORG_ID，返回 55 家机构（HEAD/BRANCH/SUB_BRANCH 层级）；结果出来后点击 CSV 将结果集导出（导出成功提示 + 浏览器下载，CSV 共 55 行数据）。</a:t>
            </a:r>
          </a:p>
          <a:p/>
          <a:p>
            <a:r>
              <a:t>[Sources]</a:t>
            </a:r>
          </a:p>
          <a:p>
            <a:r>
              <a:t>视频为本地运行实例的录屏；数据源为内置演示库（SQLite）与远端 Oracle UAT 库（T_ORG 表）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播放视频（约 60 秒），数据源为 Oracle（UAT）：</a:t>
            </a:r>
          </a:p>
          <a:p>
            <a:r>
              <a:t>案例一：提问「按分行层级统计近30天各个分行的交易笔数、交易总额，生成图表」，Agent 生成 SELECT o.ORG_NAME AS BRANCH_NAME, COUNT(t.LOG_ID) AS TRANS_CNT, ROUND(SUM(t.AMOUNT), 2) AS TRANS_AMT ... WHERE o.ORG_LEVEL = 'BRANCH' AND t.TRANS_TIME &gt;= TRUNC(SYSDATE) - 30 GROUP BY o.ORG_NAME，返回 6 家分行（360～1380 笔），自动渲染柱状图并点击「保存到可视化报表」；</a:t>
            </a:r>
          </a:p>
          <a:p>
            <a:r>
              <a:t>案例二：新建对话后提问「近30天成功交易笔数和金额趋势，生成图表」，Agent 生成按 TRANS_TIME 逐日聚合（STATUS=SUCCESS）的 SQL，返回 31 天数据，自动选择折线图并同样保存到可视化报表；</a:t>
            </a:r>
          </a:p>
          <a:p>
            <a:r>
              <a:t>结尾进入「可视化报表」页，可见刚保存的两张图表（笔数与金额量级差异大时前端自动拆分双 Y 轴）。</a:t>
            </a:r>
          </a:p>
          <a:p/>
          <a:p>
            <a:r>
              <a:t>[Sources]</a:t>
            </a:r>
          </a:p>
          <a:p>
            <a:r>
              <a:t>视频为本地运行实例的录屏；数据源为远端 Oracle UAT 库（T_TRANS_LOG / T_ORG）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播放视频（约 55 秒），完整演示 SQL 工作台与 Agent 协同：</a:t>
            </a:r>
          </a:p>
          <a:p>
            <a:r>
              <a:t>案例一：数据源切换为「OceanBase（本地）」，在编辑器输入 SELECT * FROM `t_org`; 并点击「▶ 执行」，返回 55 行机构数据；</a:t>
            </a:r>
          </a:p>
          <a:p>
            <a:r>
              <a:t>案例二：点击右侧竖条展开 AI Agent 面板、新建会话，输入「统计近90天各地区的成功交易笔数和交易金额，按金额从高到低」，Agent 生成 SELECT o.REGION AS REGION, COUNT(t.LOG_ID) AS CNT, ROUND(SUM(t.AMOUNT),2) AS AMT FROM t_trans_log t JOIN t_org o ON o.ORG_ID = t.ORG_ID WHERE UPPER(t.STATUS) = 'SUCCESS' AND t.TRANS_TIME &gt;= NOW() - INTERVAL 90 DAY GROUP BY o.REGION ORDER BY AMT DESC，并给出结论（共 6 个地区，合计约 1.67 万笔 / 16.86 亿元，深圳金额最高）；随后点击「填入编辑器」将 SQL 回填到工作台编辑器，再点右上角「▶ 执行」得到结果集，最后点右上角「收藏」，命名为「近90天各地区的成功交易统计」并保存成功（出现「已收藏」提示）；</a:t>
            </a:r>
          </a:p>
          <a:p>
            <a:r>
              <a:t>结尾依次切换左侧「历史」页签（本次两条 SQL 的执行记录，含行数与耗时）与「收藏」页签（新增的收藏项排在首位）。</a:t>
            </a:r>
          </a:p>
          <a:p/>
          <a:p>
            <a:r>
              <a:t>[Sources]</a:t>
            </a:r>
          </a:p>
          <a:p>
            <a:r>
              <a:t>视频为本地运行实例的录屏；数据源为 OceanBase CE 4.4.2.1（bank_db，T_ORG 55 行 / T_TRANS_LOG 10 万行）；Agent 生成 SQL 的模型为 openai · deepseek-v4-flash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播放视频（约 52 秒），三个写操作场景均需人工确认：</a:t>
            </a:r>
          </a:p>
          <a:p>
            <a:r>
              <a:t>案例一（工作台发起 DML）：数据源选「OceanBase（本地）」，执行 UPDATE `t_user` SET `GENDER` = 'F', `UPDATED_AT` = NOW() WHERE `USER_NAME` = '乔华';，弹出「写操作确认」（DML · warning，预览待执行 SQL），点「确认执行」后生效（影响 2 行）；</a:t>
            </a:r>
          </a:p>
          <a:p>
            <a:r>
              <a:t>案例二（Agent 发起 DDL）：展开右侧 AI Agent、新建会话，输入「把用户表的用户名称字段长度改成300」，Agent 生成 ALTER TABLE `t_user` MODIFY COLUMN `USER_NAME` VARCHAR(300); 并弹出红色「危险操作确认」（DDL · danger），确认后执行；</a:t>
            </a:r>
          </a:p>
          <a:p>
            <a:r>
              <a:t>案例三（高危操作被拦下）：继续输入「删除用户表」，Agent 生成 DROP TABLE `t_user`，同样红色高危提示，点「取消」后提示「已取消执行」，表未被删除。</a:t>
            </a:r>
          </a:p>
          <a:p/>
          <a:p>
            <a:r>
              <a:t>[Sources]</a:t>
            </a:r>
          </a:p>
          <a:p>
            <a:r>
              <a:t>视频为本地运行实例的录屏；数据源为 OceanBase CE 4.4.2.1 bank_db（T_USER）；READ 自动执行、DML/DDL 待确认以及 5 分钟过期机制见 services/sql_service.py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播放视频（约 32 秒），四个监控能力依次演示：</a:t>
            </a:r>
          </a:p>
          <a:p>
            <a:r>
              <a:t>第一步：打开「连接概览」，基于执行历史（query_history）统计累计查询 336 次、今日 103 次、 10 个数据源，并列出各库的查询次数、平均/最大耗时、成功率与最近执行时间；</a:t>
            </a:r>
          </a:p>
          <a:p>
            <a:r>
              <a:t>第二步：切到「审计日志」，查看登录与执行 SQL 的全量记录（含操作类型、风险类型、数据源、用户、IP、SQL），可见上一页演示中被拒绝的 DROP TABLE 也被如实记下（rejected）；</a:t>
            </a:r>
          </a:p>
          <a:p>
            <a:r>
              <a:t>第三步：切到「慢查询」，把耗时阈值从默认 1000ms 改为 100ms 并点击「查询」，列出超过阈值的慢 SQL（含数据源、耗时、行数、状态、SQL、时间）；</a:t>
            </a:r>
          </a:p>
          <a:p>
            <a:r>
              <a:t>第四步：切到「表结构对比」，源数据源选 Oracle（SIT）、目标数据源选 Oracle（UAT），点「对比」得到差异：T_ORG 在目标库多出 CREATED_AT 列，T_USER.USER_NAME 由 varchar2(300) 变为 varchar2(100)。</a:t>
            </a:r>
          </a:p>
          <a:p/>
          <a:p>
            <a:r>
              <a:t>[Sources]</a:t>
            </a:r>
          </a:p>
          <a:p>
            <a:r>
              <a:t>视频为本地运行实例的录屏；数据来自 query_history / audit_logs 与远端 Oracle SIT、UAT 库；慢查询阈值、连接概览与 schema diff 实现见 routers/monitor.py 与 services/metadata_service.py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播放视频（约 23 秒），两步验证连接可用性：</a:t>
            </a:r>
          </a:p>
          <a:p>
            <a:r>
              <a:t>第一步：打开「设置 · 数据库连接配置」，在连接列表里点击第一个数据源「OceanBase（本地）」的「测试」按钮，弹出「连接测试结果」弹窗，反馈「连接成功」（底层调 POST /api/connections/{id}/connect）；</a:t>
            </a:r>
          </a:p>
          <a:p>
            <a:r>
              <a:t>第二步：切到「大模型连接配置」，点击第二个模型「Ollama（本地）· qwen3.8:27b」的「测试」按钮，右上角提示「连接成功，模型 qwen3.8:27b 响应正常（2301 ms）」。</a:t>
            </a:r>
          </a:p>
          <a:p/>
          <a:p>
            <a:r>
              <a:t>[Sources]</a:t>
            </a:r>
          </a:p>
          <a:p>
            <a:r>
              <a:t>视频为本地运行实例的录屏；数据库连接见 routers/connections.py（POST /api/connections/{id}/connect），大模型测试见 routers/system.py（POST /api/config/ai/test）；API Key 经 Fernet 加密存储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播放视频（约 23 秒），从用户到角色依次演示：</a:t>
            </a:r>
          </a:p>
          <a:p>
            <a:r>
              <a:t>第一步：从左侧菜单打开「用户管理」，列出账号、显示名、角色、状态与最后登录时间，操作列可编辑、重置密码、禁用/删除（当前 5 个账号：管理员 与 技术/业务各两类账号）；</a:t>
            </a:r>
          </a:p>
          <a:p>
            <a:r>
              <a:t>第二步：切到「角色管理」，左侧列出 5 个内置角色（管理员 / 技术管理 / 技术查询 / 业务管理 / 业务查询）；</a:t>
            </a:r>
          </a:p>
          <a:p>
            <a:r>
              <a:t>第三步：依次点击「技术管理」「技术查询」「业务查询」三个角色，右侧实时切换该角色的名称/编码/说明、「功能权限」按模块分组的勾选状态与角色成员（技术管理 12 项、技术查询 6 项、业务查询 4 项权限，选中行会高亮）。</a:t>
            </a:r>
          </a:p>
          <a:p/>
          <a:p>
            <a:r>
              <a:t>[Sources]</a:t>
            </a:r>
          </a:p>
          <a:p>
            <a:r>
              <a:t>视频为本地运行实例的录屏；角色与权限码定义见 backend/app/permissions.py（BUILTIN_ROLES / PERMISSIONS），前端路由守卫与菜单按 meta.permission 控制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先给观众一个清晰的路线图：从为什么做，到产品能力、技术亮点，再到工程治理。</a:t>
            </a:r>
          </a:p>
          <a:p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 Agent 能力的层次：不只是生成 SQL，还包括 Schema 感知、多轮对话、解释优化和流式输出。</a:t>
            </a:r>
          </a:p>
          <a:p>
            <a:r>
              <a:t>下一页会展开工程实现中的工具调用与失败重试。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重点讲“工具调用 + 失败重试 + few-shot”，这是 AI 编程竞赛最看重的工程深度。</a:t>
            </a:r>
          </a:p>
          <a:p>
            <a:r>
              <a:t>现场演示：输入“查询本月新增用户数并按日分组”，展示思考过程、SQL、结果和图表生成。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这是项目的信任基础：让 AI 能生成 SQL，但不让 AI 拥有不受控的写权限。</a:t>
            </a:r>
          </a:p>
          <a:p>
            <a:r>
              <a:t>可对比“直接给 AI 数据库权限”的传统做法，突出安全设计。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审计与监控是系统可治理的体现，也是企业级部署的关键。</a:t>
            </a:r>
          </a:p>
          <a:p>
            <a:r>
              <a:t>强调审计导出与自动清理，以及 Prometheus 指标对运维友好。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企业级完整性：加密、分级授权、全量审计、指标与测试。</a:t>
            </a:r>
          </a:p>
          <a:p/>
          <a:p>
            <a:r>
              <a:t>[Sources]</a:t>
            </a:r>
          </a:p>
          <a:p>
            <a:r>
              <a:t>backend/app/security.py、permissions.py、main.py（/metrics）；后端 117 项 pytest 用例，96 个 API 接口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收尾回到用户价值，并给出下一步计划。</a:t>
            </a:r>
          </a:p>
          <a:p/>
          <a:p>
            <a:r>
              <a:t>[Sources]</a:t>
            </a:r>
          </a:p>
          <a:p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6.xml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6.xml"/><Relationship Id="rId3" Type="http://schemas.microsoft.com/office/2007/relationships/media" Target="../media/media2.mp4"/><Relationship Id="rId2" Type="http://schemas.openxmlformats.org/officeDocument/2006/relationships/video" Target="../media/media2.mp4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6.xml"/><Relationship Id="rId3" Type="http://schemas.microsoft.com/office/2007/relationships/media" Target="../media/media3.mp4"/><Relationship Id="rId2" Type="http://schemas.openxmlformats.org/officeDocument/2006/relationships/video" Target="../media/media3.mp4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6.xml"/><Relationship Id="rId3" Type="http://schemas.microsoft.com/office/2007/relationships/media" Target="../media/media4.mp4"/><Relationship Id="rId2" Type="http://schemas.openxmlformats.org/officeDocument/2006/relationships/video" Target="../media/media4.mp4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6.xml"/><Relationship Id="rId3" Type="http://schemas.microsoft.com/office/2007/relationships/media" Target="../media/media5.mp4"/><Relationship Id="rId2" Type="http://schemas.openxmlformats.org/officeDocument/2006/relationships/video" Target="../media/media5.mp4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6.xml"/><Relationship Id="rId3" Type="http://schemas.microsoft.com/office/2007/relationships/media" Target="../media/media6.mp4"/><Relationship Id="rId2" Type="http://schemas.openxmlformats.org/officeDocument/2006/relationships/video" Target="../media/media6.mp4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6.xml"/><Relationship Id="rId3" Type="http://schemas.microsoft.com/office/2007/relationships/media" Target="../media/media7.mp4"/><Relationship Id="rId2" Type="http://schemas.openxmlformats.org/officeDocument/2006/relationships/video" Target="../media/media7.mp4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cover-glow"/>
          <p:cNvSpPr>
            <a:spLocks noGrp="1"/>
          </p:cNvSpPr>
          <p:nvPr/>
        </p:nvSpPr>
        <p:spPr>
          <a:xfrm>
            <a:off x="7429500" y="571500"/>
            <a:ext cx="4095750" cy="4095750"/>
          </a:xfrm>
          <a:prstGeom prst="roundRect">
            <a:avLst>
              <a:gd name="adj" fmla="val 50000"/>
            </a:avLst>
          </a:prstGeom>
          <a:solidFill>
            <a:srgbClr val="22C55E">
              <a:alpha val="8000"/>
            </a:srgbClr>
          </a:solidFill>
          <a:ln w="0">
            <a:noFill/>
            <a:prstDash val="solid"/>
          </a:ln>
        </p:spPr>
      </p:sp>
      <p:sp>
        <p:nvSpPr>
          <p:cNvPr id="3" name="cover-title"/>
          <p:cNvSpPr>
            <a:spLocks noGrp="1"/>
          </p:cNvSpPr>
          <p:nvPr/>
        </p:nvSpPr>
        <p:spPr>
          <a:xfrm>
            <a:off x="857250" y="1695450"/>
            <a:ext cx="6858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00000"/>
              </a:lnSpc>
              <a:buNone/>
              <a:defRPr sz="4800" b="1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4800" b="1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</a:rPr>
              <a:t>DataMind</a:t>
            </a:r>
            <a:endParaRPr sz="4800" b="1">
              <a:solidFill>
                <a:schemeClr val="tx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" name="cover-subtitle"/>
          <p:cNvSpPr>
            <a:spLocks noGrp="1"/>
          </p:cNvSpPr>
          <p:nvPr/>
        </p:nvSpPr>
        <p:spPr>
          <a:xfrm>
            <a:off x="914400" y="2781300"/>
            <a:ext cx="685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250" b="1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2250" b="1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rPr>
              <a:t>数据库 Agent Web 应用</a:t>
            </a:r>
            <a:endParaRPr sz="2250" b="1">
              <a:solidFill>
                <a:srgbClr val="FFF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" name="cover-claim"/>
          <p:cNvSpPr>
            <a:spLocks noGrp="1"/>
          </p:cNvSpPr>
          <p:nvPr/>
        </p:nvSpPr>
        <p:spPr>
          <a:xfrm>
            <a:off x="914400" y="3352800"/>
            <a:ext cx="723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500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altLang="en-US" sz="1500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rPr>
              <a:t>让不会写 </a:t>
            </a:r>
            <a:r>
              <a:rPr lang="en-US" altLang="zh-CN" sz="1500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rPr>
              <a:t>SQL </a:t>
            </a:r>
            <a:r>
              <a:rPr lang="zh-CN" altLang="en-US" sz="1500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rPr>
              <a:t>的业务人员也能安全地查数据，会写 </a:t>
            </a:r>
            <a:r>
              <a:rPr lang="en-US" altLang="zh-CN" sz="1500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rPr>
              <a:t>SQL </a:t>
            </a:r>
            <a:r>
              <a:rPr lang="zh-CN" altLang="en-US" sz="1500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rPr>
              <a:t>的技术人员更</a:t>
            </a:r>
            <a:r>
              <a:rPr lang="zh-CN" altLang="en-US" sz="1500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rPr>
              <a:t>高效。</a:t>
            </a:r>
            <a:endParaRPr lang="zh-CN" altLang="en-US" sz="1500" b="0">
              <a:solidFill>
                <a:srgbClr val="DBEAFE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cover-tag-0"/>
          <p:cNvSpPr>
            <a:spLocks noGrp="1"/>
          </p:cNvSpPr>
          <p:nvPr/>
        </p:nvSpPr>
        <p:spPr>
          <a:xfrm>
            <a:off x="914400" y="41529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200" b="1">
                <a:solidFill>
                  <a:srgbClr val="93C5FD"/>
                </a:solidFill>
                <a:latin typeface="微软雅黑" charset="-122"/>
                <a:ea typeface="微软雅黑" charset="-122"/>
                <a:cs typeface="微软雅黑" charset="-122"/>
              </a:rPr>
              <a:t>AI Agent</a:t>
            </a:r>
            <a:endParaRPr sz="1200" b="1">
              <a:solidFill>
                <a:srgbClr val="93C5FD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" name="cover-tag-line-0"/>
          <p:cNvSpPr>
            <a:spLocks noGrp="1"/>
          </p:cNvSpPr>
          <p:nvPr/>
        </p:nvSpPr>
        <p:spPr>
          <a:xfrm>
            <a:off x="914400" y="4476750"/>
            <a:ext cx="381000" cy="2857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8" name="cover-tag-1"/>
          <p:cNvSpPr>
            <a:spLocks noGrp="1"/>
          </p:cNvSpPr>
          <p:nvPr/>
        </p:nvSpPr>
        <p:spPr>
          <a:xfrm>
            <a:off x="3124200" y="41529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200" b="1">
                <a:solidFill>
                  <a:srgbClr val="93C5FD"/>
                </a:solidFill>
                <a:latin typeface="微软雅黑" charset="-122"/>
                <a:ea typeface="微软雅黑" charset="-122"/>
                <a:cs typeface="微软雅黑" charset="-122"/>
              </a:rPr>
              <a:t>Multi-Database</a:t>
            </a:r>
            <a:endParaRPr sz="1200" b="1">
              <a:solidFill>
                <a:srgbClr val="93C5FD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" name="cover-tag-line-1"/>
          <p:cNvSpPr>
            <a:spLocks noGrp="1"/>
          </p:cNvSpPr>
          <p:nvPr/>
        </p:nvSpPr>
        <p:spPr>
          <a:xfrm>
            <a:off x="3124200" y="4476750"/>
            <a:ext cx="381000" cy="2857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10" name="cover-tag-2"/>
          <p:cNvSpPr>
            <a:spLocks noGrp="1"/>
          </p:cNvSpPr>
          <p:nvPr/>
        </p:nvSpPr>
        <p:spPr>
          <a:xfrm>
            <a:off x="5334000" y="41529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200" b="1">
                <a:solidFill>
                  <a:srgbClr val="93C5FD"/>
                </a:solidFill>
                <a:latin typeface="微软雅黑" charset="-122"/>
                <a:ea typeface="微软雅黑" charset="-122"/>
                <a:cs typeface="微软雅黑" charset="-122"/>
              </a:rPr>
              <a:t>Security First</a:t>
            </a:r>
            <a:endParaRPr sz="1200" b="1">
              <a:solidFill>
                <a:srgbClr val="93C5FD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1" name="cover-tag-line-2"/>
          <p:cNvSpPr>
            <a:spLocks noGrp="1"/>
          </p:cNvSpPr>
          <p:nvPr/>
        </p:nvSpPr>
        <p:spPr>
          <a:xfrm>
            <a:off x="5334000" y="4476750"/>
            <a:ext cx="381000" cy="28575"/>
          </a:xfrm>
          <a:prstGeom prst="rect">
            <a:avLst/>
          </a:prstGeom>
          <a:solidFill>
            <a:srgbClr val="22C55E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目</a:t>
            </a:r>
            <a:r>
              <a:rPr lang="en-US" altLang="zh-CN"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 </a:t>
            </a:r>
            <a:r>
              <a:rPr lang="zh-CN"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录</a:t>
            </a:r>
            <a:endParaRPr lang="zh-CN" sz="2625" b="1">
              <a:solidFill>
                <a:srgbClr val="0F172A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2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" name="agenda-num-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14400" y="1695450"/>
            <a:ext cx="104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01</a:t>
            </a:r>
            <a:endParaRPr sz="34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8" name="agenda-title-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190750" y="17526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项目背景</a:t>
            </a:r>
            <a:endParaRPr lang="zh-CN" sz="1950" b="1">
              <a:solidFill>
                <a:srgbClr val="0B183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" name="agenda-desc-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190750" y="21336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痛点</a:t>
            </a:r>
            <a:r>
              <a:rPr lang="en-US"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、</a:t>
            </a:r>
            <a:r>
              <a:rPr>
                <a:sym typeface="+mn-ea"/>
              </a:rPr>
              <a:t>定位、目标用户</a:t>
            </a:r>
            <a:endParaRPr lang="en-US" sz="12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0" name="agenda-line-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14400" y="2552700"/>
            <a:ext cx="93345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11" name="agenda-num-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914400" y="2762250"/>
            <a:ext cx="104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02</a:t>
            </a:r>
            <a:endParaRPr sz="34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2" name="agenda-title-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190750" y="28194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系统</a:t>
            </a:r>
            <a:r>
              <a:rPr lang="zh-CN"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功能</a:t>
            </a:r>
            <a:endParaRPr lang="zh-CN" sz="1950" b="1">
              <a:solidFill>
                <a:srgbClr val="0B183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3" name="agenda-desc-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190750" y="32004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AI 查询、SQL 工作台、报表、元数据</a:t>
            </a:r>
            <a:endParaRPr sz="12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4" name="agenda-line-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914400" y="3619500"/>
            <a:ext cx="93345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15" name="agenda-num-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914400" y="3829050"/>
            <a:ext cx="104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03</a:t>
            </a:r>
            <a:endParaRPr sz="34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6" name="agenda-title-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2190750" y="38862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技术亮点</a:t>
            </a:r>
            <a:endParaRPr sz="1950" b="1">
              <a:solidFill>
                <a:srgbClr val="0B183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7" name="agenda-desc-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2190750" y="42672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Agent 工具调用、安全执行、跨库适配</a:t>
            </a:r>
            <a:endParaRPr sz="12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8" name="agenda-line-2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914400" y="4686300"/>
            <a:ext cx="93345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19" name="agenda-num-3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914400" y="4895850"/>
            <a:ext cx="104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04</a:t>
            </a:r>
            <a:endParaRPr sz="34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0" name="agenda-title-3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2190750" y="49530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工程与治理</a:t>
            </a:r>
            <a:endParaRPr sz="1950" b="1">
              <a:solidFill>
                <a:srgbClr val="0B183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1" name="agenda-desc-3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2190750" y="53340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RBAC、审计、监控</a:t>
            </a:r>
            <a:endParaRPr sz="12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agenda-num-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14400" y="1695450"/>
            <a:ext cx="104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01</a:t>
            </a:r>
            <a:endParaRPr sz="34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8" name="agenda-title-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190750" y="17526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项目背景</a:t>
            </a:r>
            <a:endParaRPr lang="zh-CN" sz="1950" b="1">
              <a:solidFill>
                <a:srgbClr val="0B183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" name="agenda-desc-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190750" y="21336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痛点</a:t>
            </a:r>
            <a:r>
              <a:rPr lang="en-US"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、</a:t>
            </a:r>
            <a:r>
              <a:rPr>
                <a:sym typeface="+mn-ea"/>
              </a:rPr>
              <a:t>定位、目标用户</a:t>
            </a:r>
            <a:endParaRPr lang="en-US" sz="12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kicker"/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0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为什么需要 DataMind</a:t>
            </a:r>
            <a:endParaRPr sz="10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把高门槛、高风险的数据工作，变成安全可控的对话</a:t>
            </a:r>
            <a:endParaRPr sz="2625" b="1">
              <a:solidFill>
                <a:srgbClr val="0F172A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4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8" name="pain-title"/>
          <p:cNvSpPr>
            <a:spLocks noGrp="1"/>
          </p:cNvSpPr>
          <p:nvPr/>
        </p:nvSpPr>
        <p:spPr>
          <a:xfrm>
            <a:off x="880745" y="1400810"/>
            <a:ext cx="2967355" cy="3378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800" b="1">
                <a:solidFill>
                  <a:srgbClr val="B91C1C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800" b="1">
                <a:solidFill>
                  <a:srgbClr val="B91C1C"/>
                </a:solidFill>
                <a:latin typeface="微软雅黑" charset="-122"/>
                <a:ea typeface="微软雅黑" charset="-122"/>
                <a:cs typeface="微软雅黑" charset="-122"/>
              </a:rPr>
              <a:t>常见痛点</a:t>
            </a:r>
            <a:endParaRPr sz="1800" b="1">
              <a:solidFill>
                <a:srgbClr val="B91C1C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199515" y="2420620"/>
            <a:ext cx="9792335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在银行、运维、业务分析等场景中，取数与用数存在几个普遍问题：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业务：业务人员想查数据必须依赖开发/</a:t>
            </a:r>
            <a:r>
              <a:rPr lang="en-US" altLang="zh-CN"/>
              <a:t>DBA，</a:t>
            </a:r>
            <a:r>
              <a:rPr lang="zh-CN" altLang="en-US"/>
              <a:t>取数链路长。</a:t>
            </a:r>
            <a:endParaRPr lang="zh-CN" altLang="en-US"/>
          </a:p>
          <a:p>
            <a:r>
              <a:rPr lang="zh-CN" altLang="en-US"/>
              <a:t>开发</a:t>
            </a:r>
            <a:r>
              <a:rPr lang="en-US" altLang="zh-CN"/>
              <a:t>：</a:t>
            </a:r>
            <a:endParaRPr lang="en-US" altLang="zh-CN"/>
          </a:p>
          <a:p>
            <a:r>
              <a:rPr lang="zh-CN" altLang="en-US"/>
              <a:t>运维</a:t>
            </a:r>
            <a:r>
              <a:rPr lang="en-US" altLang="zh-CN"/>
              <a:t>：</a:t>
            </a:r>
            <a:endParaRPr lang="zh-CN" altLang="en-US"/>
          </a:p>
          <a:p>
            <a:r>
              <a:rPr lang="en-US" altLang="zh-CN"/>
              <a:t>2. AI </a:t>
            </a:r>
            <a:r>
              <a:rPr lang="zh-CN" altLang="en-US"/>
              <a:t>查询不可信：通用大模型生成的 </a:t>
            </a:r>
            <a:r>
              <a:rPr lang="en-US" altLang="zh-CN"/>
              <a:t>SQL </a:t>
            </a:r>
            <a:r>
              <a:rPr lang="zh-CN" altLang="en-US"/>
              <a:t>经常「张冠李戴」（表名/列名编造），且无法感知真实表结构。</a:t>
            </a:r>
            <a:endParaRPr lang="zh-CN" altLang="en-US"/>
          </a:p>
          <a:p>
            <a:r>
              <a:rPr lang="zh-CN" altLang="en-US"/>
              <a:t>3. 写操作风险大：误执行 `</a:t>
            </a:r>
            <a:r>
              <a:rPr lang="en-US" altLang="zh-CN"/>
              <a:t>UPDATE/DELETE` </a:t>
            </a:r>
            <a:r>
              <a:rPr lang="zh-CN" altLang="en-US"/>
              <a:t>会造成数据事故，企业场景需要「执行前确认 + 全过程审计」。</a:t>
            </a:r>
            <a:endParaRPr lang="zh-CN" altLang="en-US"/>
          </a:p>
          <a:p>
            <a:r>
              <a:rPr lang="zh-CN" altLang="en-US"/>
              <a:t>4. 多数据库割裂：</a:t>
            </a:r>
            <a:r>
              <a:rPr lang="en-US" altLang="zh-CN"/>
              <a:t>MySQL/Oracle/PostgreSQL </a:t>
            </a:r>
            <a:r>
              <a:rPr lang="zh-CN" altLang="en-US"/>
              <a:t>方言不同，运维工具各管一摊。</a:t>
            </a:r>
            <a:endParaRPr lang="zh-CN" altLang="en-US"/>
          </a:p>
          <a:p>
            <a:r>
              <a:rPr lang="zh-CN" altLang="en-US"/>
              <a:t>5. 黑盒不可观测：谁查了什么、慢查询有哪些、结构何时变更，缺少统一视图。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DataMind </a:t>
            </a:r>
            <a:r>
              <a:rPr lang="zh-CN" altLang="en-US"/>
              <a:t>针对以上痛点，给出了「</a:t>
            </a:r>
            <a:r>
              <a:rPr lang="en-US" altLang="zh-CN"/>
              <a:t>AI </a:t>
            </a:r>
            <a:r>
              <a:rPr lang="zh-CN" altLang="en-US"/>
              <a:t>工具调用 + 安全执行协议 + 统一适配器 + 可观测性」的组合方案。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kicker"/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0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为什么需要 DataMind</a:t>
            </a:r>
            <a:endParaRPr sz="10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把高门槛、高风险的数据工作，变成安全可控的对话</a:t>
            </a:r>
            <a:endParaRPr sz="2625" b="1">
              <a:solidFill>
                <a:srgbClr val="0F172A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4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" name="pain-surface"/>
          <p:cNvSpPr>
            <a:spLocks noGrp="1"/>
          </p:cNvSpPr>
          <p:nvPr/>
        </p:nvSpPr>
        <p:spPr>
          <a:xfrm>
            <a:off x="685800" y="1524000"/>
            <a:ext cx="5219700" cy="44958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pain-title"/>
          <p:cNvSpPr>
            <a:spLocks noGrp="1"/>
          </p:cNvSpPr>
          <p:nvPr/>
        </p:nvSpPr>
        <p:spPr>
          <a:xfrm>
            <a:off x="990600" y="18097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800" b="1">
                <a:solidFill>
                  <a:srgbClr val="B91C1C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800" b="1">
                <a:solidFill>
                  <a:srgbClr val="B91C1C"/>
                </a:solidFill>
                <a:latin typeface="微软雅黑" charset="-122"/>
                <a:ea typeface="微软雅黑" charset="-122"/>
                <a:cs typeface="微软雅黑" charset="-122"/>
              </a:rPr>
              <a:t>常见痛点</a:t>
            </a:r>
            <a:endParaRPr sz="1800" b="1">
              <a:solidFill>
                <a:srgbClr val="B91C1C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" name="pain-list"/>
          <p:cNvSpPr>
            <a:spLocks noGrp="1"/>
          </p:cNvSpPr>
          <p:nvPr/>
        </p:nvSpPr>
        <p:spPr>
          <a:xfrm>
            <a:off x="990600" y="2324100"/>
            <a:ext cx="46101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600"/>
              <a:t>业务人员不会写 SQL，取数依赖技术同事</a:t>
            </a:r>
            <a:endParaRPr sz="1600"/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sz="1600"/>
              <a:t>报表开发和维护</a:t>
            </a:r>
            <a:r>
              <a:rPr lang="en-US" altLang="zh-CN" sz="1600"/>
              <a:t>：</a:t>
            </a:r>
            <a:r>
              <a:rPr lang="zh-CN" sz="1600"/>
              <a:t>需要提需求排期</a:t>
            </a:r>
            <a:r>
              <a:rPr lang="en-US" altLang="zh-CN" sz="1600"/>
              <a:t>、</a:t>
            </a:r>
            <a:r>
              <a:rPr lang="zh-CN" altLang="en-US" sz="1600"/>
              <a:t>开发</a:t>
            </a:r>
            <a:r>
              <a:rPr lang="en-US" altLang="zh-CN" sz="1600"/>
              <a:t>、</a:t>
            </a:r>
            <a:r>
              <a:rPr lang="zh-CN" altLang="en-US" sz="1600"/>
              <a:t>测试</a:t>
            </a:r>
            <a:r>
              <a:rPr lang="en-US" altLang="zh-CN" sz="1600"/>
              <a:t>、</a:t>
            </a:r>
            <a:r>
              <a:rPr lang="zh-CN" altLang="en-US" sz="1600"/>
              <a:t>上线</a:t>
            </a:r>
            <a:endParaRPr sz="1600"/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sz="1600">
                <a:sym typeface="+mn-ea"/>
              </a:rPr>
              <a:t>数据库切换</a:t>
            </a:r>
            <a:r>
              <a:rPr lang="en-US" altLang="zh-CN" sz="1600">
                <a:sym typeface="+mn-ea"/>
              </a:rPr>
              <a:t>：</a:t>
            </a:r>
            <a:r>
              <a:rPr lang="zh-CN" sz="1600">
                <a:sym typeface="+mn-ea"/>
              </a:rPr>
              <a:t>不同</a:t>
            </a:r>
            <a:r>
              <a:rPr sz="1600">
                <a:sym typeface="+mn-ea"/>
              </a:rPr>
              <a:t>数据库</a:t>
            </a:r>
            <a:r>
              <a:rPr lang="zh-CN" sz="1600">
                <a:sym typeface="+mn-ea"/>
              </a:rPr>
              <a:t>各有各的客户端</a:t>
            </a:r>
            <a:r>
              <a:rPr sz="1600">
                <a:sym typeface="+mn-ea"/>
              </a:rPr>
              <a:t>，</a:t>
            </a:r>
            <a:r>
              <a:rPr lang="zh-CN" sz="1600">
                <a:sym typeface="+mn-ea"/>
              </a:rPr>
              <a:t>安装切换繁琐</a:t>
            </a:r>
            <a:endParaRPr sz="1600"/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600"/>
              <a:t>AI 生成 SQL 存在误操作与越权风险</a:t>
            </a:r>
            <a:endParaRPr sz="1600"/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600"/>
              <a:t>查询结果难以沉淀为报表与文档</a:t>
            </a:r>
            <a:endParaRPr sz="1600"/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600"/>
              <a:t>用户操作缺少权限和审计</a:t>
            </a:r>
            <a:endParaRPr sz="1600"/>
          </a:p>
        </p:txBody>
      </p:sp>
      <p:sp>
        <p:nvSpPr>
          <p:cNvPr id="10" name="solution-surface"/>
          <p:cNvSpPr>
            <a:spLocks noGrp="1"/>
          </p:cNvSpPr>
          <p:nvPr/>
        </p:nvSpPr>
        <p:spPr>
          <a:xfrm>
            <a:off x="6286500" y="1524000"/>
            <a:ext cx="5219700" cy="44958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solution-title"/>
          <p:cNvSpPr>
            <a:spLocks noGrp="1"/>
          </p:cNvSpPr>
          <p:nvPr/>
        </p:nvSpPr>
        <p:spPr>
          <a:xfrm>
            <a:off x="6591300" y="18097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80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80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DataMind 的解法</a:t>
            </a:r>
            <a:endParaRPr sz="180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2" name="solution-list"/>
          <p:cNvSpPr>
            <a:spLocks noGrp="1"/>
          </p:cNvSpPr>
          <p:nvPr/>
        </p:nvSpPr>
        <p:spPr>
          <a:xfrm>
            <a:off x="6591300" y="2324100"/>
            <a:ext cx="46101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600" b="1">
                <a:solidFill>
                  <a:srgbClr val="0B5FFF"/>
                </a:solidFill>
              </a:rPr>
              <a:t>自然语言查询：</a:t>
            </a:r>
            <a:r>
              <a:rPr sz="1600">
                <a:solidFill>
                  <a:srgbClr val="334155"/>
                </a:solidFill>
              </a:rPr>
              <a:t>输入</a:t>
            </a:r>
            <a:r>
              <a:rPr lang="zh-CN" sz="1600">
                <a:solidFill>
                  <a:srgbClr val="334155"/>
                </a:solidFill>
              </a:rPr>
              <a:t>自然语言</a:t>
            </a:r>
            <a:r>
              <a:rPr sz="1600">
                <a:solidFill>
                  <a:srgbClr val="334155"/>
                </a:solidFill>
              </a:rPr>
              <a:t>，自动生成 SQL</a:t>
            </a:r>
            <a:r>
              <a:rPr lang="zh-CN" sz="1600">
                <a:solidFill>
                  <a:srgbClr val="334155"/>
                </a:solidFill>
              </a:rPr>
              <a:t>并查询数据</a:t>
            </a:r>
            <a:endParaRPr sz="1600">
              <a:solidFill>
                <a:srgbClr val="334155"/>
              </a:solidFill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sz="1600" b="1">
                <a:solidFill>
                  <a:srgbClr val="0B5FFF"/>
                </a:solidFill>
                <a:sym typeface="+mn-ea"/>
              </a:rPr>
              <a:t>自然语言生成报表</a:t>
            </a:r>
            <a:r>
              <a:rPr sz="1600" b="1">
                <a:solidFill>
                  <a:srgbClr val="0B5FFF"/>
                </a:solidFill>
                <a:sym typeface="+mn-ea"/>
              </a:rPr>
              <a:t>：</a:t>
            </a:r>
            <a:r>
              <a:rPr sz="1600">
                <a:solidFill>
                  <a:srgbClr val="334155"/>
                </a:solidFill>
                <a:sym typeface="+mn-ea"/>
              </a:rPr>
              <a:t>结果一键沉淀为图表、仪表盘、分享页</a:t>
            </a:r>
            <a:endParaRPr sz="1600">
              <a:solidFill>
                <a:srgbClr val="334155"/>
              </a:solidFill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endParaRPr sz="1600">
              <a:solidFill>
                <a:srgbClr val="334155"/>
              </a:solidFill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600" b="1">
                <a:solidFill>
                  <a:srgbClr val="0B5FFF"/>
                </a:solidFill>
              </a:rPr>
              <a:t>统一适配层：</a:t>
            </a:r>
            <a:r>
              <a:rPr sz="1600">
                <a:solidFill>
                  <a:srgbClr val="334155"/>
                </a:solidFill>
              </a:rPr>
              <a:t>屏蔽多数据库方言差异</a:t>
            </a:r>
            <a:endParaRPr sz="1600">
              <a:solidFill>
                <a:srgbClr val="334155"/>
              </a:solidFill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600" b="1">
                <a:solidFill>
                  <a:srgbClr val="0B5FFF"/>
                </a:solidFill>
              </a:rPr>
              <a:t>分级安全执行：</a:t>
            </a:r>
            <a:r>
              <a:rPr sz="1600">
                <a:solidFill>
                  <a:srgbClr val="334155"/>
                </a:solidFill>
              </a:rPr>
              <a:t>只读自动、写操作确认、DDL 高危提示</a:t>
            </a:r>
            <a:endParaRPr sz="1600">
              <a:solidFill>
                <a:srgbClr val="334155"/>
              </a:solidFill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600" b="1">
                <a:solidFill>
                  <a:srgbClr val="0B5FFF"/>
                </a:solidFill>
              </a:rPr>
              <a:t>RBAC + 审计：</a:t>
            </a:r>
            <a:r>
              <a:rPr sz="1600">
                <a:solidFill>
                  <a:srgbClr val="334155"/>
                </a:solidFill>
              </a:rPr>
              <a:t>细粒度权限、全量留痕、可导出</a:t>
            </a:r>
            <a:endParaRPr sz="1600">
              <a:solidFill>
                <a:srgbClr val="33415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产品定位与目标用户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3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3668" y="1504950"/>
            <a:ext cx="11404568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DataMind 把「连接 → 查询 → 分析 → 报表 → 权限审计」串成一个 Web 工作台，用 AI Agent 降低取数门槛。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3668" y="24955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用户</a:t>
            </a:r>
            <a:endParaRPr sz="16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857500" y="249555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核心需求</a:t>
            </a:r>
            <a:endParaRPr sz="16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0" y="2495550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典型场景</a:t>
            </a:r>
            <a:endParaRPr sz="16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rule"/>
          <p:cNvSpPr>
            <a:spLocks noGrp="1"/>
          </p:cNvSpPr>
          <p:nvPr/>
        </p:nvSpPr>
        <p:spPr>
          <a:xfrm>
            <a:off x="393668" y="2857500"/>
            <a:ext cx="11404568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93668" y="30670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后端开发者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857500" y="30670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快速查数、写与优化 SQL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86500" y="3067050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日常开发、线上排障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rule"/>
          <p:cNvSpPr>
            <a:spLocks noGrp="1"/>
          </p:cNvSpPr>
          <p:nvPr/>
        </p:nvSpPr>
        <p:spPr>
          <a:xfrm>
            <a:off x="393668" y="3486150"/>
            <a:ext cx="11404568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93668" y="36576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DBA / 运维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857500" y="36576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多实例管理、结构变更、审计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286500" y="3657600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变更前对比、慢查询定位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rule"/>
          <p:cNvSpPr>
            <a:spLocks noGrp="1"/>
          </p:cNvSpPr>
          <p:nvPr/>
        </p:nvSpPr>
        <p:spPr>
          <a:xfrm>
            <a:off x="393668" y="4076700"/>
            <a:ext cx="11404568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93668" y="42481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数据分析师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857500" y="42481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自然语言取数、快速做报表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0" y="4248150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数据探索、临时分析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9" name="rule"/>
          <p:cNvSpPr>
            <a:spLocks noGrp="1"/>
          </p:cNvSpPr>
          <p:nvPr/>
        </p:nvSpPr>
        <p:spPr>
          <a:xfrm>
            <a:off x="393668" y="4667250"/>
            <a:ext cx="11404568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93668" y="48387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业务 / 产品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857500" y="48387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完全不会 SQL 也要看数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286500" y="4838700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辅助决策、快速核对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93668" y="5715000"/>
            <a:ext cx="11404568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一句话：让数据获取从「排队等」变成「自己动手」。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agenda-num-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14400" y="2762250"/>
            <a:ext cx="104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02</a:t>
            </a:r>
            <a:endParaRPr sz="34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2" name="agenda-title-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190750" y="28194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系统</a:t>
            </a:r>
            <a:r>
              <a:rPr lang="zh-CN"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功能</a:t>
            </a:r>
            <a:endParaRPr lang="zh-CN" sz="1950" b="1">
              <a:solidFill>
                <a:srgbClr val="0B183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3" name="agenda-desc-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190750" y="32004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功能全景</a:t>
            </a:r>
            <a:r>
              <a:rPr lang="en-US" altLang="zh-CN"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、</a:t>
            </a:r>
            <a:r>
              <a:rPr lang="zh-CN" altLang="en-US"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功能</a:t>
            </a:r>
            <a:r>
              <a:rPr lang="zh-CN" altLang="en-US"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演示</a:t>
            </a:r>
            <a:endParaRPr lang="zh-CN" altLang="en-US" sz="12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</a:t>
            </a:r>
            <a:r>
              <a:rPr lang="zh-CN"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全景</a:t>
            </a:r>
            <a:endParaRPr lang="zh-CN"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4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3668" y="1504950"/>
            <a:ext cx="11404568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多个</a:t>
            </a: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功能模块围绕「连接 → 查询 → 分析 → 报表 → 管理」闭环组织。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rule"/>
          <p:cNvSpPr>
            <a:spLocks noGrp="1"/>
          </p:cNvSpPr>
          <p:nvPr/>
        </p:nvSpPr>
        <p:spPr>
          <a:xfrm>
            <a:off x="393668" y="2124075"/>
            <a:ext cx="2667000" cy="95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393668" y="23336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连接管理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93668" y="27527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8 类数据源、SSH 隧道、多环境标签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rule"/>
          <p:cNvSpPr>
            <a:spLocks noGrp="1"/>
          </p:cNvSpPr>
          <p:nvPr/>
        </p:nvSpPr>
        <p:spPr>
          <a:xfrm>
            <a:off x="3314700" y="2124075"/>
            <a:ext cx="2667000" cy="95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314700" y="23336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SQL 工作台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314700" y="27527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多 Tab 编辑、对象树、结果集直编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rule"/>
          <p:cNvSpPr>
            <a:spLocks noGrp="1"/>
          </p:cNvSpPr>
          <p:nvPr/>
        </p:nvSpPr>
        <p:spPr>
          <a:xfrm>
            <a:off x="6235732" y="2124075"/>
            <a:ext cx="2667000" cy="95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235732" y="23336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元数据管理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35732" y="27527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表/索引/DDL/视图/函数、结构对比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rule"/>
          <p:cNvSpPr>
            <a:spLocks noGrp="1"/>
          </p:cNvSpPr>
          <p:nvPr/>
        </p:nvSpPr>
        <p:spPr>
          <a:xfrm>
            <a:off x="9156764" y="2124075"/>
            <a:ext cx="2667000" cy="95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156764" y="23336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AI 智能查询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156764" y="27527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自然语言转 SQL、多轮会话、图表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6" name="rule"/>
          <p:cNvSpPr>
            <a:spLocks noGrp="1"/>
          </p:cNvSpPr>
          <p:nvPr/>
        </p:nvSpPr>
        <p:spPr>
          <a:xfrm>
            <a:off x="393668" y="4219575"/>
            <a:ext cx="2667000" cy="95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93668" y="44291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可视化报表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93668" y="48482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11 种图表、仪表盘、分享大屏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9" name="rule"/>
          <p:cNvSpPr>
            <a:spLocks noGrp="1"/>
          </p:cNvSpPr>
          <p:nvPr/>
        </p:nvSpPr>
        <p:spPr>
          <a:xfrm>
            <a:off x="3314700" y="4219575"/>
            <a:ext cx="2667000" cy="95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314700" y="44291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文档导出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314700" y="48482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CSV/Excel/JSON、库文档导出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2" name="rule"/>
          <p:cNvSpPr>
            <a:spLocks noGrp="1"/>
          </p:cNvSpPr>
          <p:nvPr/>
        </p:nvSpPr>
        <p:spPr>
          <a:xfrm>
            <a:off x="6235732" y="4219575"/>
            <a:ext cx="2667000" cy="95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235732" y="44291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用户与角色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35732" y="48482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RBAC 5 内置角色 + 自定义角色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5" name="rule"/>
          <p:cNvSpPr>
            <a:spLocks noGrp="1"/>
          </p:cNvSpPr>
          <p:nvPr/>
        </p:nvSpPr>
        <p:spPr>
          <a:xfrm>
            <a:off x="9156764" y="4219575"/>
            <a:ext cx="2667000" cy="95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156764" y="44291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运维监控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156764" y="48482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慢查询、连接概览、审计、指标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功能演示 ：自然语言查询数据库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5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video-frame"/>
          <p:cNvSpPr>
            <a:spLocks noGrp="1"/>
          </p:cNvSpPr>
          <p:nvPr/>
        </p:nvSpPr>
        <p:spPr>
          <a:xfrm>
            <a:off x="374618" y="1647825"/>
            <a:ext cx="7467600" cy="4217194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6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393668" y="5941219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▶ 点击画面播放演示视频（约 40 秒）：演示库查用户 → Oracle（UAT）查机构 → 导出 CSV</a:t>
            </a:r>
            <a:endParaRPr sz="1000" b="0">
              <a:solidFill>
                <a:srgbClr val="5A5F6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0" y="1695450"/>
            <a:ext cx="3679317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提问即得结果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marker"/>
          <p:cNvSpPr>
            <a:spLocks noGrp="1"/>
          </p:cNvSpPr>
          <p:nvPr/>
        </p:nvSpPr>
        <p:spPr>
          <a:xfrm>
            <a:off x="8191500" y="24384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439150" y="23241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一句话生成 SQL，无需手写语句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marker"/>
          <p:cNvSpPr>
            <a:spLocks noGrp="1"/>
          </p:cNvSpPr>
          <p:nvPr/>
        </p:nvSpPr>
        <p:spPr>
          <a:xfrm>
            <a:off x="8191500" y="30289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439150" y="29146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SSE 流式回传思考过程与 SQL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marker"/>
          <p:cNvSpPr>
            <a:spLocks noGrp="1"/>
          </p:cNvSpPr>
          <p:nvPr/>
        </p:nvSpPr>
        <p:spPr>
          <a:xfrm>
            <a:off x="8191500" y="36195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39150" y="35052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切换数据源即可跨库查询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marker"/>
          <p:cNvSpPr>
            <a:spLocks noGrp="1"/>
          </p:cNvSpPr>
          <p:nvPr/>
        </p:nvSpPr>
        <p:spPr>
          <a:xfrm>
            <a:off x="8191500" y="42100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40957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结果一键导出 CSV / Excel / JSON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功能演示 ：自然语言生成图表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6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video-frame"/>
          <p:cNvSpPr>
            <a:spLocks noGrp="1"/>
          </p:cNvSpPr>
          <p:nvPr/>
        </p:nvSpPr>
        <p:spPr>
          <a:xfrm>
            <a:off x="374618" y="1647825"/>
            <a:ext cx="7467600" cy="4217194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6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393668" y="5941219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▶ 点击画面播放演示视频（约 60 秒）：Oracle 查分行笔数/金额 → 自动出图 → 保存报表，再看近 30 天成功交易笔数与金额趋势</a:t>
            </a:r>
            <a:endParaRPr sz="1000" b="0">
              <a:solidFill>
                <a:srgbClr val="5A5F6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0" y="1695450"/>
            <a:ext cx="3679317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从查询到图表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marker"/>
          <p:cNvSpPr>
            <a:spLocks noGrp="1"/>
          </p:cNvSpPr>
          <p:nvPr/>
        </p:nvSpPr>
        <p:spPr>
          <a:xfrm>
            <a:off x="8191500" y="24384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439150" y="23241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案例一：各分行笔数与金额柱状图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marker"/>
          <p:cNvSpPr>
            <a:spLocks noGrp="1"/>
          </p:cNvSpPr>
          <p:nvPr/>
        </p:nvSpPr>
        <p:spPr>
          <a:xfrm>
            <a:off x="8191500" y="30289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439150" y="29146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案例二：近30天交易趋势折线图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marker"/>
          <p:cNvSpPr>
            <a:spLocks noGrp="1"/>
          </p:cNvSpPr>
          <p:nvPr/>
        </p:nvSpPr>
        <p:spPr>
          <a:xfrm>
            <a:off x="8191500" y="36195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39150" y="35052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双指标量级差异大时自动分双 Y 轴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marker"/>
          <p:cNvSpPr>
            <a:spLocks noGrp="1"/>
          </p:cNvSpPr>
          <p:nvPr/>
        </p:nvSpPr>
        <p:spPr>
          <a:xfrm>
            <a:off x="8191500" y="42100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40957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一键保存到可视化报表复用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功能演示 ：SQL 工作台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7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video-frame"/>
          <p:cNvSpPr>
            <a:spLocks noGrp="1"/>
          </p:cNvSpPr>
          <p:nvPr/>
        </p:nvSpPr>
        <p:spPr>
          <a:xfrm>
            <a:off x="374618" y="1647825"/>
            <a:ext cx="7467600" cy="4217194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6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393668" y="5941219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▶ 点击画面播放演示视频（约 55 秒）：OceanBase 执行 SQL → Agent 生成聚合 SQL → 填入编辑器执行 → 收藏命名 → 历史 / 收藏页签</a:t>
            </a:r>
            <a:endParaRPr sz="1000" b="0">
              <a:solidFill>
                <a:srgbClr val="5A5F6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0" y="1695450"/>
            <a:ext cx="3679317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专业查询体验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marker"/>
          <p:cNvSpPr>
            <a:spLocks noGrp="1"/>
          </p:cNvSpPr>
          <p:nvPr/>
        </p:nvSpPr>
        <p:spPr>
          <a:xfrm>
            <a:off x="8191500" y="24384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439150" y="23241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OceanBase 数据源即连即查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marker"/>
          <p:cNvSpPr>
            <a:spLocks noGrp="1"/>
          </p:cNvSpPr>
          <p:nvPr/>
        </p:nvSpPr>
        <p:spPr>
          <a:xfrm>
            <a:off x="8191500" y="30289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439150" y="29146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Agent 一句话生成聚合 SQL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marker"/>
          <p:cNvSpPr>
            <a:spLocks noGrp="1"/>
          </p:cNvSpPr>
          <p:nvPr/>
        </p:nvSpPr>
        <p:spPr>
          <a:xfrm>
            <a:off x="8191500" y="36195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39150" y="35052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填入编辑器后一键执行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marker"/>
          <p:cNvSpPr>
            <a:spLocks noGrp="1"/>
          </p:cNvSpPr>
          <p:nvPr/>
        </p:nvSpPr>
        <p:spPr>
          <a:xfrm>
            <a:off x="8191500" y="42100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40957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执行历史留痕 + SQL 收藏复用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功能演示 ：数据操作安全控制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8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video-frame"/>
          <p:cNvSpPr>
            <a:spLocks noGrp="1"/>
          </p:cNvSpPr>
          <p:nvPr/>
        </p:nvSpPr>
        <p:spPr>
          <a:xfrm>
            <a:off x="374618" y="1647825"/>
            <a:ext cx="7467600" cy="4217194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6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393668" y="5941219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▶ 点击画面播放演示视频（约 52 秒）：UPDATE 确认执行 → Agent 修改字段长度确认执行 → 删除表取消执行</a:t>
            </a:r>
            <a:endParaRPr sz="1000" b="0">
              <a:solidFill>
                <a:srgbClr val="5A5F6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0" y="1695450"/>
            <a:ext cx="3679317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分级授权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marker"/>
          <p:cNvSpPr>
            <a:spLocks noGrp="1"/>
          </p:cNvSpPr>
          <p:nvPr/>
        </p:nvSpPr>
        <p:spPr>
          <a:xfrm>
            <a:off x="8191500" y="24384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439150" y="23241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READ：只读查询自动执行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marker"/>
          <p:cNvSpPr>
            <a:spLocks noGrp="1"/>
          </p:cNvSpPr>
          <p:nvPr/>
        </p:nvSpPr>
        <p:spPr>
          <a:xfrm>
            <a:off x="8191500" y="30289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439150" y="29146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DML：UPDATE 确认后才生效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marker"/>
          <p:cNvSpPr>
            <a:spLocks noGrp="1"/>
          </p:cNvSpPr>
          <p:nvPr/>
        </p:nvSpPr>
        <p:spPr>
          <a:xfrm>
            <a:off x="8191500" y="36195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39150" y="35052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DDL：红色危险提示 + 逐条确认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marker"/>
          <p:cNvSpPr>
            <a:spLocks noGrp="1"/>
          </p:cNvSpPr>
          <p:nvPr/>
        </p:nvSpPr>
        <p:spPr>
          <a:xfrm>
            <a:off x="8191500" y="42100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40957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取消即中止，全部写入审计日志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功能演示 ：运维监控与日志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9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video-frame"/>
          <p:cNvSpPr>
            <a:spLocks noGrp="1"/>
          </p:cNvSpPr>
          <p:nvPr/>
        </p:nvSpPr>
        <p:spPr>
          <a:xfrm>
            <a:off x="374618" y="1647825"/>
            <a:ext cx="7467600" cy="4217194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6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393668" y="5941219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▶ 点击画面播放演示视频（约 32 秒）：连接概览 → 审计日志 → 慢查询（耗时 ≥ 100ms） → 表结构对比（Oracle SIT vs UAT）</a:t>
            </a:r>
            <a:endParaRPr sz="1000" b="0">
              <a:solidFill>
                <a:srgbClr val="5A5F6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0" y="1695450"/>
            <a:ext cx="3679317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运维与合规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marker"/>
          <p:cNvSpPr>
            <a:spLocks noGrp="1"/>
          </p:cNvSpPr>
          <p:nvPr/>
        </p:nvSpPr>
        <p:spPr>
          <a:xfrm>
            <a:off x="8191500" y="24384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439150" y="23241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连接概览：查询量 / 耗时 / 成功率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marker"/>
          <p:cNvSpPr>
            <a:spLocks noGrp="1"/>
          </p:cNvSpPr>
          <p:nvPr/>
        </p:nvSpPr>
        <p:spPr>
          <a:xfrm>
            <a:off x="8191500" y="30289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439150" y="29146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审计日志：登录与 SQL 全量留痕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marker"/>
          <p:cNvSpPr>
            <a:spLocks noGrp="1"/>
          </p:cNvSpPr>
          <p:nvPr/>
        </p:nvSpPr>
        <p:spPr>
          <a:xfrm>
            <a:off x="8191500" y="36195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39150" y="35052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慢查询：阈值可调（演示 100ms）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marker"/>
          <p:cNvSpPr>
            <a:spLocks noGrp="1"/>
          </p:cNvSpPr>
          <p:nvPr/>
        </p:nvSpPr>
        <p:spPr>
          <a:xfrm>
            <a:off x="8191500" y="42100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40957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表结构对比：SIT vs UAT 差异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功能演示 ：数据库与大模型连接管理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11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video-frame"/>
          <p:cNvSpPr>
            <a:spLocks noGrp="1"/>
          </p:cNvSpPr>
          <p:nvPr/>
        </p:nvSpPr>
        <p:spPr>
          <a:xfrm>
            <a:off x="374618" y="1647825"/>
            <a:ext cx="7467600" cy="4217194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6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393668" y="5941219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▶ 点击画面播放演示视频（约 23 秒）：数据库连接配置一键测连 → 大模型连接配置测试第二个模型</a:t>
            </a:r>
            <a:endParaRPr sz="1000" b="0">
              <a:solidFill>
                <a:srgbClr val="5A5F6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0" y="1695450"/>
            <a:ext cx="3679317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连接即资产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marker"/>
          <p:cNvSpPr>
            <a:spLocks noGrp="1"/>
          </p:cNvSpPr>
          <p:nvPr/>
        </p:nvSpPr>
        <p:spPr>
          <a:xfrm>
            <a:off x="8191500" y="24384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439150" y="23241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数据库连接：一键「测试」即返回连通性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marker"/>
          <p:cNvSpPr>
            <a:spLocks noGrp="1"/>
          </p:cNvSpPr>
          <p:nvPr/>
        </p:nvSpPr>
        <p:spPr>
          <a:xfrm>
            <a:off x="8191500" y="30289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439150" y="29146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覆盖 SQLite / Oracle / MySQL / OceanBase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marker"/>
          <p:cNvSpPr>
            <a:spLocks noGrp="1"/>
          </p:cNvSpPr>
          <p:nvPr/>
        </p:nvSpPr>
        <p:spPr>
          <a:xfrm>
            <a:off x="8191500" y="36195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39150" y="35052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大模型：OpenAI、Claude、Ollama 三类提供方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marker"/>
          <p:cNvSpPr>
            <a:spLocks noGrp="1"/>
          </p:cNvSpPr>
          <p:nvPr/>
        </p:nvSpPr>
        <p:spPr>
          <a:xfrm>
            <a:off x="8191500" y="42100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40957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API Key 加密存储，可指定默认模型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功能演示 ：用户与角色管理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12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video-frame"/>
          <p:cNvSpPr>
            <a:spLocks noGrp="1"/>
          </p:cNvSpPr>
          <p:nvPr/>
        </p:nvSpPr>
        <p:spPr>
          <a:xfrm>
            <a:off x="374618" y="1647825"/>
            <a:ext cx="7467600" cy="4217194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6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393668" y="5941219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▶ 点击画面播放演示视频（约 23 秒）：用户管理 → 角色管理 → 依次查看技术管理 / 技术查询 / 业务查询</a:t>
            </a:r>
            <a:endParaRPr sz="1000" b="0">
              <a:solidFill>
                <a:srgbClr val="5A5F6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0" y="1695450"/>
            <a:ext cx="3679317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权限可控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marker"/>
          <p:cNvSpPr>
            <a:spLocks noGrp="1"/>
          </p:cNvSpPr>
          <p:nvPr/>
        </p:nvSpPr>
        <p:spPr>
          <a:xfrm>
            <a:off x="8191500" y="24384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439150" y="23241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用户管理：账号 / 角色 / 状态 / 重置密码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marker"/>
          <p:cNvSpPr>
            <a:spLocks noGrp="1"/>
          </p:cNvSpPr>
          <p:nvPr/>
        </p:nvSpPr>
        <p:spPr>
          <a:xfrm>
            <a:off x="8191500" y="30289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439150" y="29146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角色管理：</a:t>
            </a: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按角色控制</a:t>
            </a: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权限</a:t>
            </a:r>
            <a:endParaRPr lang="zh-CN"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marker"/>
          <p:cNvSpPr>
            <a:spLocks noGrp="1"/>
          </p:cNvSpPr>
          <p:nvPr/>
        </p:nvSpPr>
        <p:spPr>
          <a:xfrm>
            <a:off x="8191500" y="36195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39150" y="35052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功能权限按模块分组勾选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marker"/>
          <p:cNvSpPr>
            <a:spLocks noGrp="1"/>
          </p:cNvSpPr>
          <p:nvPr/>
        </p:nvSpPr>
        <p:spPr>
          <a:xfrm>
            <a:off x="8191500" y="42100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40957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>
                <a:sym typeface="+mn-ea"/>
              </a:rPr>
              <a:t>先勾选权限，再由路由守卫拦截：前端菜单与后端接口双重校验</a:t>
            </a:r>
            <a:endParaRPr lang="en-US"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agenda-num-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14400" y="3829050"/>
            <a:ext cx="104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03</a:t>
            </a:r>
            <a:endParaRPr sz="34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6" name="agenda-title-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190750" y="38862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技术亮点</a:t>
            </a:r>
            <a:endParaRPr sz="1950" b="1">
              <a:solidFill>
                <a:srgbClr val="0B183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7" name="agenda-desc-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190750" y="42672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en-US"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AI </a:t>
            </a:r>
            <a:r>
              <a: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Agent 工具调用、安全执行、跨库适配</a:t>
            </a:r>
            <a:endParaRPr sz="12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kicker"/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0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核心亮点 · AI Agent</a:t>
            </a:r>
            <a:endParaRPr sz="10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把自然语言变成可信、可解释、可执行的 SQL</a:t>
            </a:r>
            <a:endParaRPr sz="2625" b="1">
              <a:solidFill>
                <a:srgbClr val="0F172A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6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" name="agent-overview-intro"/>
          <p:cNvSpPr>
            <a:spLocks noGrp="1"/>
          </p:cNvSpPr>
          <p:nvPr/>
        </p:nvSpPr>
        <p:spPr>
          <a:xfrm>
            <a:off x="685800" y="1504950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350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350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Agent 不是简单调用大模型，而是围绕 Schema、工具与安全策略构建的查询推理系统。</a:t>
            </a:r>
            <a:endParaRPr sz="1350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graphicFrame>
        <p:nvGraphicFramePr>
          <p:cNvPr id="16" name="表格 15"/>
          <p:cNvGraphicFramePr/>
          <p:nvPr/>
        </p:nvGraphicFramePr>
        <p:xfrm>
          <a:off x="685800" y="2095500"/>
          <a:ext cx="10820400" cy="3429000"/>
        </p:xfrm>
        <a:graphic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能力</a:t>
                      </a:r>
                      <a:endParaRPr sz="12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价值</a:t>
                      </a:r>
                      <a:endParaRPr sz="12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自然语言 → SQL</a:t>
                      </a:r>
                      <a:endParaRPr sz="1200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输入问题，自动生成对应 SQL</a:t>
                      </a:r>
                      <a:endParaRPr sz="1200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降低取数门槛</a:t>
                      </a:r>
                      <a:endParaRPr sz="1200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Schema 感知</a:t>
                      </a:r>
                      <a:endParaRPr sz="1200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自动获取表结构作为上下文</a:t>
                      </a:r>
                      <a:endParaRPr sz="1200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提升生成准确率</a:t>
                      </a:r>
                      <a:endParaRPr sz="1200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多轮对话</a:t>
                      </a:r>
                      <a:endParaRPr sz="1200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保留上下文，可追问与调整</a:t>
                      </a:r>
                      <a:endParaRPr sz="1200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更自然的交互</a:t>
                      </a:r>
                      <a:endParaRPr sz="1200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SQL 解释与优化</a:t>
                      </a:r>
                      <a:endParaRPr sz="1200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解释含义、分析执行计划</a:t>
                      </a:r>
                      <a:endParaRPr sz="1200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帮助理解与调优</a:t>
                      </a:r>
                      <a:endParaRPr sz="1200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流式输出</a:t>
                      </a:r>
                      <a:endParaRPr sz="1200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SSE 实时返回思考过程与结果</a:t>
                      </a:r>
                      <a:endParaRPr sz="1200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体验透明</a:t>
                      </a:r>
                      <a:endParaRPr sz="1200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kicker"/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0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Agent 执行链路</a:t>
            </a:r>
            <a:endParaRPr sz="10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工具调用 + 失败重试 + few-shot，让结果更可靠</a:t>
            </a:r>
            <a:endParaRPr sz="2625" b="1">
              <a:solidFill>
                <a:srgbClr val="0F172A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7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" name="agent-node-0"/>
          <p:cNvSpPr>
            <a:spLocks noGrp="1"/>
          </p:cNvSpPr>
          <p:nvPr/>
        </p:nvSpPr>
        <p:spPr>
          <a:xfrm>
            <a:off x="685800" y="1637665"/>
            <a:ext cx="1809750" cy="704850"/>
          </a:xfrm>
          <a:prstGeom prst="roundRect">
            <a:avLst>
              <a:gd name="adj" fmla="val 16216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agent-node-title-0"/>
          <p:cNvSpPr>
            <a:spLocks noGrp="1"/>
          </p:cNvSpPr>
          <p:nvPr/>
        </p:nvSpPr>
        <p:spPr>
          <a:xfrm>
            <a:off x="800100" y="1771015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ctr">
              <a:lnSpc>
                <a:spcPct val="125000"/>
              </a:lnSpc>
              <a:buNone/>
              <a:defRPr sz="150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50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用户提问</a:t>
            </a:r>
            <a:endParaRPr sz="1500" b="1">
              <a:solidFill>
                <a:srgbClr val="0B183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" name="agent-node-desc-0"/>
          <p:cNvSpPr>
            <a:spLocks noGrp="1"/>
          </p:cNvSpPr>
          <p:nvPr/>
        </p:nvSpPr>
        <p:spPr>
          <a:xfrm>
            <a:off x="781050" y="207581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ctr">
              <a:lnSpc>
                <a:spcPct val="125000"/>
              </a:lnSpc>
              <a:buNone/>
              <a:defRPr sz="9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自然语言描述需求</a:t>
            </a:r>
            <a:endParaRPr sz="9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0" name="agent-arrow-0"/>
          <p:cNvSpPr>
            <a:spLocks noGrp="1"/>
          </p:cNvSpPr>
          <p:nvPr/>
        </p:nvSpPr>
        <p:spPr>
          <a:xfrm>
            <a:off x="2533650" y="1866265"/>
            <a:ext cx="209550" cy="247650"/>
          </a:xfrm>
          <a:prstGeom prst="rightArrow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11" name="agent-node-1"/>
          <p:cNvSpPr>
            <a:spLocks noGrp="1"/>
          </p:cNvSpPr>
          <p:nvPr/>
        </p:nvSpPr>
        <p:spPr>
          <a:xfrm>
            <a:off x="2781300" y="1637665"/>
            <a:ext cx="1809750" cy="704850"/>
          </a:xfrm>
          <a:prstGeom prst="roundRect">
            <a:avLst>
              <a:gd name="adj" fmla="val 16216"/>
            </a:avLst>
          </a:prstGeom>
          <a:solidFill>
            <a:srgbClr val="0B5FFF"/>
          </a:solidFill>
          <a:ln w="9525">
            <a:noFill/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agent-node-title-1"/>
          <p:cNvSpPr>
            <a:spLocks noGrp="1"/>
          </p:cNvSpPr>
          <p:nvPr/>
        </p:nvSpPr>
        <p:spPr>
          <a:xfrm>
            <a:off x="2895600" y="1771015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500" b="1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rPr>
              <a:t>Agent 推理</a:t>
            </a:r>
            <a:endParaRPr sz="1500" b="1">
              <a:solidFill>
                <a:srgbClr val="FFF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3" name="agent-node-desc-1"/>
          <p:cNvSpPr>
            <a:spLocks noGrp="1"/>
          </p:cNvSpPr>
          <p:nvPr/>
        </p:nvSpPr>
        <p:spPr>
          <a:xfrm>
            <a:off x="2876550" y="207581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75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rPr>
              <a:t>Schema 感知 + 历史 few-shot</a:t>
            </a:r>
            <a:endParaRPr sz="975" b="0">
              <a:solidFill>
                <a:srgbClr val="DBEAFE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4" name="agent-arrow-1"/>
          <p:cNvSpPr>
            <a:spLocks noGrp="1"/>
          </p:cNvSpPr>
          <p:nvPr/>
        </p:nvSpPr>
        <p:spPr>
          <a:xfrm>
            <a:off x="4629150" y="1866265"/>
            <a:ext cx="209550" cy="247650"/>
          </a:xfrm>
          <a:prstGeom prst="rightArrow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15" name="agent-node-2"/>
          <p:cNvSpPr>
            <a:spLocks noGrp="1"/>
          </p:cNvSpPr>
          <p:nvPr/>
        </p:nvSpPr>
        <p:spPr>
          <a:xfrm>
            <a:off x="4876800" y="1637665"/>
            <a:ext cx="1809750" cy="704850"/>
          </a:xfrm>
          <a:prstGeom prst="roundRect">
            <a:avLst>
              <a:gd name="adj" fmla="val 16216"/>
            </a:avLst>
          </a:prstGeom>
          <a:solidFill>
            <a:srgbClr val="0B5FFF"/>
          </a:solidFill>
          <a:ln w="9525">
            <a:noFill/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agent-node-title-2"/>
          <p:cNvSpPr>
            <a:spLocks noGrp="1"/>
          </p:cNvSpPr>
          <p:nvPr/>
        </p:nvSpPr>
        <p:spPr>
          <a:xfrm>
            <a:off x="4991100" y="1771015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500" b="1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rPr>
              <a:t>工具调用</a:t>
            </a:r>
            <a:endParaRPr sz="1500" b="1">
              <a:solidFill>
                <a:srgbClr val="FFF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7" name="agent-node-desc-2"/>
          <p:cNvSpPr>
            <a:spLocks noGrp="1"/>
          </p:cNvSpPr>
          <p:nvPr/>
        </p:nvSpPr>
        <p:spPr>
          <a:xfrm>
            <a:off x="4972050" y="207581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75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rPr>
              <a:t>表结构 / 采样 / EXPLAIN</a:t>
            </a:r>
            <a:endParaRPr sz="975" b="0">
              <a:solidFill>
                <a:srgbClr val="DBEAFE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8" name="agent-arrow-2"/>
          <p:cNvSpPr>
            <a:spLocks noGrp="1"/>
          </p:cNvSpPr>
          <p:nvPr/>
        </p:nvSpPr>
        <p:spPr>
          <a:xfrm>
            <a:off x="6724650" y="1866265"/>
            <a:ext cx="209550" cy="247650"/>
          </a:xfrm>
          <a:prstGeom prst="rightArrow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19" name="agent-node-3"/>
          <p:cNvSpPr>
            <a:spLocks noGrp="1"/>
          </p:cNvSpPr>
          <p:nvPr/>
        </p:nvSpPr>
        <p:spPr>
          <a:xfrm>
            <a:off x="6972300" y="1637665"/>
            <a:ext cx="1809750" cy="704850"/>
          </a:xfrm>
          <a:prstGeom prst="roundRect">
            <a:avLst>
              <a:gd name="adj" fmla="val 16216"/>
            </a:avLst>
          </a:prstGeom>
          <a:solidFill>
            <a:srgbClr val="0B5FFF"/>
          </a:solidFill>
          <a:ln w="9525">
            <a:noFill/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0" name="agent-node-title-3"/>
          <p:cNvSpPr>
            <a:spLocks noGrp="1"/>
          </p:cNvSpPr>
          <p:nvPr/>
        </p:nvSpPr>
        <p:spPr>
          <a:xfrm>
            <a:off x="7086600" y="1771015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500" b="1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rPr>
              <a:t>生成 SQL</a:t>
            </a:r>
            <a:endParaRPr sz="1500" b="1">
              <a:solidFill>
                <a:srgbClr val="FFF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1" name="agent-node-desc-3"/>
          <p:cNvSpPr>
            <a:spLocks noGrp="1"/>
          </p:cNvSpPr>
          <p:nvPr/>
        </p:nvSpPr>
        <p:spPr>
          <a:xfrm>
            <a:off x="7067550" y="207581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75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rPr>
              <a:t>只读查询或写操作</a:t>
            </a:r>
            <a:endParaRPr sz="975" b="0">
              <a:solidFill>
                <a:srgbClr val="DBEAFE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2" name="agent-arrow-3"/>
          <p:cNvSpPr>
            <a:spLocks noGrp="1"/>
          </p:cNvSpPr>
          <p:nvPr/>
        </p:nvSpPr>
        <p:spPr>
          <a:xfrm>
            <a:off x="8820150" y="1866265"/>
            <a:ext cx="209550" cy="247650"/>
          </a:xfrm>
          <a:prstGeom prst="rightArrow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23" name="agent-node-4"/>
          <p:cNvSpPr>
            <a:spLocks noGrp="1"/>
          </p:cNvSpPr>
          <p:nvPr/>
        </p:nvSpPr>
        <p:spPr>
          <a:xfrm>
            <a:off x="9067800" y="1637665"/>
            <a:ext cx="1809750" cy="704850"/>
          </a:xfrm>
          <a:prstGeom prst="roundRect">
            <a:avLst>
              <a:gd name="adj" fmla="val 16216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4" name="agent-node-title-4"/>
          <p:cNvSpPr>
            <a:spLocks noGrp="1"/>
          </p:cNvSpPr>
          <p:nvPr/>
        </p:nvSpPr>
        <p:spPr>
          <a:xfrm>
            <a:off x="9182100" y="1771015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ctr">
              <a:lnSpc>
                <a:spcPct val="125000"/>
              </a:lnSpc>
              <a:buNone/>
              <a:defRPr sz="150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50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安全执行</a:t>
            </a:r>
            <a:endParaRPr sz="1500" b="1">
              <a:solidFill>
                <a:srgbClr val="0B183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5" name="agent-node-desc-4"/>
          <p:cNvSpPr>
            <a:spLocks noGrp="1"/>
          </p:cNvSpPr>
          <p:nvPr/>
        </p:nvSpPr>
        <p:spPr>
          <a:xfrm>
            <a:off x="9163050" y="207581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ctr">
              <a:lnSpc>
                <a:spcPct val="125000"/>
              </a:lnSpc>
              <a:buNone/>
              <a:defRPr sz="9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结果 / 图表 / 解释</a:t>
            </a:r>
            <a:endParaRPr sz="9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93668" y="2663793"/>
            <a:ext cx="3568732" cy="29718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03218" y="2854293"/>
            <a:ext cx="3149632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工具调用</a:t>
            </a:r>
            <a:endParaRPr sz="24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03218" y="3254343"/>
            <a:ext cx="3149632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list_tables、get_columns、sample_data、explain 四个工具按需调用，最多 3 轮。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311682" y="2663793"/>
            <a:ext cx="3568732" cy="29718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4521232" y="2854293"/>
            <a:ext cx="3149632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失败</a:t>
            </a:r>
            <a:r>
              <a:rPr lang="zh-CN"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重试</a:t>
            </a:r>
            <a:endParaRPr lang="zh-CN" sz="24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521232" y="3254343"/>
            <a:ext cx="3149632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READ 查询执行失败时，自动把错误回传给 LLM 修正并重试</a:t>
            </a:r>
            <a:r>
              <a:rPr lang="en-US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（</a:t>
            </a:r>
            <a:r>
              <a:rPr lang="zh-CN" altLang="en-US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默认最多重试</a:t>
            </a:r>
            <a:r>
              <a:rPr lang="en-US" alt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3</a:t>
            </a:r>
            <a:r>
              <a:rPr lang="zh-CN" altLang="en-US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次</a:t>
            </a:r>
            <a:r>
              <a:rPr lang="en-US" alt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，</a:t>
            </a:r>
            <a:r>
              <a:rPr lang="zh-CN" altLang="en-US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可设置</a:t>
            </a:r>
            <a:r>
              <a:rPr lang="en-US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）</a:t>
            </a: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229695" y="2663793"/>
            <a:ext cx="3568732" cy="29718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439245" y="2854293"/>
            <a:ext cx="3149632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经验复用</a:t>
            </a:r>
            <a:endParaRPr sz="24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439245" y="3254343"/>
            <a:ext cx="3149632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历史成功 SQL 作为 few-shot</a:t>
            </a:r>
            <a:r>
              <a:rPr lang="en-US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（</a:t>
            </a:r>
            <a:r>
              <a:rPr lang="zh-CN" altLang="en-US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少量示例</a:t>
            </a:r>
            <a:r>
              <a:rPr lang="en-US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）</a:t>
            </a: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 注入新会话，越用越准。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263493" y="5922645"/>
            <a:ext cx="11404568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不是简单调用大模型，而是把「工具调用、失败自愈、经验复用」做成工程闭环；一次对话通过 SSE 推送 thought / tool / sql / retry / result / chart 等事件，前端逐段渲染。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kicker"/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0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核心亮点 · 安全执行</a:t>
            </a:r>
            <a:endParaRPr sz="10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AI 可以生成 SQL，但不会拥有不受控的写权限</a:t>
            </a:r>
            <a:endParaRPr sz="2625" b="1">
              <a:solidFill>
                <a:srgbClr val="0F172A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8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graphicFrame>
        <p:nvGraphicFramePr>
          <p:cNvPr id="15" name="表格 14"/>
          <p:cNvGraphicFramePr/>
          <p:nvPr/>
        </p:nvGraphicFramePr>
        <p:xfrm>
          <a:off x="685800" y="1638300"/>
          <a:ext cx="10820400" cy="2857500"/>
        </p:xfrm>
        <a:graphic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操作类型</a:t>
                      </a:r>
                      <a:endParaRPr sz="12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授权方式</a:t>
                      </a:r>
                      <a:endParaRPr sz="12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执行说明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SELECT / SHOW / DESC / EXPLAIN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自动执行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只读查询直接返回结果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INSERT / UPDATE / DELETE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手动确认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返回影响预览与 execution_id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CREATE / ALTER / DROP / TRUNCATE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高危确认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红色警告并展示完整 DDL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多条混合 SQL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逐条确认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按 SQL 类型分别处理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  <p:sp>
        <p:nvSpPr>
          <p:cNvPr id="8" name="security-callout"/>
          <p:cNvSpPr>
            <a:spLocks noGrp="1"/>
          </p:cNvSpPr>
          <p:nvPr/>
        </p:nvSpPr>
        <p:spPr>
          <a:xfrm>
            <a:off x="685800" y="4781550"/>
            <a:ext cx="1082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B4530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200" b="1">
                <a:solidFill>
                  <a:srgbClr val="B45309"/>
                </a:solidFill>
                <a:latin typeface="微软雅黑" charset="-122"/>
                <a:ea typeface="微软雅黑" charset="-122"/>
                <a:cs typeface="微软雅黑" charset="-122"/>
              </a:rPr>
              <a:t>execution_id 暂存待确认执行，5 分钟过期；用户确认后再次鉴权，全程审计。</a:t>
            </a:r>
            <a:endParaRPr sz="1200" b="1">
              <a:solidFill>
                <a:srgbClr val="B4530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kicker"/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0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审计与监控</a:t>
            </a:r>
            <a:endParaRPr sz="10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让每一次操作都可追溯、可观察</a:t>
            </a:r>
            <a:endParaRPr sz="2625" b="1">
              <a:solidFill>
                <a:srgbClr val="0F172A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15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" name="audit-surface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5800" y="1524000"/>
            <a:ext cx="5219700" cy="44958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audit-title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90600" y="18097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800" b="1">
                <a:solidFill>
                  <a:srgbClr val="B4530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800" b="1">
                <a:solidFill>
                  <a:srgbClr val="B45309"/>
                </a:solidFill>
                <a:latin typeface="微软雅黑" charset="-122"/>
                <a:ea typeface="微软雅黑" charset="-122"/>
                <a:cs typeface="微软雅黑" charset="-122"/>
              </a:rPr>
              <a:t>审计日志</a:t>
            </a:r>
            <a:endParaRPr sz="1800" b="1">
              <a:solidFill>
                <a:srgbClr val="B4530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" name="audit-list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90600" y="2324100"/>
            <a:ext cx="46101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t>登录、SQL 执行、Agent 动作全量留痕</a:t>
            </a: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t>操作类型、SQL 文本、状态可追溯</a:t>
            </a: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t>导出 CSV / XLSX</a:t>
            </a: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t>audit_retention_days 默认 180 天自动清理</a:t>
            </a:r>
          </a:p>
        </p:txBody>
      </p:sp>
      <p:sp>
        <p:nvSpPr>
          <p:cNvPr id="10" name="monitor-surface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286500" y="1524000"/>
            <a:ext cx="5219700" cy="44958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monitor-title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591300" y="18097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80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80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运维监控</a:t>
            </a:r>
            <a:endParaRPr sz="180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2" name="monitor-list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591300" y="2324100"/>
            <a:ext cx="46101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t>连接概览与慢查询统计</a:t>
            </a: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/>
              <a:t>不通环境</a:t>
            </a:r>
            <a:r>
              <a:t>表结构对比）</a:t>
            </a: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t>定时导出任务状态</a:t>
            </a: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t>/metrics 暴露 Prometheus 指标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技术亮点 ③：安全、审计与可观测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16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3668" y="1466850"/>
            <a:ext cx="11404568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密钥加密、分级授权、全量审计、指标暴露与测试覆盖，构成可交付的企业级完整性。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3668" y="3022568"/>
            <a:ext cx="3568732" cy="29718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3218" y="3213068"/>
            <a:ext cx="3149632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加密与认证</a:t>
            </a:r>
            <a:endParaRPr sz="24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3218" y="3613118"/>
            <a:ext cx="3149632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数据库密码、SSH 私钥、AI Key 经 Fernet 加密入库，接口只返回 has_password / has_key；密码 pbkdf2 哈希，会话使用 httponly Cookie。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311682" y="3022568"/>
            <a:ext cx="3568732" cy="29718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521232" y="3213068"/>
            <a:ext cx="3149632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权限与审计</a:t>
            </a:r>
            <a:endParaRPr sz="24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521232" y="3613118"/>
            <a:ext cx="3149632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按角色控制权限</a:t>
            </a: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；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READ / DML / DDL 分级授权；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登录、SQL、Agent 动作全量留痕</a:t>
            </a:r>
            <a:r>
              <a:rPr lang="en-US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；</a:t>
            </a:r>
            <a:endParaRPr lang="en-US"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>
                <a:sym typeface="+mn-ea"/>
              </a:rPr>
              <a:t>操作类型、SQL 文本、状态可追溯</a:t>
            </a:r>
            <a:r>
              <a:rPr lang="en-US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。</a:t>
            </a:r>
            <a:endParaRPr lang="en-US"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229695" y="3022568"/>
            <a:ext cx="3568732" cy="29718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439245" y="3213068"/>
            <a:ext cx="3149632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可观测与部署</a:t>
            </a:r>
            <a:endParaRPr sz="24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439245" y="3613118"/>
            <a:ext cx="3149632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/metrics 暴露请求数、延迟与 SQL 执行次数；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117 项后端测试 + Playwright E2E；Docker 多阶段构建，单端口一键启动。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17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393668" y="1428750"/>
            <a:ext cx="10953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让每个人都能安全、高效地与数据对话</a:t>
            </a:r>
            <a:endParaRPr sz="3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393668" y="2571750"/>
            <a:ext cx="11404568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393668" y="3905250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下一步：补齐更多数据库对象支持，扩展 Agent 工具（索引建议、慢查询根因分析），增加团队协作与报表订阅。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2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3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4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5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6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7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8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9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0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1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2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3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4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5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6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7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8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9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20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21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22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23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24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25.xml><?xml version="1.0" encoding="utf-8"?>
<p:tagLst xmlns:p="http://schemas.openxmlformats.org/presentationml/2006/main">
  <p:tag name="KSO_WM_DIAGRAM_VIRTUALLY_FRAME" val="{&quot;height&quot;:354,&quot;left&quot;:54,&quot;top&quot;:120,&quot;width&quot;:852}"/>
</p:tagLst>
</file>

<file path=ppt/tags/tag26.xml><?xml version="1.0" encoding="utf-8"?>
<p:tagLst xmlns:p="http://schemas.openxmlformats.org/presentationml/2006/main">
  <p:tag name="KSO_WM_DIAGRAM_VIRTUALLY_FRAME" val="{&quot;height&quot;:354,&quot;left&quot;:54,&quot;top&quot;:120,&quot;width&quot;:852}"/>
</p:tagLst>
</file>

<file path=ppt/tags/tag27.xml><?xml version="1.0" encoding="utf-8"?>
<p:tagLst xmlns:p="http://schemas.openxmlformats.org/presentationml/2006/main">
  <p:tag name="KSO_WM_DIAGRAM_VIRTUALLY_FRAME" val="{&quot;height&quot;:354,&quot;left&quot;:54,&quot;top&quot;:120,&quot;width&quot;:852}"/>
</p:tagLst>
</file>

<file path=ppt/tags/tag28.xml><?xml version="1.0" encoding="utf-8"?>
<p:tagLst xmlns:p="http://schemas.openxmlformats.org/presentationml/2006/main">
  <p:tag name="KSO_WM_DIAGRAM_VIRTUALLY_FRAME" val="{&quot;height&quot;:354,&quot;left&quot;:54,&quot;top&quot;:120,&quot;width&quot;:852}"/>
</p:tagLst>
</file>

<file path=ppt/tags/tag29.xml><?xml version="1.0" encoding="utf-8"?>
<p:tagLst xmlns:p="http://schemas.openxmlformats.org/presentationml/2006/main">
  <p:tag name="KSO_WM_DIAGRAM_VIRTUALLY_FRAME" val="{&quot;height&quot;:354,&quot;left&quot;:54,&quot;top&quot;:120,&quot;width&quot;:852}"/>
</p:tagLst>
</file>

<file path=ppt/tags/tag30.xml><?xml version="1.0" encoding="utf-8"?>
<p:tagLst xmlns:p="http://schemas.openxmlformats.org/presentationml/2006/main">
  <p:tag name="KSO_WM_DIAGRAM_VIRTUALLY_FRAME" val="{&quot;height&quot;:354,&quot;left&quot;:54,&quot;top&quot;:120,&quot;width&quot;:852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4061</Words>
  <Application>WPS 演示</Application>
  <PresentationFormat>Converted Presentation</PresentationFormat>
  <Paragraphs>474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方正雅意黑 GB18030L2</vt:lpstr>
      <vt:lpstr>Helvetica Neue</vt:lpstr>
      <vt:lpstr>宋体</vt:lpstr>
      <vt:lpstr>Arial Unicode MS</vt:lpstr>
      <vt:lpstr>Aptos</vt:lpstr>
      <vt:lpstr>Helvetica Neue</vt:lpstr>
      <vt:lpstr>汉仪书宋二KW</vt:lpstr>
      <vt:lpstr>Calibri</vt:lpstr>
      <vt:lpstr>微软雅黑</vt:lpstr>
      <vt:lpstr>华文仿宋</vt:lpstr>
      <vt:lpstr>ChatGPT</vt:lpstr>
      <vt:lpstr>1_ChatGPT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笨小孩</cp:lastModifiedBy>
  <cp:revision>4</cp:revision>
  <dcterms:created xsi:type="dcterms:W3CDTF">2026-10-14T09:03:25Z</dcterms:created>
  <dcterms:modified xsi:type="dcterms:W3CDTF">2026-10-14T09:03:25Z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2052-12.1.29166.29166</vt:lpwstr>
  </property>
  <property fmtid="{D5CDD505-2E9C-101B-9397-08002B2CF9AE}" pid="3" name="ICV">
    <vt:lpwstr>83EEB1C1C318DFB672F8CE6A7CEC6A45_43</vt:lpwstr>
  </property>
</Properties>
</file>