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84ab1d06eb4ac2" /><Relationship Type="http://schemas.openxmlformats.org/officeDocument/2006/relationships/extended-properties" Target="/docProps/app.xml" Id="R7e9ccfaa534b4744" /><Relationship Type="http://schemas.openxmlformats.org/officeDocument/2006/relationships/officeDocument" Target="/ppt/presentation.xml" Id="R097b1be0ebb542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a0149024dc47b2"/>
    <p:sldMasterId xmlns:r="http://schemas.openxmlformats.org/officeDocument/2006/relationships" id="2147483655" r:id="R60c1707e42334345"/>
  </p:sldMasterIdLst>
  <p:notesMasterIdLst>
    <p:notesMasterId xmlns:r="http://schemas.openxmlformats.org/officeDocument/2006/relationships" r:id="Rb7d959e6c3cb454a"/>
  </p:notesMasterIdLst>
  <p:sldIdLst>
    <p:sldId xmlns:r="http://schemas.openxmlformats.org/officeDocument/2006/relationships" id="256" r:id="Racf900a3586f4842"/>
    <p:sldId xmlns:r="http://schemas.openxmlformats.org/officeDocument/2006/relationships" id="257" r:id="R4918734df9cc4114"/>
    <p:sldId xmlns:r="http://schemas.openxmlformats.org/officeDocument/2006/relationships" id="258" r:id="R1168445fc6284392"/>
    <p:sldId xmlns:r="http://schemas.openxmlformats.org/officeDocument/2006/relationships" id="259" r:id="R76a5538757864168"/>
    <p:sldId xmlns:r="http://schemas.openxmlformats.org/officeDocument/2006/relationships" id="260" r:id="Rfd60fb338a154856"/>
    <p:sldId xmlns:r="http://schemas.openxmlformats.org/officeDocument/2006/relationships" id="261" r:id="R4c26a3e106e44bc0"/>
    <p:sldId xmlns:r="http://schemas.openxmlformats.org/officeDocument/2006/relationships" id="262" r:id="Rcfe1c84f66894edd"/>
    <p:sldId xmlns:r="http://schemas.openxmlformats.org/officeDocument/2006/relationships" id="263" r:id="R3c14d21dd72f4f71"/>
    <p:sldId xmlns:r="http://schemas.openxmlformats.org/officeDocument/2006/relationships" id="264" r:id="R89bb7221341a47af"/>
    <p:sldId xmlns:r="http://schemas.openxmlformats.org/officeDocument/2006/relationships" id="265" r:id="Re1fdda590e8746cd"/>
    <p:sldId xmlns:r="http://schemas.openxmlformats.org/officeDocument/2006/relationships" id="266" r:id="R51ad692d99ce43ea"/>
    <p:sldId xmlns:r="http://schemas.openxmlformats.org/officeDocument/2006/relationships" id="267" r:id="Rfde0d66359324ef3"/>
    <p:sldId xmlns:r="http://schemas.openxmlformats.org/officeDocument/2006/relationships" id="268" r:id="Rb4f2fe0f3cec422f"/>
    <p:sldId xmlns:r="http://schemas.openxmlformats.org/officeDocument/2006/relationships" id="269" r:id="R085da95d72cb479f"/>
    <p:sldId xmlns:r="http://schemas.openxmlformats.org/officeDocument/2006/relationships" id="270" r:id="Rc3a37a47822b4741"/>
    <p:sldId xmlns:r="http://schemas.openxmlformats.org/officeDocument/2006/relationships" id="271" r:id="R7a519446d1c3497c"/>
    <p:sldId xmlns:r="http://schemas.openxmlformats.org/officeDocument/2006/relationships" id="272" r:id="R93ff373473544316"/>
    <p:sldId xmlns:r="http://schemas.openxmlformats.org/officeDocument/2006/relationships" id="273" r:id="R0112671589f34fea"/>
    <p:sldId xmlns:r="http://schemas.openxmlformats.org/officeDocument/2006/relationships" id="274" r:id="Rf565924b15ad4e20"/>
    <p:sldId xmlns:r="http://schemas.openxmlformats.org/officeDocument/2006/relationships" id="275" r:id="Raafe85d129334534"/>
    <p:sldId xmlns:r="http://schemas.openxmlformats.org/officeDocument/2006/relationships" id="276" r:id="R022e4f1cedb04c69"/>
    <p:sldId xmlns:r="http://schemas.openxmlformats.org/officeDocument/2006/relationships" id="277" r:id="Rdf4815983cf240f7"/>
    <p:sldId xmlns:r="http://schemas.openxmlformats.org/officeDocument/2006/relationships" id="278" r:id="R1aa1f2e31fba4ccc"/>
    <p:sldId xmlns:r="http://schemas.openxmlformats.org/officeDocument/2006/relationships" id="279" r:id="Rf5d9b87e125e4777"/>
    <p:sldId xmlns:r="http://schemas.openxmlformats.org/officeDocument/2006/relationships" id="280" r:id="Rcfa2baf45ee24471"/>
    <p:sldId xmlns:r="http://schemas.openxmlformats.org/officeDocument/2006/relationships" id="281" r:id="R3bed09c160af4eaf"/>
    <p:sldId xmlns:r="http://schemas.openxmlformats.org/officeDocument/2006/relationships" id="282" r:id="R409caa2aca274425"/>
  </p:sldIdLst>
  <p:sldSz cx="12192000" cy="6858000"/>
  <p:notesSz cx="6858000" cy="9144000"/>
  <p:defaultTextStyle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701088af2d419d" /><Relationship Type="http://schemas.openxmlformats.org/officeDocument/2006/relationships/slideMaster" Target="/ppt/slideMasters/slideMaster1.xml" Id="R3fa0149024dc47b2" /><Relationship Type="http://schemas.openxmlformats.org/officeDocument/2006/relationships/slideMaster" Target="/ppt/slideMasters/slideMaster2.xml" Id="R60c1707e42334345" /><Relationship Type="http://schemas.openxmlformats.org/officeDocument/2006/relationships/notesMaster" Target="/ppt/notesMasters/notesMaster1.xml" Id="Rb7d959e6c3cb454a" /><Relationship Type="http://schemas.openxmlformats.org/officeDocument/2006/relationships/presProps" Target="/ppt/presProps.xml" Id="R88fca4aae56d4715" /><Relationship Type="http://schemas.openxmlformats.org/officeDocument/2006/relationships/viewProps" Target="/ppt/viewProps.xml" Id="Ra31103e6c5b34733" /><Relationship Type="http://schemas.openxmlformats.org/officeDocument/2006/relationships/tableStyles" Target="/ppt/tableStyles.xml" Id="R4fae6af76c5049cf" /><Relationship Type="http://schemas.openxmlformats.org/officeDocument/2006/relationships/slide" Target="/ppt/slides/slide1.xml" Id="Racf900a3586f4842" /><Relationship Type="http://schemas.openxmlformats.org/officeDocument/2006/relationships/slide" Target="/ppt/slides/slide2.xml" Id="R4918734df9cc4114" /><Relationship Type="http://schemas.openxmlformats.org/officeDocument/2006/relationships/slide" Target="/ppt/slides/slide3.xml" Id="R1168445fc6284392" /><Relationship Type="http://schemas.openxmlformats.org/officeDocument/2006/relationships/slide" Target="/ppt/slides/slide4.xml" Id="R76a5538757864168" /><Relationship Type="http://schemas.openxmlformats.org/officeDocument/2006/relationships/slide" Target="/ppt/slides/slide5.xml" Id="Rfd60fb338a154856" /><Relationship Type="http://schemas.openxmlformats.org/officeDocument/2006/relationships/slide" Target="/ppt/slides/slide6.xml" Id="R4c26a3e106e44bc0" /><Relationship Type="http://schemas.openxmlformats.org/officeDocument/2006/relationships/slide" Target="/ppt/slides/slide7.xml" Id="Rcfe1c84f66894edd" /><Relationship Type="http://schemas.openxmlformats.org/officeDocument/2006/relationships/slide" Target="/ppt/slides/slide8.xml" Id="R3c14d21dd72f4f71" /><Relationship Type="http://schemas.openxmlformats.org/officeDocument/2006/relationships/slide" Target="/ppt/slides/slide9.xml" Id="R89bb7221341a47af" /><Relationship Type="http://schemas.openxmlformats.org/officeDocument/2006/relationships/slide" Target="/ppt/slides/slide10.xml" Id="Re1fdda590e8746cd" /><Relationship Type="http://schemas.openxmlformats.org/officeDocument/2006/relationships/slide" Target="/ppt/slides/slide11.xml" Id="R51ad692d99ce43ea" /><Relationship Type="http://schemas.openxmlformats.org/officeDocument/2006/relationships/slide" Target="/ppt/slides/slide12.xml" Id="Rfde0d66359324ef3" /><Relationship Type="http://schemas.openxmlformats.org/officeDocument/2006/relationships/slide" Target="/ppt/slides/slide13.xml" Id="Rb4f2fe0f3cec422f" /><Relationship Type="http://schemas.openxmlformats.org/officeDocument/2006/relationships/slide" Target="/ppt/slides/slide14.xml" Id="R085da95d72cb479f" /><Relationship Type="http://schemas.openxmlformats.org/officeDocument/2006/relationships/slide" Target="/ppt/slides/slide15.xml" Id="Rc3a37a47822b4741" /><Relationship Type="http://schemas.openxmlformats.org/officeDocument/2006/relationships/slide" Target="/ppt/slides/slide16.xml" Id="R7a519446d1c3497c" /><Relationship Type="http://schemas.openxmlformats.org/officeDocument/2006/relationships/slide" Target="/ppt/slides/slide17.xml" Id="R93ff373473544316" /><Relationship Type="http://schemas.openxmlformats.org/officeDocument/2006/relationships/slide" Target="/ppt/slides/slide18.xml" Id="R0112671589f34fea" /><Relationship Type="http://schemas.openxmlformats.org/officeDocument/2006/relationships/slide" Target="/ppt/slides/slide19.xml" Id="Rf565924b15ad4e20" /><Relationship Type="http://schemas.openxmlformats.org/officeDocument/2006/relationships/slide" Target="/ppt/slides/slide20.xml" Id="Raafe85d129334534" /><Relationship Type="http://schemas.openxmlformats.org/officeDocument/2006/relationships/slide" Target="/ppt/slides/slide21.xml" Id="R022e4f1cedb04c69" /><Relationship Type="http://schemas.openxmlformats.org/officeDocument/2006/relationships/slide" Target="/ppt/slides/slide22.xml" Id="Rdf4815983cf240f7" /><Relationship Type="http://schemas.openxmlformats.org/officeDocument/2006/relationships/slide" Target="/ppt/slides/slide23.xml" Id="R1aa1f2e31fba4ccc" /><Relationship Type="http://schemas.openxmlformats.org/officeDocument/2006/relationships/slide" Target="/ppt/slides/slide24.xml" Id="Rf5d9b87e125e4777" /><Relationship Type="http://schemas.openxmlformats.org/officeDocument/2006/relationships/slide" Target="/ppt/slides/slide25.xml" Id="Rcfa2baf45ee24471" /><Relationship Type="http://schemas.openxmlformats.org/officeDocument/2006/relationships/slide" Target="/ppt/slides/slide26.xml" Id="R3bed09c160af4eaf" /><Relationship Type="http://schemas.openxmlformats.org/officeDocument/2006/relationships/slide" Target="/ppt/slides/slide27.xml" Id="R409caa2aca2744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39d24387fdca483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6b45eb2b6df4dd3" /><Relationship Type="http://schemas.openxmlformats.org/officeDocument/2006/relationships/notesMaster" Target="/ppt/notesMasters/notesMaster1.xml" Id="R8e187170f3674a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c7920595f114783" /><Relationship Type="http://schemas.openxmlformats.org/officeDocument/2006/relationships/notesMaster" Target="/ppt/notesMasters/notesMaster1.xml" Id="R8d25d9bb2c9145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91e140fb8d40b0" /><Relationship Type="http://schemas.openxmlformats.org/officeDocument/2006/relationships/notesMaster" Target="/ppt/notesMasters/notesMaster1.xml" Id="Rafe13825f9c9414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e01ad200214114" /><Relationship Type="http://schemas.openxmlformats.org/officeDocument/2006/relationships/notesMaster" Target="/ppt/notesMasters/notesMaster1.xml" Id="R3f6c9b778bff4ad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c6de4cd89c4f14" /><Relationship Type="http://schemas.openxmlformats.org/officeDocument/2006/relationships/notesMaster" Target="/ppt/notesMasters/notesMaster1.xml" Id="Rffde342dc2b14d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ca9018877745ee" /><Relationship Type="http://schemas.openxmlformats.org/officeDocument/2006/relationships/notesMaster" Target="/ppt/notesMasters/notesMaster1.xml" Id="R3229c5ce0cfd4f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8948a735114fd4" /><Relationship Type="http://schemas.openxmlformats.org/officeDocument/2006/relationships/notesMaster" Target="/ppt/notesMasters/notesMaster1.xml" Id="R0cd4bb19c82545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03a4e0a95b24ac9" /><Relationship Type="http://schemas.openxmlformats.org/officeDocument/2006/relationships/notesMaster" Target="/ppt/notesMasters/notesMaster1.xml" Id="R8577c8200d6749b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5171f3a5cc48f8" /><Relationship Type="http://schemas.openxmlformats.org/officeDocument/2006/relationships/notesMaster" Target="/ppt/notesMasters/notesMaster1.xml" Id="R264d6d5aea3140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a20d27dfe54211" /><Relationship Type="http://schemas.openxmlformats.org/officeDocument/2006/relationships/notesMaster" Target="/ppt/notesMasters/notesMaster1.xml" Id="R2ff7fc7b422e4d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a84313798e54d61" /><Relationship Type="http://schemas.openxmlformats.org/officeDocument/2006/relationships/notesMaster" Target="/ppt/notesMasters/notesMaster1.xml" Id="R8a3ee3817d5d4a4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884ea861d64db4" /><Relationship Type="http://schemas.openxmlformats.org/officeDocument/2006/relationships/notesMaster" Target="/ppt/notesMasters/notesMaster1.xml" Id="R225a24b91b0d44a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0af5d1370d64841" /><Relationship Type="http://schemas.openxmlformats.org/officeDocument/2006/relationships/notesMaster" Target="/ppt/notesMasters/notesMaster1.xml" Id="R5de06954507c40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b1e4bed12c4a91" /><Relationship Type="http://schemas.openxmlformats.org/officeDocument/2006/relationships/notesMaster" Target="/ppt/notesMasters/notesMaster1.xml" Id="R450adc0714394b1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ceaa49f8a9942ef" /><Relationship Type="http://schemas.openxmlformats.org/officeDocument/2006/relationships/notesMaster" Target="/ppt/notesMasters/notesMaster1.xml" Id="R44cc43bf43324ff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5dbaecb177f4df4" /><Relationship Type="http://schemas.openxmlformats.org/officeDocument/2006/relationships/notesMaster" Target="/ppt/notesMasters/notesMaster1.xml" Id="Ra2e5b3eb2c06431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35e31b247244151" /><Relationship Type="http://schemas.openxmlformats.org/officeDocument/2006/relationships/notesMaster" Target="/ppt/notesMasters/notesMaster1.xml" Id="Rba65aec72a7a47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8cb7ca5477400e" /><Relationship Type="http://schemas.openxmlformats.org/officeDocument/2006/relationships/notesMaster" Target="/ppt/notesMasters/notesMaster1.xml" Id="Rea7382bd7a6943e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1e2b93057f9484c" /><Relationship Type="http://schemas.openxmlformats.org/officeDocument/2006/relationships/notesMaster" Target="/ppt/notesMasters/notesMaster1.xml" Id="Rad026d86bf3941a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e2de8835cba429e" /><Relationship Type="http://schemas.openxmlformats.org/officeDocument/2006/relationships/notesMaster" Target="/ppt/notesMasters/notesMaster1.xml" Id="Rdc3ce1cc925348a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cfd4fc9461c7415e" /><Relationship Type="http://schemas.openxmlformats.org/officeDocument/2006/relationships/notesMaster" Target="/ppt/notesMasters/notesMaster1.xml" Id="R4c3ae68eda2e49d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e75addca58446c9" /><Relationship Type="http://schemas.openxmlformats.org/officeDocument/2006/relationships/notesMaster" Target="/ppt/notesMasters/notesMaster1.xml" Id="Rc076c3cb4266413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6544f41c87940e3" /><Relationship Type="http://schemas.openxmlformats.org/officeDocument/2006/relationships/notesMaster" Target="/ppt/notesMasters/notesMaster1.xml" Id="R56e4bc186896444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319f2e569434243" /><Relationship Type="http://schemas.openxmlformats.org/officeDocument/2006/relationships/notesMaster" Target="/ppt/notesMasters/notesMaster1.xml" Id="R7d1ef143768b44f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eeac5fe35f44fed" /><Relationship Type="http://schemas.openxmlformats.org/officeDocument/2006/relationships/notesMaster" Target="/ppt/notesMasters/notesMaster1.xml" Id="R3066bb21d4154551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d1f44e95d984b6b" /><Relationship Type="http://schemas.openxmlformats.org/officeDocument/2006/relationships/notesMaster" Target="/ppt/notesMasters/notesMaster1.xml" Id="R1d4eee0bdd4a4983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52dcf1ce1e04147" /><Relationship Type="http://schemas.openxmlformats.org/officeDocument/2006/relationships/notesMaster" Target="/ppt/notesMasters/notesMaster1.xml" Id="Ra80e1bd534d247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开场控制在 15 秒内：这是一个前后端分离、AI Agent 驱动的数据库查询与运维工作台。</a:t>
            </a:r>
          </a:p>
          <a:p xmlns:a="http://schemas.openxmlformats.org/drawingml/2006/main">
            <a:r>
              <a:t>一句话说清用户价值：不会 SQL 的人也能查询，会 SQL 的人更快。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痛点来源：docs/需求说明书V2.0.md（1.2 目标用户、1.3 核心价值）与功能缺口；对应解法见功能演示页与「工程与治理」章节。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用真实工作流举例：产品经理打开网页，输入“本月新增用户按日分组”，系统生成 SQL、返回结果，并可一键生成图表。</a:t>
            </a:r>
          </a:p>
          <a:p xmlns:a="http://schemas.openxmlformats.org/drawingml/2006/main">
            <a:r>
              <a:t>不要逐条念，重点突出从“会写 SQL”到“会描述需求”的降低门槛。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40 秒），包含两个查询案例：</a:t>
            </a:r>
          </a:p>
          <a:p xmlns:a="http://schemas.openxmlformats.org/drawingml/2006/main">
            <a:r>
              <a:t>案例一：选择「本地演示库 (SQLite)」，提问「查询所有用户信息」，Agent 生成 SELECT id, username, email, age, created_at FROM users 并返回 8 条记录；</a:t>
            </a:r>
          </a:p>
          <a:p xmlns:a="http://schemas.openxmlformats.org/drawingml/2006/main">
            <a:r>
              <a:t>案例二：新建对话并切换到「Oracle（UAT）」，提问「查询所有机构，列出机构号、机构名称、机构层级和所在地区，按机构号排序」，Agent 生成 SELECT ORG_ID, ORG_NAME, ORG_LEVEL, REGION FROM BANK.T_ORG ORDER BY ORG_ID，返回 55 家机构（HEAD/BRANCH/SUB_BRANCH 层级）；结果出来后点击 CSV 将结果集导出（导出成功提示 + 浏览器下载，CSV 共 55 行数据）。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视频为本地运行实例的录屏；数据源为内置演示库（SQLite）与远端 Oracle UAT 库（T_ORG 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60 秒），数据源为 Oracle（UAT）：</a:t>
            </a:r>
          </a:p>
          <a:p xmlns:a="http://schemas.openxmlformats.org/drawingml/2006/main">
            <a:r>
              <a:t>案例一：提问「按分行层级统计近30天各个分行的交易笔数、交易总额，生成图表」，Agent 生成 SELECT o.ORG_NAME AS BRANCH_NAME, COUNT(t.LOG_ID) AS TRANS_CNT, ROUND(SUM(t.AMOUNT), 2) AS TRANS_AMT ... WHERE o.ORG_LEVEL = 'BRANCH' AND t.TRANS_TIME &gt;= TRUNC(SYSDATE) - 30 GROUP BY o.ORG_NAME，返回 6 家分行（360～1380 笔），自动渲染柱状图并点击「保存到可视化报表」；</a:t>
            </a:r>
          </a:p>
          <a:p xmlns:a="http://schemas.openxmlformats.org/drawingml/2006/main">
            <a:r>
              <a:t>案例二：新建对话后提问「近30天成功交易笔数和金额趋势，生成图表」，Agent 生成按 TRANS_TIME 逐日聚合（STATUS=SUCCESS）的 SQL，返回 31 天数据，自动选择折线图并同样保存到可视化报表；</a:t>
            </a:r>
          </a:p>
          <a:p xmlns:a="http://schemas.openxmlformats.org/drawingml/2006/main">
            <a:r>
              <a:t>结尾进入「可视化报表」页，可见刚保存的两张图表（笔数与金额量级差异大时前端自动拆分双 Y 轴）。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视频为本地运行实例的录屏；数据源为远端 Oracle UAT 库（T_TRANS_LOG / T_ORG）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55 秒），完整演示 SQL 工作台与 Agent 协同：</a:t>
            </a:r>
          </a:p>
          <a:p xmlns:a="http://schemas.openxmlformats.org/drawingml/2006/main">
            <a:r>
              <a:t>案例一：数据源切换为「OceanBase（本地）」，在编辑器输入 SELECT * FROM `t_org`; 并点击「▶ 执行」，返回 55 行机构数据；</a:t>
            </a:r>
          </a:p>
          <a:p xmlns:a="http://schemas.openxmlformats.org/drawingml/2006/main">
            <a:r>
              <a:t>案例二：点击右侧竖条展开 AI Agent 面板、新建会话，输入「统计近90天各地区的成功交易笔数和交易金额，按金额从高到低」，Agent 生成 SELECT o.REGION AS REGION, COUNT(t.LOG_ID) AS CNT, ROUND(SUM(t.AMOUNT),2) AS AMT FROM t_trans_log t JOIN t_org o ON o.ORG_ID = t.ORG_ID WHERE UPPER(t.STATUS) = 'SUCCESS' AND t.TRANS_TIME &gt;= NOW() - INTERVAL 90 DAY GROUP BY o.REGION ORDER BY AMT DESC，并给出结论（共 6 个地区，合计约 1.67 万笔 / 16.86 亿元，深圳金额最高）；随后点击「填入编辑器」将 SQL 回填到工作台编辑器，再点右上角「▶ 执行」得到结果集，最后点右上角「收藏」，命名为「近90天各地区的成功交易统计」并保存成功（出现「已收藏」提示）；</a:t>
            </a:r>
          </a:p>
          <a:p xmlns:a="http://schemas.openxmlformats.org/drawingml/2006/main">
            <a:r>
              <a:t>结尾依次切换左侧「历史」页签（本次两条 SQL 的执行记录，含行数与耗时）与「收藏」页签（新增的收藏项排在首位）。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4.4.2.1（bank_db，T_ORG 55 行 / T_TRANS_LOG 10 万行）；Agent 生成 SQL 的模型为 openai · deepseek-v4-flash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52 秒），三个写操作场景均需人工确认：</a:t>
            </a:r>
          </a:p>
          <a:p xmlns:a="http://schemas.openxmlformats.org/drawingml/2006/main">
            <a:r>
              <a:t>案例一（工作台发起 DML）：数据源选「OceanBase（本地）」，执行 UPDATE `t_user` SET `GENDER` = 'F', `UPDATED_AT` = NOW() WHERE `USER_NAME` = '乔华';，弹出「写操作确认」（DML · warning，预览待执行 SQL），点「确认执行」后生效（影响 2 行）；</a:t>
            </a:r>
          </a:p>
          <a:p xmlns:a="http://schemas.openxmlformats.org/drawingml/2006/main">
            <a:r>
              <a:t>案例二（Agent 发起 DDL）：展开右侧 AI Agent、新建会话，输入「把用户表的用户名称字段长度改成300」，Agent 生成 ALTER TABLE `t_user` MODIFY COLUMN `USER_NAME` VARCHAR(300); 并弹出红色「危险操作确认」（DDL · danger），确认后执行；</a:t>
            </a:r>
          </a:p>
          <a:p xmlns:a="http://schemas.openxmlformats.org/drawingml/2006/main">
            <a:r>
              <a:t>案例三（高危操作被拦下）：继续输入「删除用户表」，Agent 生成 DROP TABLE `t_user`，同样红色高危提示，点「取消」后提示「已取消执行」，表未被删除。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视频为本地运行实例的录屏；数据源为 OceanBase CE 4.4.2.1 bank_db（T_USER）；READ 自动执行、DML/DDL 待确认以及 5 分钟过期机制见 services/sql_service.py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32 秒），四个监控能力依次演示：</a:t>
            </a:r>
          </a:p>
          <a:p xmlns:a="http://schemas.openxmlformats.org/drawingml/2006/main">
            <a:r>
              <a:t>第一步：打开「连接概览」，基于执行历史（query_history）统计累计查询 336 次、今日 103 次、 10 个数据源，并列出各库的查询次数、平均/最大耗时、成功率与最近执行时间；</a:t>
            </a:r>
          </a:p>
          <a:p xmlns:a="http://schemas.openxmlformats.org/drawingml/2006/main">
            <a:r>
              <a:t>第二步：切到「审计日志」，查看登录与执行 SQL 的全量记录（含操作类型、风险类型、数据源、用户、IP、SQL），可见上一页演示中被拒绝的 DROP TABLE 也被如实记下（rejected）；</a:t>
            </a:r>
          </a:p>
          <a:p xmlns:a="http://schemas.openxmlformats.org/drawingml/2006/main">
            <a:r>
              <a:t>第三步：切到「慢查询」，把耗时阈值从默认 1000ms 改为 100ms 并点击「查询」，列出超过阈值的慢 SQL（含数据源、耗时、行数、状态、SQL、时间）；</a:t>
            </a:r>
          </a:p>
          <a:p xmlns:a="http://schemas.openxmlformats.org/drawingml/2006/main">
            <a:r>
              <a:t>第四步：切到「表结构对比」，源数据源选 Oracle（SIT）、目标数据源选 Oracle（UAT），点「对比」得到差异：T_ORG 在目标库多出 CREATED_AT 列，T_USER.USER_NAME 由 varchar2(300) 变为 varchar2(100)。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视频为本地运行实例的录屏；数据来自 query_history / audit_logs 与远端 Oracle SIT、UAT 库；慢查询阈值、连接概览与 schema diff 实现见 routers/monitor.py 与 services/metadata_service.py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秒），两步验证连接可用性：</a:t>
            </a:r>
          </a:p>
          <a:p xmlns:a="http://schemas.openxmlformats.org/drawingml/2006/main">
            <a:r>
              <a:t>第一步：打开「设置 · 数据库连接配置」，在连接列表里点击第一个数据源「OceanBase（本地）」的「测试」按钮，弹出「连接测试结果」弹窗，反馈「连接成功」（底层调 POST /api/connections/{id}/connect）；</a:t>
            </a:r>
          </a:p>
          <a:p xmlns:a="http://schemas.openxmlformats.org/drawingml/2006/main">
            <a:r>
              <a:t>第二步：切到「大模型连接配置」，点击第二个模型「Ollama（本地）· qwen3.8:27b」的「测试」按钮，右上角提示「连接成功，模型 qwen3.8:27b 响应正常（2301 ms）」。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视频为本地运行实例的录屏；数据库连接见 routers/connections.py（POST /api/connections/{id}/connect），大模型测试见 routers/system.py（POST /api/config/ai/test）；API Key 经 Fernet 加密存储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23 秒），从用户到角色依次演示：</a:t>
            </a:r>
          </a:p>
          <a:p xmlns:a="http://schemas.openxmlformats.org/drawingml/2006/main">
            <a:r>
              <a:t>第一步：从左侧菜单打开「用户管理」，列出账号、显示名、角色、状态与最后登录时间，操作列可编辑、重置密码、禁用/删除（当前 5 个账号：管理员 与 技术/业务各两类账号）；</a:t>
            </a:r>
          </a:p>
          <a:p xmlns:a="http://schemas.openxmlformats.org/drawingml/2006/main">
            <a:r>
              <a:t>第二步：切到「角色管理」，左侧列出 5 个内置角色（管理员 / 技术管理 / 技术查询 / 业务管理 / 业务查询）；</a:t>
            </a:r>
          </a:p>
          <a:p xmlns:a="http://schemas.openxmlformats.org/drawingml/2006/main">
            <a:r>
              <a:t>第三步：依次点击「技术管理」「技术查询」「业务查询」三个角色，右侧实时切换该角色的名称/编码/说明、「功能权限」按模块分组的勾选状态与角色成员（技术管理 12 项、技术查询 6 项、业务查询 4 项权限，选中行会高亮）。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视频为本地运行实例的录屏；角色与权限码定义见 backend/app/permissions.py（BUILTIN_ROLES / PERMISSIONS），前端路由守卫与菜单按 meta.permission 控制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先给观众一个清晰的路线图：从为什么做，到产品能力、技术亮点，再到工程治理。</a:t>
            </a:r>
          </a:p>
          <a:p xmlns:a="http://schemas.openxmlformats.org/drawingml/2006/main">
            <a:r>
              <a:t>说明后续每一部分都服务于同一个判断：这是一个可运行、可测试、可部署的完整产品。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 Agent 能力的层次：不只是生成 SQL，还包括 Schema 感知、多轮对话、解释优化和流式输出。</a:t>
            </a:r>
          </a:p>
          <a:p xmlns:a="http://schemas.openxmlformats.org/drawingml/2006/main">
            <a:r>
              <a:t>下一页会展开工程实现中的工具调用与失败重试。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重点讲“工具调用 + 失败重试 + few-shot”，这是 AI 编程竞赛最看重的工程深度。</a:t>
            </a:r>
          </a:p>
          <a:p xmlns:a="http://schemas.openxmlformats.org/drawingml/2006/main">
            <a:r>
              <a:t>现场演示：输入“查询本月新增用户数并按日分组”，展示思考过程、SQL、结果和图表生成。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这是项目的信任基础：让 AI 能生成 SQL，但不让 AI 拥有不受控的写权限。</a:t>
            </a:r>
          </a:p>
          <a:p xmlns:a="http://schemas.openxmlformats.org/drawingml/2006/main">
            <a:r>
              <a:t>可对比“直接给 AI 数据库权限”的传统做法，突出安全设计。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章节 04 对应目录里的「工程与治理」：工程质量、安全合规、审计监控、落地推广。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分层依据：backend/app/routers（14 个路由模块）、services（业务编排）、adapters（BaseDBAdapter + registry + pool）、database/models（SQLite app.db）；安全/审计/可观测/交付为横向能力，见 security.py、audit_service.py、main.py /metrics、Dockerfile。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审计与监控是系统可治理的体现，也是企业级部署的关键。</a:t>
            </a:r>
          </a:p>
          <a:p xmlns:a="http://schemas.openxmlformats.org/drawingml/2006/main">
            <a:r>
              <a:t>强调审计导出与自动清理，以及 Prometheus 指标对运维友好。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原「技术亮点 ③」与「审计与监控」内容重叠，现改为安全合规视角：密钥托管、分级授权、审计保留期与交付方式。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数据来源：backend/app/services（三层分层）、backend/tests（167 项 pytest 用例）、backend/pyproject.toml（ruff）、backend/migrations、Dockerfile。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数据来源：Dockerfile/docker-compose（单机单端口）、backend/app/config.py（DEFAULT_DB_TYPES 共 7 类）、backend/app/adapters（统一适配层）。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应答要点均可回溯到实现：backend/app/services/sql_service.py（确认机制）、backend/app/security.py（Fernet/pbkdf2）、backend/app/adapters/registry.py、backend/app/services/agent_service.py（结果截断）。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e2a805be6f40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6f47ad3c943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6110a63fa04d3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16eba43d7f453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a25ae958274f6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90ef3aecb4ffa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641bcfd79941d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062fa11a2b547f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d2fb05babff4ad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241fbb90b9496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532b04cfa74b1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60db99a967440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AA06A7-9197-4BB0-AAD7-489398BAA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F02D52F-3D8B-49DA-860D-CD2DF9B6C9D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23ADEDE-B669-4C47-BAD1-62D54CF44B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52A7363-EAF5-4F1B-841F-AE5EBDBE49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948684C-13E6-4F82-9666-EDA4E9D151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3941F1F-A1AA-4B8F-BAAB-59A5E9ACA8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5CE35AF-28E6-4416-937A-51695DB5EE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3660CA-DF56-459A-83F6-7834608229B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67BF0F0-03FB-46AB-A7F1-79EA35F219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B30A46-CE3C-46D1-BBB0-D1E075EFB3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A7AB76E-9D41-4414-BB7F-2B1E85CF54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56E669A-FC85-4A5A-8567-E5886F23ED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DBF757B-F9AC-4A6B-9499-142A21372E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6928315-A78D-4FC8-A6AB-846B99225E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6ABFD6B-5772-493F-9DAD-1A5CA8098B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2AC4394-E391-452E-B764-FDF6F790FD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F76EC73-8794-4B2F-B640-27EA99411A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9B29C93-C40B-438D-B5CD-2E27B4F5DC8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EDE9DC-0F8B-44F2-9417-329A865C30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CD5FFE-DDB7-4BDE-8BBD-941A84EAC3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2dc3dcde504bb1" /><Relationship Type="http://schemas.openxmlformats.org/officeDocument/2006/relationships/slideLayout" Target="/ppt/slideLayouts/slideLayout1.xml" Id="R6a4c34b7dd194b1d" /><Relationship Type="http://schemas.openxmlformats.org/officeDocument/2006/relationships/slideLayout" Target="/ppt/slideLayouts/slideLayout2.xml" Id="R66fb130737584cb5" /><Relationship Type="http://schemas.openxmlformats.org/officeDocument/2006/relationships/slideLayout" Target="/ppt/slideLayouts/slideLayout3.xml" Id="R29c34b7d93f448fd" /><Relationship Type="http://schemas.openxmlformats.org/officeDocument/2006/relationships/slideLayout" Target="/ppt/slideLayouts/slideLayout4.xml" Id="Ra9dde65d5b6649ab" /><Relationship Type="http://schemas.openxmlformats.org/officeDocument/2006/relationships/slideLayout" Target="/ppt/slideLayouts/slideLayout5.xml" Id="R1c2bfc9651eb4975" /><Relationship Type="http://schemas.openxmlformats.org/officeDocument/2006/relationships/slideLayout" Target="/ppt/slideLayouts/slideLayout6.xml" Id="Rf625501d6e324809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6ec2461db3ca4029" /><Relationship Type="http://schemas.openxmlformats.org/officeDocument/2006/relationships/slideLayout" Target="/ppt/slideLayouts/slideLayout7.xml" Id="Rafea23a9ed694976" /><Relationship Type="http://schemas.openxmlformats.org/officeDocument/2006/relationships/slideLayout" Target="/ppt/slideLayouts/slideLayout8.xml" Id="Rc981c5131c334fcd" /><Relationship Type="http://schemas.openxmlformats.org/officeDocument/2006/relationships/slideLayout" Target="/ppt/slideLayouts/slideLayout9.xml" Id="Rba3a8bab1c0344af" /><Relationship Type="http://schemas.openxmlformats.org/officeDocument/2006/relationships/slideLayout" Target="/ppt/slideLayouts/slideLayout10.xml" Id="R3f36e472d6bf452a" /><Relationship Type="http://schemas.openxmlformats.org/officeDocument/2006/relationships/slideLayout" Target="/ppt/slideLayouts/slideLayout11.xml" Id="R2cb68fe16bf34396" /><Relationship Type="http://schemas.openxmlformats.org/officeDocument/2006/relationships/slideLayout" Target="/ppt/slideLayouts/slideLayout12.xml" Id="R9436af7f9474412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4c34b7dd194b1d"/>
    <p:sldLayoutId xmlns:r="http://schemas.openxmlformats.org/officeDocument/2006/relationships" id="2147483650" r:id="R66fb130737584cb5"/>
    <p:sldLayoutId xmlns:r="http://schemas.openxmlformats.org/officeDocument/2006/relationships" id="2147483651" r:id="R29c34b7d93f448fd"/>
    <p:sldLayoutId xmlns:r="http://schemas.openxmlformats.org/officeDocument/2006/relationships" id="2147483652" r:id="Ra9dde65d5b6649ab"/>
    <p:sldLayoutId xmlns:r="http://schemas.openxmlformats.org/officeDocument/2006/relationships" id="2147483653" r:id="R1c2bfc9651eb4975"/>
    <p:sldLayoutId xmlns:r="http://schemas.openxmlformats.org/officeDocument/2006/relationships" id="2147483654" r:id="Rf625501d6e3248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afea23a9ed694976"/>
    <p:sldLayoutId xmlns:r="http://schemas.openxmlformats.org/officeDocument/2006/relationships" id="2147483657" r:id="Rc981c5131c334fcd"/>
    <p:sldLayoutId xmlns:r="http://schemas.openxmlformats.org/officeDocument/2006/relationships" id="2147483658" r:id="Rba3a8bab1c0344af"/>
    <p:sldLayoutId xmlns:r="http://schemas.openxmlformats.org/officeDocument/2006/relationships" id="2147483659" r:id="R3f36e472d6bf452a"/>
    <p:sldLayoutId xmlns:r="http://schemas.openxmlformats.org/officeDocument/2006/relationships" id="2147483660" r:id="R2cb68fe16bf34396"/>
    <p:sldLayoutId xmlns:r="http://schemas.openxmlformats.org/officeDocument/2006/relationships" id="2147483661" r:id="R9436af7f9474412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d1f3a999814421" /><Relationship Type="http://schemas.openxmlformats.org/officeDocument/2006/relationships/notesSlide" Target="/ppt/notesSlides/notesSlide1.xml" Id="Rde3cde74c4a0404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244de605441c6" /><Relationship Type="http://schemas.openxmlformats.org/officeDocument/2006/relationships/notesSlide" Target="/ppt/notesSlides/notesSlide2.xml" Id="R12ba399a9b3346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cb14a7028fe4c91" /><Relationship Type="http://schemas.openxmlformats.org/officeDocument/2006/relationships/notesSlide" Target="/ppt/notesSlides/notesSlide3.xml" Id="Rf1c8eae91a3748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1daf48c649438c" /><Relationship Type="http://schemas.openxmlformats.org/officeDocument/2006/relationships/notesSlide" Target="/ppt/notesSlides/notesSlide4.xml" Id="Rb90d885f12804a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74bda576a2428b" /><Relationship Type="http://schemas.openxmlformats.org/officeDocument/2006/relationships/notesSlide" Target="/ppt/notesSlides/notesSlide5.xml" Id="R9824c28a804948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6dbb119d02437c" /><Relationship Type="http://schemas.openxmlformats.org/officeDocument/2006/relationships/notesSlide" Target="/ppt/notesSlides/notesSlide6.xml" Id="Rf09bd02e474548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7a4cbf9e3014a52" /><Relationship Type="http://schemas.openxmlformats.org/officeDocument/2006/relationships/notesSlide" Target="/ppt/notesSlides/notesSlide7.xml" Id="R641a31da56db47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dc7df3a63b42da" /><Relationship Type="http://schemas.openxmlformats.org/officeDocument/2006/relationships/notesSlide" Target="/ppt/notesSlides/notesSlide8.xml" Id="R6031b9845e53415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0e3beec0ed4f4f" /><Relationship Type="http://schemas.openxmlformats.org/officeDocument/2006/relationships/image" Target="/ppt/media/image.png" Id="R922e4ade375247f2" /><Relationship Type="http://schemas.openxmlformats.org/officeDocument/2006/relationships/notesSlide" Target="/ppt/notesSlides/notesSlide9.xml" Id="Rbe3a26d8c24a415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6cad784ef45a7" /><Relationship Type="http://schemas.openxmlformats.org/officeDocument/2006/relationships/image" Target="/ppt/media/image2.png" Id="R38ded8cce0d34c29" /><Relationship Type="http://schemas.openxmlformats.org/officeDocument/2006/relationships/notesSlide" Target="/ppt/notesSlides/notesSlide10.xml" Id="R2793b277b259426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f8c25ced16e4d52" /><Relationship Type="http://schemas.openxmlformats.org/officeDocument/2006/relationships/image" Target="/ppt/media/image3.png" Id="R6b96024ab3e24b17" /><Relationship Type="http://schemas.openxmlformats.org/officeDocument/2006/relationships/notesSlide" Target="/ppt/notesSlides/notesSlide11.xml" Id="Re1354ac78e41433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a2a161ea0f425e" /><Relationship Type="http://schemas.openxmlformats.org/officeDocument/2006/relationships/image" Target="/ppt/media/image4.png" Id="Rcbdf8bb298f94328" /><Relationship Type="http://schemas.openxmlformats.org/officeDocument/2006/relationships/notesSlide" Target="/ppt/notesSlides/notesSlide12.xml" Id="R71c6057f3b8f4cd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15ea30ebe44f34" /><Relationship Type="http://schemas.openxmlformats.org/officeDocument/2006/relationships/image" Target="/ppt/media/image5.png" Id="R4fedd799fc4f4bb4" /><Relationship Type="http://schemas.openxmlformats.org/officeDocument/2006/relationships/notesSlide" Target="/ppt/notesSlides/notesSlide13.xml" Id="Ra279a327927341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af56f45df4cdf" /><Relationship Type="http://schemas.openxmlformats.org/officeDocument/2006/relationships/image" Target="/ppt/media/image6.png" Id="R3e1c1f81ef9348e6" /><Relationship Type="http://schemas.openxmlformats.org/officeDocument/2006/relationships/notesSlide" Target="/ppt/notesSlides/notesSlide14.xml" Id="R17867de02d62433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182a4743ef436b" /><Relationship Type="http://schemas.openxmlformats.org/officeDocument/2006/relationships/image" Target="/ppt/media/image7.png" Id="Rff224f659fd945dc" /><Relationship Type="http://schemas.openxmlformats.org/officeDocument/2006/relationships/notesSlide" Target="/ppt/notesSlides/notesSlide15.xml" Id="R9116087154a743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740319b2e64b01" /><Relationship Type="http://schemas.openxmlformats.org/officeDocument/2006/relationships/notesSlide" Target="/ppt/notesSlides/notesSlide16.xml" Id="R7b42808efb7a417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659a5296f84d7f" /><Relationship Type="http://schemas.openxmlformats.org/officeDocument/2006/relationships/notesSlide" Target="/ppt/notesSlides/notesSlide17.xml" Id="Rf8d0589adf0f45b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86d627ac248fd" /><Relationship Type="http://schemas.openxmlformats.org/officeDocument/2006/relationships/notesSlide" Target="/ppt/notesSlides/notesSlide18.xml" Id="Rc2dbb453d13e4a5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3c1d40e40a4bfd" /><Relationship Type="http://schemas.openxmlformats.org/officeDocument/2006/relationships/notesSlide" Target="/ppt/notesSlides/notesSlide19.xml" Id="R8377af8b3fe641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903c5d81194cda" /><Relationship Type="http://schemas.openxmlformats.org/officeDocument/2006/relationships/notesSlide" Target="/ppt/notesSlides/notesSlide20.xml" Id="R979c3efba4dc444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042cbdc7994158" /><Relationship Type="http://schemas.openxmlformats.org/officeDocument/2006/relationships/notesSlide" Target="/ppt/notesSlides/notesSlide21.xml" Id="R20c53a65a1b8438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48e4c2a038493b" /><Relationship Type="http://schemas.openxmlformats.org/officeDocument/2006/relationships/notesSlide" Target="/ppt/notesSlides/notesSlide22.xml" Id="R1b22d03ead2e4ac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f23bb793234c5a" /><Relationship Type="http://schemas.openxmlformats.org/officeDocument/2006/relationships/notesSlide" Target="/ppt/notesSlides/notesSlide23.xml" Id="Rc29de2150376440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cc2d2ba37427e" /><Relationship Type="http://schemas.openxmlformats.org/officeDocument/2006/relationships/notesSlide" Target="/ppt/notesSlides/notesSlide24.xml" Id="Rf5abcfcff00d4ec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b79a8a8d3443c5" /><Relationship Type="http://schemas.openxmlformats.org/officeDocument/2006/relationships/notesSlide" Target="/ppt/notesSlides/notesSlide25.xml" Id="Rdbabea7a634a4914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bf34bebc245413d" /><Relationship Type="http://schemas.openxmlformats.org/officeDocument/2006/relationships/notesSlide" Target="/ppt/notesSlides/notesSlide26.xml" Id="R263c36dafad3441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c851093ebd4dcf" /><Relationship Type="http://schemas.openxmlformats.org/officeDocument/2006/relationships/notesSlide" Target="/ppt/notesSlides/notesSlide27.xml" Id="Rbec07599f2124ad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over-glow">
            <a:extLst xmlns:a="http://schemas.openxmlformats.org/drawingml/2006/main">
              <a:ext uri="{FF2B5EF4-FFF2-40B4-BE49-F238E27FC236}">
                <a16:creationId xmlns:a16="http://schemas.microsoft.com/office/drawing/2014/main" id="{96475DF0-91FA-4D83-9202-93F2D60F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71500"/>
            <a:ext cx="4095750" cy="409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2C55E">
              <a:alpha val="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786BED7-C868-4930-86E0-74535282E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95450"/>
            <a:ext cx="685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DataMind</a:t>
            </a:r>
            <a:endParaRPr sz="4800" b="1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55FA2DB7-9453-448D-B45E-2970BCB0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数据库 Agent Web 应用</a:t>
            </a:r>
            <a:endParaRPr sz="225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cover-claim">
            <a:extLst xmlns:a="http://schemas.openxmlformats.org/drawingml/2006/main">
              <a:ext uri="{FF2B5EF4-FFF2-40B4-BE49-F238E27FC236}">
                <a16:creationId xmlns:a16="http://schemas.microsoft.com/office/drawing/2014/main" id="{BE95F843-07A9-4CE2-8C6D-AED90FDB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52800"/>
            <a:ext cx="723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让不会写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的业务人员也能安全地查数据，会写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SQL 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的技术人员更</a:t>
            </a:r>
            <a:r>
              <a:rPr sz="1500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高效。</a:t>
            </a:r>
            <a:endParaRPr sz="1500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cover-tag-0">
            <a:extLst xmlns:a="http://schemas.openxmlformats.org/drawingml/2006/main">
              <a:ext uri="{FF2B5EF4-FFF2-40B4-BE49-F238E27FC236}">
                <a16:creationId xmlns:a16="http://schemas.microsoft.com/office/drawing/2014/main" id="{DCB7573E-0096-4C4F-80C3-0B2998C3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AI Agent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cover-tag-line-0">
            <a:extLst xmlns:a="http://schemas.openxmlformats.org/drawingml/2006/main">
              <a:ext uri="{FF2B5EF4-FFF2-40B4-BE49-F238E27FC236}">
                <a16:creationId xmlns:a16="http://schemas.microsoft.com/office/drawing/2014/main" id="{5677942D-344D-4456-9949-87234BCD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tag-1">
            <a:extLst xmlns:a="http://schemas.openxmlformats.org/drawingml/2006/main">
              <a:ext uri="{FF2B5EF4-FFF2-40B4-BE49-F238E27FC236}">
                <a16:creationId xmlns:a16="http://schemas.microsoft.com/office/drawing/2014/main" id="{22330EBB-127F-49F3-8FF7-9A170A8FF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Multi-Database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cover-tag-line-1">
            <a:extLst xmlns:a="http://schemas.openxmlformats.org/drawingml/2006/main">
              <a:ext uri="{FF2B5EF4-FFF2-40B4-BE49-F238E27FC236}">
                <a16:creationId xmlns:a16="http://schemas.microsoft.com/office/drawing/2014/main" id="{5D5DFA16-70A3-4BE7-A528-56B0CC2A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over-tag-2">
            <a:extLst xmlns:a="http://schemas.openxmlformats.org/drawingml/2006/main">
              <a:ext uri="{FF2B5EF4-FFF2-40B4-BE49-F238E27FC236}">
                <a16:creationId xmlns:a16="http://schemas.microsoft.com/office/drawing/2014/main" id="{22584E74-B731-447C-B78D-952BF97B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529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93C5FD"/>
                </a:solidFill>
                <a:latin typeface="微软雅黑"/>
                <a:ea typeface="微软雅黑"/>
                <a:cs typeface="微软雅黑"/>
              </a:rPr>
              <a:t>Security First</a:t>
            </a:r>
            <a:endParaRPr sz="1200" b="1">
              <a:solidFill>
                <a:srgbClr val="93C5FD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cover-tag-line-2">
            <a:extLst xmlns:a="http://schemas.openxmlformats.org/drawingml/2006/main">
              <a:ext uri="{FF2B5EF4-FFF2-40B4-BE49-F238E27FC236}">
                <a16:creationId xmlns:a16="http://schemas.microsoft.com/office/drawing/2014/main" id="{02DE3F7A-8423-4CE5-A349-33BDFF5C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4767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2034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80EEFF3-99BD-4193-996A-72CD053C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目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录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564F2C69-6218-46C2-8E41-6D26584D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90A19B6F-735F-448D-8804-3DA16895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C81FFD42-F8E6-4D30-B15A-52FA7C50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4D03CF3-57D5-4A69-942B-4C77711B8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CF0D2F01-8E46-456F-9475-7A08FDBC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2A0A11B6-D1DD-47AC-8958-A80E4279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050CA851-76F2-4D79-A801-D3A1F614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B4AC9968-589D-45D4-918D-666556EF2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527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24C606F9-FFCB-4EDE-A866-D8C19858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4AF6C35E-0EBA-4438-AB2B-695379C9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30446F87-7F5C-4D14-871F-98287231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查询、SQL 工作台、报表、元数据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8AA52654-942A-42D6-9EE5-96F4ECC1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195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3AD9FE69-807F-4A83-A1D4-7A0C68F55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C175F5B5-5EBB-4DCF-BB40-C0D93C09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7C5CF6CC-F218-4988-8737-4511F20DF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84C8F81C-36EF-41B7-9C26-C2B476B7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68520EF8-7F9C-4269-B7F7-705F473C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agenda-title-3">
            <a:extLst xmlns:a="http://schemas.openxmlformats.org/drawingml/2006/main">
              <a:ext uri="{FF2B5EF4-FFF2-40B4-BE49-F238E27FC236}">
                <a16:creationId xmlns:a16="http://schemas.microsoft.com/office/drawing/2014/main" id="{96E34BEF-E9AB-4C1D-8F13-890F80A5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9530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da-desc-3">
            <a:extLst xmlns:a="http://schemas.openxmlformats.org/drawingml/2006/main">
              <a:ext uri="{FF2B5EF4-FFF2-40B4-BE49-F238E27FC236}">
                <a16:creationId xmlns:a16="http://schemas.microsoft.com/office/drawing/2014/main" id="{A6889C72-7345-4D0B-B16E-7D02E025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RBAC、审计、监控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431270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82CD866D-25EF-48E0-9AB2-B1260955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agenda-title-0">
            <a:extLst xmlns:a="http://schemas.openxmlformats.org/drawingml/2006/main">
              <a:ext uri="{FF2B5EF4-FFF2-40B4-BE49-F238E27FC236}">
                <a16:creationId xmlns:a16="http://schemas.microsoft.com/office/drawing/2014/main" id="{86DCE1E0-76AC-4F1E-8BFF-BC8B88DD7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52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项目背景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da-desc-0">
            <a:extLst xmlns:a="http://schemas.openxmlformats.org/drawingml/2006/main">
              <a:ext uri="{FF2B5EF4-FFF2-40B4-BE49-F238E27FC236}">
                <a16:creationId xmlns:a16="http://schemas.microsoft.com/office/drawing/2014/main" id="{5C3F9D9C-1D2C-4601-BFF8-E6DF01A04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痛点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t>定位、目标用户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50788177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项目背景 · 取数痛点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三类角色的取数痛点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业务人员 · 拿不到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取数靠排队，等排期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不懂 SQL，没有自助入口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口径不一致，数据对不上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只能拿到数字，拿不到图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结果不可复用，反复重问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开发人员 · 拿得慢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多数据库客户端来回切换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查线上数据先搭隧道环境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简单 SQL 也要重复手写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误操作没有二次确认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查完只能截图贴群，难复现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 / DBA · 管不住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多环境连接靠文档维护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变更前靠人眼比对结构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慢查询只能逐台登录排查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权限靠人肉维护，粒度粗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· 审计留痕与导出都很困难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9DA76F08-A7D2-4F18-813E-5CE6907AC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为什么需要 DataMind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8C2500B-0AAB-474C-BDFA-29C59439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把高门槛、高风险的数据工作，变成安全可控的对话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FE30F57C-EAA0-4786-BCB3-09715CED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EEB4E77-1312-4550-A6BC-B8C690B4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0782AE01-979F-4C5E-9717-3050A7B61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B045262C-CA61-425F-AAF0-BD221AB8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pain-surface">
            <a:extLst xmlns:a="http://schemas.openxmlformats.org/drawingml/2006/main">
              <a:ext uri="{FF2B5EF4-FFF2-40B4-BE49-F238E27FC236}">
                <a16:creationId xmlns:a16="http://schemas.microsoft.com/office/drawing/2014/main" id="{90E5EDB2-0EAB-4CC2-B7F3-9D4CCFDF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pain-title">
            <a:extLst xmlns:a="http://schemas.openxmlformats.org/drawingml/2006/main">
              <a:ext uri="{FF2B5EF4-FFF2-40B4-BE49-F238E27FC236}">
                <a16:creationId xmlns:a16="http://schemas.microsoft.com/office/drawing/2014/main" id="{A139869C-91DC-4846-A97E-723A1BF0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91C1C"/>
                </a:solidFill>
                <a:latin typeface="微软雅黑"/>
                <a:ea typeface="微软雅黑"/>
                <a:cs typeface="微软雅黑"/>
              </a:rPr>
              <a:t>常见痛点</a:t>
            </a:r>
            <a:endParaRPr sz="1800" b="1">
              <a:solidFill>
                <a:srgbClr val="B91C1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pain-list">
            <a:extLst xmlns:a="http://schemas.openxmlformats.org/drawingml/2006/main">
              <a:ext uri="{FF2B5EF4-FFF2-40B4-BE49-F238E27FC236}">
                <a16:creationId xmlns:a16="http://schemas.microsoft.com/office/drawing/2014/main" id="{408216ED-D0D8-4B82-A9BC-F3B1DFD94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业务人员不会写 SQL，取数依赖技术同事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报表开发和维护</a:t>
            </a:r>
            <a:r>
              <a:rPr sz="1600"/>
              <a:t>：</a:t>
            </a:r>
            <a:r>
              <a:rPr sz="1600"/>
              <a:t>需要提需求排期</a:t>
            </a:r>
            <a:r>
              <a:rPr sz="1600"/>
              <a:t>、</a:t>
            </a:r>
            <a:r>
              <a:rPr sz="1600"/>
              <a:t>开发</a:t>
            </a:r>
            <a:r>
              <a:rPr sz="1600"/>
              <a:t>、</a:t>
            </a:r>
            <a:r>
              <a:rPr sz="1600"/>
              <a:t>测试</a:t>
            </a:r>
            <a:r>
              <a:rPr sz="1600"/>
              <a:t>、</a:t>
            </a:r>
            <a:r>
              <a:rPr sz="1600"/>
              <a:t>上线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数据库切换</a:t>
            </a:r>
            <a:r>
              <a:rPr sz="1600"/>
              <a:t>：</a:t>
            </a:r>
            <a:r>
              <a:rPr sz="1600"/>
              <a:t>不同</a:t>
            </a:r>
            <a:r>
              <a:rPr sz="1600"/>
              <a:t>数据库</a:t>
            </a:r>
            <a:r>
              <a:rPr sz="1600"/>
              <a:t>各有各的客户端</a:t>
            </a:r>
            <a:r>
              <a:rPr sz="1600"/>
              <a:t>，</a:t>
            </a:r>
            <a:r>
              <a:rPr sz="1600"/>
              <a:t>安装切换繁琐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AI 生成 SQL 存在误操作与越权风险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查询结果难以沉淀为报表与文档</a:t>
            </a:r>
            <a:endParaRPr sz="1600"/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rPr sz="1600"/>
              <a:t>用户操作缺少权限和审计</a:t>
            </a:r>
            <a:endParaRPr sz="1600"/>
          </a:p>
        </p:txBody>
      </p:sp>
      <p:sp>
        <p:nvSpPr>
          <p:cNvPr id="10" name="solution-surface">
            <a:extLst xmlns:a="http://schemas.openxmlformats.org/drawingml/2006/main">
              <a:ext uri="{FF2B5EF4-FFF2-40B4-BE49-F238E27FC236}">
                <a16:creationId xmlns:a16="http://schemas.microsoft.com/office/drawing/2014/main" id="{1A1677ED-27FD-4A81-A436-462B97F2C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solution-title">
            <a:extLst xmlns:a="http://schemas.openxmlformats.org/drawingml/2006/main">
              <a:ext uri="{FF2B5EF4-FFF2-40B4-BE49-F238E27FC236}">
                <a16:creationId xmlns:a16="http://schemas.microsoft.com/office/drawing/2014/main" id="{63BA5013-4245-424D-8DB6-022DFCA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DataMind 的解法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solution-list">
            <a:extLst xmlns:a="http://schemas.openxmlformats.org/drawingml/2006/main">
              <a:ext uri="{FF2B5EF4-FFF2-40B4-BE49-F238E27FC236}">
                <a16:creationId xmlns:a16="http://schemas.microsoft.com/office/drawing/2014/main" id="{D1981E38-750D-4F26-B024-734916ED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自然语言查询：</a:t>
            </a:r>
            <a:r>
              <a:rPr sz="1600">
                <a:solidFill>
                  <a:srgbClr val="334155"/>
                </a:solidFill>
              </a:rPr>
              <a:t>输入</a:t>
            </a:r>
            <a:r>
              <a:rPr sz="1600">
                <a:solidFill>
                  <a:srgbClr val="334155"/>
                </a:solidFill>
              </a:rPr>
              <a:t>自然语言</a:t>
            </a:r>
            <a:r>
              <a:rPr sz="1600">
                <a:solidFill>
                  <a:srgbClr val="334155"/>
                </a:solidFill>
              </a:rPr>
              <a:t>，自动生成 SQL</a:t>
            </a:r>
            <a:r>
              <a:rPr sz="1600">
                <a:solidFill>
                  <a:srgbClr val="334155"/>
                </a:solidFill>
              </a:rPr>
              <a:t>并查询数据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自然语言生成报表</a:t>
            </a:r>
            <a:r>
              <a:rPr sz="1600" b="1">
                <a:solidFill>
                  <a:srgbClr val="0B5FFF"/>
                </a:solidFill>
              </a:rPr>
              <a:t>：</a:t>
            </a:r>
            <a:r>
              <a:rPr sz="1600">
                <a:solidFill>
                  <a:srgbClr val="334155"/>
                </a:solidFill>
              </a:rPr>
              <a:t>结果一键沉淀为图表、仪表盘、分享页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统一适配层：</a:t>
            </a:r>
            <a:r>
              <a:rPr sz="1600">
                <a:solidFill>
                  <a:srgbClr val="334155"/>
                </a:solidFill>
              </a:rPr>
              <a:t>屏蔽多数据库方言差异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分级安全执行：</a:t>
            </a:r>
            <a:r>
              <a:rPr sz="1600">
                <a:solidFill>
                  <a:srgbClr val="334155"/>
                </a:solidFill>
              </a:rPr>
              <a:t>只读自动、写操作确认、DDL 高危提示</a:t>
            </a:r>
            <a:endParaRPr sz="1600">
              <a:solidFill>
                <a:srgbClr val="334155"/>
              </a:solidFill>
            </a:endParaRPr>
          </a:p>
          <a:p xmlns:a="http://schemas.openxmlformats.org/drawingml/2006/main">
            <a:pPr indent="0" algn="l">
              <a:lnSpc>
                <a:spcPct val="150000"/>
              </a:lnSpc>
              <a:spcBef>
                <a:spcPts val="0"/>
              </a:spcBef>
              <a:buChar char="•"/>
              <a:defRPr sz="1275" b="0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1600" b="1">
                <a:solidFill>
                  <a:srgbClr val="0B5FFF"/>
                </a:solidFill>
              </a:rPr>
              <a:t>RBAC + 审计：</a:t>
            </a:r>
            <a:r>
              <a:rPr sz="1600">
                <a:solidFill>
                  <a:srgbClr val="334155"/>
                </a:solidFill>
              </a:rPr>
              <a:t>细粒度权限、全量留痕、可导出</a:t>
            </a:r>
            <a:endParaRPr sz="1600">
              <a:solidFill>
                <a:srgbClr val="33415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6396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55EB10-479F-41A2-8D88-A8EBBF839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F022D8-F289-40EF-B98B-746668835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191EB8D9-661E-4807-8A37-56295891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4E33FA6-42B9-4BBF-A68C-BA3BB8F7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DE63953-BCE7-454D-96AB-D0812D49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46DF7A1-B4DD-4A3F-B635-7F9A7D3D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  <a:endParaRPr sz="1600" b="1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0F1C28-00E7-47AF-A5A1-D9071071E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6B53B7F-A487-49DE-9772-119EBACE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EA858319-AC29-43FD-B6A3-4BD12C27B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D210D648-D317-46E1-878F-807DE197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EC50338D-BEC3-4977-80A4-E5217049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3E9EB07-844A-4267-9A76-86867C7E6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B1E611DD-D229-46C0-BD95-982D01F8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8AD30EC-172E-40B8-8A3C-A48C688A3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8192618A-8AA0-490D-B8B4-D4376591E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0F6329AA-B85F-4F52-B914-ECD3CEB8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59D60CF1-3462-4372-8567-EF61015D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8130955-62F9-41D0-9231-9B6A13A6F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3A76199D-4C99-4B1A-9DAE-BB6B03E3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0DDB52-E035-46C0-A998-C4169167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D946C177-3C27-4D4A-9906-3654F6D7A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9DE3274-0EBD-40EA-BA17-2ECD6CE1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C34D7D1-842C-4759-B54B-E59E398A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31363099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EB85339D-B843-4889-B9E3-B47B01F7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622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agenda-title-1">
            <a:extLst xmlns:a="http://schemas.openxmlformats.org/drawingml/2006/main">
              <a:ext uri="{FF2B5EF4-FFF2-40B4-BE49-F238E27FC236}">
                <a16:creationId xmlns:a16="http://schemas.microsoft.com/office/drawing/2014/main" id="{0FE2BDAC-87F7-49B8-AB3F-C9A4423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系统</a:t>
            </a: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功能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da-desc-1">
            <a:extLst xmlns:a="http://schemas.openxmlformats.org/drawingml/2006/main">
              <a:ext uri="{FF2B5EF4-FFF2-40B4-BE49-F238E27FC236}">
                <a16:creationId xmlns:a16="http://schemas.microsoft.com/office/drawing/2014/main" id="{5DB8879D-AA4B-4581-A934-13DACE6A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004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功能全景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功能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演示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759011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5B9609-9B19-451E-BFB2-35630474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</a:t>
            </a: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全景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658462B-A47B-41EA-B4BB-E335B525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C125138-FD7C-4186-9B81-EDB891AE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多个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功能模块围绕「连接 → 查询 → 分析 → 报表 → 管理」闭环组织。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4FE06379-74DB-46ED-80AB-1803731D6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41E3C99-3AE3-4637-87E0-1D8646FE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ED67D41-DB52-4215-984B-965E09EF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 类数据源、SSH 隧道、多环境标签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CF3C829-AEA3-41B1-8F2A-95195CDF5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BA68D41C-26DD-4E85-9001-94689A72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364A0A5-E7BD-4BC4-BEC2-189B831D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4B03EBE-9503-4D68-B1B4-A0E3068C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D06B776-AFD8-4915-9014-033108C8B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2BB5D7E-2316-43C4-903A-5B02EF1C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2CA042E3-27AF-426F-B8B6-BEF7EC03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7EE86D-4187-47F8-9939-4C3AE646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7AA72AA1-9BAA-430B-809C-AE2C7D41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C8570E45-54B4-4F95-AE16-4EF6477CF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BDA65D0B-39FC-4666-A5BF-B9EE963A4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C127351D-0624-4C4E-8D24-561F7142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17BE1E6-CE02-4F5D-8993-094221B8B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52A610D-0DC1-445A-9D50-6FFF73210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CCAA1067-709E-49EE-8143-D342BAAB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17500F90-0971-400A-B722-C532AC60B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158D9F4-82C8-49C4-AC90-7CC3E5DE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77E2A43-E1A0-4A72-8CF8-F60A0066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650AC370-374E-4294-A82D-E29CF9F7F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ABF4EEC2-3543-43D2-AF90-CB3DCB8AA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00441335-D201-4EA6-8E86-2977D1A70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9341088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614F934-C54D-4DCB-BDF5-1C2D7079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：自然语言查询数据库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FA5F9E4-BB65-4F52-88AB-DE64C6E1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DF3596EB-F080-4EB5-8437-135D1EE6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A266D8BD-9144-4514-A934-178B6B54E0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e4ade375247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E7C8AAC1-37C8-44C7-AE87-586E30681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e4ade375247f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0F63F88-5D4A-486B-9C70-EF4C3B92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40 秒）：演示库查用户 → Oracle（UAT）查机构 → 导出 CSV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F5114A3A-052B-47AC-B3EA-7AB264D9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D945409B-77CC-4612-AAB9-4A4F00A52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846F2ED-D4A1-4433-B9A1-66C265C30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一句话生成 SQL，无需手写语句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0C34D88-3DFE-48D1-BF6A-6B523A5E4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953EEAF-D71F-412F-9FA3-A0F359E5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E17AB5F-1B2F-448A-9DD3-E7B87DBB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D31FB66-666A-4F19-8CE3-EF531D57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切换数据源即可跨库查询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AE14BBF-671F-41BA-9E6B-951F0EB6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850AAF0-2327-47B6-8E49-7463F698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结果一键导出 CSV / Excel / JSON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723660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DEB7112-161A-47EB-82DF-3A2341AFE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：自然语言生成图表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51E3BC-A113-4F47-A6D2-9BDE7565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08DAF0C9-2B7D-456B-91FB-94E4F3C50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6F46B23B-576B-4CBF-BF32-106B8AC5D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ed8cce0d34c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347C4AFF-568E-451F-B243-C6F5EFF1D4F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ed8cce0d34c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3C35AAA-C1C9-42BB-8276-D82BAF1D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60 秒）：Oracle 查分行笔数/金额 → 自动出图 → 保存报表，再看近 30 天成功交易笔数与金额趋势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C58980F-99CB-49A5-93B2-F628411A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从查询到图表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141CFC07-CDA3-49AB-B186-0DD3F9416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0E5C373-324C-4E4C-B250-4317AA4B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案例一：各分行笔数与金额柱状图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A37A10F2-8D40-4851-ABE8-CD56BBD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B77E2A82-9FE4-41DC-AE62-52AF5161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案例二：近30天交易趋势折线图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4937C79-7C98-4940-BB94-141F14D1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8C2E196-329F-421C-B33B-9792595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双指标量级差异大时自动分双 Y 轴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E152463A-7969-4DDC-9C15-6DD0C76F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AC6A105-A74A-4178-92B3-8BCC747E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一键保存到可视化报表复用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32551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CF1C5C-9E08-46DC-BED3-05ECFDF2F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：SQL 工作台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A366E1-E019-4103-9B6C-0DD65792A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2BA5F91-CCAA-4F86-ABAD-9E1710A4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AAB741B6-EA95-4BBE-9250-97B29FE73F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6024ab3e24b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B9FF8204-9E7F-4EC5-9773-CFA30D209A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96024ab3e24b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A378C98-1DD3-4333-8CE5-EF1E8151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55 秒）：OceanBase 执行 SQL → Agent 生成聚合 SQL → 填入编辑器执行 → 收藏命名 → 历史 / 收藏页签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4FA5AC3F-3019-4F24-BF4A-0A0F83A1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C8DF141D-1086-4AAA-83F0-4FD1FEE4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72A322E-AA3F-492C-807D-F792AD387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OceanBase 数据源即连即查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FA6638D-B8B0-487E-995B-6468DDF24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A20B1B0-3F14-4FA1-A68C-4429032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一句话生成聚合 SQL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2153DBFD-311F-46A5-8DF4-E2D6CA95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3A74C849-285D-4804-A9A7-55E984A9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填入编辑器后一键执行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418C0AC-DAEB-434E-8A59-C2BC211A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2BBDDD62-2799-45B5-BB84-7C0D1361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执行历史留痕 + SQL 收藏复用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88947617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EE651E-F024-46D2-8DB1-FADC94E3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：数据操作安全控制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A5EFBB-1B0A-462D-88AC-43DA2F17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E6CEF5FF-6CB8-4809-B505-5C73893F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06E08128-5FE3-41A7-8953-A78FC2305A6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f8bb298f94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646B7853-CFC6-480C-B260-47771013ED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df8bb298f943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CB4628A-DB90-4057-B243-59FFBA79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52 秒）：UPDATE 确认执行 → Agent 修改字段长度确认执行 → 删除表取消执行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A8A0552-D1E3-404E-BFFC-7AA910A0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D6FBBF7-B961-49AF-95C7-27F3D414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229883CD-AB14-495D-9C89-2F018752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D6514522-DBB4-4EDB-BBEC-B29F3BD8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F1DE538D-F7D4-43D0-B6D7-36D153461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DML：UPDATE 确认后才生效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64A0E71F-C8D1-4BD9-88FE-32A1D0B0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2D7A641-5AAD-4DEB-875B-3522B700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DDL：红色危险提示 + 逐条确认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185B5CAC-17B4-44A1-AC7B-F3937481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7193E88-B55D-4BBE-A124-D7692EE71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取消即中止，全部写入审计日志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40990599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9E9D9F-45E5-4025-B10B-3283B3B99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：运维监控与日志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34E70D2-B00F-46FB-ABB1-2A4AAFD78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CD85A6CB-C42A-4F4F-B371-7D4863237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64DDD00C-3A8D-491A-9AFA-1137057483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dd799fc4f4b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A373CDFB-2467-487A-B76F-96037BA12C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dd799fc4f4b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ECEF888-6A37-4179-8BF7-449B3E4E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32 秒）：连接概览 → 审计日志 → 慢查询（耗时 ≥ 100ms） → 表结构对比（Oracle SIT vs UAT）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BF3DCC74-C37B-443C-A94C-E351B6EC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92DD000-E94E-4044-9E7E-C52F252D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73CE1A3C-4A2F-4544-81F1-838F0108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连接概览：查询量 / 耗时 / 成功率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C940110-F46B-494C-8E6E-497606AE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B26EBB9-43A2-42F8-B555-820809A8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审计日志：登录与 SQL 全量留痕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1AF26B7E-05AE-497F-BD0B-EE076925A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8F2727EE-A833-4D86-BB31-FDF54B4A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慢查询：阈值可调（演示 100ms）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D2D8F67C-AD88-4128-AA9F-3977B05E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348189E2-B096-44D8-A92C-780DD323C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表结构对比：SIT vs UAT 差异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288649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157EF-8690-47EF-B30E-62EA6178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：数据库与大模型连接管理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EFAC21-5F2C-443F-9F5F-280FBB438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5EF1957-45ED-4EA6-B273-C279690D7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4E109D4B-184C-437C-B676-2170E7FB86F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c1f81ef9348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4512412D-2324-4E4B-8FE8-B469863FD9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c1f81ef9348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14792DD-2DD5-4FEE-BB81-5163D878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秒）：数据库连接配置一键测连 → 大模型连接配置测试第二个模型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4E1537-538A-447F-8E25-3D6EFD5E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连接即资产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9E8BF6C7-D264-4795-A607-3D6C5866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A3255BDA-1563-469B-B48E-945355A9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数据库连接：一键「测试」即返回连通性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C616243-4FE1-442C-98DC-983F17B0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16BBA1-7CBC-4B58-8551-F5E19BA4E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覆盖 SQLite / Oracle / MySQL / OceanBase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B8D01140-CDE2-4CD9-AAE9-7533C1A8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207B59E-89B6-454A-867A-2ED10565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大模型：OpenAI、Claude、Ollama 三类提供方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8C4934E2-69C5-4BF3-BB71-B577B4CDF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6CD81B9-E37D-44B7-9823-FA5EA6F8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API Key 加密存储，可指定默认模型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0736800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2906107-FF2F-4015-AD54-8E3B2F68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：用户与角色管理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F88583-E484-4E99-B916-AC8D6E30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15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8EA2E8C6-4D7B-4360-9B5F-10BD1912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41E197BC-C5E1-401B-9C02-4C34782A295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24f659fd945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extLst xmlns:a="http://schemas.openxmlformats.org/drawingml/2006/main">
              <a:ext uri="{FF2B5EF4-FFF2-40B4-BE49-F238E27FC236}">
                <a16:creationId xmlns:a16="http://schemas.microsoft.com/office/drawing/2014/main" id="{5A61A81F-BB78-4ED5-A2F2-78E3274923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24f659fd945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AED3CE2-1701-4E96-B000-4EF9BAE6B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23 秒）：用户管理 → 角色管理 → 依次查看技术管理 / 技术查询 / 业务查询</a:t>
            </a:r>
            <a:endParaRPr sz="1000" b="0">
              <a:solidFill>
                <a:srgbClr val="5A5F66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2F7C4B4-EE2D-40A5-AD54-E5FBF526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权限可控</a:t>
            </a:r>
            <a:endParaRPr sz="21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44F004ED-A34B-4A05-86E6-21C8BB70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36A696D-4BAE-414A-95C9-EE8F70193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用户管理：账号 / 角色 / 状态 / 重置密码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D2834A3-3309-4FA5-ADDA-BE54F656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B88F649-4880-48E2-9F92-3ADF68B1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角色管理：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9E0FADD5-4A18-40ED-8F7A-B9691C82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8043C8E-4823-4F91-AE8E-AF66DEC63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功能权限按模块分组勾选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6D13E7DA-B2C7-480A-AF17-BB3AE597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799B4E22-350D-4328-85F8-ECF3F6C78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先勾选权限，再由路由守卫拦截：前端菜单与后端接口双重校验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214254867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技术亮点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AI </a:t>
            </a: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工具调用、安全执行、跨库适配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AI Agent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把自然语言变成可信、可解释、可执行的 SQL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Agent 不是简单调用大模型，而是围绕 Schema、工具与安全策略构建的查询推理系统。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F9C3F4FD-2CC0-4840-8D81-CE467B38727C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价值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自然语言 →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输入问题，自动生成对应 SQL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降低取数门槛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Schema 感知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自动获取表结构作为上下文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提升生成准确率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多轮对话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保留上下文，可追问与调整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更自然的交互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SQL 解释与优化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解释含义、分析执行计划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帮助理解与调优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流式输出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SSE 实时返回思考过程与结果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体验透明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Agent 执行链路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工具调用 + 失败重试 + few-shot，让结果更可靠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18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node-0">
            <a:extLst xmlns:a="http://schemas.openxmlformats.org/drawingml/2006/main">
              <a:ext uri="{FF2B5EF4-FFF2-40B4-BE49-F238E27FC236}">
                <a16:creationId xmlns:a16="http://schemas.microsoft.com/office/drawing/2014/main" id="{E3B206FA-DE51-4FDA-BB32-2DD05653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gent-node-title-0">
            <a:extLst xmlns:a="http://schemas.openxmlformats.org/drawingml/2006/main">
              <a:ext uri="{FF2B5EF4-FFF2-40B4-BE49-F238E27FC236}">
                <a16:creationId xmlns:a16="http://schemas.microsoft.com/office/drawing/2014/main" id="{E168D5AD-69AE-496E-9149-D024D163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用户提问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gent-node-desc-0">
            <a:extLst xmlns:a="http://schemas.openxmlformats.org/drawingml/2006/main">
              <a:ext uri="{FF2B5EF4-FFF2-40B4-BE49-F238E27FC236}">
                <a16:creationId xmlns:a16="http://schemas.microsoft.com/office/drawing/2014/main" id="{9BA60F3A-EF17-42AD-B467-D3C77CE7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自然语言描述需求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agent-arrow-0">
            <a:extLst xmlns:a="http://schemas.openxmlformats.org/drawingml/2006/main">
              <a:ext uri="{FF2B5EF4-FFF2-40B4-BE49-F238E27FC236}">
                <a16:creationId xmlns:a16="http://schemas.microsoft.com/office/drawing/2014/main" id="{83E11C4D-04AD-4383-BCDB-8EB60C0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gent-node-1">
            <a:extLst xmlns:a="http://schemas.openxmlformats.org/drawingml/2006/main">
              <a:ext uri="{FF2B5EF4-FFF2-40B4-BE49-F238E27FC236}">
                <a16:creationId xmlns:a16="http://schemas.microsoft.com/office/drawing/2014/main" id="{D70F42FF-1916-4692-B73B-3061AB545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2" name="agent-node-title-1">
            <a:extLst xmlns:a="http://schemas.openxmlformats.org/drawingml/2006/main">
              <a:ext uri="{FF2B5EF4-FFF2-40B4-BE49-F238E27FC236}">
                <a16:creationId xmlns:a16="http://schemas.microsoft.com/office/drawing/2014/main" id="{92DCADA7-8153-4D60-A8CB-9043670B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 推理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agent-node-desc-1">
            <a:extLst xmlns:a="http://schemas.openxmlformats.org/drawingml/2006/main">
              <a:ext uri="{FF2B5EF4-FFF2-40B4-BE49-F238E27FC236}">
                <a16:creationId xmlns:a16="http://schemas.microsoft.com/office/drawing/2014/main" id="{71F89F85-B710-4A71-AE4C-60BFC521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Schema 感知 + 历史 few-shot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agent-arrow-1">
            <a:extLst xmlns:a="http://schemas.openxmlformats.org/drawingml/2006/main">
              <a:ext uri="{FF2B5EF4-FFF2-40B4-BE49-F238E27FC236}">
                <a16:creationId xmlns:a16="http://schemas.microsoft.com/office/drawing/2014/main" id="{F56A9021-B64B-44CC-9FD7-C91043D0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agent-node-2">
            <a:extLst xmlns:a="http://schemas.openxmlformats.org/drawingml/2006/main">
              <a:ext uri="{FF2B5EF4-FFF2-40B4-BE49-F238E27FC236}">
                <a16:creationId xmlns:a16="http://schemas.microsoft.com/office/drawing/2014/main" id="{98FF4A43-1009-44A9-B913-58CBA95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6" name="agent-node-title-2">
            <a:extLst xmlns:a="http://schemas.openxmlformats.org/drawingml/2006/main">
              <a:ext uri="{FF2B5EF4-FFF2-40B4-BE49-F238E27FC236}">
                <a16:creationId xmlns:a16="http://schemas.microsoft.com/office/drawing/2014/main" id="{9FA23F0C-87B6-4C23-9C4D-5D6C280B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工具调用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t-node-desc-2">
            <a:extLst xmlns:a="http://schemas.openxmlformats.org/drawingml/2006/main">
              <a:ext uri="{FF2B5EF4-FFF2-40B4-BE49-F238E27FC236}">
                <a16:creationId xmlns:a16="http://schemas.microsoft.com/office/drawing/2014/main" id="{EA32FCDF-BE5D-4846-B326-8E62C03F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表结构 / 采样 / EXPLAIN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agent-arrow-2">
            <a:extLst xmlns:a="http://schemas.openxmlformats.org/drawingml/2006/main">
              <a:ext uri="{FF2B5EF4-FFF2-40B4-BE49-F238E27FC236}">
                <a16:creationId xmlns:a16="http://schemas.microsoft.com/office/drawing/2014/main" id="{86400DC4-580C-4AF0-9CCC-3671BDE9A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agent-node-3">
            <a:extLst xmlns:a="http://schemas.openxmlformats.org/drawingml/2006/main">
              <a:ext uri="{FF2B5EF4-FFF2-40B4-BE49-F238E27FC236}">
                <a16:creationId xmlns:a16="http://schemas.microsoft.com/office/drawing/2014/main" id="{4093B9B8-D6C2-408C-9E9C-F20EE152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0B5FFF"/>
          </a:solidFill>
          <a:ln xmlns:a="http://schemas.openxmlformats.org/drawingml/2006/main" w="9525">
            <a:noFill/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0" name="agent-node-title-3">
            <a:extLst xmlns:a="http://schemas.openxmlformats.org/drawingml/2006/main">
              <a:ext uri="{FF2B5EF4-FFF2-40B4-BE49-F238E27FC236}">
                <a16:creationId xmlns:a16="http://schemas.microsoft.com/office/drawing/2014/main" id="{1F232630-932A-4114-BFFB-31D146D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生成 SQL</a:t>
            </a:r>
            <a:endParaRPr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agent-node-desc-3">
            <a:extLst xmlns:a="http://schemas.openxmlformats.org/drawingml/2006/main">
              <a:ext uri="{FF2B5EF4-FFF2-40B4-BE49-F238E27FC236}">
                <a16:creationId xmlns:a16="http://schemas.microsoft.com/office/drawing/2014/main" id="{D3A19887-3C43-4CC0-A508-946E38AF2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DBEAFE"/>
                </a:solidFill>
                <a:latin typeface="微软雅黑"/>
                <a:ea typeface="微软雅黑"/>
                <a:cs typeface="微软雅黑"/>
              </a:rPr>
              <a:t>只读查询或写操作</a:t>
            </a:r>
            <a:endParaRPr sz="975" b="0">
              <a:solidFill>
                <a:srgbClr val="DBEAFE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agent-arrow-3">
            <a:extLst xmlns:a="http://schemas.openxmlformats.org/drawingml/2006/main">
              <a:ext uri="{FF2B5EF4-FFF2-40B4-BE49-F238E27FC236}">
                <a16:creationId xmlns:a16="http://schemas.microsoft.com/office/drawing/2014/main" id="{6C3A02B7-4A9F-49A6-8DB6-CD28ECFE8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866265"/>
            <a:ext cx="209550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agent-node-4">
            <a:extLst xmlns:a="http://schemas.openxmlformats.org/drawingml/2006/main">
              <a:ext uri="{FF2B5EF4-FFF2-40B4-BE49-F238E27FC236}">
                <a16:creationId xmlns:a16="http://schemas.microsoft.com/office/drawing/2014/main" id="{6632FA9B-34F7-42D2-AF96-33170268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37665"/>
            <a:ext cx="18097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24" name="agent-node-title-4">
            <a:extLst xmlns:a="http://schemas.openxmlformats.org/drawingml/2006/main">
              <a:ext uri="{FF2B5EF4-FFF2-40B4-BE49-F238E27FC236}">
                <a16:creationId xmlns:a16="http://schemas.microsoft.com/office/drawing/2014/main" id="{85A37348-B443-4DA9-996C-FFB2D5FF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77101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安全执行</a:t>
            </a:r>
            <a:endParaRPr sz="150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agent-node-desc-4">
            <a:extLst xmlns:a="http://schemas.openxmlformats.org/drawingml/2006/main">
              <a:ext uri="{FF2B5EF4-FFF2-40B4-BE49-F238E27FC236}">
                <a16:creationId xmlns:a16="http://schemas.microsoft.com/office/drawing/2014/main" id="{AEDD5386-4503-483B-BED0-847523E9B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75815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结果 / 图表 / 解释</a:t>
            </a:r>
            <a:endParaRPr sz="9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</a:t>
            </a: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重试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默认最多重试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次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，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可设置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2663793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854293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54343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（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少量示例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）</a:t>
            </a: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 注入新会话，越用越准。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4B8C3787-9F0B-4BCE-ADD3-622C79D3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493" y="5922645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2520BB21-39A4-450B-A74E-207C5EA0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核心亮点 · 安全执行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85EC280-1DE3-4C78-AFD2-DFE00392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AI 可以生成 SQL，但不会拥有不受控的写权限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B2EE8EE6-B7E6-4C09-8AC4-BAF2799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1C21CFE8-C2E9-4A00-AD00-D6FBEC135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A8BB8A3-80A5-46AE-988B-59EBA7E6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CC4F6E0-FFD9-447C-BF8B-E08AD434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19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5" name="表格 14">
            <a:extLst xmlns:a="http://schemas.openxmlformats.org/drawingml/2006/main">
              <a:ext uri="{FF2B5EF4-FFF2-40B4-BE49-F238E27FC236}">
                <a16:creationId xmlns:a16="http://schemas.microsoft.com/office/drawing/2014/main" id="{4DE53569-BFD6-4966-99C9-EC32E845D966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操作类型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授权方式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执行说明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1830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SELECT / SHOW / DESC / EXPLAIN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自动执行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只读查询直接返回结果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INSERT / UPDATE / DELETE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手动确认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返回影响预览与 execution_id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CREATE / ALTER / DROP / TRUNCATE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高危确认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红色警告并展示完整 DDL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多条混合 SQL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逐条确认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75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 SQL 类型分别处理</a:t>
                      </a:r>
                      <a:endParaRPr sz="1275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  <p:sp>
        <p:nvSpPr>
          <p:cNvPr id="8" name="security-callout">
            <a:extLst xmlns:a="http://schemas.openxmlformats.org/drawingml/2006/main">
              <a:ext uri="{FF2B5EF4-FFF2-40B4-BE49-F238E27FC236}">
                <a16:creationId xmlns:a16="http://schemas.microsoft.com/office/drawing/2014/main" id="{A8DB2E57-DDEA-4818-A925-35C7E30C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81550"/>
            <a:ext cx="10820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execution_id 暂存待确认执行，5 分钟过期；用户确认后再次鉴权，全程审计。</a:t>
            </a:r>
            <a:endParaRPr sz="12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7664801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C010A56C-2050-4E9F-BB10-4039813C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29050"/>
            <a:ext cx="1047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34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agenda-title-2">
            <a:extLst xmlns:a="http://schemas.openxmlformats.org/drawingml/2006/main">
              <a:ext uri="{FF2B5EF4-FFF2-40B4-BE49-F238E27FC236}">
                <a16:creationId xmlns:a16="http://schemas.microsoft.com/office/drawing/2014/main" id="{DE62D92A-9D62-4087-A62D-FC2EDFC72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8862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0B1830"/>
                </a:solidFill>
                <a:latin typeface="微软雅黑"/>
                <a:ea typeface="微软雅黑"/>
                <a:cs typeface="微软雅黑"/>
              </a:rPr>
              <a:t>工程与治理</a:t>
            </a:r>
            <a:endParaRPr sz="1950" b="1">
              <a:solidFill>
                <a:srgbClr val="0B18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agenda-desc-2">
            <a:extLst xmlns:a="http://schemas.openxmlformats.org/drawingml/2006/main">
              <a:ext uri="{FF2B5EF4-FFF2-40B4-BE49-F238E27FC236}">
                <a16:creationId xmlns:a16="http://schemas.microsoft.com/office/drawing/2014/main" id="{2B588EA7-A1EB-4385-BE3F-EAC4B8792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2672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架构与质量、安全合规、落地与推广</a:t>
            </a:r>
            <a:endParaRPr sz="1275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9136524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系统技术分层结构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五层调用链：从界面直达数据库，治理能力横向贯穿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21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FB6F3F-205A-4843-879C-B7BC4478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734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E90DDD-9FD1-462B-8CA3-8C2717D06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① 前端层｜Vue 3 · TypeScript · Vite · Pinia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982E0-B900-4C6E-96A1-359C3C9B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748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模块：智能查询（NL→SQL）· SQL 工作台 · 可视化报表与大屏 · 连接管理 · 用户与角色 · 运维监控 · 审计日志</a:t>
            </a:r>
          </a:p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组件：SqlEditor（CodeMirror 6）· ResultTable · ObjectTree · ChartCard（ECharts）· AgentPanel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9848CA-46D2-4272-A568-7767B4926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734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63923A-F345-417E-969C-5E6BEDD2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4125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② 接口层｜FastAPI · 单端口 8000 · 14 个路由模块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5A14C4-6BB9-41DA-B695-88163CE5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748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统一响应 {code, message, data} · httponly Cookie 会话 · 依赖注入 · RBAC 权限校验 · 静态托管前端产物</a:t>
            </a:r>
          </a:p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路由：auth · sql · agent（SSE）· metadata · export · charts · monitor · audit · users · roles 等 14 个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38F336-59D3-40AF-BD93-1BC069C81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7734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526EC4-11F5-45D7-BE63-01C4F4E66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③ 服务层｜业务编排 · services/ 下 10 个服务模块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DDCC330-57B2-4029-85AB-FA87ADC6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748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sql_service（风险分级 / 写操作二次确认 / 审计落库）· agent_service（工具调用 / 失败重试 / few-shot）</a:t>
            </a:r>
          </a:p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connection · metadata · export · audit · schedule · llm_providers · ssh_tunnel · sql_examples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0429F5-7A9F-40F3-B3DB-FEF349E7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7734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4D780AD-A202-4108-A1D2-373E59CE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91025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④ 适配层｜BaseDBAdapter + registry · adapters/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4F552C6-2EB1-4EF7-92D4-EE17FC69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10100"/>
            <a:ext cx="748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MySQL · OceanBase · GoldenDB · PostgreSQL · Oracle · SQLite · MongoDB（前二者复用 MySQL 协议）</a:t>
            </a:r>
          </a:p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只读连接池：按连接参数分桶复用 · 借出前存活探测 · 归还前回滚 · 参数变更即作废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35308B-D48F-4F5C-A022-BA216A0E0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77343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2F5FB"/>
          </a:solidFill>
          <a:ln xmlns:a="http://schemas.openxmlformats.org/drawingml/2006/main" w="9525">
            <a:solidFill>
              <a:srgbClr val="DDE4E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3DF3EE-490B-4CA9-A2A6-76FA9658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24475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7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⑤ 存储层｜两类数据落点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11FEC23-A8CB-4569-86FD-4F830641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74866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应用库 SQLite（app.db）：账号、连接、审计、会话等自身状态，SQLAlchemy async + Alembic 迁移</a:t>
            </a:r>
          </a:p>
          <a:p xmlns:a="http://schemas.openxmlformats.org/drawingml/2006/main">
            <a:r>
              <a:rPr sz="863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目标数据库：用户数据源，元数据只读查询走连接池，SQL 执行经统一分类与审计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4F1775-F54A-465E-8075-ADB08A4E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5742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↓  HTTP / SSE 流式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35032B3-93EA-47ED-8E00-93987271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↓  异步业务调用（全链路 await）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F188B70-7CDA-46A0-8FD2-78C193BC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2432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↓  按 db_type 分发适配器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07E86F8-3CBD-4A59-8052-FCAEE259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57775"/>
            <a:ext cx="5715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lIns="0" tIns="0" rIns="0" bIns="0"/>
          <a:lstStyle xmlns:a="http://schemas.openxmlformats.org/drawingml/2006/main">
            <a:defPPr>
              <a:def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↓  同步驱动置于线程池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DD54FE0-A65F-421C-9072-2F3D664A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524000"/>
            <a:ext cx="2895600" cy="447675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EAF0FF"/>
          </a:solidFill>
          <a:ln xmlns:a="http://schemas.openxmlformats.org/drawingml/2006/main" w="9525">
            <a:solidFill>
              <a:srgbClr val="0B5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A89FFA-3D79-4DD2-BF63-506D0AB5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638300"/>
            <a:ext cx="2628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938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938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横向能力（贯穿 ②–⑤）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4945A7-2468-44BC-96B9-3113F01DE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43100"/>
            <a:ext cx="262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安全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648F4E-6D93-4664-A191-C7CE4030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14550"/>
            <a:ext cx="2628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Fernet 加密（库密码 / SSH 私钥 / AI Key）· pbkdf2 口令哈希 · httponly Cookie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BC3D07-8DCB-48D6-BC89-0BF319C3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52750"/>
            <a:ext cx="262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审计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AD6686-B665-4272-BBDB-F6076B30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124200"/>
            <a:ext cx="2628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登录、SQL 执行、Agent 动作全量留痕 · 按保留期自动清理 · 可导出 CSV / XLSX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5EE0BC3-5295-4340-93F7-7ADFB24AC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62400"/>
            <a:ext cx="262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可观测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F649F75-5EC0-49B3-A5CA-5EAE05328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133850"/>
            <a:ext cx="2628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/metrics 暴露请求数、延迟与 SQL 执行次数 · 慢查询统计与连接概览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278B02-326C-4442-8718-B74AB8AA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972050"/>
            <a:ext cx="26289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63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交付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197197-1925-4D0B-8D23-A55F5D33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43500"/>
            <a:ext cx="26289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825">
                <a:solidFill>
                  <a:srgbClr val="334155"/>
                </a:solidFill>
                <a:latin typeface="微软雅黑"/>
                <a:ea typeface="微软雅黑"/>
                <a:cs typeface="微软雅黑"/>
              </a:rPr>
              <a:t>Docker 多阶段构建 · 单镜像单端口 · 环境变量配置，密钥可独立挂载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75EECA4-6D6C-48CE-B882-8747F7F9C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8204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r>
              <a:rPr sz="788">
                <a:solidFill>
                  <a:srgbClr val="64748B"/>
                </a:solidFill>
                <a:latin typeface="微软雅黑"/>
                <a:ea typeface="微软雅黑"/>
                <a:cs typeface="微软雅黑"/>
              </a:rPr>
              <a:t>外部依赖：大模型服务（OpenAI 兼容 / Claude / Ollama，经 llm_providers 抽象）· SSH 隧道（ssh_tunnel）</a:t>
            </a: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">
            <a:extLst xmlns:a="http://schemas.openxmlformats.org/drawingml/2006/main">
              <a:ext uri="{FF2B5EF4-FFF2-40B4-BE49-F238E27FC236}">
                <a16:creationId xmlns:a16="http://schemas.microsoft.com/office/drawing/2014/main" id="{ABD56B4D-41EB-42D2-8561-966BB77B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审计与监控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C2A023D-297D-4537-9E39-191B21C3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让每一次操作都可追溯、可观察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772966D2-E9B9-4E75-B19C-302A91AD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5C880DA-850D-4A4F-A5A1-5F70246E2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F8D1D6F-F302-44F9-A94D-FC5B04C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052AE83B-8627-42A9-8EFB-3A153721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22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udit-surface">
            <a:extLst xmlns:a="http://schemas.openxmlformats.org/drawingml/2006/main">
              <a:ext uri="{FF2B5EF4-FFF2-40B4-BE49-F238E27FC236}">
                <a16:creationId xmlns:a16="http://schemas.microsoft.com/office/drawing/2014/main" id="{06C6E5FD-2058-4C96-9074-DE3ECE56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8" name="audit-title">
            <a:extLst xmlns:a="http://schemas.openxmlformats.org/drawingml/2006/main">
              <a:ext uri="{FF2B5EF4-FFF2-40B4-BE49-F238E27FC236}">
                <a16:creationId xmlns:a16="http://schemas.microsoft.com/office/drawing/2014/main" id="{C0EA438D-AD2C-48C5-ACE1-271E888D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B45309"/>
                </a:solidFill>
                <a:latin typeface="微软雅黑"/>
                <a:ea typeface="微软雅黑"/>
                <a:cs typeface="微软雅黑"/>
              </a:rPr>
              <a:t>审计日志</a:t>
            </a:r>
            <a:endParaRPr sz="1800" b="1">
              <a:solidFill>
                <a:srgbClr val="B4530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audit-list">
            <a:extLst xmlns:a="http://schemas.openxmlformats.org/drawingml/2006/main">
              <a:ext uri="{FF2B5EF4-FFF2-40B4-BE49-F238E27FC236}">
                <a16:creationId xmlns:a16="http://schemas.microsoft.com/office/drawing/2014/main" id="{621AB5F6-228D-4164-BB33-19673A11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登录、SQL 执行、Agent 动作全量留痕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操作类型、SQL 文本、状态可追溯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导出 CSV / XLSX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audit_retention_days 默认 180 天自动清理</a:t>
            </a:r>
          </a:p>
        </p:txBody>
      </p:sp>
      <p:sp>
        <p:nvSpPr>
          <p:cNvPr id="10" name="monitor-surface">
            <a:extLst xmlns:a="http://schemas.openxmlformats.org/drawingml/2006/main">
              <a:ext uri="{FF2B5EF4-FFF2-40B4-BE49-F238E27FC236}">
                <a16:creationId xmlns:a16="http://schemas.microsoft.com/office/drawing/2014/main" id="{6C3EFDE2-02D4-4162-B160-4C0E4337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24000"/>
            <a:ext cx="5219700" cy="44958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>
            <a:srgbClr val="FFFFFF"/>
          </a:lnRef>
          <a:fillRef xmlns:a="http://schemas.openxmlformats.org/drawingml/2006/main" idx="0">
            <a:srgbClr val="FFFFFF"/>
          </a:fillRef>
          <a:effectRef xmlns:a="http://schemas.openxmlformats.org/drawingml/2006/main" idx="4">
            <a:srgbClr val="FFFFFF"/>
          </a:effectRef>
          <a:fontRef xmlns:a="http://schemas.openxmlformats.org/drawingml/2006/main" idx="major"/>
        </p:style>
      </p:sp>
      <p:sp>
        <p:nvSpPr>
          <p:cNvPr id="11" name="monitor-title">
            <a:extLst xmlns:a="http://schemas.openxmlformats.org/drawingml/2006/main">
              <a:ext uri="{FF2B5EF4-FFF2-40B4-BE49-F238E27FC236}">
                <a16:creationId xmlns:a16="http://schemas.microsoft.com/office/drawing/2014/main" id="{A3FB7A0A-992B-43D6-87E2-E46446953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运维监控</a:t>
            </a:r>
            <a:endParaRPr sz="180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monitor-list">
            <a:extLst xmlns:a="http://schemas.openxmlformats.org/drawingml/2006/main">
              <a:ext uri="{FF2B5EF4-FFF2-40B4-BE49-F238E27FC236}">
                <a16:creationId xmlns:a16="http://schemas.microsoft.com/office/drawing/2014/main" id="{1A199833-F4E2-4EC6-B44E-A5327A95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24100"/>
            <a:ext cx="461010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连接概览与慢查询统计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不同环境表结构对比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定时导出任务状态</a:t>
            </a:r>
          </a:p>
          <a:p xmlns:a="http://schemas.openxmlformats.org/drawingml/2006/main">
            <a:pPr indent="0" algn="l">
              <a:lnSpc>
                <a:spcPct val="200000"/>
              </a:lnSpc>
              <a:spcBef>
                <a:spcPts val="0"/>
              </a:spcBef>
              <a:buChar char="•"/>
              <a:defRPr sz="1275" b="0">
                <a:solidFill>
                  <a:srgbClr val="334155"/>
                </a:solidFill>
                <a:latin typeface="微软雅黑"/>
                <a:ea typeface="微软雅黑"/>
                <a:cs typeface="微软雅黑"/>
              </a:defRPr>
            </a:pPr>
            <a: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74272899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15B41-8487-48B8-A663-FE41EFC7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安全与合规</a:t>
            </a:r>
            <a:endParaRPr sz="33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F895B40-9AAD-4126-96ED-BF734BA1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23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6AA70C55-0830-4DB6-9033-9FD439BD1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数据不落盘、密钥可托管、操作可追溯：让这套 Agent 能通过企业安全评审。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D221DB-CE9F-435A-AED7-94C27D69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18F1ADD-8853-4EEA-AD77-37090465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4B42D9C-F928-4DB7-88E0-3FA0D980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登录密码 pbkdf2 哈希，会话使用 httponly Cookie。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CC49319-E66D-4B12-B002-8B3CD85E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568E3272-A1BF-4A41-BAF6-28380C4A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A3340258-A260-47E2-BCAA-1551824CC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按角色控制权限，READ / DML / DDL 分级授权；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登录、SQL、Agent 动作全量留痕，操作类型、SQL 文本与状态都可追溯。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679202A-BBDB-4380-9D4A-E8434E7F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314C1F1-A501-49AF-AEE7-CA759CD1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合规与交付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0BB133F-82A9-40F4-BFB5-E52F3E04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密钥支持环境变量或独立密钥文件注入，密钥文件不入库；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审计日志按保留期（默认 180 天）自动清理；导出文件统一落盘管理。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955025417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工程质量与架构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分层解耦 + 测试覆盖，交付可维护的系统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24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扩展方式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新增数据库：实现适配器并注册；新增模型供应商：实现统一接口，业务层无需改动。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代码质量保障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167 项后端测试覆盖 SQL 分级、连接池、权限、审计、分页等关键路径；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ruff 静态检查 + 前端 vue-tsc 类型校验。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工程复杂度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 {code, message, data} 响应与全局异常处理；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结构变更走 Alembic 迁移，Docker 多阶段构建交付单镜像。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">
            <a:extLst xmlns:a="http://schemas.openxmlformats.org/drawingml/2006/main">
              <a:ext uri="{FF2B5EF4-FFF2-40B4-BE49-F238E27FC236}">
                <a16:creationId xmlns:a16="http://schemas.microsoft.com/office/drawing/2014/main" id="{744C685A-BA3B-4879-AEA7-5621121E0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落地与推广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5C27475-C7D1-4BAF-9E45-C1A69C79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不改业务系统，单机即可部署、按需复用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302E1779-7AE5-467C-BE43-8901B5F9D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FA10220-6C16-49F8-9EC1-06B086DA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5DBA5C7D-62C0-44DD-9EA9-3E0472AA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3BAE2020-F4AA-4091-897D-72D95E44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25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603D951-9ED2-4AE8-8264-2ED6AAB4F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D7E00-3067-4FD6-AE37-4D5D0C75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部署成本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7A209E6-CEEA-44DD-9062-B3AEDD51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不动业务系统，单机 Docker 一键启动、单端口对外；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不需要消息队列、缓存等额外中间件。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0595DE18-33A1-4DFC-9304-52DB02699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E685C848-33EA-49B2-B63D-6CB281D70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运维与兼容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F1937B58-07E9-4E1A-BE67-DD0148DA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统一适配层屏蔽方言差异，已支持 7 类数据源；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权限、审计、监控沿用企业现有体系。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2FC48B98-D5CE-4118-B3E2-9A65AAA1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1635062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5AF1C15B-D480-4FEA-A7E2-3926E84A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1825562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复用与推广</a:t>
            </a:r>
            <a:endParaRPr sz="24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5CEC9FE2-501B-43D6-B3AB-3038367C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2225612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连接、权限、报表全部配置化：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换一套数据库、换一个团队即可复用，推广成本低。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79458853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6C180E3-19B3-47EE-8BFE-3565AA92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26</a:t>
            </a:r>
            <a:endParaRPr sz="10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F22A0302-B2D1-4354-A077-7F131DD16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  <a:endParaRPr sz="3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046B15D-A373-46CB-9EDA-00C94FA5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61622F-BACB-47F5-9DC1-C70BBAE7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  <a:endParaRPr sz="1600" b="0">
              <a:solidFill>
                <a:srgbClr val="000000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1714239460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">
            <a:extLst xmlns:a="http://schemas.openxmlformats.org/drawingml/2006/main">
              <a:ext uri="{FF2B5EF4-FFF2-40B4-BE49-F238E27FC236}">
                <a16:creationId xmlns:a16="http://schemas.microsoft.com/office/drawing/2014/main" id="{EF8CD424-3F67-496C-94DF-B8D9AAA6D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0B5FFF"/>
                </a:solidFill>
                <a:latin typeface="微软雅黑"/>
                <a:ea typeface="微软雅黑"/>
                <a:cs typeface="微软雅黑"/>
              </a:rPr>
              <a:t>附录 · 答辩准备</a:t>
            </a:r>
            <a:endParaRPr sz="1050" b="1">
              <a:solidFill>
                <a:srgbClr val="0B5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616B21-0478-4718-8345-B298BB22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0F172A"/>
                </a:solidFill>
                <a:latin typeface="微软雅黑"/>
                <a:ea typeface="微软雅黑"/>
                <a:cs typeface="微软雅黑"/>
              </a:rPr>
              <a:t>评委常问的问题，先给出可验证的答案</a:t>
            </a:r>
            <a:endParaRPr sz="2625" b="1">
              <a:solidFill>
                <a:srgbClr val="0F172A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title-accent">
            <a:extLst xmlns:a="http://schemas.openxmlformats.org/drawingml/2006/main">
              <a:ext uri="{FF2B5EF4-FFF2-40B4-BE49-F238E27FC236}">
                <a16:creationId xmlns:a16="http://schemas.microsoft.com/office/drawing/2014/main" id="{D1E89406-837C-479E-8BCF-DB861C9DF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061491C8-3EFA-4F1B-AFF6-A05E1541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left">
            <a:extLst xmlns:a="http://schemas.openxmlformats.org/drawingml/2006/main">
              <a:ext uri="{FF2B5EF4-FFF2-40B4-BE49-F238E27FC236}">
                <a16:creationId xmlns:a16="http://schemas.microsoft.com/office/drawing/2014/main" id="{8EA40A87-0814-4BBD-A27A-433FB0C3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DataMind · 数据库 Agent Web 应用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D3C3DF-F924-464D-ADF5-1E167071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65341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r">
              <a:lnSpc>
                <a:spcPct val="125000"/>
              </a:lnSpc>
              <a:buNone/>
              <a:def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defRPr>
            </a:pPr>
            <a:r>
              <a:rPr sz="900" b="0">
                <a:solidFill>
                  <a:srgbClr val="94A3B8"/>
                </a:solidFill>
                <a:latin typeface="微软雅黑"/>
                <a:ea typeface="微软雅黑"/>
                <a:cs typeface="微软雅黑"/>
              </a:rPr>
              <a:t>27</a:t>
            </a:r>
            <a:endParaRPr sz="900" b="0">
              <a:solidFill>
                <a:srgbClr val="94A3B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agent-overview-intro">
            <a:extLst xmlns:a="http://schemas.openxmlformats.org/drawingml/2006/main">
              <a:ext uri="{FF2B5EF4-FFF2-40B4-BE49-F238E27FC236}">
                <a16:creationId xmlns:a16="http://schemas.microsoft.com/office/drawing/2014/main" id="{E339B070-8EB3-4623-8914-F2F776F36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anchor="t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75569"/>
                </a:solidFill>
                <a:latin typeface="微软雅黑"/>
                <a:ea typeface="微软雅黑"/>
                <a:cs typeface="微软雅黑"/>
              </a:rPr>
              <a:t>以下问题覆盖安全、扩展性、性能与落地成本，答案都对应产品里已经实现的能力。</a:t>
            </a:r>
            <a:endParaRPr sz="1350" b="0">
              <a:solidFill>
                <a:srgbClr val="475569"/>
              </a:solidFill>
              <a:latin typeface="微软雅黑"/>
              <a:ea typeface="微软雅黑"/>
              <a:cs typeface="微软雅黑"/>
            </a:endParaRPr>
          </a:p>
        </p:txBody>
      </p:sp>
      <p:graphicFrame>
        <p:nvGraphicFramePr>
          <p:cNvPr id="16" name="表格 15">
            <a:extLst xmlns:a="http://schemas.openxmlformats.org/drawingml/2006/main">
              <a:ext uri="{FF2B5EF4-FFF2-40B4-BE49-F238E27FC236}">
                <a16:creationId xmlns:a16="http://schemas.microsoft.com/office/drawing/2014/main" id="{2646CB25-37A7-436D-AF60-3162204CDE88}"/>
              </a:ext>
            </a:extLst>
          </p:cNvPr>
          <p:cNvGraphicFramePr/>
          <p:nvPr/>
        </p:nvGraphicFramePr>
        <p:xfrm>
          <a:off xmlns:a="http://schemas.openxmlformats.org/drawingml/2006/main" x="685800" y="2095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606800"/>
                <a:gridCol w="3606800"/>
                <a:gridCol w="3606800"/>
              </a:tblGrid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评委追问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应答要点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对应能力</a:t>
                      </a:r>
                      <a:endParaRPr sz="1200" b="1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66675" marB="66675" anchor="ctr">
                    <a:solidFill>
                      <a:srgbClr val="0B5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AI 会误删数据吗？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写操作一律二次确认，DDL 额外高危提示；确认记录 5 分钟过期、只能消费一次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分级授权 + 确认机制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数据库密码怎么保护？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密码、SSH 私钥、AI Key 均为 Fernet 加密入库，接口只返回 has_key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密钥可环境变量注入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支持哪些数据库？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 类数据源；OceanBase、GoldenDB 复用 MySQL 协议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适配器层可直接扩展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大结果集会不会卡住？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分页 + 最大行数限制，Agent 结果超限时截断提示，前端虚拟滚动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端到端限流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部署与运维成本高吗？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单机 Docker 一键启动、单端口，/metrics 可接入现有监控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200">
                          <a:solidFill>
                            <a:srgbClr val="0F172A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无外部中间件依赖</a:t>
                      </a:r>
                      <a:endParaRPr sz="1200">
                        <a:solidFill>
                          <a:srgbClr val="0F172A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133350" marR="133350" marT="57150" marB="5715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443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2026-10-14T13:54:25.0200000Z</dcterms:created>
  <dcterms:modified xsi:type="dcterms:W3CDTF">2026-10-14T13:54:25.0200000Z</dcterms:modified>
</coreProperties>
</file>