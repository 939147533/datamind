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</p:sldMasterIdLst>
  <p:notesMasterIdLst>
    <p:notesMasterId r:id="rId5"/>
  </p:notesMasterIdLst>
  <p:handoutMasterIdLst>
    <p:handoutMasterId r:id="rId29"/>
  </p:handoutMasterIdLst>
  <p:sldIdLst>
    <p:sldId id="273" r:id="rId4"/>
    <p:sldId id="274" r:id="rId6"/>
    <p:sldId id="280" r:id="rId7"/>
    <p:sldId id="275" r:id="rId8"/>
    <p:sldId id="283" r:id="rId9"/>
    <p:sldId id="281" r:id="rId10"/>
    <p:sldId id="259" r:id="rId11"/>
    <p:sldId id="260" r:id="rId12"/>
    <p:sldId id="261" r:id="rId13"/>
    <p:sldId id="262" r:id="rId14"/>
    <p:sldId id="263" r:id="rId15"/>
    <p:sldId id="264" r:id="rId16"/>
    <p:sldId id="266" r:id="rId17"/>
    <p:sldId id="267" r:id="rId18"/>
    <p:sldId id="282" r:id="rId19"/>
    <p:sldId id="276" r:id="rId20"/>
    <p:sldId id="278" r:id="rId21"/>
    <p:sldId id="279" r:id="rId22"/>
    <p:sldId id="271" r:id="rId23"/>
    <p:sldId id="285" r:id="rId24"/>
    <p:sldId id="284" r:id="rId25"/>
    <p:sldId id="258" r:id="rId26"/>
    <p:sldId id="286" r:id="rId27"/>
    <p:sldId id="272" r:id="rId28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开场控制在 15 秒内：这是一个前后端分离、AI Agent 驱动的数据库查询与运维工作台。</a:t>
            </a:r>
          </a:p>
          <a:p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用真实工作流举例：产品经理打开网页，输入“本月新增用户按日分组”，系统生成 SQL、返回结果，并可一键生成图表。</a:t>
            </a:r>
          </a:p>
          <a:p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用真实工作流举例：产品经理打开网页，输入“本月新增用户按日分组”，系统生成 SQL、返回结果，并可一键生成图表。</a:t>
            </a:r>
          </a:p>
          <a:p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不逐条念功能，强调模块围绕工作流组织：连接、查询、分析、报表、管理。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40 秒），包含两个查询案例：</a:t>
            </a:r>
          </a:p>
          <a:p>
            <a:r>
              <a:t>案例一：选择「本地演示库 (SQLite)」，提问「查询所有用户信息」，Agent 生成 SELECT id, username, email, age, created_at FROM users 并返回 8 条记录；</a:t>
            </a:r>
          </a:p>
          <a:p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/>
          <a:p>
            <a:r>
              <a:t>[Sources]</a:t>
            </a:r>
          </a:p>
          <a:p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60 秒），数据源为 Oracle（UAT）：</a:t>
            </a:r>
          </a:p>
          <a:p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>
            <a:r>
              <a:t>结尾进入「可视化报表」页，可见刚保存的两张图表（笔数与金额量级差异大时前端自动拆分双 Y 轴）。</a:t>
            </a:r>
          </a:p>
          <a:p/>
          <a:p>
            <a:r>
              <a:t>[Sources]</a:t>
            </a:r>
          </a:p>
          <a:p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55 秒），完整演示 SQL 工作台与 Agent 协同：</a:t>
            </a:r>
          </a:p>
          <a:p>
            <a:r>
              <a:t>案例一：数据源切换为「OceanBase（本地）」，在编辑器输入 SELECT * FROM `t_org`; 并点击「▶ 执行」，返回 55 行机构数据；</a:t>
            </a:r>
          </a:p>
          <a:p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>
            <a:r>
              <a:t>结尾依次切换左侧「历史」页签（本次两条 SQL 的执行记录，含行数与耗时）与「收藏」页签（新增的收藏项排在首位）。</a:t>
            </a:r>
          </a:p>
          <a:p/>
          <a:p>
            <a:r>
              <a:t>[Sources]</a:t>
            </a:r>
          </a:p>
          <a:p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52 秒），三个写操作场景均需人工确认：</a:t>
            </a:r>
          </a:p>
          <a:p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/>
          <a:p>
            <a:r>
              <a:t>[Sources]</a:t>
            </a:r>
          </a:p>
          <a:p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32 秒），四个监控能力依次演示：</a:t>
            </a:r>
          </a:p>
          <a:p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/>
          <a:p>
            <a:r>
              <a:t>[Sources]</a:t>
            </a:r>
          </a:p>
          <a:p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23 秒），两步验证连接可用性：</a:t>
            </a:r>
          </a:p>
          <a:p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/>
          <a:p>
            <a:r>
              <a:t>[Sources]</a:t>
            </a:r>
          </a:p>
          <a:p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播放视频（约 23 秒），从用户到角色依次演示：</a:t>
            </a:r>
          </a:p>
          <a:p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>
            <a:r>
              <a:t>第二步：切到「角色管理」，左侧列出 5 个内置角色（管理员 / 技术管理 / 技术查询 / 业务管理 / 业务查询）；</a:t>
            </a:r>
          </a:p>
          <a:p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/>
          <a:p>
            <a:r>
              <a:t>[Sources]</a:t>
            </a:r>
          </a:p>
          <a:p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 Agent 能力的层次：不只是生成 SQL，还包括 Schema 感知、多轮对话、解释优化和流式输出。</a:t>
            </a:r>
          </a:p>
          <a:p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这是项目的信任基础：让 AI 能生成 SQL，但不让 AI 拥有不受控的写权限。</a:t>
            </a:r>
          </a:p>
          <a:p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审计与监控是系统可治理的体现，也是企业级部署的关键。</a:t>
            </a:r>
          </a:p>
          <a:p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企业级完整性：加密、分级授权、全量审计、指标与测试。</a:t>
            </a:r>
          </a:p>
          <a:p/>
          <a:p>
            <a:r>
              <a:t>[Sources]</a:t>
            </a:r>
          </a:p>
          <a:p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先给观众一个清晰的路线图：从为什么做，到产品能力、技术亮点，再到工程治理。</a:t>
            </a:r>
          </a:p>
          <a:p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重点讲“同一套 Agent 工具如何屏蔽数据库方言差异”。</a:t>
            </a:r>
          </a:p>
          <a:p>
            <a:r>
              <a:t>例如获取表结构在不同数据库里调用不同 SQL，但上层服务无感知。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定位一句话：不会 SQL 的人也能查数，会 SQL 的人更快。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收尾回到用户价值，并给出下一步计划。</a:t>
            </a:r>
          </a:p>
          <a:p/>
          <a:p>
            <a:r>
              <a:t>[Sources]</a:t>
            </a:r>
          </a:p>
          <a:p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/>
            <a:lvl2pPr/>
            <a:lvl3pPr/>
            <a:lvl4pPr/>
            <a:lvl5pPr/>
            <a:lvl6pPr/>
            <a:lvl7pPr/>
            <a:lvl8pPr/>
            <a:lvl9pPr/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6.xml"/><Relationship Id="rId3" Type="http://schemas.microsoft.com/office/2007/relationships/media" Target="../media/media1.mp4"/><Relationship Id="rId2" Type="http://schemas.openxmlformats.org/officeDocument/2006/relationships/video" Target="../media/media1.mp4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6.xml"/><Relationship Id="rId3" Type="http://schemas.microsoft.com/office/2007/relationships/media" Target="../media/media2.mp4"/><Relationship Id="rId2" Type="http://schemas.openxmlformats.org/officeDocument/2006/relationships/video" Target="../media/media2.mp4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6.xml"/><Relationship Id="rId3" Type="http://schemas.microsoft.com/office/2007/relationships/media" Target="../media/media3.mp4"/><Relationship Id="rId2" Type="http://schemas.openxmlformats.org/officeDocument/2006/relationships/video" Target="../media/media3.mp4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6.xml"/><Relationship Id="rId3" Type="http://schemas.microsoft.com/office/2007/relationships/media" Target="../media/media4.mp4"/><Relationship Id="rId2" Type="http://schemas.openxmlformats.org/officeDocument/2006/relationships/video" Target="../media/media4.mp4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6.xml"/><Relationship Id="rId3" Type="http://schemas.microsoft.com/office/2007/relationships/media" Target="../media/media5.mp4"/><Relationship Id="rId2" Type="http://schemas.openxmlformats.org/officeDocument/2006/relationships/video" Target="../media/media5.mp4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6.xml"/><Relationship Id="rId3" Type="http://schemas.microsoft.com/office/2007/relationships/media" Target="../media/media6.mp4"/><Relationship Id="rId2" Type="http://schemas.openxmlformats.org/officeDocument/2006/relationships/video" Target="../media/media6.mp4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6.xml"/><Relationship Id="rId3" Type="http://schemas.microsoft.com/office/2007/relationships/media" Target="../media/media7.mp4"/><Relationship Id="rId2" Type="http://schemas.openxmlformats.org/officeDocument/2006/relationships/video" Target="../media/media7.mp4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cover-glow"/>
          <p:cNvSpPr>
            <a:spLocks noGrp="1"/>
          </p:cNvSpPr>
          <p:nvPr/>
        </p:nvSpPr>
        <p:spPr>
          <a:xfrm>
            <a:off x="7429500" y="571500"/>
            <a:ext cx="4095750" cy="4095750"/>
          </a:xfrm>
          <a:prstGeom prst="roundRect">
            <a:avLst>
              <a:gd name="adj" fmla="val 50000"/>
            </a:avLst>
          </a:prstGeom>
          <a:solidFill>
            <a:srgbClr val="22C55E">
              <a:alpha val="8000"/>
            </a:srgbClr>
          </a:solidFill>
          <a:ln w="0">
            <a:noFill/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857250" y="1695450"/>
            <a:ext cx="6858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4800" b="1">
                <a:solidFill>
                  <a:schemeClr val="tx1"/>
                </a:solidFill>
                <a:latin typeface="微软雅黑" charset="-122"/>
                <a:ea typeface="微软雅黑" charset="-122"/>
                <a:cs typeface="微软雅黑" charset="-122"/>
              </a:rPr>
              <a:t>DataMind</a:t>
            </a:r>
            <a:endParaRPr sz="4800" b="1">
              <a:solidFill>
                <a:schemeClr val="tx1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cover-subtitle"/>
          <p:cNvSpPr>
            <a:spLocks noGrp="1"/>
          </p:cNvSpPr>
          <p:nvPr/>
        </p:nvSpPr>
        <p:spPr>
          <a:xfrm>
            <a:off x="914400" y="2781300"/>
            <a:ext cx="685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250" b="1">
                <a:solidFill>
                  <a:srgbClr val="FFFFFF"/>
                </a:solidFill>
                <a:latin typeface="微软雅黑" charset="-122"/>
                <a:ea typeface="微软雅黑" charset="-122"/>
                <a:cs typeface="微软雅黑" charset="-122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5" name="cover-claim"/>
          <p:cNvSpPr>
            <a:spLocks noGrp="1"/>
          </p:cNvSpPr>
          <p:nvPr/>
        </p:nvSpPr>
        <p:spPr>
          <a:xfrm>
            <a:off x="914400" y="3352800"/>
            <a:ext cx="7239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让不会写 </a:t>
            </a:r>
            <a:r>
              <a:rPr lang="en-US" altLang="zh-CN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SQL 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的业务人员也能安全地查数据，会写 </a:t>
            </a:r>
            <a:r>
              <a:rPr lang="en-US" altLang="zh-CN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SQL 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的技术人员更</a:t>
            </a:r>
            <a:r>
              <a:rPr lang="zh-CN" altLang="en-US" sz="1500" b="0">
                <a:solidFill>
                  <a:srgbClr val="DBEAFE"/>
                </a:solidFill>
                <a:latin typeface="微软雅黑" charset="-122"/>
                <a:ea typeface="微软雅黑" charset="-122"/>
                <a:cs typeface="微软雅黑" charset="-122"/>
              </a:rPr>
              <a:t>高效。</a:t>
            </a:r>
            <a:endParaRPr lang="zh-CN" altLang="en-US" sz="1500" b="0">
              <a:solidFill>
                <a:srgbClr val="DBEAFE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cover-tag-0"/>
          <p:cNvSpPr>
            <a:spLocks noGrp="1"/>
          </p:cNvSpPr>
          <p:nvPr/>
        </p:nvSpPr>
        <p:spPr>
          <a:xfrm>
            <a:off x="9144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AI Agent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cover-tag-line-0"/>
          <p:cNvSpPr>
            <a:spLocks noGrp="1"/>
          </p:cNvSpPr>
          <p:nvPr/>
        </p:nvSpPr>
        <p:spPr>
          <a:xfrm>
            <a:off x="914400" y="4476750"/>
            <a:ext cx="381000" cy="2857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8" name="cover-tag-1"/>
          <p:cNvSpPr>
            <a:spLocks noGrp="1"/>
          </p:cNvSpPr>
          <p:nvPr/>
        </p:nvSpPr>
        <p:spPr>
          <a:xfrm>
            <a:off x="31242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Multi-Database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cover-tag-line-1"/>
          <p:cNvSpPr>
            <a:spLocks noGrp="1"/>
          </p:cNvSpPr>
          <p:nvPr/>
        </p:nvSpPr>
        <p:spPr>
          <a:xfrm>
            <a:off x="3124200" y="4476750"/>
            <a:ext cx="381000" cy="2857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10" name="cover-tag-2"/>
          <p:cNvSpPr>
            <a:spLocks noGrp="1"/>
          </p:cNvSpPr>
          <p:nvPr/>
        </p:nvSpPr>
        <p:spPr>
          <a:xfrm>
            <a:off x="5334000" y="41529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00" b="1">
                <a:solidFill>
                  <a:srgbClr val="93C5FD"/>
                </a:solidFill>
                <a:latin typeface="微软雅黑" charset="-122"/>
                <a:ea typeface="微软雅黑" charset="-122"/>
                <a:cs typeface="微软雅黑" charset="-122"/>
              </a:rPr>
              <a:t>Security First</a:t>
            </a:r>
            <a:endParaRPr sz="1200" b="1">
              <a:solidFill>
                <a:srgbClr val="93C5FD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1" name="cover-tag-line-2"/>
          <p:cNvSpPr>
            <a:spLocks noGrp="1"/>
          </p:cNvSpPr>
          <p:nvPr/>
        </p:nvSpPr>
        <p:spPr>
          <a:xfrm>
            <a:off x="5334000" y="4476750"/>
            <a:ext cx="381000" cy="28575"/>
          </a:xfrm>
          <a:prstGeom prst="rect">
            <a:avLst/>
          </a:prstGeom>
          <a:solidFill>
            <a:srgbClr val="22C55E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目</a:t>
            </a:r>
            <a:r>
              <a:rPr lang="en-US" alt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录</a:t>
            </a:r>
            <a:endParaRPr lang="zh-CN"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2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genda-num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16954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01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agenda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1752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项目背景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genda-desc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279650" y="210947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痛点</a:t>
            </a:r>
            <a:r>
              <a:rPr lang="zh-CN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分析</a:t>
            </a: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>
                <a:sym typeface="+mn-ea"/>
              </a:rPr>
              <a:t>解决方案</a:t>
            </a:r>
            <a:r>
              <a:rPr>
                <a:sym typeface="+mn-ea"/>
              </a:rPr>
              <a:t>、目标用户</a:t>
            </a:r>
            <a:endParaRPr 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0" name="agenda-line-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14400" y="25527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1" name="agenda-num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914400" y="27622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02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agenda-title-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2190750" y="28194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系统</a:t>
            </a: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功能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agenda-desc-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2190750" y="3200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agenda-line-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914400" y="36195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5" name="agenda-num-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914400" y="38290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03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" name="agenda-title-2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190750" y="38862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技术亮点</a:t>
            </a:r>
            <a:endParaRPr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agenda-desc-2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190750" y="42672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8" name="agenda-line-2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914400" y="4686300"/>
            <a:ext cx="93345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9" name="agenda-num-3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914400" y="48958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04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0" name="agenda-title-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190750" y="49530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推广</a:t>
            </a: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价值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1" name="agenda-desc-3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190750" y="53340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alt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多数据源与大模型支持、多场景适用</a:t>
            </a:r>
            <a:endParaRPr lang="zh-CN" alt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endParaRPr lang="en-US" altLang="zh-CN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endParaRPr lang="en-US" altLang="zh-CN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agenda-num-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16954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01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agenda-title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17526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项目背景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genda-desc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21336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痛点</a:t>
            </a: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>
                <a:sym typeface="+mn-ea"/>
              </a:rPr>
              <a:t>定位、目标用户</a:t>
            </a:r>
            <a:endParaRPr 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痛点</a:t>
            </a: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分析</a:t>
            </a:r>
            <a:endParaRPr lang="zh-CN"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4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217930" y="1371600"/>
            <a:ext cx="9773920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在银行、运维、业务分析等场景中，取数与用数存在几个普遍问题：</a:t>
            </a:r>
            <a:endParaRPr lang="zh-CN" altLang="en-US"/>
          </a:p>
          <a:p>
            <a:endParaRPr lang="en-US" altLang="zh-CN"/>
          </a:p>
          <a:p>
            <a:r>
              <a:rPr lang="zh-CN" altLang="en-US" b="1">
                <a:latin typeface="Arial" panose="020B0604020202090204" pitchFamily="34" charset="0"/>
              </a:rPr>
              <a:t>业务人员</a:t>
            </a:r>
            <a:r>
              <a:rPr lang="zh-CN" altLang="en-US"/>
              <a:t>：想自己看数据，但没有入口</a:t>
            </a:r>
            <a:endParaRPr lang="zh-CN" altLang="en-US"/>
          </a:p>
          <a:p>
            <a:r>
              <a:rPr lang="zh-CN" altLang="en-US"/>
              <a:t>取数需要提申请</a:t>
            </a:r>
            <a:r>
              <a:rPr lang="en-US" altLang="zh-CN"/>
              <a:t>、</a:t>
            </a:r>
            <a:r>
              <a:rPr lang="zh-CN" altLang="en-US"/>
              <a:t>相关系统技术人员根据文字写</a:t>
            </a:r>
            <a:r>
              <a:rPr lang="en-US" altLang="zh-CN"/>
              <a:t>sql、</a:t>
            </a:r>
            <a:r>
              <a:rPr lang="zh-CN" altLang="en-US"/>
              <a:t>运维人员根据</a:t>
            </a:r>
            <a:r>
              <a:rPr lang="en-US" altLang="zh-CN"/>
              <a:t>SQL</a:t>
            </a:r>
            <a:r>
              <a:rPr lang="zh-CN" altLang="en-US"/>
              <a:t>查询数据</a:t>
            </a:r>
            <a:r>
              <a:rPr lang="en-US" altLang="zh-CN"/>
              <a:t>、</a:t>
            </a:r>
            <a:r>
              <a:rPr lang="zh-CN" altLang="en-US"/>
              <a:t>拍照或导出发给业务人员</a:t>
            </a:r>
            <a:r>
              <a:rPr lang="en-US" altLang="zh-CN"/>
              <a:t>，</a:t>
            </a:r>
            <a:r>
              <a:rPr lang="zh-CN" altLang="en-US"/>
              <a:t>取数链路长</a:t>
            </a:r>
            <a:r>
              <a:rPr lang="en-US" altLang="zh-CN"/>
              <a:t>；</a:t>
            </a:r>
            <a:endParaRPr lang="en-US" altLang="zh-CN"/>
          </a:p>
          <a:p>
            <a:r>
              <a:rPr lang="zh-CN" altLang="en-US"/>
              <a:t>报表开发与维护需要提需求进行排期</a:t>
            </a:r>
            <a:r>
              <a:rPr lang="en-US" altLang="zh-CN"/>
              <a:t>、</a:t>
            </a:r>
            <a:r>
              <a:rPr lang="zh-CN" altLang="en-US"/>
              <a:t>开发</a:t>
            </a:r>
            <a:r>
              <a:rPr lang="en-US" altLang="zh-CN"/>
              <a:t>、</a:t>
            </a:r>
            <a:r>
              <a:rPr lang="zh-CN" altLang="en-US"/>
              <a:t>测线</a:t>
            </a:r>
            <a:r>
              <a:rPr lang="en-US" altLang="zh-CN"/>
              <a:t>，</a:t>
            </a:r>
            <a:r>
              <a:rPr lang="zh-CN" altLang="en-US"/>
              <a:t>耗费</a:t>
            </a:r>
            <a:r>
              <a:rPr lang="zh-CN" altLang="en-US"/>
              <a:t>时间长</a:t>
            </a:r>
            <a:r>
              <a:rPr lang="en-US" altLang="zh-CN"/>
              <a:t>。</a:t>
            </a:r>
            <a:endParaRPr lang="en-US" altLang="zh-CN"/>
          </a:p>
          <a:p>
            <a:r>
              <a:rPr lang="zh-CN" altLang="en-US"/>
              <a:t>只能拿到数字，拿不到图：想看趋势、对比、排名，还得用</a:t>
            </a:r>
            <a:r>
              <a:rPr lang="en-US" altLang="zh-CN"/>
              <a:t>Excel</a:t>
            </a:r>
            <a:r>
              <a:rPr lang="zh-CN" altLang="en-US"/>
              <a:t>制作图</a:t>
            </a:r>
            <a:endParaRPr lang="zh-CN" altLang="en-US">
              <a:sym typeface="+mn-ea"/>
            </a:endParaRPr>
          </a:p>
          <a:p>
            <a:r>
              <a:rPr lang="zh-CN" altLang="en-US" b="1">
                <a:latin typeface="Arial" panose="020B0604020202090204" pitchFamily="34" charset="0"/>
              </a:rPr>
              <a:t>开发人员</a:t>
            </a:r>
            <a:r>
              <a:rPr lang="en-US" altLang="zh-CN"/>
              <a:t>：</a:t>
            </a:r>
            <a:endParaRPr lang="zh-CN" altLang="en-US"/>
          </a:p>
          <a:p>
            <a:r>
              <a:rPr lang="zh-CN" altLang="en-US"/>
              <a:t>复杂</a:t>
            </a:r>
            <a:r>
              <a:rPr lang="en-US" altLang="zh-CN"/>
              <a:t>SQL</a:t>
            </a:r>
            <a:r>
              <a:rPr lang="zh-CN" altLang="en-US"/>
              <a:t>不熟练</a:t>
            </a:r>
            <a:r>
              <a:rPr lang="en-US" altLang="zh-CN"/>
              <a:t>、</a:t>
            </a:r>
            <a:r>
              <a:rPr lang="zh-CN" altLang="en-US">
                <a:sym typeface="+mn-ea"/>
              </a:rPr>
              <a:t>常用查询重复写</a:t>
            </a:r>
            <a:r>
              <a:rPr lang="en-US" altLang="zh-CN">
                <a:sym typeface="+mn-ea"/>
              </a:rPr>
              <a:t>SQL，</a:t>
            </a:r>
            <a:r>
              <a:rPr lang="zh-CN" altLang="en-US">
                <a:latin typeface="Arial" panose="020B0604020202090204" pitchFamily="34" charset="0"/>
              </a:rPr>
              <a:t>效率低</a:t>
            </a:r>
            <a:r>
              <a:rPr lang="en-US" altLang="zh-CN"/>
              <a:t>；</a:t>
            </a:r>
            <a:endParaRPr lang="en-US" altLang="zh-CN"/>
          </a:p>
          <a:p>
            <a:r>
              <a:rPr lang="zh-CN" altLang="en-US">
                <a:sym typeface="+mn-ea"/>
              </a:rPr>
              <a:t>通用大模型不知道真实表结构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sym typeface="+mn-ea"/>
              </a:rPr>
              <a:t>生成的 </a:t>
            </a:r>
            <a:r>
              <a:rPr lang="en-US" altLang="zh-CN">
                <a:sym typeface="+mn-ea"/>
              </a:rPr>
              <a:t>SQL</a:t>
            </a:r>
            <a:r>
              <a:rPr lang="zh-CN" altLang="en-US">
                <a:sym typeface="+mn-ea"/>
              </a:rPr>
              <a:t>无法直接用</a:t>
            </a:r>
            <a:r>
              <a:rPr lang="en-US" altLang="zh-CN">
                <a:sym typeface="+mn-ea"/>
              </a:rPr>
              <a:t>；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误执行 </a:t>
            </a:r>
            <a:r>
              <a:rPr lang="en-US" altLang="zh-CN">
                <a:sym typeface="+mn-ea"/>
              </a:rPr>
              <a:t>DML、DDL</a:t>
            </a:r>
            <a:r>
              <a:rPr lang="zh-CN" altLang="en-US">
                <a:sym typeface="+mn-ea"/>
              </a:rPr>
              <a:t>语句会造成数据事故</a:t>
            </a:r>
            <a:r>
              <a:rPr lang="en-US" altLang="zh-CN">
                <a:sym typeface="+mn-ea"/>
              </a:rPr>
              <a:t>。</a:t>
            </a:r>
            <a:endParaRPr lang="en-US" altLang="zh-CN"/>
          </a:p>
          <a:p>
            <a:r>
              <a:rPr lang="zh-CN" altLang="en-US" b="1">
                <a:latin typeface="Arial" panose="020B0604020202090204" pitchFamily="34" charset="0"/>
              </a:rPr>
              <a:t>运维</a:t>
            </a:r>
            <a:r>
              <a:rPr lang="en-US" altLang="zh-CN" b="1">
                <a:latin typeface="Arial" panose="020B0604020202090204" pitchFamily="34" charset="0"/>
              </a:rPr>
              <a:t>/DBA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负责的系统多</a:t>
            </a:r>
            <a:r>
              <a:rPr lang="en-US" altLang="zh-CN"/>
              <a:t>，</a:t>
            </a:r>
            <a:r>
              <a:rPr lang="zh-CN" altLang="en-US"/>
              <a:t>不熟悉所有系统的数据表</a:t>
            </a:r>
            <a:r>
              <a:rPr lang="en-US" altLang="zh-CN"/>
              <a:t>，</a:t>
            </a:r>
            <a:r>
              <a:rPr lang="zh-CN" altLang="en-US">
                <a:latin typeface="Arial" panose="020B0604020202090204" pitchFamily="34" charset="0"/>
              </a:rPr>
              <a:t>运维难</a:t>
            </a:r>
            <a:r>
              <a:rPr lang="en-US" altLang="zh-CN"/>
              <a:t>；</a:t>
            </a:r>
            <a:endParaRPr lang="en-US" altLang="zh-CN"/>
          </a:p>
          <a:p>
            <a:r>
              <a:rPr lang="zh-CN">
                <a:sym typeface="+mn-ea"/>
              </a:rPr>
              <a:t>不同</a:t>
            </a:r>
            <a:r>
              <a:rPr>
                <a:sym typeface="+mn-ea"/>
              </a:rPr>
              <a:t>数据库</a:t>
            </a:r>
            <a:r>
              <a:rPr lang="zh-CN">
                <a:sym typeface="+mn-ea"/>
              </a:rPr>
              <a:t>各有各的</a:t>
            </a:r>
            <a:r>
              <a:rPr lang="en-US" altLang="zh-CN">
                <a:sym typeface="+mn-ea"/>
              </a:rPr>
              <a:t>SQL</a:t>
            </a:r>
            <a:r>
              <a:rPr lang="zh-CN" altLang="en-US">
                <a:sym typeface="+mn-ea"/>
              </a:rPr>
              <a:t>语句和</a:t>
            </a:r>
            <a:r>
              <a:rPr lang="zh-CN">
                <a:sym typeface="+mn-ea"/>
              </a:rPr>
              <a:t>客户端</a:t>
            </a:r>
            <a:r>
              <a:rPr lang="en-US" altLang="zh-CN">
                <a:sym typeface="+mn-ea"/>
              </a:rPr>
              <a:t>，</a:t>
            </a:r>
            <a:r>
              <a:rPr lang="zh-CN" altLang="en-US">
                <a:latin typeface="Arial" panose="020B0604020202090204" pitchFamily="34" charset="0"/>
                <a:sym typeface="+mn-ea"/>
              </a:rPr>
              <a:t>运维烦</a:t>
            </a:r>
          </a:p>
          <a:p>
            <a:r>
              <a:rPr lang="zh-CN" altLang="en-US"/>
              <a:t>可观测性差</a:t>
            </a:r>
            <a:r>
              <a:rPr lang="en-US" altLang="zh-CN"/>
              <a:t>，</a:t>
            </a:r>
            <a:r>
              <a:rPr lang="zh-CN" altLang="en-US"/>
              <a:t>谁查了什么、慢查询有哪些、结构何时变更，缺少统一视图。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解决</a:t>
            </a: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方案</a:t>
            </a:r>
            <a:endParaRPr lang="zh-CN"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4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67080" y="2420620"/>
            <a:ext cx="437388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构建一个基于 </a:t>
            </a:r>
            <a:r>
              <a:rPr lang="en-US" altLang="zh-CN"/>
              <a:t>AI Agent </a:t>
            </a:r>
            <a:r>
              <a:rPr lang="zh-CN" altLang="en-US"/>
              <a:t>驱动的数据库查询与运维工作台。把「自然语言查询、</a:t>
            </a:r>
            <a:r>
              <a:rPr lang="en-US" altLang="zh-CN"/>
              <a:t>SQL </a:t>
            </a:r>
            <a:r>
              <a:rPr lang="zh-CN" altLang="en-US"/>
              <a:t>工作台、元数据管理、可视化报表、权限审计、运维监控」整合成一个闭环，让不会写 </a:t>
            </a:r>
            <a:r>
              <a:rPr lang="en-US" altLang="zh-CN"/>
              <a:t>SQL </a:t>
            </a:r>
            <a:r>
              <a:rPr lang="zh-CN" altLang="en-US"/>
              <a:t>的业务人员也能安全地查数据，会写 </a:t>
            </a:r>
            <a:r>
              <a:rPr lang="en-US" altLang="zh-CN"/>
              <a:t>SQL </a:t>
            </a:r>
            <a:r>
              <a:rPr lang="zh-CN" altLang="en-US"/>
              <a:t>的技术人员效率更高。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agenda-num-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27622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02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2" name="agenda-title-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28194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系统</a:t>
            </a: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功能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3" name="agenda-desc-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32004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功能全景</a:t>
            </a:r>
            <a:r>
              <a:rPr lang="en-US" altLang="zh-CN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zh-CN" alt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功能</a:t>
            </a:r>
            <a:r>
              <a:rPr lang="zh-CN" alt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演示</a:t>
            </a:r>
            <a:endParaRPr lang="zh-CN" alt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</a:t>
            </a:r>
            <a:r>
              <a:rPr lang="zh-CN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全景</a:t>
            </a:r>
            <a:endParaRPr lang="zh-CN"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4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393668" y="1504950"/>
            <a:ext cx="1140456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rule"/>
          <p:cNvSpPr>
            <a:spLocks noGrp="1"/>
          </p:cNvSpPr>
          <p:nvPr/>
        </p:nvSpPr>
        <p:spPr>
          <a:xfrm>
            <a:off x="393668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93668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连接管理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3668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8 类数据源、SSH 隧道、多环境标签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rule"/>
          <p:cNvSpPr>
            <a:spLocks noGrp="1"/>
          </p:cNvSpPr>
          <p:nvPr/>
        </p:nvSpPr>
        <p:spPr>
          <a:xfrm>
            <a:off x="3314700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314700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SQL 工作台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314700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rule"/>
          <p:cNvSpPr>
            <a:spLocks noGrp="1"/>
          </p:cNvSpPr>
          <p:nvPr/>
        </p:nvSpPr>
        <p:spPr>
          <a:xfrm>
            <a:off x="6235732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235732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元数据管理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235732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rule"/>
          <p:cNvSpPr>
            <a:spLocks noGrp="1"/>
          </p:cNvSpPr>
          <p:nvPr/>
        </p:nvSpPr>
        <p:spPr>
          <a:xfrm>
            <a:off x="9156764" y="21240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156764" y="23336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AI 智能查询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156764" y="27527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rule"/>
          <p:cNvSpPr>
            <a:spLocks noGrp="1"/>
          </p:cNvSpPr>
          <p:nvPr/>
        </p:nvSpPr>
        <p:spPr>
          <a:xfrm>
            <a:off x="393668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93668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可视化报表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93668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rule"/>
          <p:cNvSpPr>
            <a:spLocks noGrp="1"/>
          </p:cNvSpPr>
          <p:nvPr/>
        </p:nvSpPr>
        <p:spPr>
          <a:xfrm>
            <a:off x="3314700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314700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文档导出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314700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rule"/>
          <p:cNvSpPr>
            <a:spLocks noGrp="1"/>
          </p:cNvSpPr>
          <p:nvPr/>
        </p:nvSpPr>
        <p:spPr>
          <a:xfrm>
            <a:off x="6235732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6235732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用户与角色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235732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按角色控制用户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rule"/>
          <p:cNvSpPr>
            <a:spLocks noGrp="1"/>
          </p:cNvSpPr>
          <p:nvPr/>
        </p:nvSpPr>
        <p:spPr>
          <a:xfrm>
            <a:off x="9156764" y="4219575"/>
            <a:ext cx="2667000" cy="95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156764" y="4429125"/>
            <a:ext cx="266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运维监控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156764" y="4848225"/>
            <a:ext cx="26289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慢查询、连接概览、审计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5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6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一句话</a:t>
            </a:r>
            <a:r>
              <a:rPr lang="zh-CN">
                <a:sym typeface="+mn-ea"/>
              </a:rPr>
              <a:t>查询数据并生成</a:t>
            </a:r>
            <a:r>
              <a:rPr lang="zh-CN">
                <a:sym typeface="+mn-ea"/>
              </a:rPr>
              <a:t>图表</a:t>
            </a:r>
            <a:endParaRPr lang="zh-CN">
              <a:sym typeface="+mn-ea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根据数据自动选择图表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类型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</a:t>
            </a:r>
            <a:r>
              <a:rPr>
                <a:sym typeface="+mn-ea"/>
              </a:rPr>
              <a:t>拖拽式仪表盘</a:t>
            </a:r>
            <a:r>
              <a:rPr lang="zh-CN">
                <a:sym typeface="+mn-ea"/>
              </a:rPr>
              <a:t>可编辑</a:t>
            </a:r>
            <a:r>
              <a:rPr lang="zh-CN">
                <a:sym typeface="+mn-ea"/>
              </a:rPr>
              <a:t>分享</a:t>
            </a:r>
            <a:endParaRPr lang="zh-CN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7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表/索引/DDL/视图/函数</a:t>
            </a:r>
            <a:r>
              <a:rPr lang="zh-CN">
                <a:sym typeface="+mn-ea"/>
              </a:rPr>
              <a:t>元数据</a:t>
            </a:r>
            <a:r>
              <a:rPr lang="zh-CN">
                <a:sym typeface="+mn-ea"/>
              </a:rPr>
              <a:t>管理</a:t>
            </a:r>
            <a:endParaRPr lang="zh-CN">
              <a:sym typeface="+mn-ea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Agent 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辅助快速生成</a:t>
            </a:r>
            <a:r>
              <a:rPr lang="en-US" alt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SQL</a:t>
            </a:r>
            <a:endParaRPr lang="en-US" alt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SQL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填入编辑器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再编辑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</a:t>
            </a:r>
            <a:r>
              <a:rPr lang="en-US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</a:t>
            </a:r>
            <a:r>
              <a:rPr lang="en-US" altLang="zh-CN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QL </a:t>
            </a:r>
            <a:r>
              <a:rPr lang="zh-CN" altLang="en-US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语句分级</a:t>
            </a: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安全控制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8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DDL：红色危险提示 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操作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全部写入审计日志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9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0" y="1695450"/>
            <a:ext cx="3679317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运维与合规</a:t>
            </a:r>
            <a:endParaRPr sz="21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审计日志：登录 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、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SQL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执行记录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留痕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慢查询：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设置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阈值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统计查询慢</a:t>
            </a:r>
            <a:r>
              <a:rPr lang="en-US" alt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SQL</a:t>
            </a:r>
            <a:endParaRPr lang="en-US" alt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表结构对比：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多环境表结构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差异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对比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11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数据库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连接配置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：</a:t>
            </a:r>
            <a:r>
              <a:rPr 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7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类数据源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支持</a:t>
            </a:r>
            <a:endParaRPr lang="zh-CN" altLang="en-US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大模型</a:t>
            </a:r>
            <a:r>
              <a:rPr lang="zh-CN">
                <a:sym typeface="+mn-ea"/>
              </a:rPr>
              <a:t>连接配置</a:t>
            </a:r>
            <a:r>
              <a:rPr>
                <a:sym typeface="+mn-ea"/>
              </a:rPr>
              <a:t>：OpenAI、Claude、Ollama 三类提供方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一键测试数据库</a:t>
            </a:r>
            <a:r>
              <a:rPr lang="en-US" alt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、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大模型</a:t>
            </a:r>
            <a:r>
              <a:rPr lang="zh-CN" altLang="en-US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连通性</a:t>
            </a:r>
            <a:endParaRPr lang="zh-CN" altLang="en-US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数据库密码</a:t>
            </a:r>
            <a:r>
              <a:rPr lang="en-US" alt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、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API Key 加密存储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12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video-frame"/>
          <p:cNvSpPr>
            <a:spLocks noGrp="1"/>
          </p:cNvSpPr>
          <p:nvPr/>
        </p:nvSpPr>
        <p:spPr>
          <a:xfrm>
            <a:off x="374618" y="1647825"/>
            <a:ext cx="7467600" cy="4217194"/>
          </a:xfrm>
          <a:prstGeom prst="rect">
            <a:avLst/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pic>
        <p:nvPicPr>
          <p:cNvPr id="16" name="video-pos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pic>
        <p:nvPicPr>
          <p:cNvPr id="4" name="vide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"/>
          <a:stretch>
            <a:fillRect/>
          </a:stretch>
        </p:blipFill>
        <p:spPr>
          <a:xfrm>
            <a:off x="393668" y="1666875"/>
            <a:ext cx="7429500" cy="4179094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393668" y="5941219"/>
            <a:ext cx="7429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5A5F66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marker"/>
          <p:cNvSpPr>
            <a:spLocks noGrp="1"/>
          </p:cNvSpPr>
          <p:nvPr/>
        </p:nvSpPr>
        <p:spPr>
          <a:xfrm>
            <a:off x="8191500" y="24384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8439150" y="23241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marker"/>
          <p:cNvSpPr>
            <a:spLocks noGrp="1"/>
          </p:cNvSpPr>
          <p:nvPr/>
        </p:nvSpPr>
        <p:spPr>
          <a:xfrm>
            <a:off x="8191500" y="30289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439150" y="29146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角色管理：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按角色控制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权限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marker"/>
          <p:cNvSpPr>
            <a:spLocks noGrp="1"/>
          </p:cNvSpPr>
          <p:nvPr/>
        </p:nvSpPr>
        <p:spPr>
          <a:xfrm>
            <a:off x="8191500" y="361950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8439150" y="350520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marker"/>
          <p:cNvSpPr>
            <a:spLocks noGrp="1"/>
          </p:cNvSpPr>
          <p:nvPr/>
        </p:nvSpPr>
        <p:spPr>
          <a:xfrm>
            <a:off x="8191500" y="4210050"/>
            <a:ext cx="85725" cy="85725"/>
          </a:xfrm>
          <a:prstGeom prst="rect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439150" y="4095750"/>
            <a:ext cx="3429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前端菜单与后端接口双重</a:t>
            </a:r>
            <a:r>
              <a:rPr lang="zh-CN">
                <a:sym typeface="+mn-ea"/>
              </a:rPr>
              <a:t>控制权限</a:t>
            </a:r>
            <a:endParaRPr lang="zh-CN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agenda-num-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38290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03</a:t>
            </a:r>
            <a:endParaRPr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" name="agenda-title-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38862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技术</a:t>
            </a: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亮点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7" name="agenda-desc-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190750" y="426720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Agent</a:t>
            </a: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 </a:t>
            </a:r>
            <a:r>
              <a:rPr lang="zh-CN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集成</a:t>
            </a: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、</a:t>
            </a:r>
            <a:r>
              <a:rPr 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SQL</a:t>
            </a:r>
            <a:r>
              <a: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安全执行、跨库适配</a:t>
            </a:r>
            <a:endParaRPr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en-US" alt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AI Agent </a:t>
            </a:r>
            <a:r>
              <a:rPr lang="zh-CN" altLang="en-US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深度集成，而非套壳聊天</a:t>
            </a:r>
            <a:endParaRPr lang="zh-CN" altLang="en-US"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6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27125" y="2492375"/>
            <a:ext cx="786511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工具调用：</a:t>
            </a:r>
            <a:r>
              <a:rPr lang="en-US" altLang="zh-CN"/>
              <a:t>Agent </a:t>
            </a:r>
            <a:r>
              <a:rPr lang="zh-CN" altLang="en-US"/>
              <a:t>可按需调用 `</a:t>
            </a:r>
            <a:r>
              <a:rPr lang="en-US" altLang="zh-CN"/>
              <a:t>list_tables / get_columns / sample_data / explain` </a:t>
            </a:r>
            <a:r>
              <a:rPr lang="zh-CN" altLang="en-US"/>
              <a:t>四个工具，实时获取真实表结构、采样数据与执行计划，从源头杜绝大模型编造表名列名。</a:t>
            </a:r>
            <a:endParaRPr lang="zh-CN" altLang="en-US"/>
          </a:p>
          <a:p>
            <a:r>
              <a:rPr lang="zh-CN" altLang="en-US"/>
              <a:t>失败自动修正重试：</a:t>
            </a:r>
            <a:r>
              <a:rPr lang="en-US" altLang="zh-CN"/>
              <a:t>READ </a:t>
            </a:r>
            <a:r>
              <a:rPr lang="zh-CN" altLang="en-US"/>
              <a:t>查询执行失败时，把真实报错回传 </a:t>
            </a:r>
            <a:r>
              <a:rPr lang="en-US" altLang="zh-CN"/>
              <a:t>LLM </a:t>
            </a:r>
            <a:r>
              <a:rPr lang="zh-CN" altLang="en-US"/>
              <a:t>自动修正，最多重试 3 次。</a:t>
            </a:r>
            <a:endParaRPr lang="zh-CN" altLang="en-US"/>
          </a:p>
          <a:p>
            <a:r>
              <a:rPr lang="zh-CN" altLang="en-US"/>
              <a:t>-历史 </a:t>
            </a:r>
            <a:r>
              <a:rPr lang="en-US" altLang="zh-CN"/>
              <a:t>SQL few-shot：</a:t>
            </a:r>
            <a:r>
              <a:rPr lang="zh-CN" altLang="en-US"/>
              <a:t>每次会话注入历史执行成功的 </a:t>
            </a:r>
            <a:r>
              <a:rPr lang="en-US" altLang="zh-CN"/>
              <a:t>SQL </a:t>
            </a:r>
            <a:r>
              <a:rPr lang="zh-CN" altLang="en-US"/>
              <a:t>作为示例，提升生成准确率与风格一致性。</a:t>
            </a:r>
            <a:endParaRPr lang="zh-CN" altLang="en-US"/>
          </a:p>
          <a:p>
            <a:r>
              <a:rPr lang="zh-CN" altLang="en-US"/>
              <a:t>-多轮会话：上下文连续，可追问、可改条件；</a:t>
            </a:r>
            <a:r>
              <a:rPr lang="en-US" altLang="zh-CN"/>
              <a:t>SSE </a:t>
            </a:r>
            <a:r>
              <a:rPr lang="zh-CN" altLang="en-US"/>
              <a:t>流式输出 `</a:t>
            </a:r>
            <a:r>
              <a:rPr lang="en-US" altLang="zh-CN"/>
              <a:t>thought → tool → sql → result` </a:t>
            </a:r>
            <a:r>
              <a:rPr lang="zh-CN" altLang="en-US"/>
              <a:t>全过程，</a:t>
            </a:r>
            <a:r>
              <a:rPr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+mn-ea"/>
              </a:rPr>
              <a:t>前端逐段渲染</a:t>
            </a:r>
            <a:r>
              <a:rPr lang="en-US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+mn-ea"/>
              </a:rPr>
              <a:t>，</a:t>
            </a:r>
            <a:r>
              <a:rPr lang="zh-CN" altLang="en-US"/>
              <a:t>运行过程完全透明。</a:t>
            </a:r>
            <a:endParaRPr lang="zh-CN" altLang="en-US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787400" y="1628775"/>
            <a:ext cx="11404600" cy="5219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不是简单调用大模型，而是把「工具调用、失败自愈、经验复用」做成工程闭环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en-US" alt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SQL </a:t>
            </a:r>
            <a:r>
              <a:rPr lang="zh-CN" altLang="en-US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分级</a:t>
            </a:r>
            <a:r>
              <a:rPr lang="zh-CN" altLang="en-US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鉴权</a:t>
            </a:r>
            <a:endParaRPr lang="zh-CN" altLang="en-US"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8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graphicFrame>
        <p:nvGraphicFramePr>
          <p:cNvPr id="15" name="表格 14"/>
          <p:cNvGraphicFramePr/>
          <p:nvPr/>
        </p:nvGraphicFramePr>
        <p:xfrm>
          <a:off x="685800" y="3288665"/>
          <a:ext cx="10820400" cy="28575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275">
                          <a:solidFill>
                            <a:srgbClr val="0F172A"/>
                          </a:solidFill>
                          <a:latin typeface="微软雅黑" charset="-122"/>
                          <a:ea typeface="微软雅黑" charset="-122"/>
                          <a:cs typeface="微软雅黑" charset="-122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 charset="-122"/>
                        <a:ea typeface="微软雅黑" charset="-122"/>
                        <a:cs typeface="微软雅黑" charset="-122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95325" y="1797050"/>
            <a:ext cx="92405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按 </a:t>
            </a:r>
            <a:r>
              <a:rPr lang="en-US" altLang="zh-CN"/>
              <a:t>SQL </a:t>
            </a:r>
            <a:r>
              <a:rPr lang="zh-CN" altLang="en-US"/>
              <a:t>类型分级鉴权：</a:t>
            </a:r>
            <a:r>
              <a:rPr lang="en-US" altLang="zh-CN"/>
              <a:t>READ </a:t>
            </a:r>
            <a:r>
              <a:rPr lang="zh-CN" altLang="en-US"/>
              <a:t>自动执行、</a:t>
            </a:r>
            <a:r>
              <a:rPr lang="en-US" altLang="zh-CN"/>
              <a:t>DML </a:t>
            </a:r>
            <a:r>
              <a:rPr lang="zh-CN" altLang="en-US"/>
              <a:t>需确认、</a:t>
            </a:r>
            <a:r>
              <a:rPr lang="en-US" altLang="zh-CN"/>
              <a:t>DDL </a:t>
            </a:r>
            <a:r>
              <a:rPr lang="zh-CN" altLang="en-US"/>
              <a:t>高危二次确认；确认时再次鉴权并审计。</a:t>
            </a:r>
            <a:endParaRPr lang="zh-CN" altLang="en-US"/>
          </a:p>
          <a:p>
            <a:r>
              <a:rPr lang="zh-CN" altLang="en-US"/>
              <a:t>写操作返回影响行数预估，前端弹窗确认后才真正执行；所有 </a:t>
            </a:r>
            <a:r>
              <a:rPr lang="en-US" altLang="zh-CN"/>
              <a:t>SQL </a:t>
            </a:r>
            <a:r>
              <a:rPr lang="zh-CN" altLang="en-US"/>
              <a:t>强制走服务层，不允许绕过鉴权直接调适配器。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kicker"/>
          <p:cNvSpPr>
            <a:spLocks noGrp="1"/>
          </p:cNvSpPr>
          <p:nvPr/>
        </p:nvSpPr>
        <p:spPr>
          <a:xfrm>
            <a:off x="685800" y="381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0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审计与监控</a:t>
            </a:r>
            <a:endParaRPr sz="10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审计与监控</a:t>
            </a:r>
            <a:endParaRPr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86943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15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7" name="audit-surface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" y="1954530"/>
            <a:ext cx="5219700" cy="449580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8" name="audit-title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90600" y="224028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1800" b="1">
                <a:solidFill>
                  <a:srgbClr val="B45309"/>
                </a:solidFill>
                <a:latin typeface="微软雅黑" charset="-122"/>
                <a:ea typeface="微软雅黑" charset="-122"/>
                <a:cs typeface="微软雅黑" charset="-122"/>
              </a:rPr>
              <a:t>审计日志</a:t>
            </a:r>
            <a:endParaRPr sz="1800" b="1">
              <a:solidFill>
                <a:srgbClr val="B4530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9" name="audit-list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990600" y="2754630"/>
            <a:ext cx="4610100" cy="3333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anchor="t"/>
          <a:lstStyle/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登录、SQL 执行、Agent 动作全量留痕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t>操作类型、SQL 文本、状态可追溯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>
                <a:sym typeface="+mn-ea"/>
              </a:rPr>
              <a:t>慢查询统计</a:t>
            </a: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>
                <a:sym typeface="+mn-ea"/>
              </a:rPr>
              <a:t>不同环境</a:t>
            </a:r>
            <a:r>
              <a:rPr>
                <a:sym typeface="+mn-ea"/>
              </a:rPr>
              <a:t>表结构对比</a:t>
            </a:r>
            <a:endParaRPr>
              <a:sym typeface="+mn-ea"/>
            </a:endParaRPr>
          </a:p>
          <a:p>
            <a:pPr indent="0" algn="l" fontAlgn="auto">
              <a:lnSpc>
                <a:spcPct val="200000"/>
              </a:lnSpc>
              <a:spcBef>
                <a:spcPts val="0"/>
              </a:spcBef>
              <a:buNone/>
              <a:defRPr sz="1275" b="0">
                <a:solidFill>
                  <a:srgbClr val="334155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</a:p>
        </p:txBody>
      </p:sp>
      <p:sp>
        <p:nvSpPr>
          <p:cNvPr id="14" name="文本框 13"/>
          <p:cNvSpPr txBox="1"/>
          <p:nvPr/>
        </p:nvSpPr>
        <p:spPr>
          <a:xfrm>
            <a:off x="2783840" y="1273810"/>
            <a:ext cx="6096000" cy="596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  <a:sym typeface="+mn-ea"/>
              </a:rPr>
              <a:t>让每一次操作都可追溯、可观察</a:t>
            </a:r>
            <a:endParaRPr lang="zh-CN" altLang="en-US"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工程化与</a:t>
            </a:r>
            <a:r>
              <a:rPr lang="zh-CN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安全</a:t>
            </a:r>
            <a:endParaRPr lang="zh-CN"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541780" y="1199515"/>
            <a:ext cx="760222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/>
              <a:t>Fernet </a:t>
            </a:r>
            <a:r>
              <a:rPr lang="zh-CN" altLang="en-US"/>
              <a:t>加密全部密钥（数据库密码、</a:t>
            </a:r>
            <a:r>
              <a:rPr lang="en-US" altLang="zh-CN"/>
              <a:t>SSH </a:t>
            </a:r>
            <a:r>
              <a:rPr lang="zh-CN" altLang="en-US"/>
              <a:t>私钥、</a:t>
            </a:r>
            <a:r>
              <a:rPr lang="en-US" altLang="zh-CN"/>
              <a:t>AI Key），</a:t>
            </a:r>
            <a:r>
              <a:rPr lang="zh-CN" altLang="en-US"/>
              <a:t>对外只暴露 `</a:t>
            </a:r>
            <a:r>
              <a:rPr lang="en-US" altLang="zh-CN"/>
              <a:t>has_*` </a:t>
            </a:r>
            <a:r>
              <a:rPr lang="zh-CN" altLang="en-US"/>
              <a:t>布尔值；</a:t>
            </a:r>
            <a:r>
              <a:rPr lang="en-US" altLang="zh-CN"/>
              <a:t>pbkdf2 </a:t>
            </a:r>
            <a:r>
              <a:rPr lang="zh-CN" altLang="en-US"/>
              <a:t>密码哈希；</a:t>
            </a:r>
            <a:r>
              <a:rPr lang="en-US" altLang="zh-CN"/>
              <a:t>Cookie Session（24h TTL）。</a:t>
            </a:r>
            <a:endParaRPr lang="en-US" altLang="zh-CN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统一响应 `{</a:t>
            </a:r>
            <a:r>
              <a:rPr lang="en-US" altLang="zh-CN"/>
              <a:t>code, message, data}`、</a:t>
            </a:r>
            <a:r>
              <a:rPr lang="zh-CN" altLang="en-US"/>
              <a:t>统一异常处理；路径规范化（数据文件相对 `</a:t>
            </a:r>
            <a:r>
              <a:rPr lang="en-US" altLang="zh-CN"/>
              <a:t>data/` </a:t>
            </a:r>
            <a:r>
              <a:rPr lang="zh-CN" altLang="en-US"/>
              <a:t>存储，项目迁移无需改配置）。</a:t>
            </a:r>
            <a:endParaRPr lang="zh-CN" altLang="en-US"/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/>
              <a:t>167 个后端自动化用例 + 19 个前端 </a:t>
            </a:r>
            <a:r>
              <a:rPr lang="en-US" altLang="zh-CN"/>
              <a:t>E2E </a:t>
            </a:r>
            <a:r>
              <a:rPr lang="zh-CN" altLang="en-US"/>
              <a:t>断言 + 19 个 </a:t>
            </a:r>
            <a:r>
              <a:rPr lang="en-US" altLang="zh-CN"/>
              <a:t>AI </a:t>
            </a:r>
            <a:r>
              <a:rPr lang="zh-CN" altLang="en-US"/>
              <a:t>查询验收案例</a:t>
            </a:r>
            <a:r>
              <a:rPr lang="en-US" altLang="zh-CN"/>
              <a:t>，</a:t>
            </a:r>
            <a:r>
              <a:rPr lang="zh-CN" altLang="en-US"/>
              <a:t>测试覆盖用户与角色、连接池、</a:t>
            </a:r>
            <a:r>
              <a:rPr lang="en-US" altLang="zh-CN"/>
              <a:t>SQL </a:t>
            </a:r>
            <a:r>
              <a:rPr lang="zh-CN" altLang="en-US"/>
              <a:t>执行，</a:t>
            </a:r>
            <a:r>
              <a:rPr lang="en-US" altLang="zh-CN"/>
              <a:t>Agent </a:t>
            </a:r>
            <a:r>
              <a:rPr lang="zh-CN" altLang="en-US"/>
              <a:t>，监控，元数据与导出，</a:t>
            </a:r>
            <a:r>
              <a:rPr lang="zh-CN" altLang="en-US"/>
              <a:t>大模型连通性等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agenda-num-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914400" y="3829050"/>
            <a:ext cx="1047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0</a:t>
            </a:r>
            <a:r>
              <a:rPr lang="en-US" sz="3450" b="1">
                <a:solidFill>
                  <a:srgbClr val="0B5FFF"/>
                </a:solidFill>
                <a:latin typeface="微软雅黑" charset="-122"/>
                <a:ea typeface="微软雅黑" charset="-122"/>
                <a:cs typeface="微软雅黑" charset="-122"/>
              </a:rPr>
              <a:t>4</a:t>
            </a:r>
            <a:endParaRPr lang="en-US" sz="3450" b="1">
              <a:solidFill>
                <a:srgbClr val="0B5FFF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16" name="agenda-title-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190750" y="3886200"/>
            <a:ext cx="285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1950" b="1">
                <a:solidFill>
                  <a:srgbClr val="0B1830"/>
                </a:solidFill>
                <a:latin typeface="微软雅黑" charset="-122"/>
                <a:ea typeface="微软雅黑" charset="-122"/>
                <a:cs typeface="微软雅黑" charset="-122"/>
              </a:rPr>
              <a:t>推广价值</a:t>
            </a:r>
            <a:endParaRPr lang="zh-CN" sz="1950" b="1">
              <a:solidFill>
                <a:srgbClr val="0B1830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21" name="agenda-desc-3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2207260" y="4364990"/>
            <a:ext cx="762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altLang="en-US"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rPr>
              <a:t>多数据源与大模型支持、多场景适用</a:t>
            </a:r>
            <a:endParaRPr lang="zh-CN" altLang="en-US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endParaRPr lang="en-US" altLang="zh-CN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  <a:p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endParaRPr lang="en-US" altLang="zh-CN" sz="1275" b="0">
              <a:solidFill>
                <a:srgbClr val="475569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685800" y="628650"/>
            <a:ext cx="10477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多数据源与大模型</a:t>
            </a:r>
            <a:r>
              <a:rPr lang="zh-CN" sz="2625" b="1">
                <a:solidFill>
                  <a:srgbClr val="0F172A"/>
                </a:solidFill>
                <a:latin typeface="微软雅黑" charset="-122"/>
                <a:ea typeface="微软雅黑" charset="-122"/>
                <a:cs typeface="微软雅黑" charset="-122"/>
              </a:rPr>
              <a:t>支持</a:t>
            </a:r>
            <a:endParaRPr lang="zh-CN" sz="2625" b="1">
              <a:solidFill>
                <a:srgbClr val="0F172A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3" name="title-accent"/>
          <p:cNvSpPr>
            <a:spLocks noGrp="1"/>
          </p:cNvSpPr>
          <p:nvPr/>
        </p:nvSpPr>
        <p:spPr>
          <a:xfrm>
            <a:off x="685800" y="1238250"/>
            <a:ext cx="533400" cy="47625"/>
          </a:xfrm>
          <a:prstGeom prst="rect">
            <a:avLst/>
          </a:prstGeom>
          <a:solidFill>
            <a:srgbClr val="0B5FFF"/>
          </a:solidFill>
          <a:ln w="0">
            <a:noFill/>
            <a:prstDash val="solid"/>
          </a:ln>
        </p:spPr>
      </p:sp>
      <p:sp>
        <p:nvSpPr>
          <p:cNvPr id="4" name="footer-line"/>
          <p:cNvSpPr>
            <a:spLocks noGrp="1"/>
          </p:cNvSpPr>
          <p:nvPr/>
        </p:nvSpPr>
        <p:spPr>
          <a:xfrm>
            <a:off x="685800" y="6438900"/>
            <a:ext cx="108204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5" name="footer-left"/>
          <p:cNvSpPr>
            <a:spLocks noGrp="1"/>
          </p:cNvSpPr>
          <p:nvPr/>
        </p:nvSpPr>
        <p:spPr>
          <a:xfrm>
            <a:off x="685800" y="6534150"/>
            <a:ext cx="476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6" name="footer-page"/>
          <p:cNvSpPr>
            <a:spLocks noGrp="1"/>
          </p:cNvSpPr>
          <p:nvPr/>
        </p:nvSpPr>
        <p:spPr>
          <a:xfrm>
            <a:off x="10553700" y="6534150"/>
            <a:ext cx="952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anchor="t"/>
          <a:lstStyle/>
          <a:p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defRPr>
            </a:pPr>
            <a:r>
              <a:rPr sz="900" b="0">
                <a:solidFill>
                  <a:srgbClr val="94A3B8"/>
                </a:solidFill>
                <a:latin typeface="微软雅黑" charset="-122"/>
                <a:ea typeface="微软雅黑" charset="-122"/>
                <a:cs typeface="微软雅黑" charset="-122"/>
              </a:rPr>
              <a:t>11</a:t>
            </a:r>
            <a:endParaRPr sz="900" b="0">
              <a:solidFill>
                <a:srgbClr val="94A3B8"/>
              </a:solidFill>
              <a:latin typeface="微软雅黑" charset="-122"/>
              <a:ea typeface="微软雅黑" charset="-122"/>
              <a:cs typeface="微软雅黑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03705" y="1772920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支持大模型</a:t>
            </a:r>
            <a:r>
              <a:rPr lang="en-US" altLang="zh-CN"/>
              <a:t>：openai / anthropic SDK（OpenAI </a:t>
            </a:r>
            <a:r>
              <a:rPr lang="zh-CN" altLang="en-US"/>
              <a:t>兼容网关、</a:t>
            </a:r>
            <a:r>
              <a:rPr lang="en-US" altLang="zh-CN"/>
              <a:t>Claude、Ollama </a:t>
            </a:r>
            <a:r>
              <a:rPr lang="zh-CN" altLang="en-US"/>
              <a:t>统一抽象</a:t>
            </a:r>
            <a:r>
              <a:rPr lang="en-US" altLang="zh-CN"/>
              <a:t>）</a:t>
            </a:r>
            <a:endParaRPr lang="en-US" altLang="zh-CN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支持数据源</a:t>
            </a:r>
            <a:r>
              <a:rPr lang="en-US" altLang="zh-CN">
                <a:sym typeface="+mn-ea"/>
              </a:rPr>
              <a:t>：SQLite / MySQL / PostgreSQL / Oracle / MongoDB / OceanBase / GoldenDB</a:t>
            </a:r>
            <a:endParaRPr lang="en-US" altLang="zh-CN">
              <a:sym typeface="+mn-ea"/>
            </a:endParaRPr>
          </a:p>
          <a:p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1343660" y="4149090"/>
            <a:ext cx="11404600" cy="5219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模型与数据源接入配置简单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快捷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多场景</a:t>
            </a:r>
            <a:r>
              <a:rPr lang="zh-CN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适用</a:t>
            </a:r>
            <a:endParaRPr lang="zh-CN"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93668" y="24955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2857500" y="249555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核心需求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286500" y="2495550"/>
            <a:ext cx="552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典型场景</a:t>
            </a:r>
            <a:endParaRPr sz="16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rule"/>
          <p:cNvSpPr>
            <a:spLocks noGrp="1"/>
          </p:cNvSpPr>
          <p:nvPr/>
        </p:nvSpPr>
        <p:spPr>
          <a:xfrm>
            <a:off x="393668" y="285750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93668" y="30670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开发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人员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857500" y="30670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286500" y="30670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日常开发、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验证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rule"/>
          <p:cNvSpPr>
            <a:spLocks noGrp="1"/>
          </p:cNvSpPr>
          <p:nvPr/>
        </p:nvSpPr>
        <p:spPr>
          <a:xfrm>
            <a:off x="393668" y="34861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93668" y="36576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业务 / 产品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857500" y="36576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86500" y="365760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endParaRPr lang="zh-CN" altLang="en-US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rule"/>
          <p:cNvSpPr>
            <a:spLocks noGrp="1"/>
          </p:cNvSpPr>
          <p:nvPr/>
        </p:nvSpPr>
        <p:spPr>
          <a:xfrm>
            <a:off x="393668" y="407670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93668" y="42481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DBA / 运维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857500" y="424815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>
                <a:sym typeface="+mn-ea"/>
              </a:rPr>
              <a:t>便于</a:t>
            </a:r>
            <a:r>
              <a:rPr>
                <a:sym typeface="+mn-ea"/>
              </a:rPr>
              <a:t>管理、</a:t>
            </a:r>
            <a:r>
              <a:rPr lang="zh-CN">
                <a:sym typeface="+mn-ea"/>
              </a:rPr>
              <a:t>统一入口</a:t>
            </a:r>
            <a:r>
              <a:rPr>
                <a:sym typeface="+mn-ea"/>
              </a:rPr>
              <a:t>、审计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286500" y="4248150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>
                <a:sym typeface="+mn-ea"/>
              </a:rPr>
              <a:t>生产问题快速定位</a:t>
            </a:r>
            <a:r>
              <a:rPr lang="en-US" altLang="zh-CN">
                <a:sym typeface="+mn-ea"/>
              </a:rPr>
              <a:t>、</a:t>
            </a:r>
            <a:r>
              <a:rPr lang="zh-CN" altLang="en-US">
                <a:sym typeface="+mn-ea"/>
              </a:rPr>
              <a:t>数据治理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rule"/>
          <p:cNvSpPr>
            <a:spLocks noGrp="1"/>
          </p:cNvSpPr>
          <p:nvPr/>
        </p:nvSpPr>
        <p:spPr>
          <a:xfrm>
            <a:off x="393668" y="46672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93668" y="48387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2857500" y="4838700"/>
            <a:ext cx="3238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240145" y="3623945"/>
            <a:ext cx="552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数据分析</a:t>
            </a:r>
            <a:r>
              <a:rPr lang="en-US" alt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、</a:t>
            </a: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2783840" y="3580130"/>
            <a:ext cx="6096000" cy="374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>
                <a:sym typeface="+mn-ea"/>
              </a:rPr>
              <a:t>自然语言取数、快速做报表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slide-title"/>
          <p:cNvSpPr>
            <a:spLocks noGrp="1"/>
          </p:cNvSpPr>
          <p:nvPr/>
        </p:nvSpPr>
        <p:spPr>
          <a:xfrm>
            <a:off x="393668" y="344043"/>
            <a:ext cx="11404568" cy="104746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后续</a:t>
            </a:r>
            <a:r>
              <a:rPr lang="zh-CN" sz="33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计划</a:t>
            </a:r>
            <a:endParaRPr lang="zh-CN" sz="33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415415" y="2348865"/>
            <a:ext cx="10100310" cy="2397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下一步：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补齐更多数据库对象支持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扩展 Agent 工具（索引建议、慢查询根因分析）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增加团队协作与报表订阅</a:t>
            </a:r>
            <a:endParaRPr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数据导出增加审核</a:t>
            </a:r>
            <a:r>
              <a:rPr lang="zh-CN"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链路</a:t>
            </a: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page-number"/>
          <p:cNvSpPr>
            <a:spLocks noGrp="1"/>
          </p:cNvSpPr>
          <p:nvPr/>
        </p:nvSpPr>
        <p:spPr>
          <a:xfrm>
            <a:off x="11279315" y="6279261"/>
            <a:ext cx="518922" cy="2412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Autofit/>
          </a:bodyPr>
          <a:lstStyle>
            <a:defPPr algn="r"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17</a:t>
            </a:r>
            <a:endParaRPr sz="10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93668" y="1428750"/>
            <a:ext cx="10953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393668" y="2571750"/>
            <a:ext cx="11404568" cy="952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247140" y="3303905"/>
            <a:ext cx="10100310" cy="2397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defPPr>
          </a:lstStyle>
          <a:p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endParaRPr lang="zh-CN" sz="1600" b="0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5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6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7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8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9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0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5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6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7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8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19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0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1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2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3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4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5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6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7.xml><?xml version="1.0" encoding="utf-8"?>
<p:tagLst xmlns:p="http://schemas.openxmlformats.org/presentationml/2006/main">
  <p:tag name="KSO_WM_DIAGRAM_VIRTUALLY_FRAME" val="{&quot;height&quot;:354,&quot;left&quot;:54,&quot;top&quot;:120,&quot;width&quot;:852}"/>
</p:tagLst>
</file>

<file path=ppt/tags/tag28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29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ags/tag30.xml><?xml version="1.0" encoding="utf-8"?>
<p:tagLst xmlns:p="http://schemas.openxmlformats.org/presentationml/2006/main">
  <p:tag name="KSO_WM_DIAGRAM_VIRTUALLY_FRAME" val="{&quot;height&quot;:307.5,&quot;left&quot;:72,&quot;top&quot;:133.5,&quot;width&quot;:73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3477</Words>
  <Application>WPS 演示</Application>
  <PresentationFormat>Converted Presentation</PresentationFormat>
  <Paragraphs>366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40" baseType="lpstr">
      <vt:lpstr>Arial</vt:lpstr>
      <vt:lpstr>宋体</vt:lpstr>
      <vt:lpstr>Wingdings</vt:lpstr>
      <vt:lpstr>微软雅黑</vt:lpstr>
      <vt:lpstr>方正雅意黑 GB18030L2</vt:lpstr>
      <vt:lpstr>Helvetica Neue</vt:lpstr>
      <vt:lpstr>宋体</vt:lpstr>
      <vt:lpstr>Arial Unicode MS</vt:lpstr>
      <vt:lpstr>Aptos</vt:lpstr>
      <vt:lpstr>Helvetica Neue</vt:lpstr>
      <vt:lpstr>汉仪书宋二KW</vt:lpstr>
      <vt:lpstr>Calibri</vt:lpstr>
      <vt:lpstr>微软雅黑</vt:lpstr>
      <vt:lpstr>华文仿宋</vt:lpstr>
      <vt:lpstr>ChatGPT</vt:lpstr>
      <vt:lpstr>1_ChatGPT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笨小孩</cp:lastModifiedBy>
  <cp:revision>9</cp:revision>
  <dcterms:created xsi:type="dcterms:W3CDTF">2026-10-14T14:22:07Z</dcterms:created>
  <dcterms:modified xsi:type="dcterms:W3CDTF">2026-10-14T14:22:07Z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2052-12.1.29166.29166</vt:lpwstr>
  </property>
  <property fmtid="{D5CDD505-2E9C-101B-9397-08002B2CF9AE}" pid="3" name="ICV">
    <vt:lpwstr>96583CA07E0BC41ABC76CF6A92350A16_43</vt:lpwstr>
  </property>
</Properties>
</file>