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大家好。今天用十分钟介绍 DataMind，一个我们自己做的数据库 Agent 工作台。它想解决的问题可以一句话说清：让不会写 SQL 的业务人员也能安全地查数据，让会写 SQL 的技术人员更高效。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整场汇报分四章，依次回答四个问题：为什么做、做了什么、怎么做到，以及值不值得推广。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先看第一部分，项目背景。我想先请大家一起重新审视一下日常取数这件事。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一次取数，为什么要经过四个人？链路是这样的：业务提申请，技术写 SQL，运维去查数，再把结果导出或者拍照发回来，业务才用得上。三类角色各有各的难处。业务人员想自己看数据却没有入口，报表开发要排期、耗时较长，拿到手往往只是数字，想看趋势还得回 Excel 作图。开发人员复杂 SQL 不熟练，常用查询反复重写；通用大模型不知道真实表结构，生成的 SQL 无法直接用；一旦误执行 DML 或 DDL，就是数据事故。运维和 DBA 负责的系统多，不熟悉每套表结构，不同数据库各有各的 SQL 与客户端，最麻烦的是可观测性差，谁查了什么、慢查询有哪些、结构什么时候变的，缺少统一视图。所以问题不在数据库，而在这条取数链路本身。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我们的思路，是把这条链路压成一个闭环：连接、查询、分析、报表、管理五个环节首尾相接，一次取数不用再跨团队。做法是一个由 AI Agent 驱动的数据库查询与运维工作台，覆盖自然语言查询、SQL 工作台、元数据管理、可视化报表、权限审计和运维监控六项能力。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第二部分是系统功能。接下来的七个实机演示回答同一个问题：这些能力现在就能跑通。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功能不是散点，而是围绕闭环组织的八个模块。连接环节是连接管理，支持 7 类数据源、SSH 隧道和多环境标签；查询环节有 AI 智能查询和 SQL 工作台，一个把自然语言变成 SQL，一个负责多 Tab 编辑、对象树导航和结果集直接编辑；分析环节是元数据管理，覆盖表、视图与索引、字段与 DDL、函数与存储过程、触发器与序列，还支持表结构收藏和多环境结构对比；报表环节有可视化报表和文档导出，前者提供 11 种图表、拖拽式仪表盘和分享链接与大屏，后者支持 CSV、Excel、JSON 以及库文档导出；管理环节是用户与角色和运维监控。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先看自然语言查询，这段演示大约四十秒，请看画面。第一个案例用的是内置的本地演示库 SQLite，我们提问查询所有用户信息，Agent 生成一条从 users 表取 id、username、email、age、created_at 的 SQL，返回 8 条记录。第二个案例新建对话并切换到 Oracle UAT，提问机构清单，Agent 生成从 BANK.T_ORG 取机构号、名称、层级和地区并按机构号排序的 SQL，返回 55 家机构，层级分别是 HEAD、BRANCH 和 SUB_BRANCH。结果出来后点一次 CSV，结果集直接导出。全程不需要手写语句，思考过程和 SQL 会流式回传，切换数据源就能跨库查询。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再看图，这段演示大约一分钟。第一个案例在 Oracle UAT 上按分行层级统计近 30 天的交易笔数和交易总额，Agent 生成按分行分组的聚合 SQL，返回 6 家分行，笔数在 360 到 1380 之间，自动渲染成柱状图并保存到可视化报表。第二个案例新建对话，提问近 30 天成功交易的笔数和金额趋势，生成按日聚合的 SQL，返回 31 天数据，自动选择折线图，同样保存进报表。最后进入可视化报表页，两张图都在，笔数与金额量级差异大时前端会自动拆成双 Y 轴。查完就能看图，图直接进报表，不用再回 Excel 作图。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第三段演示看 SQL 工作台，大约四十秒。先在 OceanBase 本地库执行一条查询，返回 55 行机构数据；然后展开 AI Agent 面板，提问统计近 90 天各地区的成功交易笔数和交易金额、按金额从高到低，Agent 生成按地区分组的聚合 SQL，并给出结论：6 个地区，合计约 1.67 万笔、16.86 亿元，其中深圳金额最高。点「填入编辑器」，SQL 落到编辑器里可以继续修改，执行之后收藏命名，新增项就排在了历史与收藏页签的第一位。手工 SQL 和 Agent 生成，在同一个工作台里衔接。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这一段请大家重点看安全，大约五十秒。我们在工作台执行一条 UPDATE，修改用户乔华的性别和更新时间，系统弹出写操作确认，标明这是 DML、warning 级别，并预览待执行的 SQL，确认后才真正生效，提示影响 2 行。接着在 Agent 面板提问把用户表的用户名称字段长度改成 300，生成的 ALTER TABLE 弹出的是红色危险操作确认；再问删除用户表，DROP TABLE 同样是高危提示，我们点了取消，提示已取消执行，表没有被删除。原则很清楚：只读自动执行，写操作必须人工确认，高危操作红色拦截，而且被拒绝的操作也会如实写进审计日志。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查数过程可不可追溯？看监控与审计，大约五十秒。连接概览显示累计查询 336 次、今日 103 次、10 个数据源，并列出各库的查询次数、平均与最大耗时、成功率和最近执行时间。审计日志里能看到上一页被拒绝的那条 DROP TABLE 被如实记为 rejected，操作类型、风险类型、数据源、用户、IP 和 SQL 都在。慢查询把阈值从默认的 1000 毫秒改成 100 毫秒，超阈值的 SQL 就列了出来。表结构对比拿 Oracle SIT 和 UAT 比，T_ORG 在目标库多出 CREATED_AT 列，T_USER.USER_NAME 由 varchar2(300) 变成 varchar2(100)。谁查了什么、慢在哪、结构什么时候变的，都在一个入口里。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接入成本高不高？这是连接配置，大约三十秒。数据库这边支持 7 类数据源，我们在连接列表点 OceanBase 本地的测试，弹窗直接反馈连接成功。切到大模型连接配置，三个提供方都配好了，点第二个模型的测试，提示连接成功并给出模型与响应耗时 2301 毫秒。数据库密码和 API Key 都是加密存储的，界面上只暴露有没有配置过。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最后一段演示看权限，大约四十秒。用户管理里列了 5 个账号，包含管理员以及技术和业务两类账号，各自带角色、状态和最后登录时间。角色管理左侧是 5 个内置角色：管理员、技术管理、技术查询、业务管理、业务查询。依次点技术管理、技术查询、业务查询，右侧会实时切换名称、编码、说明和按模块分组的权限勾选，分别是 12 项、6 项和 4 项，下面还能看到这个角色下的成员。权限按模块勾选，前端菜单和后端接口双重控制。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第三部分讲技术亮点。这里我特别想说明的是，亮点在工程闭环，而不是我们接了哪个模型。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先回答一个可能的疑问：这是不是一个套壳聊天？不是，Agent 会自己去查表结构。第一，工具调用，它按需调用列表查询、字段查询、采样数据和执行计划四个工具，实时拿到真实表结构、采样数据与执行计划，从源头杜绝编造表名列名。第二，失败自动修正重试，只读查询执行失败时，把真实报错回传大模型自动修正，最多重试 3 次，鉴权失败这类非 SQL 错误不重试。第三，历史 SQL 经验复用，每次会话注入历史执行成功的 SQL 作为示例，提升生成准确率与风格一致性。第四，多轮会话与流式输出，上下文连续，可以追问、可以改条件，思考、工具、SQL、结果四个阶段流式推给前端逐段渲染，运行过程完全透明。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这条链路怎么控，是一张对照表。读取类放行：SELECT、SHOW、DESC、EXPLAIN 自动执行，直接返回结果。改数据要手动确认：INSERT、UPDATE、DELETE 会先返回影响预览和一个 execution_id，确认之后才执行。改结构属于高危确认：CREATE、ALTER、DROP、TRUNCATE 会红色警告并展示完整 DDL。多条混合 SQL 就逐条确认，按类型分别处理。所有 SQL 都强制走服务层做分类、鉴权和审计，不允许绕过适配器直接执行，确认的那一刻还会再鉴权一次。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企业评审会关心底子够不够厚。可治理这一侧：审计日志覆盖登录、SQL 执行和 Agent 动作，操作类型、SQL 文本与状态都可追溯；运维监控提供慢查询统计、多环境表结构对比和连接概览，并暴露 Prometheus 指标；审计日志支持导出，也会按保留期自动清理。工程与安全这一侧：数据库密码、SSH 私钥和 AI Key 全部用 Fernet 加密，对外只暴露有没有配置的布尔值；密码用 pbkdf2 哈希，会话是 24 小时的 Cookie；接口统一响应、统一异常处理；数据文件相对 data 目录存储，项目迁移不用改配置。最后是测试，167 个后端自动化用例覆盖用户与角色、连接池、SQL 执行、Agent、监控、元数据和导出，另有前端端到端断言与 AI 查询验收案例。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最后一部分，推广价值。接入成本低、适用面广，建议先在一个团队跑通闭环。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换数据库、换模型，上层都不用改。大模型这边把 openai 和 anthropic 两套 SDK 做了统一抽象，支持 OpenAI 兼容网关、Claude 和 Ollama 本地部署。数据库这边支持 7 类：SQLite、MySQL、PostgreSQL、Oracle、MongoDB、OceanBase 和 GoldenDB，其中 OceanBase 与 GoldenDB 直接复用 MySQL 适配器。获取表结构在不同数据库执行的 SQL 并不一样，但上层服务无感知，接入配置也很简单。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三类人，三种用法。开发人员要的是快速查数、写与优化 SQL，用在日常开发和验证上；业务和产品要的是自然语言取数、快速做报表，用在数据分析、辅助决策和快速核对上；DBA 和运维要的是统一入口、便于管理、有审计，用在生产问题快速定位和数据治理上。一句话，不会 SQL 的人也能查数，会 SQL 的人更快。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下一步要补四件事：补齐更多数据库对象的支持，把元数据和 DDL 展示做全；扩展 Agent 工具，做索引建议和慢查询根因分析；增加团队协作与报表订阅推送；数据导出加上审核链路。目标是从「能用」走向「更好用、更可管」。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最后回到那句话：让每个人都能安全、高效地与数据对话。如果大家认可，我建议下一步就从一个团队、一个数据源开始，先跑通一次取数到报表的闭环。感谢聆听，欢迎提问。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atamin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atamin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75a126d3f6fbb13a.png"/><Relationship Id="rId3" Type="http://schemas.openxmlformats.org/officeDocument/2006/relationships/notesSlide" Target="../notesSlides/notesSlide8.xml"/><Relationship Id="rId4" Type="http://schemas.microsoft.com/office/2007/relationships/media" Target="../media/media1.mp4"/><Relationship Id="rId5" Type="http://schemas.openxmlformats.org/officeDocument/2006/relationships/video" Target="../media/media1.mp4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19c63ee2c815899.png"/><Relationship Id="rId3" Type="http://schemas.openxmlformats.org/officeDocument/2006/relationships/notesSlide" Target="../notesSlides/notesSlide9.xml"/><Relationship Id="rId4" Type="http://schemas.microsoft.com/office/2007/relationships/media" Target="../media/media2.mp4"/><Relationship Id="rId5" Type="http://schemas.openxmlformats.org/officeDocument/2006/relationships/video" Target="../media/media2.mp4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5e07058b7ea32ae.png"/><Relationship Id="rId3" Type="http://schemas.openxmlformats.org/officeDocument/2006/relationships/notesSlide" Target="../notesSlides/notesSlide10.xml"/><Relationship Id="rId4" Type="http://schemas.microsoft.com/office/2007/relationships/media" Target="../media/media3.mp4"/><Relationship Id="rId5" Type="http://schemas.openxmlformats.org/officeDocument/2006/relationships/video" Target="../media/media3.mp4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71e1673ab4631f6.png"/><Relationship Id="rId3" Type="http://schemas.openxmlformats.org/officeDocument/2006/relationships/notesSlide" Target="../notesSlides/notesSlide11.xml"/><Relationship Id="rId4" Type="http://schemas.microsoft.com/office/2007/relationships/media" Target="../media/media4.mp4"/><Relationship Id="rId5" Type="http://schemas.openxmlformats.org/officeDocument/2006/relationships/video" Target="../media/media4.mp4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a1d22fa9b356f45b.png"/><Relationship Id="rId3" Type="http://schemas.openxmlformats.org/officeDocument/2006/relationships/notesSlide" Target="../notesSlides/notesSlide12.xml"/><Relationship Id="rId4" Type="http://schemas.microsoft.com/office/2007/relationships/media" Target="../media/media5.mp4"/><Relationship Id="rId5" Type="http://schemas.openxmlformats.org/officeDocument/2006/relationships/video" Target="../media/media5.mp4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635cfc78520abe00.png"/><Relationship Id="rId3" Type="http://schemas.openxmlformats.org/officeDocument/2006/relationships/notesSlide" Target="../notesSlides/notesSlide13.xml"/><Relationship Id="rId4" Type="http://schemas.microsoft.com/office/2007/relationships/media" Target="../media/media6.mp4"/><Relationship Id="rId5" Type="http://schemas.openxmlformats.org/officeDocument/2006/relationships/video" Target="../media/media6.mp4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062caf37d40f157.png"/><Relationship Id="rId3" Type="http://schemas.openxmlformats.org/officeDocument/2006/relationships/notesSlide" Target="../notesSlides/notesSlide14.xml"/><Relationship Id="rId4" Type="http://schemas.microsoft.com/office/2007/relationships/media" Target="../media/media7.mp4"/><Relationship Id="rId5" Type="http://schemas.openxmlformats.org/officeDocument/2006/relationships/video" Target="../media/media7.mp4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disc"/>
          <p:cNvSpPr/>
          <p:nvPr/>
        </p:nvSpPr>
        <p:spPr>
          <a:xfrm>
            <a:off x="7200900" y="2266950"/>
            <a:ext cx="8077200" cy="80772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E2EBF8"/>
              </a:gs>
            </a:gsLst>
            <a:lin ang="2700000" scaled="1"/>
          </a:gradFill>
          <a:ln>
            <a:noFill/>
          </a:ln>
        </p:spPr>
      </p:sp>
      <p:sp>
        <p:nvSpPr>
          <p:cNvPr id="3" name="cover-ring"/>
          <p:cNvSpPr/>
          <p:nvPr/>
        </p:nvSpPr>
        <p:spPr>
          <a:xfrm>
            <a:off x="8324850" y="3390900"/>
            <a:ext cx="5829300" cy="5829300"/>
          </a:xfrm>
          <a:prstGeom prst="ellipse">
            <a:avLst/>
          </a:prstGeom>
          <a:noFill/>
          <a:ln w="9525">
            <a:solidFill>
              <a:schemeClr val="accent6"/>
            </a:solidFill>
          </a:ln>
        </p:spPr>
      </p:sp>
      <p:grpSp>
        <p:nvGrpSpPr>
          <p:cNvPr id="7" name="cover-brand"/>
          <p:cNvGrpSpPr/>
          <p:nvPr/>
        </p:nvGrpSpPr>
        <p:grpSpPr>
          <a:xfrm>
            <a:off x="590550" y="749300"/>
            <a:ext cx="3448812" cy="1790192"/>
            <a:chOff x="590550" y="749300"/>
            <a:chExt cx="3448812" cy="1790192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7493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内部项目汇报 · 2026-10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1270000"/>
              <a:ext cx="284420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DataMind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2070100"/>
              <a:ext cx="34419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数据库 Agent Web 应用</a:t>
              </a:r>
            </a:p>
          </p:txBody>
        </p:sp>
      </p:grpSp>
      <p:grpSp>
        <p:nvGrpSpPr>
          <p:cNvPr id="9" name="cover-message"/>
          <p:cNvGrpSpPr/>
          <p:nvPr/>
        </p:nvGrpSpPr>
        <p:grpSpPr>
          <a:xfrm>
            <a:off x="598932" y="2984500"/>
            <a:ext cx="5475351" cy="753618"/>
            <a:chOff x="598932" y="2984500"/>
            <a:chExt cx="5475351" cy="753618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2984500"/>
              <a:ext cx="5475351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让不会写 SQL 的业务人员也能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安全地查数据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会写 SQL 的技术人员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更高效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9" name="cover-tags"/>
          <p:cNvGrpSpPr/>
          <p:nvPr/>
        </p:nvGrpSpPr>
        <p:grpSpPr>
          <a:xfrm>
            <a:off x="609600" y="4133850"/>
            <a:ext cx="3571875" cy="419100"/>
            <a:chOff x="609600" y="4133850"/>
            <a:chExt cx="3571875" cy="419100"/>
          </a:xfrm>
        </p:grpSpPr>
        <p:sp>
          <p:nvSpPr>
            <p:cNvPr id="10" name="Rectangle 10"/>
            <p:cNvSpPr/>
            <p:nvPr/>
          </p:nvSpPr>
          <p:spPr>
            <a:xfrm>
              <a:off x="609600" y="4133850"/>
              <a:ext cx="111442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81050" y="4305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5642" y="4244975"/>
              <a:ext cx="739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Agent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838325" y="4133850"/>
              <a:ext cx="111442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009775" y="4305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74367" y="42449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多数据源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067050" y="4133850"/>
              <a:ext cx="111442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238500" y="4305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03092" y="42449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安全优先</a:t>
              </a:r>
            </a:p>
          </p:txBody>
        </p:sp>
      </p:grpSp>
      <p:grpSp>
        <p:nvGrpSpPr>
          <p:cNvPr id="28" name="cover-flow"/>
          <p:cNvGrpSpPr/>
          <p:nvPr/>
        </p:nvGrpSpPr>
        <p:grpSpPr>
          <a:xfrm>
            <a:off x="609600" y="5334000"/>
            <a:ext cx="4029075" cy="419100"/>
            <a:chOff x="609600" y="5334000"/>
            <a:chExt cx="4029075" cy="419100"/>
          </a:xfrm>
        </p:grpSpPr>
        <p:sp>
          <p:nvSpPr>
            <p:cNvPr id="20" name="Rectangle 20"/>
            <p:cNvSpPr/>
            <p:nvPr/>
          </p:nvSpPr>
          <p:spPr>
            <a:xfrm>
              <a:off x="609600" y="5334000"/>
              <a:ext cx="1114425" cy="419100"/>
            </a:xfrm>
            <a:prstGeom prst="roundRect">
              <a:avLst>
                <a:gd name="adj" fmla="val 2727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3242" y="54451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1819275" y="5448300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00275" y="5334000"/>
              <a:ext cx="895350" cy="419100"/>
            </a:xfrm>
            <a:prstGeom prst="roundRect">
              <a:avLst>
                <a:gd name="adj" fmla="val 2727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83917" y="5445125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2962275" y="5448300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43275" y="5334000"/>
              <a:ext cx="1295400" cy="419100"/>
            </a:xfrm>
            <a:prstGeom prst="roundRect">
              <a:avLst>
                <a:gd name="adj" fmla="val 2727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26917" y="54451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结果与图表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c-header"/>
          <p:cNvGrpSpPr/>
          <p:nvPr/>
        </p:nvGrpSpPr>
        <p:grpSpPr>
          <a:xfrm>
            <a:off x="593598" y="666750"/>
            <a:ext cx="7094220" cy="1013968"/>
            <a:chOff x="593598" y="666750"/>
            <a:chExt cx="7094220" cy="1013968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6750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四章，回答四个问题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1270000"/>
              <a:ext cx="70888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从为什么做，到做了什么、怎么做到，再到值不值得推广</a:t>
              </a:r>
            </a:p>
          </p:txBody>
        </p:sp>
      </p:grpSp>
      <p:grpSp>
        <p:nvGrpSpPr>
          <p:cNvPr id="25" name="toc-list"/>
          <p:cNvGrpSpPr/>
          <p:nvPr/>
        </p:nvGrpSpPr>
        <p:grpSpPr>
          <a:xfrm>
            <a:off x="609600" y="1905000"/>
            <a:ext cx="10972800" cy="3657600"/>
            <a:chOff x="609600" y="1905000"/>
            <a:chExt cx="10972800" cy="3657600"/>
          </a:xfrm>
        </p:grpSpPr>
        <p:sp>
          <p:nvSpPr>
            <p:cNvPr id="5" name="Rectangle 5"/>
            <p:cNvSpPr/>
            <p:nvPr/>
          </p:nvSpPr>
          <p:spPr>
            <a:xfrm>
              <a:off x="609600" y="1905000"/>
              <a:ext cx="10972800" cy="3657600"/>
            </a:xfrm>
            <a:prstGeom prst="roundRect">
              <a:avLst>
                <a:gd name="adj" fmla="val 52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3836" y="21653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4332" y="22415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项目背景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6142" y="23304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取数痛点、产品定位与目标用户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31450" y="2368550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P03 – P05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90600" y="274320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3836" y="30416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4332" y="31178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系统功能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46142" y="32067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功能全景与七个实机演示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31450" y="3244850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P06 – P14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90600" y="361950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3836" y="39179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94332" y="39941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技术亮点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6142" y="4083050"/>
              <a:ext cx="334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 工具调用、SQL 分级鉴权与工程化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31450" y="4121150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P15 – P18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90600" y="4495800"/>
              <a:ext cx="10210800" cy="9525"/>
            </a:xfrm>
            <a:custGeom>
              <a:avLst/>
              <a:gdLst/>
              <a:ahLst/>
              <a:cxnLst/>
              <a:rect l="l" t="t" r="r" b="b"/>
              <a:pathLst>
                <a:path w="10210800" h="9525">
                  <a:moveTo>
                    <a:pt x="0" y="0"/>
                  </a:moveTo>
                  <a:lnTo>
                    <a:pt x="10210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3836" y="47942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94332" y="4870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推广价值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46142" y="49593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多数据源与大模型支持、多场景适用与后续计划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31450" y="4997450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P19 – P23</a:t>
              </a:r>
            </a:p>
          </p:txBody>
        </p:sp>
      </p:grpSp>
      <p:grpSp>
        <p:nvGrpSpPr>
          <p:cNvPr id="28" name="toc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03-disc"/>
          <p:cNvSpPr/>
          <p:nvPr/>
        </p:nvSpPr>
        <p:spPr>
          <a:xfrm>
            <a:off x="8667750" y="-190500"/>
            <a:ext cx="7239000" cy="7239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DEE9F8"/>
              </a:gs>
            </a:gsLst>
            <a:lin ang="2700000" scaled="1"/>
          </a:gradFill>
          <a:ln>
            <a:noFill/>
          </a:ln>
        </p:spPr>
      </p:sp>
      <p:sp>
        <p:nvSpPr>
          <p:cNvPr id="3" name="ch03-ring"/>
          <p:cNvSpPr/>
          <p:nvPr/>
        </p:nvSpPr>
        <p:spPr>
          <a:xfrm>
            <a:off x="9696450" y="838200"/>
            <a:ext cx="5181600" cy="5181600"/>
          </a:xfrm>
          <a:prstGeom prst="ellipse">
            <a:avLst/>
          </a:prstGeom>
          <a:noFill/>
          <a:ln w="9525">
            <a:solidFill>
              <a:schemeClr val="accent6"/>
            </a:solidFill>
          </a:ln>
        </p:spPr>
      </p:sp>
      <p:grpSp>
        <p:nvGrpSpPr>
          <p:cNvPr id="14" name="ch03-head"/>
          <p:cNvGrpSpPr/>
          <p:nvPr/>
        </p:nvGrpSpPr>
        <p:grpSpPr>
          <a:xfrm>
            <a:off x="609600" y="1778000"/>
            <a:ext cx="5610606" cy="2946400"/>
            <a:chOff x="609600" y="1778000"/>
            <a:chExt cx="5610606" cy="2946400"/>
          </a:xfrm>
        </p:grpSpPr>
        <p:sp>
          <p:nvSpPr>
            <p:cNvPr id="4" name="Rectangle 4"/>
            <p:cNvSpPr/>
            <p:nvPr/>
          </p:nvSpPr>
          <p:spPr>
            <a:xfrm>
              <a:off x="609600" y="1905000"/>
              <a:ext cx="47625" cy="2667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9150" y="1778000"/>
              <a:ext cx="115760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2908300"/>
              <a:ext cx="21381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项目背景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7532" y="3670300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问题不在数据库，而在「取数」这件事本身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" y="4305300"/>
              <a:ext cx="115252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1842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痛点分析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05025" y="4305300"/>
              <a:ext cx="115252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88667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产品定位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71850" y="4305300"/>
              <a:ext cx="115252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5492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目标用户</a:t>
              </a:r>
            </a:p>
          </p:txBody>
        </p:sp>
      </p:grpSp>
      <p:grpSp>
        <p:nvGrpSpPr>
          <p:cNvPr id="17" name="ch03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93598" y="609600"/>
            <a:ext cx="6015038" cy="803783"/>
            <a:chOff x="593598" y="609600"/>
            <a:chExt cx="6015038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一次取数，为什么要经过四个人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6005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链路长、图难做、SQL 有风险、可观测性差 —— 三类角色共有的结构性问题</a:t>
              </a:r>
            </a:p>
          </p:txBody>
        </p:sp>
      </p:grpSp>
      <p:grpSp>
        <p:nvGrpSpPr>
          <p:cNvPr id="21" name="p04-current-chain"/>
          <p:cNvGrpSpPr/>
          <p:nvPr/>
        </p:nvGrpSpPr>
        <p:grpSpPr>
          <a:xfrm>
            <a:off x="602742" y="1587500"/>
            <a:ext cx="10979658" cy="869950"/>
            <a:chOff x="602742" y="1587500"/>
            <a:chExt cx="10979658" cy="869950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15875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现行取数链路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1866900"/>
              <a:ext cx="10972800" cy="590550"/>
            </a:xfrm>
            <a:prstGeom prst="roundRect">
              <a:avLst>
                <a:gd name="adj" fmla="val 258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90600" y="1971675"/>
              <a:ext cx="142875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5512" y="20542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提申请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2667000" y="2076450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190875" y="1971675"/>
              <a:ext cx="142875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01098" y="2054225"/>
              <a:ext cx="608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 SQL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4857750" y="2076450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81625" y="1971675"/>
              <a:ext cx="142875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07405" y="20542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查数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048500" y="2076450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72375" y="1971675"/>
              <a:ext cx="142875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25549" y="20542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导出或拍照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9239250" y="2076450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772650" y="1971675"/>
              <a:ext cx="142875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16693" y="20542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业务使用</a:t>
              </a:r>
            </a:p>
          </p:txBody>
        </p:sp>
      </p:grpSp>
      <p:grpSp>
        <p:nvGrpSpPr>
          <p:cNvPr id="41" name="p04-role-business"/>
          <p:cNvGrpSpPr/>
          <p:nvPr/>
        </p:nvGrpSpPr>
        <p:grpSpPr>
          <a:xfrm>
            <a:off x="609600" y="2724150"/>
            <a:ext cx="3429000" cy="3371850"/>
            <a:chOff x="609600" y="2724150"/>
            <a:chExt cx="3429000" cy="3371850"/>
          </a:xfrm>
        </p:grpSpPr>
        <p:sp>
          <p:nvSpPr>
            <p:cNvPr id="22" name="Rectangle 22"/>
            <p:cNvSpPr/>
            <p:nvPr/>
          </p:nvSpPr>
          <p:spPr>
            <a:xfrm>
              <a:off x="609600" y="2724150"/>
              <a:ext cx="3429000" cy="3371850"/>
            </a:xfrm>
            <a:prstGeom prst="roundRect">
              <a:avLst>
                <a:gd name="adj" fmla="val 452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38200" y="2971800"/>
              <a:ext cx="533400" cy="533400"/>
            </a:xfrm>
            <a:prstGeom prst="roundRect">
              <a:avLst>
                <a:gd name="adj" fmla="val 28571"/>
              </a:avLst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004888" y="3138488"/>
              <a:ext cx="200026" cy="200025"/>
              <a:chOff x="1004888" y="3138488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027113" y="31384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04888" y="327183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49351" y="313993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171576" y="327350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513332" y="30797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业务人员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38200" y="37147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66775" y="40100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40892" y="39306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想自己看数据，却没有入口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66775" y="4352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0892" y="4273550"/>
              <a:ext cx="1880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要提申请等技术写 SQL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66775" y="46958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0892" y="46164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报表开发需排期，耗时较长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866775" y="50387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0892" y="49593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只拿到数字，看不到趋势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66775" y="53816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0892" y="5302250"/>
              <a:ext cx="1800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想看趋势还得回 Excel</a:t>
              </a:r>
            </a:p>
          </p:txBody>
        </p:sp>
      </p:grpSp>
      <p:grpSp>
        <p:nvGrpSpPr>
          <p:cNvPr id="60" name="p04-role-developer"/>
          <p:cNvGrpSpPr/>
          <p:nvPr/>
        </p:nvGrpSpPr>
        <p:grpSpPr>
          <a:xfrm>
            <a:off x="4381500" y="2724150"/>
            <a:ext cx="3429000" cy="3371850"/>
            <a:chOff x="4381500" y="2724150"/>
            <a:chExt cx="3429000" cy="3371850"/>
          </a:xfrm>
        </p:grpSpPr>
        <p:sp>
          <p:nvSpPr>
            <p:cNvPr id="42" name="Rectangle 42"/>
            <p:cNvSpPr/>
            <p:nvPr/>
          </p:nvSpPr>
          <p:spPr>
            <a:xfrm>
              <a:off x="4381500" y="2724150"/>
              <a:ext cx="3429000" cy="3371850"/>
            </a:xfrm>
            <a:prstGeom prst="roundRect">
              <a:avLst>
                <a:gd name="adj" fmla="val 452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610100" y="2971800"/>
              <a:ext cx="533400" cy="533400"/>
            </a:xfrm>
            <a:prstGeom prst="roundRect">
              <a:avLst>
                <a:gd name="adj" fmla="val 28571"/>
              </a:avLst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776788" y="3149600"/>
              <a:ext cx="200026" cy="177801"/>
              <a:chOff x="4776788" y="3149600"/>
              <a:chExt cx="200026" cy="17780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832350" y="3205163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0"/>
                    </a:moveTo>
                    <a:lnTo>
                      <a:pt x="33338" y="33338"/>
                    </a:ln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887913" y="3271838"/>
                <a:ext cx="333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9525">
                    <a:moveTo>
                      <a:pt x="0" y="0"/>
                    </a:moveTo>
                    <a:lnTo>
                      <a:pt x="3333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776788" y="3149600"/>
                <a:ext cx="200026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7801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55575"/>
                    </a:lnTo>
                    <a:cubicBezTo>
                      <a:pt x="200026" y="167850"/>
                      <a:pt x="190075" y="177801"/>
                      <a:pt x="177801" y="177801"/>
                    </a:cubicBez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285232" y="30797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开发人员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4610100" y="37147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4638675" y="40100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12792" y="3930650"/>
              <a:ext cx="1392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复杂 SQL 不熟练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638675" y="4352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12792" y="42735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常用查询反复重写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4638675" y="46958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812792" y="46164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大模型不懂真实表结构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638675" y="50387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812792" y="4959350"/>
              <a:ext cx="1938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生成的 SQL 无法直接用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4638675" y="53816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812792" y="5302250"/>
              <a:ext cx="2178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误执行 DML/DDL 会出事故</a:t>
              </a:r>
            </a:p>
          </p:txBody>
        </p:sp>
      </p:grpSp>
      <p:grpSp>
        <p:nvGrpSpPr>
          <p:cNvPr id="80" name="p04-role-ops"/>
          <p:cNvGrpSpPr/>
          <p:nvPr/>
        </p:nvGrpSpPr>
        <p:grpSpPr>
          <a:xfrm>
            <a:off x="8153400" y="2724150"/>
            <a:ext cx="3429000" cy="3371850"/>
            <a:chOff x="8153400" y="2724150"/>
            <a:chExt cx="3429000" cy="3371850"/>
          </a:xfrm>
        </p:grpSpPr>
        <p:sp>
          <p:nvSpPr>
            <p:cNvPr id="61" name="Rectangle 61"/>
            <p:cNvSpPr/>
            <p:nvPr/>
          </p:nvSpPr>
          <p:spPr>
            <a:xfrm>
              <a:off x="8153400" y="2724150"/>
              <a:ext cx="3429000" cy="3371850"/>
            </a:xfrm>
            <a:prstGeom prst="roundRect">
              <a:avLst>
                <a:gd name="adj" fmla="val 452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382000" y="2971800"/>
              <a:ext cx="533400" cy="533400"/>
            </a:xfrm>
            <a:prstGeom prst="roundRect">
              <a:avLst>
                <a:gd name="adj" fmla="val 28571"/>
              </a:avLst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8548688" y="3149600"/>
              <a:ext cx="200026" cy="177800"/>
              <a:chOff x="8548688" y="3149600"/>
              <a:chExt cx="200026" cy="177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548688" y="31496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548688" y="32385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593138" y="319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93138" y="32829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9057132" y="3079750"/>
              <a:ext cx="14649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运维 / DBA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8382000" y="37147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8410575" y="40100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584692" y="39306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负责的系统多，入口分散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8410575" y="4352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584692" y="42735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不熟悉每套表结构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8410575" y="46958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84692" y="4616450"/>
              <a:ext cx="1938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各库 SQL 与客户端不同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410575" y="50387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84692" y="49593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谁查了什么缺少统一视图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8410575" y="53816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584692" y="53022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慢查询与结构变更难追溯</a:t>
              </a:r>
            </a:p>
          </p:txBody>
        </p:sp>
      </p:grpSp>
      <p:grpSp>
        <p:nvGrpSpPr>
          <p:cNvPr id="83" name="p04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81" name="TextBox 81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-halo-field"/>
          <p:cNvSpPr/>
          <p:nvPr/>
        </p:nvSpPr>
        <p:spPr>
          <a:xfrm>
            <a:off x="762000" y="1638300"/>
            <a:ext cx="10668000" cy="3810000"/>
          </a:xfrm>
          <a:prstGeom prst="ellipse">
            <a:avLst/>
          </a:prstGeom>
          <a:gradFill>
            <a:gsLst>
              <a:gs pos="0">
                <a:srgbClr val="EAF1FE">
                  <a:alpha val="85000"/>
                </a:srgbClr>
              </a:gs>
              <a:gs pos="100000">
                <a:srgbClr val="EAF1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5" name="p05-header"/>
          <p:cNvGrpSpPr/>
          <p:nvPr/>
        </p:nvGrpSpPr>
        <p:grpSpPr>
          <a:xfrm>
            <a:off x="3172206" y="723900"/>
            <a:ext cx="5847588" cy="975868"/>
            <a:chOff x="3172206" y="723900"/>
            <a:chExt cx="5847588" cy="975868"/>
          </a:xfrm>
        </p:grpSpPr>
        <p:sp>
          <p:nvSpPr>
            <p:cNvPr id="3" name="TextBox 3"/>
            <p:cNvSpPr txBox="1"/>
            <p:nvPr/>
          </p:nvSpPr>
          <p:spPr>
            <a:xfrm>
              <a:off x="3535680" y="723900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把这条链路，压成一个闭环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72206" y="1289050"/>
              <a:ext cx="58475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 AI Agent 驱动的数据库查询与运维工作台</a:t>
              </a:r>
            </a:p>
          </p:txBody>
        </p:sp>
      </p:grpSp>
      <p:grpSp>
        <p:nvGrpSpPr>
          <p:cNvPr id="47" name="p05-loop"/>
          <p:cNvGrpSpPr/>
          <p:nvPr/>
        </p:nvGrpSpPr>
        <p:grpSpPr>
          <a:xfrm>
            <a:off x="2152650" y="3028950"/>
            <a:ext cx="7886700" cy="1924050"/>
            <a:chOff x="2152650" y="3028950"/>
            <a:chExt cx="7886700" cy="1924050"/>
          </a:xfrm>
        </p:grpSpPr>
        <p:sp>
          <p:nvSpPr>
            <p:cNvPr id="6" name="Line 6"/>
            <p:cNvSpPr/>
            <p:nvPr/>
          </p:nvSpPr>
          <p:spPr>
            <a:xfrm>
              <a:off x="3181350" y="35433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95850" y="35433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610350" y="35433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324850" y="35433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81375" y="3457575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095875" y="3457575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810375" y="3457575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524875" y="3457575"/>
              <a:ext cx="285750" cy="171450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152650" y="3028950"/>
              <a:ext cx="1028700" cy="1028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578100" y="3454400"/>
              <a:ext cx="177801" cy="177801"/>
              <a:chOff x="2578100" y="3454400"/>
              <a:chExt cx="177801" cy="17780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2595938" y="3476625"/>
                <a:ext cx="137738" cy="137738"/>
              </a:xfrm>
              <a:custGeom>
                <a:avLst/>
                <a:gdLst/>
                <a:ahLst/>
                <a:cxnLst/>
                <a:rect l="l" t="t" r="r" b="b"/>
                <a:pathLst>
                  <a:path w="137738" h="137738">
                    <a:moveTo>
                      <a:pt x="46448" y="0"/>
                    </a:moveTo>
                    <a:lnTo>
                      <a:pt x="137738" y="91289"/>
                    </a:lnTo>
                    <a:lnTo>
                      <a:pt x="114912" y="114115"/>
                    </a:lnTo>
                    <a:cubicBezTo>
                      <a:pt x="98716" y="130959"/>
                      <a:pt x="74681" y="137738"/>
                      <a:pt x="52070" y="131837"/>
                    </a:cubicBezTo>
                    <a:cubicBezTo>
                      <a:pt x="29459" y="125937"/>
                      <a:pt x="11801" y="108279"/>
                      <a:pt x="5900" y="85668"/>
                    </a:cubicBezTo>
                    <a:cubicBezTo>
                      <a:pt x="0" y="63056"/>
                      <a:pt x="6778" y="39022"/>
                      <a:pt x="23623" y="22825"/>
                    </a:cubicBezTo>
                    <a:lnTo>
                      <a:pt x="4644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578100" y="3593307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0" y="38894"/>
                    </a:moveTo>
                    <a:lnTo>
                      <a:pt x="38894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661444" y="3454400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38894" y="0"/>
                    </a:moveTo>
                    <a:lnTo>
                      <a:pt x="0" y="38894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717007" y="3509963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38894" y="0"/>
                    </a:moveTo>
                    <a:lnTo>
                      <a:pt x="0" y="38894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415540" y="41656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867150" y="3028950"/>
              <a:ext cx="1028700" cy="1028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281488" y="3443288"/>
              <a:ext cx="200025" cy="200025"/>
              <a:chOff x="4281488" y="3443288"/>
              <a:chExt cx="200025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281488" y="34432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9"/>
                      <a:pt x="34827" y="155575"/>
                      <a:pt x="77788" y="155575"/>
                    </a:cubicBezTo>
                    <a:cubicBezTo>
                      <a:pt x="120749" y="155575"/>
                      <a:pt x="155575" y="120749"/>
                      <a:pt x="155575" y="77788"/>
                    </a:cubicBezTo>
                    <a:cubicBezTo>
                      <a:pt x="155575" y="34827"/>
                      <a:pt x="120749" y="0"/>
                      <a:pt x="77788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414838" y="35766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130040" y="41656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查询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81650" y="3028950"/>
              <a:ext cx="1028700" cy="1028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007100" y="3476625"/>
              <a:ext cx="177801" cy="153988"/>
              <a:chOff x="6007100" y="3476625"/>
              <a:chExt cx="177801" cy="1539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007100" y="3621088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07100" y="34766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100013"/>
                    </a:moveTo>
                    <a:lnTo>
                      <a:pt x="44450" y="33338"/>
                    </a:lnTo>
                    <a:lnTo>
                      <a:pt x="88900" y="55563"/>
                    </a:lnTo>
                    <a:lnTo>
                      <a:pt x="133350" y="0"/>
                    </a:lnTo>
                    <a:lnTo>
                      <a:pt x="177801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844540" y="41656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296150" y="3028950"/>
              <a:ext cx="1028700" cy="1028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710488" y="3454400"/>
              <a:ext cx="200025" cy="187326"/>
              <a:chOff x="7710488" y="3454400"/>
              <a:chExt cx="200025" cy="1873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710488" y="354330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843838" y="349885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22238"/>
                    </a:lnTo>
                    <a:cubicBezTo>
                      <a:pt x="66675" y="128375"/>
                      <a:pt x="61700" y="133350"/>
                      <a:pt x="5556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7163" y="3454400"/>
                <a:ext cx="666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1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66688"/>
                    </a:lnTo>
                    <a:cubicBezTo>
                      <a:pt x="66675" y="172825"/>
                      <a:pt x="61700" y="177801"/>
                      <a:pt x="55563" y="177801"/>
                    </a:cubicBezTo>
                    <a:lnTo>
                      <a:pt x="11113" y="177801"/>
                    </a:lnTo>
                    <a:cubicBezTo>
                      <a:pt x="4975" y="177801"/>
                      <a:pt x="0" y="172825"/>
                      <a:pt x="0" y="1666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21600" y="3632201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559040" y="41656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报表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9010650" y="3028950"/>
              <a:ext cx="1028700" cy="1028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420360" y="3443288"/>
              <a:ext cx="209281" cy="200026"/>
              <a:chOff x="9420360" y="3443288"/>
              <a:chExt cx="209281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420360" y="3443288"/>
                <a:ext cx="20928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9281" h="200026">
                    <a:moveTo>
                      <a:pt x="104641" y="0"/>
                    </a:moveTo>
                    <a:cubicBezTo>
                      <a:pt x="130598" y="22965"/>
                      <a:pt x="164476" y="34922"/>
                      <a:pt x="199097" y="33338"/>
                    </a:cubicBezTo>
                    <a:cubicBezTo>
                      <a:pt x="209281" y="67981"/>
                      <a:pt x="204980" y="105274"/>
                      <a:pt x="187178" y="136690"/>
                    </a:cubicBezTo>
                    <a:cubicBezTo>
                      <a:pt x="169375" y="168106"/>
                      <a:pt x="139593" y="190959"/>
                      <a:pt x="104641" y="200026"/>
                    </a:cubicBezTo>
                    <a:cubicBezTo>
                      <a:pt x="69688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4" y="22965"/>
                      <a:pt x="104641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513888" y="3521075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525000" y="3543300"/>
                <a:ext cx="9525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781">
                    <a:moveTo>
                      <a:pt x="0" y="0"/>
                    </a:moveTo>
                    <a:lnTo>
                      <a:pt x="0" y="2778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273540" y="41656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2667000" y="4057650"/>
              <a:ext cx="6858000" cy="895350"/>
            </a:xfrm>
            <a:custGeom>
              <a:avLst/>
              <a:gdLst/>
              <a:ahLst/>
              <a:cxnLst/>
              <a:rect l="l" t="t" r="r" b="b"/>
              <a:pathLst>
                <a:path w="6858000" h="895350">
                  <a:moveTo>
                    <a:pt x="6858000" y="0"/>
                  </a:moveTo>
                  <a:cubicBezTo>
                    <a:pt x="6858000" y="895350"/>
                    <a:pt x="0" y="895350"/>
                    <a:pt x="0" y="0"/>
                  </a:cubicBezTo>
                </a:path>
              </a:pathLst>
            </a:custGeom>
            <a:noFill/>
            <a:ln w="19050">
              <a:solidFill>
                <a:schemeClr val="accent1">
                  <a:alpha val="35000"/>
                </a:schemeClr>
              </a:solidFill>
              <a:custDash>
                <a:ds d="300000" sp="300000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2590800" y="4076700"/>
              <a:ext cx="152400" cy="190500"/>
            </a:xfrm>
            <a:prstGeom prst="up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53509" y="45974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五个环节首尾相接，一次取数不再跨团队</a:t>
              </a:r>
            </a:p>
          </p:txBody>
        </p:sp>
      </p:grpSp>
      <p:grpSp>
        <p:nvGrpSpPr>
          <p:cNvPr id="60" name="p05-coverage"/>
          <p:cNvGrpSpPr/>
          <p:nvPr/>
        </p:nvGrpSpPr>
        <p:grpSpPr>
          <a:xfrm>
            <a:off x="609600" y="5219700"/>
            <a:ext cx="10972800" cy="457200"/>
            <a:chOff x="609600" y="5219700"/>
            <a:chExt cx="10972800" cy="457200"/>
          </a:xfrm>
        </p:grpSpPr>
        <p:sp>
          <p:nvSpPr>
            <p:cNvPr id="48" name="Rectangle 48"/>
            <p:cNvSpPr/>
            <p:nvPr/>
          </p:nvSpPr>
          <p:spPr>
            <a:xfrm>
              <a:off x="609600" y="5219700"/>
              <a:ext cx="1685925" cy="457200"/>
            </a:xfrm>
            <a:prstGeom prst="roundRect">
              <a:avLst>
                <a:gd name="adj" fmla="val 458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5731" y="53498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自然语言查询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466975" y="5219700"/>
              <a:ext cx="1685925" cy="457200"/>
            </a:xfrm>
            <a:prstGeom prst="roundRect">
              <a:avLst>
                <a:gd name="adj" fmla="val 458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819286" y="5349875"/>
              <a:ext cx="971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SQL 工作台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324350" y="5219700"/>
              <a:ext cx="1685925" cy="457200"/>
            </a:xfrm>
            <a:prstGeom prst="roundRect">
              <a:avLst>
                <a:gd name="adj" fmla="val 458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701350" y="53498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元数据管理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181725" y="5219700"/>
              <a:ext cx="1685925" cy="457200"/>
            </a:xfrm>
            <a:prstGeom prst="roundRect">
              <a:avLst>
                <a:gd name="adj" fmla="val 458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8724" y="53498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可视化报表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039100" y="5219700"/>
              <a:ext cx="1685925" cy="457200"/>
            </a:xfrm>
            <a:prstGeom prst="roundRect">
              <a:avLst>
                <a:gd name="adj" fmla="val 458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06968" y="5349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权限审计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896475" y="5219700"/>
              <a:ext cx="1685925" cy="457200"/>
            </a:xfrm>
            <a:prstGeom prst="roundRect">
              <a:avLst>
                <a:gd name="adj" fmla="val 458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364343" y="5349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运维监控</a:t>
              </a:r>
            </a:p>
          </p:txBody>
        </p:sp>
      </p:grpSp>
      <p:grpSp>
        <p:nvGrpSpPr>
          <p:cNvPr id="63" name="p05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06-disc"/>
          <p:cNvSpPr/>
          <p:nvPr/>
        </p:nvSpPr>
        <p:spPr>
          <a:xfrm>
            <a:off x="8667750" y="-190500"/>
            <a:ext cx="7239000" cy="7239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DEE9F8"/>
              </a:gs>
            </a:gsLst>
            <a:lin ang="2700000" scaled="1"/>
          </a:gradFill>
          <a:ln>
            <a:noFill/>
          </a:ln>
        </p:spPr>
      </p:sp>
      <p:sp>
        <p:nvSpPr>
          <p:cNvPr id="3" name="ch06-ring"/>
          <p:cNvSpPr/>
          <p:nvPr/>
        </p:nvSpPr>
        <p:spPr>
          <a:xfrm>
            <a:off x="9696450" y="838200"/>
            <a:ext cx="5181600" cy="5181600"/>
          </a:xfrm>
          <a:prstGeom prst="ellipse">
            <a:avLst/>
          </a:prstGeom>
          <a:noFill/>
          <a:ln w="9525">
            <a:solidFill>
              <a:schemeClr val="accent6"/>
            </a:solidFill>
          </a:ln>
        </p:spPr>
      </p:sp>
      <p:grpSp>
        <p:nvGrpSpPr>
          <p:cNvPr id="16" name="ch06-head"/>
          <p:cNvGrpSpPr/>
          <p:nvPr/>
        </p:nvGrpSpPr>
        <p:grpSpPr>
          <a:xfrm>
            <a:off x="609600" y="1778000"/>
            <a:ext cx="6477000" cy="2946400"/>
            <a:chOff x="609600" y="1778000"/>
            <a:chExt cx="6477000" cy="2946400"/>
          </a:xfrm>
        </p:grpSpPr>
        <p:sp>
          <p:nvSpPr>
            <p:cNvPr id="4" name="Rectangle 4"/>
            <p:cNvSpPr/>
            <p:nvPr/>
          </p:nvSpPr>
          <p:spPr>
            <a:xfrm>
              <a:off x="609600" y="1905000"/>
              <a:ext cx="47625" cy="2667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9150" y="1778000"/>
              <a:ext cx="115760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2908300"/>
              <a:ext cx="21381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系统功能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7532" y="3670300"/>
              <a:ext cx="59863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七个演示回答一个问题——这些能力现在就能跑通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1842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功能全景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428875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12517" y="44164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七个实机演示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019550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03192" y="44164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元数据与报表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610225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93867" y="44164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权限与监控</a:t>
              </a:r>
            </a:p>
          </p:txBody>
        </p:sp>
      </p:grpSp>
      <p:grpSp>
        <p:nvGrpSpPr>
          <p:cNvPr id="19" name="ch06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93598" y="609600"/>
            <a:ext cx="4021074" cy="803783"/>
            <a:chOff x="593598" y="609600"/>
            <a:chExt cx="4021074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八个模块，一条闭环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功能不是散点，而是围绕取数闭环组织的八个模块</a:t>
              </a:r>
            </a:p>
          </p:txBody>
        </p:sp>
      </p:grpSp>
      <p:grpSp>
        <p:nvGrpSpPr>
          <p:cNvPr id="15" name="p07-stage-band"/>
          <p:cNvGrpSpPr/>
          <p:nvPr/>
        </p:nvGrpSpPr>
        <p:grpSpPr>
          <a:xfrm>
            <a:off x="609600" y="1676400"/>
            <a:ext cx="10972800" cy="533400"/>
            <a:chOff x="609600" y="1676400"/>
            <a:chExt cx="10972800" cy="5334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2095500" cy="533400"/>
            </a:xfrm>
            <a:prstGeom prst="roundRect">
              <a:avLst>
                <a:gd name="adj" fmla="val 28571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34451" y="1793875"/>
              <a:ext cx="845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连接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828925" y="1676400"/>
              <a:ext cx="2095500" cy="533400"/>
            </a:xfrm>
            <a:prstGeom prst="roundRect">
              <a:avLst>
                <a:gd name="adj" fmla="val 28571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53776" y="1793875"/>
              <a:ext cx="845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查询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048250" y="1676400"/>
              <a:ext cx="2095500" cy="533400"/>
            </a:xfrm>
            <a:prstGeom prst="roundRect">
              <a:avLst>
                <a:gd name="adj" fmla="val 28571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73101" y="1793875"/>
              <a:ext cx="845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分析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67575" y="1676400"/>
              <a:ext cx="2095500" cy="533400"/>
            </a:xfrm>
            <a:prstGeom prst="roundRect">
              <a:avLst>
                <a:gd name="adj" fmla="val 28571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92426" y="1793875"/>
              <a:ext cx="845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报表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486900" y="1676400"/>
              <a:ext cx="2095500" cy="533400"/>
            </a:xfrm>
            <a:prstGeom prst="roundRect">
              <a:avLst>
                <a:gd name="adj" fmla="val 28571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11751" y="1793875"/>
              <a:ext cx="845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管理</a:t>
              </a:r>
            </a:p>
          </p:txBody>
        </p:sp>
      </p:grpSp>
      <p:grpSp>
        <p:nvGrpSpPr>
          <p:cNvPr id="36" name="p07-lane-connect"/>
          <p:cNvGrpSpPr/>
          <p:nvPr/>
        </p:nvGrpSpPr>
        <p:grpSpPr>
          <a:xfrm>
            <a:off x="609600" y="2324100"/>
            <a:ext cx="2095500" cy="3810000"/>
            <a:chOff x="609600" y="2324100"/>
            <a:chExt cx="2095500" cy="3810000"/>
          </a:xfrm>
        </p:grpSpPr>
        <p:sp>
          <p:nvSpPr>
            <p:cNvPr id="16" name="Rectangle 16"/>
            <p:cNvSpPr/>
            <p:nvPr/>
          </p:nvSpPr>
          <p:spPr>
            <a:xfrm>
              <a:off x="609600" y="2324100"/>
              <a:ext cx="2095500" cy="3810000"/>
            </a:xfrm>
            <a:prstGeom prst="roundRect">
              <a:avLst>
                <a:gd name="adj" fmla="val 727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4375" y="2438400"/>
              <a:ext cx="1885950" cy="3581400"/>
            </a:xfrm>
            <a:prstGeom prst="roundRect">
              <a:avLst>
                <a:gd name="adj" fmla="val 60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30275" y="2692400"/>
              <a:ext cx="177801" cy="177801"/>
              <a:chOff x="930275" y="2692400"/>
              <a:chExt cx="177801" cy="1778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948113" y="2714625"/>
                <a:ext cx="137738" cy="137738"/>
              </a:xfrm>
              <a:custGeom>
                <a:avLst/>
                <a:gdLst/>
                <a:ahLst/>
                <a:cxnLst/>
                <a:rect l="l" t="t" r="r" b="b"/>
                <a:pathLst>
                  <a:path w="137738" h="137738">
                    <a:moveTo>
                      <a:pt x="46448" y="0"/>
                    </a:moveTo>
                    <a:lnTo>
                      <a:pt x="137738" y="91289"/>
                    </a:lnTo>
                    <a:lnTo>
                      <a:pt x="114912" y="114115"/>
                    </a:lnTo>
                    <a:cubicBezTo>
                      <a:pt x="98716" y="130959"/>
                      <a:pt x="74681" y="137738"/>
                      <a:pt x="52070" y="131837"/>
                    </a:cubicBezTo>
                    <a:cubicBezTo>
                      <a:pt x="29459" y="125937"/>
                      <a:pt x="11801" y="108279"/>
                      <a:pt x="5900" y="85668"/>
                    </a:cubicBezTo>
                    <a:cubicBezTo>
                      <a:pt x="0" y="63056"/>
                      <a:pt x="6778" y="39022"/>
                      <a:pt x="23623" y="22825"/>
                    </a:cubicBezTo>
                    <a:lnTo>
                      <a:pt x="4644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30275" y="2831307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0" y="38894"/>
                    </a:moveTo>
                    <a:lnTo>
                      <a:pt x="38894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13619" y="2692400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38894" y="0"/>
                    </a:moveTo>
                    <a:lnTo>
                      <a:pt x="0" y="38894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69182" y="2747963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38894" y="0"/>
                    </a:moveTo>
                    <a:lnTo>
                      <a:pt x="0" y="38894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76681" y="29083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连接管理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52500" y="3400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07567" y="3321050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类数据源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952500" y="38195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07567" y="3740150"/>
              <a:ext cx="751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SSH 隧道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952500" y="42386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07567" y="41592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多环境标签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52500" y="46577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07567" y="45783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密码加密存储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952500" y="50768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07567" y="49974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连接测试与克隆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52500" y="5495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07567" y="54165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侧边栏统一入口</a:t>
              </a:r>
            </a:p>
          </p:txBody>
        </p:sp>
      </p:grpSp>
      <p:grpSp>
        <p:nvGrpSpPr>
          <p:cNvPr id="68" name="p07-lane-query"/>
          <p:cNvGrpSpPr/>
          <p:nvPr/>
        </p:nvGrpSpPr>
        <p:grpSpPr>
          <a:xfrm>
            <a:off x="2828925" y="2324100"/>
            <a:ext cx="2095500" cy="3810000"/>
            <a:chOff x="2828925" y="2324100"/>
            <a:chExt cx="2095500" cy="3810000"/>
          </a:xfrm>
        </p:grpSpPr>
        <p:sp>
          <p:nvSpPr>
            <p:cNvPr id="37" name="Rectangle 37"/>
            <p:cNvSpPr/>
            <p:nvPr/>
          </p:nvSpPr>
          <p:spPr>
            <a:xfrm>
              <a:off x="2828925" y="2324100"/>
              <a:ext cx="2095500" cy="3810000"/>
            </a:xfrm>
            <a:prstGeom prst="roundRect">
              <a:avLst>
                <a:gd name="adj" fmla="val 727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33700" y="2438400"/>
              <a:ext cx="1885950" cy="1733550"/>
            </a:xfrm>
            <a:prstGeom prst="roundRect">
              <a:avLst>
                <a:gd name="adj" fmla="val 659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3133725" y="2600325"/>
              <a:ext cx="133350" cy="180975"/>
              <a:chOff x="3133725" y="2600325"/>
              <a:chExt cx="133350" cy="18097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3143250" y="2619375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57150"/>
                    </a:lnTo>
                    <a:cubicBezTo>
                      <a:pt x="114300" y="67671"/>
                      <a:pt x="105771" y="76200"/>
                      <a:pt x="952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200400" y="26003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171825" y="2695575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228975" y="2695575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133725" y="2714625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1905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228975" y="2714625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0"/>
                    </a:moveTo>
                    <a:lnTo>
                      <a:pt x="3810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3171825" y="27527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3181350" y="2657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3219450" y="2657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3383280" y="2584450"/>
              <a:ext cx="1080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智能查询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3095625" y="30956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250692" y="3016250"/>
              <a:ext cx="1335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自然语言转 SQL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3095625" y="34385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250692" y="33591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多轮会话追问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3095625" y="3781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250692" y="37020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自动生成图表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933700" y="4286250"/>
              <a:ext cx="1885950" cy="1733550"/>
            </a:xfrm>
            <a:prstGeom prst="roundRect">
              <a:avLst>
                <a:gd name="adj" fmla="val 659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3114675" y="4467225"/>
              <a:ext cx="171450" cy="152400"/>
              <a:chOff x="3114675" y="4467225"/>
              <a:chExt cx="171450" cy="1524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3162300" y="4514850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3209925" y="45720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3114675" y="4467225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33350"/>
                    </a:lnTo>
                    <a:cubicBezTo>
                      <a:pt x="171450" y="143871"/>
                      <a:pt x="162921" y="152400"/>
                      <a:pt x="15240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3383280" y="4432300"/>
              <a:ext cx="1102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SQL 工作台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3095625" y="49434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250692" y="4864100"/>
              <a:ext cx="975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 Tab 编辑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3095625" y="52863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250692" y="52070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对象树导航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3095625" y="56292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250692" y="55499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结果集直接编辑</a:t>
              </a:r>
            </a:p>
          </p:txBody>
        </p:sp>
      </p:grpSp>
      <p:grpSp>
        <p:nvGrpSpPr>
          <p:cNvPr id="88" name="p07-lane-analyze"/>
          <p:cNvGrpSpPr/>
          <p:nvPr/>
        </p:nvGrpSpPr>
        <p:grpSpPr>
          <a:xfrm>
            <a:off x="5048250" y="2324100"/>
            <a:ext cx="2095500" cy="3810000"/>
            <a:chOff x="5048250" y="2324100"/>
            <a:chExt cx="2095500" cy="3810000"/>
          </a:xfrm>
        </p:grpSpPr>
        <p:sp>
          <p:nvSpPr>
            <p:cNvPr id="69" name="Rectangle 69"/>
            <p:cNvSpPr/>
            <p:nvPr/>
          </p:nvSpPr>
          <p:spPr>
            <a:xfrm>
              <a:off x="5048250" y="2324100"/>
              <a:ext cx="2095500" cy="3810000"/>
            </a:xfrm>
            <a:prstGeom prst="roundRect">
              <a:avLst>
                <a:gd name="adj" fmla="val 727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153025" y="2438400"/>
              <a:ext cx="1885950" cy="3581400"/>
            </a:xfrm>
            <a:prstGeom prst="roundRect">
              <a:avLst>
                <a:gd name="adj" fmla="val 60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57813" y="2681288"/>
              <a:ext cx="200026" cy="200026"/>
              <a:chOff x="5357813" y="2681288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5357813" y="26812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77801"/>
                    </a:lnTo>
                    <a:cubicBezTo>
                      <a:pt x="200026" y="190075"/>
                      <a:pt x="190075" y="200026"/>
                      <a:pt x="177801" y="200026"/>
                    </a:cubicBez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5357813" y="2759075"/>
                <a:ext cx="20002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9525">
                    <a:moveTo>
                      <a:pt x="0" y="0"/>
                    </a:move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435600" y="2681288"/>
                <a:ext cx="952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6">
                    <a:moveTo>
                      <a:pt x="0" y="0"/>
                    </a:moveTo>
                    <a:lnTo>
                      <a:pt x="0" y="20002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5315331" y="29083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元数据管理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5391150" y="3400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546217" y="33210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表、视图与索引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5391150" y="38195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546217" y="3740150"/>
              <a:ext cx="933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字段与 DDL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5391150" y="42386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546217" y="41592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函数与存储过程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5391150" y="46577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546217" y="45783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触发器与序列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5391150" y="50768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546217" y="49974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表结构收藏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5391150" y="5495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546217" y="54165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多环境结构对比</a:t>
              </a:r>
            </a:p>
          </p:txBody>
        </p:sp>
      </p:grpSp>
      <p:grpSp>
        <p:nvGrpSpPr>
          <p:cNvPr id="114" name="p07-lane-report"/>
          <p:cNvGrpSpPr/>
          <p:nvPr/>
        </p:nvGrpSpPr>
        <p:grpSpPr>
          <a:xfrm>
            <a:off x="7267575" y="2324100"/>
            <a:ext cx="2095500" cy="3810000"/>
            <a:chOff x="7267575" y="2324100"/>
            <a:chExt cx="2095500" cy="3810000"/>
          </a:xfrm>
        </p:grpSpPr>
        <p:sp>
          <p:nvSpPr>
            <p:cNvPr id="89" name="Rectangle 89"/>
            <p:cNvSpPr/>
            <p:nvPr/>
          </p:nvSpPr>
          <p:spPr>
            <a:xfrm>
              <a:off x="7267575" y="2324100"/>
              <a:ext cx="2095500" cy="3810000"/>
            </a:xfrm>
            <a:prstGeom prst="roundRect">
              <a:avLst>
                <a:gd name="adj" fmla="val 727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7372350" y="2438400"/>
              <a:ext cx="1885950" cy="1733550"/>
            </a:xfrm>
            <a:prstGeom prst="roundRect">
              <a:avLst>
                <a:gd name="adj" fmla="val 659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553325" y="2619375"/>
              <a:ext cx="171450" cy="161925"/>
              <a:chOff x="7553325" y="2619375"/>
              <a:chExt cx="171450" cy="161925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553325" y="2695575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667625" y="2657475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7610475" y="2619375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562850" y="27717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7821930" y="2584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可视化报表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7534275" y="30956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689342" y="3016250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 种图表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7534275" y="34385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689342" y="33591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拖拽式仪表盘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7534275" y="3781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689342" y="37020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分享链接与大屏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7372350" y="4286250"/>
              <a:ext cx="1885950" cy="1733550"/>
            </a:xfrm>
            <a:prstGeom prst="roundRect">
              <a:avLst>
                <a:gd name="adj" fmla="val 659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7572375" y="4457700"/>
              <a:ext cx="152400" cy="180975"/>
              <a:chOff x="7572375" y="4457700"/>
              <a:chExt cx="152400" cy="180975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658100" y="44577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7572375" y="4457700"/>
                <a:ext cx="15240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80975">
                    <a:moveTo>
                      <a:pt x="61912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95250"/>
                    </a:lnTo>
                    <a:moveTo>
                      <a:pt x="85725" y="152400"/>
                    </a:moveTo>
                    <a:lnTo>
                      <a:pt x="152400" y="152400"/>
                    </a:lnTo>
                    <a:moveTo>
                      <a:pt x="123825" y="123825"/>
                    </a:moveTo>
                    <a:lnTo>
                      <a:pt x="152400" y="152400"/>
                    </a:lnTo>
                    <a:lnTo>
                      <a:pt x="123825" y="1809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7821930" y="44323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文档导出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7534275" y="49434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689342" y="4864100"/>
              <a:ext cx="1004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CSV / Excel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7534275" y="52863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7689342" y="5207000"/>
              <a:ext cx="8956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JSON 导出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7534275" y="56292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689342" y="55499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库文档导出</a:t>
              </a:r>
            </a:p>
          </p:txBody>
        </p:sp>
      </p:grpSp>
      <p:grpSp>
        <p:nvGrpSpPr>
          <p:cNvPr id="138" name="p07-lane-manage"/>
          <p:cNvGrpSpPr/>
          <p:nvPr/>
        </p:nvGrpSpPr>
        <p:grpSpPr>
          <a:xfrm>
            <a:off x="9486900" y="2324100"/>
            <a:ext cx="2095500" cy="3810000"/>
            <a:chOff x="9486900" y="2324100"/>
            <a:chExt cx="2095500" cy="3810000"/>
          </a:xfrm>
        </p:grpSpPr>
        <p:sp>
          <p:nvSpPr>
            <p:cNvPr id="115" name="Rectangle 115"/>
            <p:cNvSpPr/>
            <p:nvPr/>
          </p:nvSpPr>
          <p:spPr>
            <a:xfrm>
              <a:off x="9486900" y="2324100"/>
              <a:ext cx="2095500" cy="3810000"/>
            </a:xfrm>
            <a:prstGeom prst="roundRect">
              <a:avLst>
                <a:gd name="adj" fmla="val 727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591675" y="2438400"/>
              <a:ext cx="1885950" cy="1733550"/>
            </a:xfrm>
            <a:prstGeom prst="roundRect">
              <a:avLst>
                <a:gd name="adj" fmla="val 659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21" name="Group 121"/>
            <p:cNvGrpSpPr/>
            <p:nvPr/>
          </p:nvGrpSpPr>
          <p:grpSpPr>
            <a:xfrm>
              <a:off x="9772650" y="2609850"/>
              <a:ext cx="171450" cy="171450"/>
              <a:chOff x="9772650" y="2609850"/>
              <a:chExt cx="171450" cy="17145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9791700" y="26098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9772650" y="272415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  <a:cubicBezTo>
                      <a:pt x="97242" y="0"/>
                      <a:pt x="114300" y="17058"/>
                      <a:pt x="114300" y="38100"/>
                    </a:cubicBezTo>
                    <a:lnTo>
                      <a:pt x="114300" y="571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9896475" y="2611088"/>
                <a:ext cx="28650" cy="73819"/>
              </a:xfrm>
              <a:custGeom>
                <a:avLst/>
                <a:gdLst/>
                <a:ahLst/>
                <a:cxnLst/>
                <a:rect l="l" t="t" r="r" b="b"/>
                <a:pathLst>
                  <a:path w="28650" h="73819">
                    <a:moveTo>
                      <a:pt x="0" y="0"/>
                    </a:moveTo>
                    <a:cubicBezTo>
                      <a:pt x="16858" y="4316"/>
                      <a:pt x="28650" y="19507"/>
                      <a:pt x="28650" y="36909"/>
                    </a:cubicBezTo>
                    <a:cubicBezTo>
                      <a:pt x="28650" y="54312"/>
                      <a:pt x="16858" y="69502"/>
                      <a:pt x="0" y="7381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9915525" y="2725579"/>
                <a:ext cx="28575" cy="55721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5721">
                    <a:moveTo>
                      <a:pt x="28575" y="55721"/>
                    </a:moveTo>
                    <a:lnTo>
                      <a:pt x="28575" y="36671"/>
                    </a:lnTo>
                    <a:cubicBezTo>
                      <a:pt x="28476" y="19379"/>
                      <a:pt x="16743" y="4323"/>
                      <a:pt x="0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22" name="TextBox 122"/>
            <p:cNvSpPr txBox="1"/>
            <p:nvPr/>
          </p:nvSpPr>
          <p:spPr>
            <a:xfrm>
              <a:off x="10041255" y="2584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用户与角色</a:t>
              </a:r>
            </a:p>
          </p:txBody>
        </p:sp>
        <p:sp>
          <p:nvSpPr>
            <p:cNvPr id="123" name="Ellipse 123"/>
            <p:cNvSpPr/>
            <p:nvPr/>
          </p:nvSpPr>
          <p:spPr>
            <a:xfrm>
              <a:off x="9753600" y="30956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9908667" y="3016250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个内置角色</a:t>
              </a:r>
            </a:p>
          </p:txBody>
        </p:sp>
        <p:sp>
          <p:nvSpPr>
            <p:cNvPr id="125" name="Ellipse 125"/>
            <p:cNvSpPr/>
            <p:nvPr/>
          </p:nvSpPr>
          <p:spPr>
            <a:xfrm>
              <a:off x="9753600" y="34385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9908667" y="33591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权限按模块勾选</a:t>
              </a:r>
            </a:p>
          </p:txBody>
        </p:sp>
        <p:sp>
          <p:nvSpPr>
            <p:cNvPr id="127" name="Ellipse 127"/>
            <p:cNvSpPr/>
            <p:nvPr/>
          </p:nvSpPr>
          <p:spPr>
            <a:xfrm>
              <a:off x="9753600" y="3781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9908667" y="37020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菜单与接口双控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9591675" y="4286250"/>
              <a:ext cx="1885950" cy="1733550"/>
            </a:xfrm>
            <a:prstGeom prst="roundRect">
              <a:avLst>
                <a:gd name="adj" fmla="val 659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9772650" y="4467225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0" y="76200"/>
                  </a:moveTo>
                  <a:lnTo>
                    <a:pt x="38100" y="76200"/>
                  </a:lnTo>
                  <a:lnTo>
                    <a:pt x="66675" y="152400"/>
                  </a:lnTo>
                  <a:lnTo>
                    <a:pt x="104775" y="0"/>
                  </a:lnTo>
                  <a:lnTo>
                    <a:pt x="133350" y="76200"/>
                  </a:lnTo>
                  <a:lnTo>
                    <a:pt x="171450" y="762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10041255" y="44323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运维监控</a:t>
              </a:r>
            </a:p>
          </p:txBody>
        </p:sp>
        <p:sp>
          <p:nvSpPr>
            <p:cNvPr id="132" name="Ellipse 132"/>
            <p:cNvSpPr/>
            <p:nvPr/>
          </p:nvSpPr>
          <p:spPr>
            <a:xfrm>
              <a:off x="9753600" y="49434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9908667" y="48641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慢查询统计</a:t>
              </a:r>
            </a:p>
          </p:txBody>
        </p:sp>
        <p:sp>
          <p:nvSpPr>
            <p:cNvPr id="134" name="Ellipse 134"/>
            <p:cNvSpPr/>
            <p:nvPr/>
          </p:nvSpPr>
          <p:spPr>
            <a:xfrm>
              <a:off x="9753600" y="52863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9908667" y="52070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连接概览</a:t>
              </a:r>
            </a:p>
          </p:txBody>
        </p:sp>
        <p:sp>
          <p:nvSpPr>
            <p:cNvPr id="136" name="Ellipse 136"/>
            <p:cNvSpPr/>
            <p:nvPr/>
          </p:nvSpPr>
          <p:spPr>
            <a:xfrm>
              <a:off x="9753600" y="56292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9908667" y="5549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审计日志</a:t>
              </a:r>
            </a:p>
          </p:txBody>
        </p:sp>
      </p:grpSp>
      <p:grpSp>
        <p:nvGrpSpPr>
          <p:cNvPr id="141" name="p07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139" name="TextBox 139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93598" y="609600"/>
            <a:ext cx="6132126" cy="803783"/>
            <a:chOff x="593598" y="609600"/>
            <a:chExt cx="6132126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61321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说出需求，SQL 和结果一起出现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3879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一句话生成 SQL，全过程可见，结果可直接导出</a:t>
              </a:r>
            </a:p>
          </p:txBody>
        </p:sp>
      </p:grpSp>
      <p:grpSp>
        <p:nvGrpSpPr>
          <p:cNvPr id="14" name="p08-shot"/>
          <p:cNvGrpSpPr/>
          <p:nvPr/>
        </p:nvGrpSpPr>
        <p:grpSpPr>
          <a:xfrm>
            <a:off x="609600" y="1562100"/>
            <a:ext cx="6705600" cy="4385183"/>
            <a:chOff x="609600" y="1562100"/>
            <a:chExt cx="6705600" cy="4385183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6705600" cy="438150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62100"/>
              <a:ext cx="6705600" cy="495300"/>
            </a:xfrm>
            <a:prstGeom prst="roundRect">
              <a:avLst>
                <a:gd name="adj" fmla="val 3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05000"/>
              <a:ext cx="6705600" cy="15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66775" y="1762125"/>
              <a:ext cx="171450" cy="171450"/>
              <a:chOff x="866775" y="1762125"/>
              <a:chExt cx="171450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66775" y="17621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81075" y="1876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74242" y="173990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实机演示 · 自然语言查询</a:t>
              </a: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171700"/>
              <a:ext cx="6248400" cy="3514725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31342" y="5683250"/>
              <a:ext cx="41574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SQLite 本地库：一句话查询用户表，返回 8 条记录</a:t>
              </a:r>
            </a:p>
          </p:txBody>
        </p:sp>
      </p:grpSp>
      <p:grpSp>
        <p:nvGrpSpPr>
          <p:cNvPr id="19" name="p08-ability-1"/>
          <p:cNvGrpSpPr/>
          <p:nvPr/>
        </p:nvGrpSpPr>
        <p:grpSpPr>
          <a:xfrm>
            <a:off x="7620000" y="1562100"/>
            <a:ext cx="3962400" cy="1009650"/>
            <a:chOff x="7620000" y="1562100"/>
            <a:chExt cx="3962400" cy="1009650"/>
          </a:xfrm>
        </p:grpSpPr>
        <p:sp>
          <p:nvSpPr>
            <p:cNvPr id="15" name="Rectangle 15"/>
            <p:cNvSpPr/>
            <p:nvPr/>
          </p:nvSpPr>
          <p:spPr>
            <a:xfrm>
              <a:off x="7620000" y="15621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881938" y="1797050"/>
              <a:ext cx="188913" cy="177801"/>
            </a:xfrm>
            <a:custGeom>
              <a:avLst/>
              <a:gdLst/>
              <a:ahLst/>
              <a:cxnLst/>
              <a:rect l="l" t="t" r="r" b="b"/>
              <a:pathLst>
                <a:path w="188913" h="177801">
                  <a:moveTo>
                    <a:pt x="144463" y="155575"/>
                  </a:moveTo>
                  <a:cubicBezTo>
                    <a:pt x="156737" y="155575"/>
                    <a:pt x="166688" y="165526"/>
                    <a:pt x="166688" y="177801"/>
                  </a:cubicBezTo>
                  <a:cubicBezTo>
                    <a:pt x="166688" y="165526"/>
                    <a:pt x="176638" y="155575"/>
                    <a:pt x="188913" y="155575"/>
                  </a:cubicBezTo>
                  <a:cubicBezTo>
                    <a:pt x="176638" y="155575"/>
                    <a:pt x="166688" y="145625"/>
                    <a:pt x="166688" y="133350"/>
                  </a:cubicBezTo>
                  <a:cubicBezTo>
                    <a:pt x="166688" y="145625"/>
                    <a:pt x="156737" y="155575"/>
                    <a:pt x="144463" y="155575"/>
                  </a:cubicBezTo>
                  <a:moveTo>
                    <a:pt x="144463" y="22225"/>
                  </a:moveTo>
                  <a:cubicBezTo>
                    <a:pt x="156737" y="22225"/>
                    <a:pt x="166688" y="32176"/>
                    <a:pt x="166688" y="44450"/>
                  </a:cubicBezTo>
                  <a:cubicBezTo>
                    <a:pt x="166688" y="32176"/>
                    <a:pt x="176638" y="22225"/>
                    <a:pt x="188913" y="22225"/>
                  </a:cubicBezTo>
                  <a:cubicBezTo>
                    <a:pt x="176638" y="22225"/>
                    <a:pt x="166688" y="12275"/>
                    <a:pt x="166688" y="0"/>
                  </a:cubicBezTo>
                  <a:cubicBezTo>
                    <a:pt x="166688" y="12275"/>
                    <a:pt x="156737" y="22225"/>
                    <a:pt x="144463" y="22225"/>
                  </a:cubicBezTo>
                  <a:moveTo>
                    <a:pt x="66675" y="155575"/>
                  </a:moveTo>
                  <a:cubicBezTo>
                    <a:pt x="66675" y="118752"/>
                    <a:pt x="96527" y="88900"/>
                    <a:pt x="133350" y="88900"/>
                  </a:cubicBezTo>
                  <a:cubicBezTo>
                    <a:pt x="96527" y="88900"/>
                    <a:pt x="66675" y="59049"/>
                    <a:pt x="66675" y="22225"/>
                  </a:cubicBezTo>
                  <a:cubicBezTo>
                    <a:pt x="66675" y="59049"/>
                    <a:pt x="36824" y="88900"/>
                    <a:pt x="0" y="88900"/>
                  </a:cubicBezTo>
                  <a:cubicBezTo>
                    <a:pt x="36824" y="88900"/>
                    <a:pt x="66675" y="118752"/>
                    <a:pt x="66675" y="155575"/>
                  </a:cubicBez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58556" y="1765300"/>
              <a:ext cx="18078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一句话生成 SQL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1742" y="2139950"/>
              <a:ext cx="2970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自然语言提问，直接产出可执行 SQL</a:t>
              </a:r>
            </a:p>
          </p:txBody>
        </p:sp>
      </p:grpSp>
      <p:grpSp>
        <p:nvGrpSpPr>
          <p:cNvPr id="24" name="p08-ability-2"/>
          <p:cNvGrpSpPr/>
          <p:nvPr/>
        </p:nvGrpSpPr>
        <p:grpSpPr>
          <a:xfrm>
            <a:off x="7620000" y="2686050"/>
            <a:ext cx="3962400" cy="1009650"/>
            <a:chOff x="7620000" y="2686050"/>
            <a:chExt cx="3962400" cy="1009650"/>
          </a:xfrm>
        </p:grpSpPr>
        <p:sp>
          <p:nvSpPr>
            <p:cNvPr id="20" name="Rectangle 20"/>
            <p:cNvSpPr/>
            <p:nvPr/>
          </p:nvSpPr>
          <p:spPr>
            <a:xfrm>
              <a:off x="7620000" y="26860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881938" y="2921000"/>
              <a:ext cx="200026" cy="177801"/>
            </a:xfrm>
            <a:custGeom>
              <a:avLst/>
              <a:gdLst/>
              <a:ahLst/>
              <a:cxnLst/>
              <a:rect l="l" t="t" r="r" b="b"/>
              <a:pathLst>
                <a:path w="200026" h="177801">
                  <a:moveTo>
                    <a:pt x="0" y="88900"/>
                  </a:moveTo>
                  <a:lnTo>
                    <a:pt x="44450" y="88900"/>
                  </a:lnTo>
                  <a:lnTo>
                    <a:pt x="77788" y="177801"/>
                  </a:lnTo>
                  <a:lnTo>
                    <a:pt x="122238" y="0"/>
                  </a:lnTo>
                  <a:lnTo>
                    <a:pt x="155575" y="88900"/>
                  </a:lnTo>
                  <a:lnTo>
                    <a:pt x="200026" y="8890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58556" y="28892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全过程可见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1742" y="3263900"/>
              <a:ext cx="2436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SSE 流式回传思考过程与 SQL</a:t>
              </a:r>
            </a:p>
          </p:txBody>
        </p:sp>
      </p:grpSp>
      <p:grpSp>
        <p:nvGrpSpPr>
          <p:cNvPr id="32" name="p08-ability-3"/>
          <p:cNvGrpSpPr/>
          <p:nvPr/>
        </p:nvGrpSpPr>
        <p:grpSpPr>
          <a:xfrm>
            <a:off x="7620000" y="3810000"/>
            <a:ext cx="3962400" cy="1009650"/>
            <a:chOff x="7620000" y="3810000"/>
            <a:chExt cx="39624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7620000" y="38100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893050" y="4033838"/>
              <a:ext cx="177801" cy="200025"/>
              <a:chOff x="7893050" y="4033838"/>
              <a:chExt cx="177801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3050" y="403383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3050" y="40671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3050" y="41338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258556" y="40132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跨库查询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41742" y="43878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切换数据源即可查询不同数据库</a:t>
              </a:r>
            </a:p>
          </p:txBody>
        </p:sp>
      </p:grpSp>
      <p:grpSp>
        <p:nvGrpSpPr>
          <p:cNvPr id="40" name="p08-ability-4"/>
          <p:cNvGrpSpPr/>
          <p:nvPr/>
        </p:nvGrpSpPr>
        <p:grpSpPr>
          <a:xfrm>
            <a:off x="7620000" y="4933950"/>
            <a:ext cx="3962400" cy="1009650"/>
            <a:chOff x="7620000" y="4933950"/>
            <a:chExt cx="3962400" cy="1009650"/>
          </a:xfrm>
        </p:grpSpPr>
        <p:sp>
          <p:nvSpPr>
            <p:cNvPr id="33" name="Rectangle 33"/>
            <p:cNvSpPr/>
            <p:nvPr/>
          </p:nvSpPr>
          <p:spPr>
            <a:xfrm>
              <a:off x="7620000" y="49339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893050" y="5168900"/>
              <a:ext cx="177801" cy="188913"/>
              <a:chOff x="7893050" y="5168900"/>
              <a:chExt cx="177801" cy="18891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893050" y="5313363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0" y="22225"/>
                    </a:lnTo>
                    <a:cubicBezTo>
                      <a:pt x="0" y="34500"/>
                      <a:pt x="9950" y="44450"/>
                      <a:pt x="22225" y="44450"/>
                    </a:cubicBezTo>
                    <a:lnTo>
                      <a:pt x="155575" y="44450"/>
                    </a:lnTo>
                    <a:cubicBezTo>
                      <a:pt x="167850" y="44450"/>
                      <a:pt x="177801" y="34500"/>
                      <a:pt x="177801" y="2222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926388" y="5246688"/>
                <a:ext cx="111125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5563">
                    <a:moveTo>
                      <a:pt x="0" y="0"/>
                    </a:moveTo>
                    <a:lnTo>
                      <a:pt x="55563" y="55563"/>
                    </a:lnTo>
                    <a:lnTo>
                      <a:pt x="1111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981950" y="5168900"/>
                <a:ext cx="95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3350">
                    <a:moveTo>
                      <a:pt x="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258556" y="51371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结果一键导出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41742" y="5511800"/>
              <a:ext cx="2820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支持 CSV、Excel、JSON 三种格式</a:t>
              </a:r>
            </a:p>
          </p:txBody>
        </p:sp>
      </p:grpSp>
      <p:grpSp>
        <p:nvGrpSpPr>
          <p:cNvPr id="43" name="p08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23</a:t>
              </a:r>
            </a:p>
          </p:txBody>
        </p:sp>
      </p:grpSp>
      <p:pic>
        <p:nvPicPr>
          <p:cNvPr id="44" name="demo-video-1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838200" y="2171700"/>
            <a:ext cx="6248400" cy="351472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93598" y="609600"/>
            <a:ext cx="5544693" cy="803783"/>
            <a:chOff x="593598" y="609600"/>
            <a:chExt cx="5544693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查完就能看图，图直接进报表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查询结果自动选型出图，一键保存进可视化报表复用</a:t>
              </a:r>
            </a:p>
          </p:txBody>
        </p:sp>
      </p:grpSp>
      <p:grpSp>
        <p:nvGrpSpPr>
          <p:cNvPr id="16" name="p09-shot"/>
          <p:cNvGrpSpPr/>
          <p:nvPr/>
        </p:nvGrpSpPr>
        <p:grpSpPr>
          <a:xfrm>
            <a:off x="609600" y="1562100"/>
            <a:ext cx="6705600" cy="4385183"/>
            <a:chOff x="609600" y="1562100"/>
            <a:chExt cx="6705600" cy="4385183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6705600" cy="438150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62100"/>
              <a:ext cx="6705600" cy="495300"/>
            </a:xfrm>
            <a:prstGeom prst="roundRect">
              <a:avLst>
                <a:gd name="adj" fmla="val 3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05000"/>
              <a:ext cx="6705600" cy="15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66775" y="1771650"/>
              <a:ext cx="171450" cy="161925"/>
              <a:chOff x="866775" y="1771650"/>
              <a:chExt cx="171450" cy="1619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66775" y="184785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81075" y="180975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23925" y="177165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76300" y="192405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74242" y="1739900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实机演示 · 自然语言生成图表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171700"/>
              <a:ext cx="6248400" cy="35147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831342" y="5683250"/>
              <a:ext cx="4253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Oracle UAT：按分行统计交易，自动出柱状图并保存</a:t>
              </a:r>
            </a:p>
          </p:txBody>
        </p:sp>
      </p:grpSp>
      <p:grpSp>
        <p:nvGrpSpPr>
          <p:cNvPr id="22" name="p09-ability-1"/>
          <p:cNvGrpSpPr/>
          <p:nvPr/>
        </p:nvGrpSpPr>
        <p:grpSpPr>
          <a:xfrm>
            <a:off x="7620000" y="1562100"/>
            <a:ext cx="3962400" cy="1009650"/>
            <a:chOff x="7620000" y="1562100"/>
            <a:chExt cx="3962400" cy="1009650"/>
          </a:xfrm>
        </p:grpSpPr>
        <p:sp>
          <p:nvSpPr>
            <p:cNvPr id="17" name="Rectangle 17"/>
            <p:cNvSpPr/>
            <p:nvPr/>
          </p:nvSpPr>
          <p:spPr>
            <a:xfrm>
              <a:off x="7620000" y="15621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881938" y="1797050"/>
              <a:ext cx="188913" cy="177801"/>
            </a:xfrm>
            <a:custGeom>
              <a:avLst/>
              <a:gdLst/>
              <a:ahLst/>
              <a:cxnLst/>
              <a:rect l="l" t="t" r="r" b="b"/>
              <a:pathLst>
                <a:path w="188913" h="177801">
                  <a:moveTo>
                    <a:pt x="144463" y="155575"/>
                  </a:moveTo>
                  <a:cubicBezTo>
                    <a:pt x="156737" y="155575"/>
                    <a:pt x="166688" y="165526"/>
                    <a:pt x="166688" y="177801"/>
                  </a:cubicBezTo>
                  <a:cubicBezTo>
                    <a:pt x="166688" y="165526"/>
                    <a:pt x="176638" y="155575"/>
                    <a:pt x="188913" y="155575"/>
                  </a:cubicBezTo>
                  <a:cubicBezTo>
                    <a:pt x="176638" y="155575"/>
                    <a:pt x="166688" y="145625"/>
                    <a:pt x="166688" y="133350"/>
                  </a:cubicBezTo>
                  <a:cubicBezTo>
                    <a:pt x="166688" y="145625"/>
                    <a:pt x="156737" y="155575"/>
                    <a:pt x="144463" y="155575"/>
                  </a:cubicBezTo>
                  <a:moveTo>
                    <a:pt x="144463" y="22225"/>
                  </a:moveTo>
                  <a:cubicBezTo>
                    <a:pt x="156737" y="22225"/>
                    <a:pt x="166688" y="32176"/>
                    <a:pt x="166688" y="44450"/>
                  </a:cubicBezTo>
                  <a:cubicBezTo>
                    <a:pt x="166688" y="32176"/>
                    <a:pt x="176638" y="22225"/>
                    <a:pt x="188913" y="22225"/>
                  </a:cubicBezTo>
                  <a:cubicBezTo>
                    <a:pt x="176638" y="22225"/>
                    <a:pt x="166688" y="12275"/>
                    <a:pt x="166688" y="0"/>
                  </a:cubicBezTo>
                  <a:cubicBezTo>
                    <a:pt x="166688" y="12275"/>
                    <a:pt x="156737" y="22225"/>
                    <a:pt x="144463" y="22225"/>
                  </a:cubicBezTo>
                  <a:moveTo>
                    <a:pt x="66675" y="155575"/>
                  </a:moveTo>
                  <a:cubicBezTo>
                    <a:pt x="66675" y="118752"/>
                    <a:pt x="96527" y="88900"/>
                    <a:pt x="133350" y="88900"/>
                  </a:cubicBezTo>
                  <a:cubicBezTo>
                    <a:pt x="96527" y="88900"/>
                    <a:pt x="66675" y="59049"/>
                    <a:pt x="66675" y="22225"/>
                  </a:cubicBezTo>
                  <a:cubicBezTo>
                    <a:pt x="66675" y="59049"/>
                    <a:pt x="36824" y="88900"/>
                    <a:pt x="0" y="88900"/>
                  </a:cubicBezTo>
                  <a:cubicBezTo>
                    <a:pt x="36824" y="88900"/>
                    <a:pt x="66675" y="118752"/>
                    <a:pt x="66675" y="155575"/>
                  </a:cubicBez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58556" y="176530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一句话查询并出图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1742" y="2139950"/>
              <a:ext cx="2764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查完即出图，无需回到 Excel 作图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64781" y="17526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B9C7D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30" name="p09-ability-2"/>
          <p:cNvGrpSpPr/>
          <p:nvPr/>
        </p:nvGrpSpPr>
        <p:grpSpPr>
          <a:xfrm>
            <a:off x="7620000" y="2686050"/>
            <a:ext cx="3962400" cy="1009650"/>
            <a:chOff x="7620000" y="2686050"/>
            <a:chExt cx="3962400" cy="1009650"/>
          </a:xfrm>
        </p:grpSpPr>
        <p:sp>
          <p:nvSpPr>
            <p:cNvPr id="23" name="Rectangle 23"/>
            <p:cNvSpPr/>
            <p:nvPr/>
          </p:nvSpPr>
          <p:spPr>
            <a:xfrm>
              <a:off x="7620000" y="26860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893050" y="2943225"/>
              <a:ext cx="177801" cy="153988"/>
              <a:chOff x="7893050" y="2943225"/>
              <a:chExt cx="177801" cy="15398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893050" y="3087688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893050" y="29432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100013"/>
                    </a:moveTo>
                    <a:lnTo>
                      <a:pt x="44450" y="33338"/>
                    </a:lnTo>
                    <a:lnTo>
                      <a:pt x="88900" y="55563"/>
                    </a:lnTo>
                    <a:lnTo>
                      <a:pt x="133350" y="0"/>
                    </a:lnTo>
                    <a:lnTo>
                      <a:pt x="177801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258556" y="28892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自动选择图表类型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41742" y="32639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按数据形态自动匹配柱状图或折线图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64781" y="28765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B9C7D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36" name="p09-ability-3"/>
          <p:cNvGrpSpPr/>
          <p:nvPr/>
        </p:nvGrpSpPr>
        <p:grpSpPr>
          <a:xfrm>
            <a:off x="7620000" y="3810000"/>
            <a:ext cx="3962400" cy="1009650"/>
            <a:chOff x="7620000" y="3810000"/>
            <a:chExt cx="39624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7620000" y="38100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915275" y="4033838"/>
              <a:ext cx="133350" cy="200026"/>
            </a:xfrm>
            <a:custGeom>
              <a:avLst/>
              <a:gdLst/>
              <a:ahLst/>
              <a:cxnLst/>
              <a:rect l="l" t="t" r="r" b="b"/>
              <a:pathLst>
                <a:path w="133350" h="200026">
                  <a:moveTo>
                    <a:pt x="133350" y="44450"/>
                  </a:moveTo>
                  <a:lnTo>
                    <a:pt x="133350" y="200026"/>
                  </a:lnTo>
                  <a:lnTo>
                    <a:pt x="66675" y="155575"/>
                  </a:lnTo>
                  <a:lnTo>
                    <a:pt x="0" y="200026"/>
                  </a:ln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lnTo>
                    <a:pt x="88900" y="0"/>
                  </a:lnTo>
                  <a:cubicBezTo>
                    <a:pt x="113449" y="0"/>
                    <a:pt x="133350" y="19901"/>
                    <a:pt x="133350" y="44450"/>
                  </a:cubicBez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58556" y="40132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一键保存到报表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1742" y="43878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图表直接进入可视化报表复用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64781" y="40005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B9C7D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47" name="p09-ability-4"/>
          <p:cNvGrpSpPr/>
          <p:nvPr/>
        </p:nvGrpSpPr>
        <p:grpSpPr>
          <a:xfrm>
            <a:off x="7620000" y="4933950"/>
            <a:ext cx="3962400" cy="1009650"/>
            <a:chOff x="7620000" y="4933950"/>
            <a:chExt cx="3962400" cy="1009650"/>
          </a:xfrm>
        </p:grpSpPr>
        <p:sp>
          <p:nvSpPr>
            <p:cNvPr id="37" name="Rectangle 37"/>
            <p:cNvSpPr/>
            <p:nvPr/>
          </p:nvSpPr>
          <p:spPr>
            <a:xfrm>
              <a:off x="7620000" y="49339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881938" y="5157788"/>
              <a:ext cx="200025" cy="200025"/>
              <a:chOff x="7881938" y="5157788"/>
              <a:chExt cx="200025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959725" y="51577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881938" y="53133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037513" y="53133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920831" y="5268913"/>
                <a:ext cx="122238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50006">
                    <a:moveTo>
                      <a:pt x="0" y="50006"/>
                    </a:moveTo>
                    <a:lnTo>
                      <a:pt x="61119" y="0"/>
                    </a:lnTo>
                    <a:lnTo>
                      <a:pt x="122238" y="5000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81950" y="5202238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258556" y="51371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拖拽式仪表盘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41742" y="55118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仪表盘可编辑、可分享大屏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64781" y="512445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B9C7D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50" name="p09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23</a:t>
              </a:r>
            </a:p>
          </p:txBody>
        </p:sp>
      </p:grpSp>
      <p:pic>
        <p:nvPicPr>
          <p:cNvPr id="51" name="demo-video-2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838200" y="2171700"/>
            <a:ext cx="6248400" cy="351472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93598" y="609600"/>
            <a:ext cx="7240905" cy="803783"/>
            <a:chOff x="593598" y="609600"/>
            <a:chExt cx="7240905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写、跑、存、复用，都在这一个工作台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6188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手工 SQL 与 Agent 生成在同一编辑器里衔接，历史与收藏让常用查询可复用</a:t>
              </a:r>
            </a:p>
          </p:txBody>
        </p:sp>
      </p:grpSp>
      <p:grpSp>
        <p:nvGrpSpPr>
          <p:cNvPr id="15" name="p10-shot"/>
          <p:cNvGrpSpPr/>
          <p:nvPr/>
        </p:nvGrpSpPr>
        <p:grpSpPr>
          <a:xfrm>
            <a:off x="609600" y="1562100"/>
            <a:ext cx="6705600" cy="4385183"/>
            <a:chOff x="609600" y="1562100"/>
            <a:chExt cx="6705600" cy="4385183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6705600" cy="438150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62100"/>
              <a:ext cx="6705600" cy="495300"/>
            </a:xfrm>
            <a:prstGeom prst="roundRect">
              <a:avLst>
                <a:gd name="adj" fmla="val 3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05000"/>
              <a:ext cx="6705600" cy="15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66775" y="1771650"/>
              <a:ext cx="171450" cy="152400"/>
              <a:chOff x="866775" y="1771650"/>
              <a:chExt cx="171450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14400" y="181927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2025" y="18764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6775" y="1771650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33350"/>
                    </a:lnTo>
                    <a:cubicBezTo>
                      <a:pt x="171450" y="143871"/>
                      <a:pt x="162921" y="152400"/>
                      <a:pt x="15240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74242" y="1739900"/>
              <a:ext cx="1951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实机演示 · SQL 工作台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171700"/>
              <a:ext cx="6248400" cy="351472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31342" y="5683250"/>
              <a:ext cx="5261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OceanBase 本地：Agent 生成聚合 SQL，填入编辑器执行并收藏</a:t>
              </a:r>
            </a:p>
          </p:txBody>
        </p:sp>
      </p:grpSp>
      <p:grpSp>
        <p:nvGrpSpPr>
          <p:cNvPr id="30" name="p10-flow"/>
          <p:cNvGrpSpPr/>
          <p:nvPr/>
        </p:nvGrpSpPr>
        <p:grpSpPr>
          <a:xfrm>
            <a:off x="7620000" y="1562100"/>
            <a:ext cx="3962400" cy="4381500"/>
            <a:chOff x="7620000" y="1562100"/>
            <a:chExt cx="3962400" cy="4381500"/>
          </a:xfrm>
        </p:grpSpPr>
        <p:sp>
          <p:nvSpPr>
            <p:cNvPr id="16" name="Rectangle 16"/>
            <p:cNvSpPr/>
            <p:nvPr/>
          </p:nvSpPr>
          <p:spPr>
            <a:xfrm>
              <a:off x="7620000" y="1562100"/>
              <a:ext cx="3962400" cy="43815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7981950" y="2114550"/>
              <a:ext cx="9525" cy="3286125"/>
            </a:xfrm>
            <a:custGeom>
              <a:avLst/>
              <a:gdLst/>
              <a:ahLst/>
              <a:cxnLst/>
              <a:rect l="l" t="t" r="r" b="b"/>
              <a:pathLst>
                <a:path w="9525" h="3286125">
                  <a:moveTo>
                    <a:pt x="0" y="0"/>
                  </a:moveTo>
                  <a:lnTo>
                    <a:pt x="0" y="3286125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915275" y="20478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58556" y="19748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元数据一个入口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60842" y="2330450"/>
              <a:ext cx="23296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表、索引、DDL、视图与函数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915275" y="314325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58556" y="3070225"/>
              <a:ext cx="2108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辅助写 SQL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60842" y="3425825"/>
              <a:ext cx="2301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一句话生成 SQL 再人工微调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915275" y="42386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58556" y="4165600"/>
              <a:ext cx="2130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生成的 SQL 可回填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60842" y="4521200"/>
              <a:ext cx="22336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结果一键填入编辑器执行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915275" y="533400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58556" y="526097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历史与收藏复用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60842" y="561657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执行历史留痕，常用查询收藏</a:t>
              </a:r>
            </a:p>
          </p:txBody>
        </p:sp>
      </p:grpSp>
      <p:grpSp>
        <p:nvGrpSpPr>
          <p:cNvPr id="33" name="p10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23</a:t>
              </a:r>
            </a:p>
          </p:txBody>
        </p:sp>
      </p:grpSp>
      <p:pic>
        <p:nvPicPr>
          <p:cNvPr id="34" name="demo-video-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838200" y="2171700"/>
            <a:ext cx="6248400" cy="351472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93598" y="609600"/>
            <a:ext cx="4696587" cy="803783"/>
            <a:chOff x="593598" y="609600"/>
            <a:chExt cx="4696587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危险的动作，先按暂停键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只读自动执行，写操作必须人工确认，高危操作红色拦截</a:t>
              </a:r>
            </a:p>
          </p:txBody>
        </p:sp>
      </p:grpSp>
      <p:grpSp>
        <p:nvGrpSpPr>
          <p:cNvPr id="15" name="p11-shot"/>
          <p:cNvGrpSpPr/>
          <p:nvPr/>
        </p:nvGrpSpPr>
        <p:grpSpPr>
          <a:xfrm>
            <a:off x="609600" y="1562100"/>
            <a:ext cx="6705600" cy="4385183"/>
            <a:chOff x="609600" y="1562100"/>
            <a:chExt cx="6705600" cy="4385183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6705600" cy="438150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62100"/>
              <a:ext cx="6705600" cy="495300"/>
            </a:xfrm>
            <a:prstGeom prst="roundRect">
              <a:avLst>
                <a:gd name="adj" fmla="val 3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05000"/>
              <a:ext cx="6705600" cy="15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62808" y="1762125"/>
              <a:ext cx="179383" cy="171450"/>
              <a:chOff x="862808" y="1762125"/>
              <a:chExt cx="179383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62808" y="1762125"/>
                <a:ext cx="17938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9383" h="171450">
                    <a:moveTo>
                      <a:pt x="89692" y="0"/>
                    </a:moveTo>
                    <a:cubicBezTo>
                      <a:pt x="111940" y="19684"/>
                      <a:pt x="140979" y="29933"/>
                      <a:pt x="170654" y="28575"/>
                    </a:cubicBezTo>
                    <a:cubicBezTo>
                      <a:pt x="179383" y="58269"/>
                      <a:pt x="175697" y="90235"/>
                      <a:pt x="160438" y="117163"/>
                    </a:cubicBezTo>
                    <a:cubicBezTo>
                      <a:pt x="145178" y="144091"/>
                      <a:pt x="119651" y="163679"/>
                      <a:pt x="89692" y="171450"/>
                    </a:cubicBezTo>
                    <a:cubicBezTo>
                      <a:pt x="59732" y="163679"/>
                      <a:pt x="34205" y="144091"/>
                      <a:pt x="18946" y="117163"/>
                    </a:cubicBezTo>
                    <a:cubicBezTo>
                      <a:pt x="3686" y="90235"/>
                      <a:pt x="0" y="58269"/>
                      <a:pt x="8729" y="28575"/>
                    </a:cubicBezTo>
                    <a:cubicBezTo>
                      <a:pt x="38405" y="29933"/>
                      <a:pt x="67443" y="19684"/>
                      <a:pt x="89692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42975" y="182880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2500" y="1847850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74242" y="1739900"/>
              <a:ext cx="2496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实机演示 · SQL 分级安全控制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171700"/>
              <a:ext cx="6248400" cy="351472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31342" y="5683250"/>
              <a:ext cx="4380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UPDATE 确认后影响 2 行；DROP TABLE 被拒绝并留痕</a:t>
              </a:r>
            </a:p>
          </p:txBody>
        </p:sp>
      </p:grpSp>
      <p:grpSp>
        <p:nvGrpSpPr>
          <p:cNvPr id="23" name="p11-ability-1"/>
          <p:cNvGrpSpPr/>
          <p:nvPr/>
        </p:nvGrpSpPr>
        <p:grpSpPr>
          <a:xfrm>
            <a:off x="7620000" y="1562100"/>
            <a:ext cx="3962400" cy="1009650"/>
            <a:chOff x="7620000" y="1562100"/>
            <a:chExt cx="3962400" cy="1009650"/>
          </a:xfrm>
        </p:grpSpPr>
        <p:sp>
          <p:nvSpPr>
            <p:cNvPr id="16" name="Rectangle 16"/>
            <p:cNvSpPr/>
            <p:nvPr/>
          </p:nvSpPr>
          <p:spPr>
            <a:xfrm>
              <a:off x="7620000" y="15621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58100" y="17716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881938" y="1785938"/>
              <a:ext cx="200026" cy="200026"/>
              <a:chOff x="7881938" y="178593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881938" y="1785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6A34A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948613" y="18637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16A34A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258556" y="1765300"/>
              <a:ext cx="16596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 xml:space="preserve">READ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自动执行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1742" y="21399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只读查询直接返回结果</a:t>
              </a:r>
            </a:p>
          </p:txBody>
        </p:sp>
      </p:grpSp>
      <p:grpSp>
        <p:nvGrpSpPr>
          <p:cNvPr id="32" name="p11-ability-2"/>
          <p:cNvGrpSpPr/>
          <p:nvPr/>
        </p:nvGrpSpPr>
        <p:grpSpPr>
          <a:xfrm>
            <a:off x="7620000" y="2686050"/>
            <a:ext cx="3962400" cy="1009650"/>
            <a:chOff x="7620000" y="2686050"/>
            <a:chExt cx="3962400" cy="1009650"/>
          </a:xfrm>
        </p:grpSpPr>
        <p:sp>
          <p:nvSpPr>
            <p:cNvPr id="24" name="Rectangle 24"/>
            <p:cNvSpPr/>
            <p:nvPr/>
          </p:nvSpPr>
          <p:spPr>
            <a:xfrm>
              <a:off x="7620000" y="26860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58100" y="289560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869879" y="2906196"/>
              <a:ext cx="224134" cy="192560"/>
              <a:chOff x="7869879" y="2906196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981950" y="29765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F59E0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69879" y="29061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F59E0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981950" y="30543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59E0B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258556" y="2889250"/>
              <a:ext cx="18078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 xml:space="preserve">DML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确认后生效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41742" y="3263900"/>
              <a:ext cx="2301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弹窗预览待执行 SQL 再确认</a:t>
              </a:r>
            </a:p>
          </p:txBody>
        </p:sp>
      </p:grpSp>
      <p:grpSp>
        <p:nvGrpSpPr>
          <p:cNvPr id="41" name="p11-ability-3"/>
          <p:cNvGrpSpPr/>
          <p:nvPr/>
        </p:nvGrpSpPr>
        <p:grpSpPr>
          <a:xfrm>
            <a:off x="7620000" y="3810000"/>
            <a:ext cx="3962400" cy="1009650"/>
            <a:chOff x="7620000" y="3810000"/>
            <a:chExt cx="3962400" cy="1009650"/>
          </a:xfrm>
        </p:grpSpPr>
        <p:sp>
          <p:nvSpPr>
            <p:cNvPr id="33" name="Rectangle 33"/>
            <p:cNvSpPr/>
            <p:nvPr/>
          </p:nvSpPr>
          <p:spPr>
            <a:xfrm>
              <a:off x="7620000" y="38100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58100" y="40195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904163" y="4033838"/>
              <a:ext cx="155575" cy="200025"/>
              <a:chOff x="7904163" y="4033838"/>
              <a:chExt cx="155575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904163" y="4122738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DC262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970838" y="41671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DC262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937500" y="40338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22225">
                <a:solidFill>
                  <a:srgbClr val="DC262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258556" y="4013200"/>
              <a:ext cx="15117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 xml:space="preserve">DDL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红色拦截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41742" y="4387850"/>
              <a:ext cx="2263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结构变更展示完整 DDL 警告</a:t>
              </a:r>
            </a:p>
          </p:txBody>
        </p:sp>
      </p:grpSp>
      <p:grpSp>
        <p:nvGrpSpPr>
          <p:cNvPr id="49" name="p11-ability-4"/>
          <p:cNvGrpSpPr/>
          <p:nvPr/>
        </p:nvGrpSpPr>
        <p:grpSpPr>
          <a:xfrm>
            <a:off x="7620000" y="4933950"/>
            <a:ext cx="3962400" cy="1009650"/>
            <a:chOff x="7620000" y="4933950"/>
            <a:chExt cx="3962400" cy="1009650"/>
          </a:xfrm>
        </p:grpSpPr>
        <p:sp>
          <p:nvSpPr>
            <p:cNvPr id="42" name="Rectangle 42"/>
            <p:cNvSpPr/>
            <p:nvPr/>
          </p:nvSpPr>
          <p:spPr>
            <a:xfrm>
              <a:off x="7620000" y="49339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58100" y="514350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882493" y="5156236"/>
              <a:ext cx="205049" cy="209757"/>
              <a:chOff x="7882493" y="5156236"/>
              <a:chExt cx="205049" cy="20975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981950" y="5213350"/>
                <a:ext cx="222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66675">
                    <a:moveTo>
                      <a:pt x="0" y="0"/>
                    </a:moveTo>
                    <a:lnTo>
                      <a:pt x="0" y="44450"/>
                    </a:lnTo>
                    <a:lnTo>
                      <a:pt x="22225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882493" y="5156236"/>
                <a:ext cx="205049" cy="209757"/>
              </a:xfrm>
              <a:custGeom>
                <a:avLst/>
                <a:gdLst/>
                <a:ahLst/>
                <a:cxnLst/>
                <a:rect l="l" t="t" r="r" b="b"/>
                <a:pathLst>
                  <a:path w="205049" h="209757">
                    <a:moveTo>
                      <a:pt x="0" y="90452"/>
                    </a:moveTo>
                    <a:cubicBezTo>
                      <a:pt x="5156" y="39840"/>
                      <a:pt x="47484" y="1162"/>
                      <a:pt x="98356" y="581"/>
                    </a:cubicBezTo>
                    <a:cubicBezTo>
                      <a:pt x="149227" y="0"/>
                      <a:pt x="192428" y="37701"/>
                      <a:pt x="198738" y="88182"/>
                    </a:cubicBezTo>
                    <a:cubicBezTo>
                      <a:pt x="205049" y="138664"/>
                      <a:pt x="172457" y="185839"/>
                      <a:pt x="123008" y="197798"/>
                    </a:cubicBezTo>
                    <a:cubicBezTo>
                      <a:pt x="73559" y="209757"/>
                      <a:pt x="23012" y="182689"/>
                      <a:pt x="5556" y="134902"/>
                    </a:cubicBezTo>
                    <a:moveTo>
                      <a:pt x="0" y="190465"/>
                    </a:moveTo>
                    <a:lnTo>
                      <a:pt x="0" y="134902"/>
                    </a:lnTo>
                    <a:lnTo>
                      <a:pt x="55563" y="134902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258556" y="5137150"/>
              <a:ext cx="154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审计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全量留痕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41742" y="55118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每次执行都写入审计日志</a:t>
              </a:r>
            </a:p>
          </p:txBody>
        </p:sp>
      </p:grpSp>
      <p:grpSp>
        <p:nvGrpSpPr>
          <p:cNvPr id="52" name="p11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23</a:t>
              </a:r>
            </a:p>
          </p:txBody>
        </p:sp>
      </p:grpSp>
      <p:pic>
        <p:nvPicPr>
          <p:cNvPr id="53" name="demo-video-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838200" y="2171700"/>
            <a:ext cx="6248400" cy="351472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2-header"/>
          <p:cNvGrpSpPr/>
          <p:nvPr/>
        </p:nvGrpSpPr>
        <p:grpSpPr>
          <a:xfrm>
            <a:off x="593598" y="609600"/>
            <a:ext cx="4855007" cy="803783"/>
            <a:chOff x="593598" y="609600"/>
            <a:chExt cx="4855007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谁查了什么，系统都记得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4845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查询量、审计留痕、慢 SQL 与结构差异都能在一个入口看清</a:t>
              </a:r>
            </a:p>
          </p:txBody>
        </p:sp>
      </p:grpSp>
      <p:grpSp>
        <p:nvGrpSpPr>
          <p:cNvPr id="21" name="p12-shot"/>
          <p:cNvGrpSpPr/>
          <p:nvPr/>
        </p:nvGrpSpPr>
        <p:grpSpPr>
          <a:xfrm>
            <a:off x="609600" y="1562100"/>
            <a:ext cx="6705600" cy="4385183"/>
            <a:chOff x="609600" y="1562100"/>
            <a:chExt cx="6705600" cy="4385183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6705600" cy="438150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62100"/>
              <a:ext cx="6705600" cy="495300"/>
            </a:xfrm>
            <a:prstGeom prst="roundRect">
              <a:avLst>
                <a:gd name="adj" fmla="val 3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05000"/>
              <a:ext cx="6705600" cy="15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76300" y="1771650"/>
              <a:ext cx="152400" cy="152400"/>
              <a:chOff x="876300" y="1771650"/>
              <a:chExt cx="152400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76300" y="18097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5350" y="17716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5350" y="18478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33450" y="1866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52500" y="17716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2500" y="19050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90600" y="17811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09650" y="1771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09650" y="181927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74242" y="1739900"/>
              <a:ext cx="2232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实机演示 · 运维监控与审计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171700"/>
              <a:ext cx="6248400" cy="3514725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831342" y="5683250"/>
              <a:ext cx="4896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连接概览显示累计查询 336 次；被拒的 DROP 记为 rejected</a:t>
              </a:r>
            </a:p>
          </p:txBody>
        </p:sp>
      </p:grpSp>
      <p:grpSp>
        <p:nvGrpSpPr>
          <p:cNvPr id="27" name="p12-ability-1"/>
          <p:cNvGrpSpPr/>
          <p:nvPr/>
        </p:nvGrpSpPr>
        <p:grpSpPr>
          <a:xfrm>
            <a:off x="7620000" y="1562100"/>
            <a:ext cx="3962400" cy="1009650"/>
            <a:chOff x="7620000" y="1562100"/>
            <a:chExt cx="3962400" cy="1009650"/>
          </a:xfrm>
        </p:grpSpPr>
        <p:sp>
          <p:nvSpPr>
            <p:cNvPr id="22" name="Rectangle 22"/>
            <p:cNvSpPr/>
            <p:nvPr/>
          </p:nvSpPr>
          <p:spPr>
            <a:xfrm>
              <a:off x="7620000" y="15621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881938" y="1797050"/>
              <a:ext cx="200026" cy="177801"/>
            </a:xfrm>
            <a:custGeom>
              <a:avLst/>
              <a:gdLst/>
              <a:ahLst/>
              <a:cxnLst/>
              <a:rect l="l" t="t" r="r" b="b"/>
              <a:pathLst>
                <a:path w="200026" h="177801">
                  <a:moveTo>
                    <a:pt x="0" y="88900"/>
                  </a:moveTo>
                  <a:lnTo>
                    <a:pt x="44450" y="88900"/>
                  </a:lnTo>
                  <a:lnTo>
                    <a:pt x="77788" y="177801"/>
                  </a:lnTo>
                  <a:lnTo>
                    <a:pt x="122238" y="0"/>
                  </a:lnTo>
                  <a:lnTo>
                    <a:pt x="155575" y="88900"/>
                  </a:lnTo>
                  <a:lnTo>
                    <a:pt x="200026" y="8890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58556" y="17653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连接概览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06198" y="1765300"/>
              <a:ext cx="756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336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41742" y="21399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查询量、耗时与成功率一屏看清</a:t>
              </a:r>
            </a:p>
          </p:txBody>
        </p:sp>
      </p:grpSp>
      <p:grpSp>
        <p:nvGrpSpPr>
          <p:cNvPr id="35" name="p12-ability-2"/>
          <p:cNvGrpSpPr/>
          <p:nvPr/>
        </p:nvGrpSpPr>
        <p:grpSpPr>
          <a:xfrm>
            <a:off x="7620000" y="2686050"/>
            <a:ext cx="3962400" cy="1009650"/>
            <a:chOff x="7620000" y="2686050"/>
            <a:chExt cx="3962400" cy="1009650"/>
          </a:xfrm>
        </p:grpSpPr>
        <p:sp>
          <p:nvSpPr>
            <p:cNvPr id="28" name="Rectangle 28"/>
            <p:cNvSpPr/>
            <p:nvPr/>
          </p:nvSpPr>
          <p:spPr>
            <a:xfrm>
              <a:off x="7620000" y="26860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882493" y="2908336"/>
              <a:ext cx="205049" cy="209757"/>
              <a:chOff x="7882493" y="2908336"/>
              <a:chExt cx="205049" cy="20975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981950" y="2965450"/>
                <a:ext cx="222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66675">
                    <a:moveTo>
                      <a:pt x="0" y="0"/>
                    </a:moveTo>
                    <a:lnTo>
                      <a:pt x="0" y="44450"/>
                    </a:lnTo>
                    <a:lnTo>
                      <a:pt x="22225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882493" y="2908336"/>
                <a:ext cx="205049" cy="209757"/>
              </a:xfrm>
              <a:custGeom>
                <a:avLst/>
                <a:gdLst/>
                <a:ahLst/>
                <a:cxnLst/>
                <a:rect l="l" t="t" r="r" b="b"/>
                <a:pathLst>
                  <a:path w="205049" h="209757">
                    <a:moveTo>
                      <a:pt x="0" y="90452"/>
                    </a:moveTo>
                    <a:cubicBezTo>
                      <a:pt x="5156" y="39840"/>
                      <a:pt x="47484" y="1162"/>
                      <a:pt x="98356" y="581"/>
                    </a:cubicBezTo>
                    <a:cubicBezTo>
                      <a:pt x="149227" y="0"/>
                      <a:pt x="192428" y="37701"/>
                      <a:pt x="198738" y="88182"/>
                    </a:cubicBezTo>
                    <a:cubicBezTo>
                      <a:pt x="205049" y="138664"/>
                      <a:pt x="172457" y="185839"/>
                      <a:pt x="123008" y="197798"/>
                    </a:cubicBezTo>
                    <a:cubicBezTo>
                      <a:pt x="73559" y="209757"/>
                      <a:pt x="23012" y="182689"/>
                      <a:pt x="5556" y="134902"/>
                    </a:cubicBezTo>
                    <a:moveTo>
                      <a:pt x="0" y="190465"/>
                    </a:moveTo>
                    <a:lnTo>
                      <a:pt x="0" y="134902"/>
                    </a:lnTo>
                    <a:lnTo>
                      <a:pt x="55563" y="134902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8258556" y="28892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审计日志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06198" y="2889250"/>
              <a:ext cx="756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103 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1742" y="3263900"/>
              <a:ext cx="21198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登录与 SQL 执行全量留痕</a:t>
              </a:r>
            </a:p>
          </p:txBody>
        </p:sp>
      </p:grpSp>
      <p:grpSp>
        <p:nvGrpSpPr>
          <p:cNvPr id="43" name="p12-ability-3"/>
          <p:cNvGrpSpPr/>
          <p:nvPr/>
        </p:nvGrpSpPr>
        <p:grpSpPr>
          <a:xfrm>
            <a:off x="7620000" y="3810000"/>
            <a:ext cx="3962400" cy="1009650"/>
            <a:chOff x="7620000" y="3810000"/>
            <a:chExt cx="3962400" cy="1009650"/>
          </a:xfrm>
        </p:grpSpPr>
        <p:sp>
          <p:nvSpPr>
            <p:cNvPr id="36" name="Rectangle 36"/>
            <p:cNvSpPr/>
            <p:nvPr/>
          </p:nvSpPr>
          <p:spPr>
            <a:xfrm>
              <a:off x="7620000" y="38100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881938" y="4033838"/>
              <a:ext cx="200026" cy="200026"/>
              <a:chOff x="7881938" y="403383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881938" y="4033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981950" y="407828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258556" y="40132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慢查询统计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17753" y="4000500"/>
              <a:ext cx="8451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ms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41742" y="4387850"/>
              <a:ext cx="2607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按耗时阈值筛出超阈值的慢 SQL</a:t>
              </a:r>
            </a:p>
          </p:txBody>
        </p:sp>
      </p:grpSp>
      <p:grpSp>
        <p:nvGrpSpPr>
          <p:cNvPr id="58" name="p12-ability-4"/>
          <p:cNvGrpSpPr/>
          <p:nvPr/>
        </p:nvGrpSpPr>
        <p:grpSpPr>
          <a:xfrm>
            <a:off x="7620000" y="4933950"/>
            <a:ext cx="3962400" cy="1009650"/>
            <a:chOff x="7620000" y="4933950"/>
            <a:chExt cx="3962400" cy="1009650"/>
          </a:xfrm>
        </p:grpSpPr>
        <p:sp>
          <p:nvSpPr>
            <p:cNvPr id="44" name="Rectangle 44"/>
            <p:cNvSpPr/>
            <p:nvPr/>
          </p:nvSpPr>
          <p:spPr>
            <a:xfrm>
              <a:off x="7620000" y="49339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893050" y="5168900"/>
              <a:ext cx="177801" cy="177801"/>
              <a:chOff x="7893050" y="5168900"/>
              <a:chExt cx="177801" cy="17780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893050" y="52133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915275" y="51689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915275" y="52578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959725" y="52800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81950" y="516890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981950" y="5324476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026401" y="518001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48626" y="5168900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0"/>
                    </a:move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048626" y="5224463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0"/>
                    </a:moveTo>
                    <a:lnTo>
                      <a:pt x="0" y="1222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258556" y="51371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表结构对比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86073" y="5137150"/>
              <a:ext cx="476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41742" y="55118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多环境字段与类型差异对比</a:t>
              </a:r>
            </a:p>
          </p:txBody>
        </p:sp>
      </p:grpSp>
      <p:grpSp>
        <p:nvGrpSpPr>
          <p:cNvPr id="61" name="p12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23</a:t>
              </a:r>
            </a:p>
          </p:txBody>
        </p:sp>
      </p:grpSp>
      <p:pic>
        <p:nvPicPr>
          <p:cNvPr id="62" name="demo-video-5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838200" y="2171700"/>
            <a:ext cx="6248400" cy="351472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3-header"/>
          <p:cNvGrpSpPr/>
          <p:nvPr/>
        </p:nvGrpSpPr>
        <p:grpSpPr>
          <a:xfrm>
            <a:off x="593598" y="609600"/>
            <a:ext cx="5968746" cy="803783"/>
            <a:chOff x="593598" y="609600"/>
            <a:chExt cx="5968746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数据库和大模型，都是一次点击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5075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类数据源与三类大模型提供方都可视化配置，并支持一键测连</a:t>
              </a:r>
            </a:p>
          </p:txBody>
        </p:sp>
      </p:grpSp>
      <p:grpSp>
        <p:nvGrpSpPr>
          <p:cNvPr id="16" name="p13-shot"/>
          <p:cNvGrpSpPr/>
          <p:nvPr/>
        </p:nvGrpSpPr>
        <p:grpSpPr>
          <a:xfrm>
            <a:off x="609600" y="1562100"/>
            <a:ext cx="6705600" cy="4385183"/>
            <a:chOff x="609600" y="1562100"/>
            <a:chExt cx="6705600" cy="4385183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6705600" cy="438150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62100"/>
              <a:ext cx="6705600" cy="495300"/>
            </a:xfrm>
            <a:prstGeom prst="roundRect">
              <a:avLst>
                <a:gd name="adj" fmla="val 3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05000"/>
              <a:ext cx="6705600" cy="15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76300" y="1771650"/>
              <a:ext cx="152400" cy="152400"/>
              <a:chOff x="876300" y="1771650"/>
              <a:chExt cx="152400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91590" y="1790700"/>
                <a:ext cx="118060" cy="118060"/>
              </a:xfrm>
              <a:custGeom>
                <a:avLst/>
                <a:gdLst/>
                <a:ahLst/>
                <a:cxnLst/>
                <a:rect l="l" t="t" r="r" b="b"/>
                <a:pathLst>
                  <a:path w="118060" h="118060">
                    <a:moveTo>
                      <a:pt x="39813" y="0"/>
                    </a:moveTo>
                    <a:lnTo>
                      <a:pt x="118060" y="78248"/>
                    </a:lnTo>
                    <a:lnTo>
                      <a:pt x="98496" y="97812"/>
                    </a:lnTo>
                    <a:cubicBezTo>
                      <a:pt x="84613" y="112251"/>
                      <a:pt x="64012" y="118060"/>
                      <a:pt x="44631" y="113003"/>
                    </a:cubicBezTo>
                    <a:cubicBezTo>
                      <a:pt x="25250" y="107945"/>
                      <a:pt x="10115" y="92810"/>
                      <a:pt x="5058" y="73429"/>
                    </a:cubicBezTo>
                    <a:cubicBezTo>
                      <a:pt x="0" y="54048"/>
                      <a:pt x="5810" y="33447"/>
                      <a:pt x="20248" y="19564"/>
                    </a:cubicBezTo>
                    <a:lnTo>
                      <a:pt x="3981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6300" y="1890712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33338"/>
                    </a:move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47738" y="177165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95362" y="1819275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74242" y="1739900"/>
              <a:ext cx="2959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实机演示 · 数据库与大模型连接管理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171700"/>
              <a:ext cx="6248400" cy="35147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831342" y="5683250"/>
              <a:ext cx="4306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OceanBase 测连成功；大模型测试返回耗时 2301 ms</a:t>
              </a:r>
            </a:p>
          </p:txBody>
        </p:sp>
      </p:grpSp>
      <p:grpSp>
        <p:nvGrpSpPr>
          <p:cNvPr id="51" name="p13-config"/>
          <p:cNvGrpSpPr/>
          <p:nvPr/>
        </p:nvGrpSpPr>
        <p:grpSpPr>
          <a:xfrm>
            <a:off x="7612380" y="1631950"/>
            <a:ext cx="3970020" cy="4254500"/>
            <a:chOff x="7612380" y="1631950"/>
            <a:chExt cx="3970020" cy="4254500"/>
          </a:xfrm>
        </p:grpSpPr>
        <p:sp>
          <p:nvSpPr>
            <p:cNvPr id="17" name="TextBox 17"/>
            <p:cNvSpPr txBox="1"/>
            <p:nvPr/>
          </p:nvSpPr>
          <p:spPr>
            <a:xfrm>
              <a:off x="7612380" y="16319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数据库连接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0" y="1943100"/>
              <a:ext cx="3962400" cy="8382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886700" y="2143125"/>
              <a:ext cx="152400" cy="171450"/>
              <a:chOff x="7886700" y="2143125"/>
              <a:chExt cx="152400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86700" y="214312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886700" y="21717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886700" y="22288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183880" y="212725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类数据源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4642" y="2425700"/>
              <a:ext cx="3324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SQLite、MySQL、Oracle 等可视化配置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0" y="2876550"/>
              <a:ext cx="3962400" cy="8382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877175" y="3076575"/>
              <a:ext cx="171450" cy="171450"/>
              <a:chOff x="7877175" y="3076575"/>
              <a:chExt cx="171450" cy="1714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77175" y="30765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934325" y="31432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183880" y="3060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一键测连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4642" y="3359150"/>
              <a:ext cx="2107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OceanBase 测试连接成功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12380" y="37846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大模型连接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0" y="4095750"/>
              <a:ext cx="3962400" cy="8382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896225" y="4286250"/>
              <a:ext cx="133350" cy="180975"/>
              <a:chOff x="7896225" y="4286250"/>
              <a:chExt cx="133350" cy="18097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905750" y="43053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57150"/>
                    </a:lnTo>
                    <a:cubicBezTo>
                      <a:pt x="114300" y="67671"/>
                      <a:pt x="105771" y="76200"/>
                      <a:pt x="952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962900" y="42862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934325" y="438150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991475" y="438150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896225" y="440055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1905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991475" y="440055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0"/>
                    </a:moveTo>
                    <a:lnTo>
                      <a:pt x="3810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934325" y="44386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943850" y="434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981950" y="434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8183880" y="42799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三类提供方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84642" y="4578350"/>
              <a:ext cx="291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OpenAI、Claude、Ollama 统一接入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0" y="5048250"/>
              <a:ext cx="3962400" cy="8382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877175" y="5248277"/>
              <a:ext cx="171448" cy="171448"/>
              <a:chOff x="7877175" y="5248277"/>
              <a:chExt cx="171448" cy="17144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877175" y="5248277"/>
                <a:ext cx="171448" cy="171448"/>
              </a:xfrm>
              <a:custGeom>
                <a:avLst/>
                <a:gdLst/>
                <a:ahLst/>
                <a:cxnLst/>
                <a:rect l="l" t="t" r="r" b="b"/>
                <a:pathLst>
                  <a:path w="171448" h="171448">
                    <a:moveTo>
                      <a:pt x="129111" y="8028"/>
                    </a:moveTo>
                    <a:lnTo>
                      <a:pt x="163420" y="42337"/>
                    </a:lnTo>
                    <a:cubicBezTo>
                      <a:pt x="168560" y="47476"/>
                      <a:pt x="171448" y="54447"/>
                      <a:pt x="171448" y="61715"/>
                    </a:cubicBezTo>
                    <a:cubicBezTo>
                      <a:pt x="171448" y="68984"/>
                      <a:pt x="168560" y="75955"/>
                      <a:pt x="163420" y="81094"/>
                    </a:cubicBezTo>
                    <a:lnTo>
                      <a:pt x="138246" y="106269"/>
                    </a:lnTo>
                    <a:cubicBezTo>
                      <a:pt x="133107" y="111409"/>
                      <a:pt x="126136" y="114296"/>
                      <a:pt x="118867" y="114296"/>
                    </a:cubicBezTo>
                    <a:cubicBezTo>
                      <a:pt x="111599" y="114296"/>
                      <a:pt x="104628" y="111409"/>
                      <a:pt x="99489" y="106269"/>
                    </a:cubicBezTo>
                    <a:lnTo>
                      <a:pt x="96622" y="103402"/>
                    </a:lnTo>
                    <a:lnTo>
                      <a:pt x="34157" y="165867"/>
                    </a:lnTo>
                    <a:cubicBezTo>
                      <a:pt x="30992" y="169031"/>
                      <a:pt x="26814" y="170980"/>
                      <a:pt x="22355" y="171372"/>
                    </a:cubicBezTo>
                    <a:lnTo>
                      <a:pt x="20688" y="171448"/>
                    </a:lnTo>
                    <a:lnTo>
                      <a:pt x="9525" y="171448"/>
                    </a:lnTo>
                    <a:cubicBezTo>
                      <a:pt x="4696" y="171448"/>
                      <a:pt x="632" y="167833"/>
                      <a:pt x="67" y="163038"/>
                    </a:cubicBezTo>
                    <a:lnTo>
                      <a:pt x="0" y="161923"/>
                    </a:lnTo>
                    <a:lnTo>
                      <a:pt x="0" y="150760"/>
                    </a:lnTo>
                    <a:cubicBezTo>
                      <a:pt x="1" y="146287"/>
                      <a:pt x="1576" y="141958"/>
                      <a:pt x="4448" y="138530"/>
                    </a:cubicBezTo>
                    <a:lnTo>
                      <a:pt x="5582" y="137292"/>
                    </a:lnTo>
                    <a:lnTo>
                      <a:pt x="9525" y="133348"/>
                    </a:lnTo>
                    <a:lnTo>
                      <a:pt x="28575" y="133348"/>
                    </a:lnTo>
                    <a:lnTo>
                      <a:pt x="28575" y="114298"/>
                    </a:lnTo>
                    <a:lnTo>
                      <a:pt x="47625" y="114298"/>
                    </a:lnTo>
                    <a:lnTo>
                      <a:pt x="47625" y="95248"/>
                    </a:lnTo>
                    <a:lnTo>
                      <a:pt x="68047" y="74827"/>
                    </a:lnTo>
                    <a:lnTo>
                      <a:pt x="65180" y="71960"/>
                    </a:lnTo>
                    <a:cubicBezTo>
                      <a:pt x="60040" y="66820"/>
                      <a:pt x="57152" y="59849"/>
                      <a:pt x="57152" y="52581"/>
                    </a:cubicBezTo>
                    <a:cubicBezTo>
                      <a:pt x="57152" y="45312"/>
                      <a:pt x="60040" y="38342"/>
                      <a:pt x="65180" y="33202"/>
                    </a:cubicBezTo>
                    <a:lnTo>
                      <a:pt x="90354" y="8028"/>
                    </a:lnTo>
                    <a:cubicBezTo>
                      <a:pt x="95493" y="2888"/>
                      <a:pt x="102464" y="0"/>
                      <a:pt x="109733" y="0"/>
                    </a:cubicBezTo>
                    <a:cubicBezTo>
                      <a:pt x="117001" y="0"/>
                      <a:pt x="123972" y="2888"/>
                      <a:pt x="129111" y="8028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991475" y="5305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183880" y="52324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密钥加密存储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84642" y="5530850"/>
              <a:ext cx="2576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数据库密码与 API Key 加密落库</a:t>
              </a:r>
            </a:p>
          </p:txBody>
        </p:sp>
      </p:grpSp>
      <p:grpSp>
        <p:nvGrpSpPr>
          <p:cNvPr id="54" name="p13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23</a:t>
              </a:r>
            </a:p>
          </p:txBody>
        </p:sp>
      </p:grpSp>
      <p:pic>
        <p:nvPicPr>
          <p:cNvPr id="55" name="demo-video-6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838200" y="2171700"/>
            <a:ext cx="6248400" cy="351472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4-header"/>
          <p:cNvGrpSpPr/>
          <p:nvPr/>
        </p:nvGrpSpPr>
        <p:grpSpPr>
          <a:xfrm>
            <a:off x="593598" y="609600"/>
            <a:ext cx="6392799" cy="803783"/>
            <a:chOff x="593598" y="609600"/>
            <a:chExt cx="6392799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权限按角色给，菜单和接口一起管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角色决定权限，前端菜单与后端接口双重控制</a:t>
              </a:r>
            </a:p>
          </p:txBody>
        </p:sp>
      </p:grpSp>
      <p:grpSp>
        <p:nvGrpSpPr>
          <p:cNvPr id="16" name="p14-shot"/>
          <p:cNvGrpSpPr/>
          <p:nvPr/>
        </p:nvGrpSpPr>
        <p:grpSpPr>
          <a:xfrm>
            <a:off x="609600" y="1562100"/>
            <a:ext cx="6705600" cy="4385183"/>
            <a:chOff x="609600" y="1562100"/>
            <a:chExt cx="6705600" cy="4385183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6705600" cy="438150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62100"/>
              <a:ext cx="6705600" cy="495300"/>
            </a:xfrm>
            <a:prstGeom prst="roundRect">
              <a:avLst>
                <a:gd name="adj" fmla="val 3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05000"/>
              <a:ext cx="6705600" cy="15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66775" y="1762125"/>
              <a:ext cx="171450" cy="171450"/>
              <a:chOff x="866775" y="1762125"/>
              <a:chExt cx="171450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5825" y="17621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6775" y="1876425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  <a:cubicBezTo>
                      <a:pt x="97242" y="0"/>
                      <a:pt x="114300" y="17058"/>
                      <a:pt x="114300" y="38100"/>
                    </a:cubicBezTo>
                    <a:lnTo>
                      <a:pt x="114300" y="571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90600" y="1763363"/>
                <a:ext cx="28650" cy="73819"/>
              </a:xfrm>
              <a:custGeom>
                <a:avLst/>
                <a:gdLst/>
                <a:ahLst/>
                <a:cxnLst/>
                <a:rect l="l" t="t" r="r" b="b"/>
                <a:pathLst>
                  <a:path w="28650" h="73819">
                    <a:moveTo>
                      <a:pt x="0" y="0"/>
                    </a:moveTo>
                    <a:cubicBezTo>
                      <a:pt x="16858" y="4316"/>
                      <a:pt x="28650" y="19507"/>
                      <a:pt x="28650" y="36909"/>
                    </a:cubicBezTo>
                    <a:cubicBezTo>
                      <a:pt x="28650" y="54312"/>
                      <a:pt x="16858" y="69502"/>
                      <a:pt x="0" y="7381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9650" y="1877854"/>
                <a:ext cx="28575" cy="55721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5721">
                    <a:moveTo>
                      <a:pt x="28575" y="55721"/>
                    </a:moveTo>
                    <a:lnTo>
                      <a:pt x="28575" y="36671"/>
                    </a:lnTo>
                    <a:cubicBezTo>
                      <a:pt x="28476" y="19379"/>
                      <a:pt x="16743" y="4323"/>
                      <a:pt x="0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74242" y="1739900"/>
              <a:ext cx="2232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实机演示 · 用户与角色管理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171700"/>
              <a:ext cx="6248400" cy="35147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831342" y="5683250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个内置角色，权限项分别按模块勾选</a:t>
              </a:r>
            </a:p>
          </p:txBody>
        </p:sp>
      </p:grpSp>
      <p:grpSp>
        <p:nvGrpSpPr>
          <p:cNvPr id="26" name="p14-ability-1"/>
          <p:cNvGrpSpPr/>
          <p:nvPr/>
        </p:nvGrpSpPr>
        <p:grpSpPr>
          <a:xfrm>
            <a:off x="7620000" y="1562100"/>
            <a:ext cx="3962400" cy="1009650"/>
            <a:chOff x="7620000" y="1562100"/>
            <a:chExt cx="3962400" cy="1009650"/>
          </a:xfrm>
        </p:grpSpPr>
        <p:sp>
          <p:nvSpPr>
            <p:cNvPr id="17" name="Rectangle 17"/>
            <p:cNvSpPr/>
            <p:nvPr/>
          </p:nvSpPr>
          <p:spPr>
            <a:xfrm>
              <a:off x="7620000" y="15621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58100" y="17716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881938" y="1785938"/>
              <a:ext cx="200026" cy="200025"/>
              <a:chOff x="7881938" y="1785938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904163" y="17859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881938" y="19192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26401" y="17873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48626" y="19209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258556" y="17653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用户管理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1742" y="21399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账号、角色、状态与重置密码</a:t>
              </a:r>
            </a:p>
          </p:txBody>
        </p:sp>
      </p:grpSp>
      <p:grpSp>
        <p:nvGrpSpPr>
          <p:cNvPr id="35" name="p14-ability-2"/>
          <p:cNvGrpSpPr/>
          <p:nvPr/>
        </p:nvGrpSpPr>
        <p:grpSpPr>
          <a:xfrm>
            <a:off x="7620000" y="2686050"/>
            <a:ext cx="3962400" cy="1009650"/>
            <a:chOff x="7620000" y="2686050"/>
            <a:chExt cx="3962400" cy="1009650"/>
          </a:xfrm>
        </p:grpSpPr>
        <p:sp>
          <p:nvSpPr>
            <p:cNvPr id="27" name="Rectangle 27"/>
            <p:cNvSpPr/>
            <p:nvPr/>
          </p:nvSpPr>
          <p:spPr>
            <a:xfrm>
              <a:off x="7620000" y="26860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58100" y="289560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877310" y="2909888"/>
              <a:ext cx="209281" cy="200026"/>
              <a:chOff x="7877310" y="2909888"/>
              <a:chExt cx="209281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877310" y="2909888"/>
                <a:ext cx="20928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9281" h="200026">
                    <a:moveTo>
                      <a:pt x="104641" y="0"/>
                    </a:moveTo>
                    <a:cubicBezTo>
                      <a:pt x="130598" y="22965"/>
                      <a:pt x="164476" y="34922"/>
                      <a:pt x="199097" y="33338"/>
                    </a:cubicBezTo>
                    <a:cubicBezTo>
                      <a:pt x="209281" y="67981"/>
                      <a:pt x="204980" y="105274"/>
                      <a:pt x="187178" y="136690"/>
                    </a:cubicBezTo>
                    <a:cubicBezTo>
                      <a:pt x="169375" y="168106"/>
                      <a:pt x="139593" y="190959"/>
                      <a:pt x="104641" y="200026"/>
                    </a:cubicBezTo>
                    <a:cubicBezTo>
                      <a:pt x="69688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4" y="22965"/>
                      <a:pt x="104641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970838" y="2987675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981950" y="3009900"/>
                <a:ext cx="9525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781">
                    <a:moveTo>
                      <a:pt x="0" y="0"/>
                    </a:moveTo>
                    <a:lnTo>
                      <a:pt x="0" y="2778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258556" y="28892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角色管理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1742" y="32639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权限按模块分组勾选</a:t>
              </a:r>
            </a:p>
          </p:txBody>
        </p:sp>
      </p:grpSp>
      <p:grpSp>
        <p:nvGrpSpPr>
          <p:cNvPr id="46" name="p14-ability-3"/>
          <p:cNvGrpSpPr/>
          <p:nvPr/>
        </p:nvGrpSpPr>
        <p:grpSpPr>
          <a:xfrm>
            <a:off x="7620000" y="3810000"/>
            <a:ext cx="3962400" cy="1009650"/>
            <a:chOff x="7620000" y="3810000"/>
            <a:chExt cx="3962400" cy="1009650"/>
          </a:xfrm>
        </p:grpSpPr>
        <p:sp>
          <p:nvSpPr>
            <p:cNvPr id="36" name="Rectangle 36"/>
            <p:cNvSpPr/>
            <p:nvPr/>
          </p:nvSpPr>
          <p:spPr>
            <a:xfrm>
              <a:off x="7620000" y="381000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58100" y="40195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881938" y="4033838"/>
              <a:ext cx="200025" cy="200025"/>
              <a:chOff x="7881938" y="4033838"/>
              <a:chExt cx="200025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959725" y="40338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881938" y="418941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037513" y="418941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920831" y="4144963"/>
                <a:ext cx="122238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50006">
                    <a:moveTo>
                      <a:pt x="0" y="50006"/>
                    </a:moveTo>
                    <a:lnTo>
                      <a:pt x="61119" y="0"/>
                    </a:lnTo>
                    <a:lnTo>
                      <a:pt x="122238" y="5000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81950" y="4078288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258556" y="40132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双层权限控制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41742" y="43878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前端菜单与后端接口同时受控</a:t>
              </a:r>
            </a:p>
          </p:txBody>
        </p:sp>
      </p:grpSp>
      <p:grpSp>
        <p:nvGrpSpPr>
          <p:cNvPr id="55" name="p14-ability-4"/>
          <p:cNvGrpSpPr/>
          <p:nvPr/>
        </p:nvGrpSpPr>
        <p:grpSpPr>
          <a:xfrm>
            <a:off x="7620000" y="4933950"/>
            <a:ext cx="3962400" cy="1009650"/>
            <a:chOff x="7620000" y="4933950"/>
            <a:chExt cx="3962400" cy="1009650"/>
          </a:xfrm>
        </p:grpSpPr>
        <p:sp>
          <p:nvSpPr>
            <p:cNvPr id="47" name="Rectangle 47"/>
            <p:cNvSpPr/>
            <p:nvPr/>
          </p:nvSpPr>
          <p:spPr>
            <a:xfrm>
              <a:off x="7620000" y="4933950"/>
              <a:ext cx="3962400" cy="1009650"/>
            </a:xfrm>
            <a:prstGeom prst="roundRect">
              <a:avLst>
                <a:gd name="adj" fmla="val 113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58100" y="514350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904163" y="5157788"/>
              <a:ext cx="155575" cy="200025"/>
              <a:chOff x="7904163" y="5157788"/>
              <a:chExt cx="155575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904163" y="5246688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970838" y="52911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937500" y="51577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8258556" y="51371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五个内置角色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41742" y="5511800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权限项分别为 12 / 6 / 4 项</a:t>
              </a:r>
            </a:p>
          </p:txBody>
        </p:sp>
      </p:grpSp>
      <p:grpSp>
        <p:nvGrpSpPr>
          <p:cNvPr id="58" name="p14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 / 23</a:t>
              </a:r>
            </a:p>
          </p:txBody>
        </p:sp>
      </p:grpSp>
      <p:pic>
        <p:nvPicPr>
          <p:cNvPr id="59" name="demo-video-7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838200" y="2171700"/>
            <a:ext cx="6248400" cy="351472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15-disc"/>
          <p:cNvSpPr/>
          <p:nvPr/>
        </p:nvSpPr>
        <p:spPr>
          <a:xfrm>
            <a:off x="8667750" y="-190500"/>
            <a:ext cx="7239000" cy="7239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DEE9F8"/>
              </a:gs>
            </a:gsLst>
            <a:lin ang="2700000" scaled="1"/>
          </a:gradFill>
          <a:ln>
            <a:noFill/>
          </a:ln>
        </p:spPr>
      </p:sp>
      <p:sp>
        <p:nvSpPr>
          <p:cNvPr id="3" name="ch15-ring"/>
          <p:cNvSpPr/>
          <p:nvPr/>
        </p:nvSpPr>
        <p:spPr>
          <a:xfrm>
            <a:off x="9696450" y="838200"/>
            <a:ext cx="5181600" cy="5181600"/>
          </a:xfrm>
          <a:prstGeom prst="ellipse">
            <a:avLst/>
          </a:prstGeom>
          <a:noFill/>
          <a:ln w="9525">
            <a:solidFill>
              <a:schemeClr val="accent6"/>
            </a:solidFill>
          </a:ln>
        </p:spPr>
      </p:sp>
      <p:grpSp>
        <p:nvGrpSpPr>
          <p:cNvPr id="16" name="ch15-head"/>
          <p:cNvGrpSpPr/>
          <p:nvPr/>
        </p:nvGrpSpPr>
        <p:grpSpPr>
          <a:xfrm>
            <a:off x="609600" y="1778000"/>
            <a:ext cx="6477000" cy="2946400"/>
            <a:chOff x="609600" y="1778000"/>
            <a:chExt cx="6477000" cy="2946400"/>
          </a:xfrm>
        </p:grpSpPr>
        <p:sp>
          <p:nvSpPr>
            <p:cNvPr id="4" name="Rectangle 4"/>
            <p:cNvSpPr/>
            <p:nvPr/>
          </p:nvSpPr>
          <p:spPr>
            <a:xfrm>
              <a:off x="609600" y="1905000"/>
              <a:ext cx="47625" cy="2667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9150" y="1778000"/>
              <a:ext cx="115760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2908300"/>
              <a:ext cx="21381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技术亮点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7532" y="3670300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亮点在工程闭环，而不是「接了哪个模型」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1842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工具调用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428875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12517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失败自愈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019550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03192" y="4416425"/>
              <a:ext cx="1153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SQL 分级鉴权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610225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93867" y="44164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工程与安全</a:t>
              </a:r>
            </a:p>
          </p:txBody>
        </p:sp>
      </p:grpSp>
      <p:grpSp>
        <p:nvGrpSpPr>
          <p:cNvPr id="19" name="ch15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6-header"/>
          <p:cNvGrpSpPr/>
          <p:nvPr/>
        </p:nvGrpSpPr>
        <p:grpSpPr>
          <a:xfrm>
            <a:off x="593598" y="609600"/>
            <a:ext cx="7766203" cy="803783"/>
            <a:chOff x="593598" y="609600"/>
            <a:chExt cx="7766203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77662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不是套壳聊天：Agent 会自己去查表结构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6026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工具调用、失败自愈与经验复用，把大模型从聊天框变成可用的查询 Agent</a:t>
              </a:r>
            </a:p>
          </p:txBody>
        </p:sp>
      </p:grpSp>
      <p:grpSp>
        <p:nvGrpSpPr>
          <p:cNvPr id="13" name="p16-pipeline"/>
          <p:cNvGrpSpPr/>
          <p:nvPr/>
        </p:nvGrpSpPr>
        <p:grpSpPr>
          <a:xfrm>
            <a:off x="638175" y="1676400"/>
            <a:ext cx="10915650" cy="495300"/>
            <a:chOff x="638175" y="1676400"/>
            <a:chExt cx="10915650" cy="495300"/>
          </a:xfrm>
        </p:grpSpPr>
        <p:sp>
          <p:nvSpPr>
            <p:cNvPr id="5" name="Freeform 5"/>
            <p:cNvSpPr/>
            <p:nvPr/>
          </p:nvSpPr>
          <p:spPr>
            <a:xfrm>
              <a:off x="638175" y="1676400"/>
              <a:ext cx="2914650" cy="495300"/>
            </a:xfrm>
            <a:prstGeom prst="chevron">
              <a:avLst/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3305175" y="1676400"/>
              <a:ext cx="2914650" cy="495300"/>
            </a:xfrm>
            <a:prstGeom prst="chevron">
              <a:avLst/>
            </a:prstGeom>
            <a:solidFill>
              <a:srgbClr val="DCE9FE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972175" y="1676400"/>
              <a:ext cx="2914650" cy="495300"/>
            </a:xfrm>
            <a:prstGeom prst="chevron">
              <a:avLst/>
            </a:prstGeom>
            <a:solidFill>
              <a:srgbClr val="CEDFFD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639175" y="1676400"/>
              <a:ext cx="2914650" cy="495300"/>
            </a:xfrm>
            <a:prstGeom prst="chevron">
              <a:avLst/>
            </a:prstGeom>
            <a:solidFill>
              <a:srgbClr val="BFD6F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20400" y="1771650"/>
              <a:ext cx="997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thought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29110" y="1771650"/>
              <a:ext cx="5144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6079" y="1771650"/>
              <a:ext cx="3744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3173" y="1771650"/>
              <a:ext cx="794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result</a:t>
              </a:r>
            </a:p>
          </p:txBody>
        </p:sp>
      </p:grpSp>
      <p:grpSp>
        <p:nvGrpSpPr>
          <p:cNvPr id="24" name="p16-mechanism-tools"/>
          <p:cNvGrpSpPr/>
          <p:nvPr/>
        </p:nvGrpSpPr>
        <p:grpSpPr>
          <a:xfrm>
            <a:off x="609600" y="2400300"/>
            <a:ext cx="5334000" cy="1733550"/>
            <a:chOff x="609600" y="2400300"/>
            <a:chExt cx="5334000" cy="1733550"/>
          </a:xfrm>
        </p:grpSpPr>
        <p:sp>
          <p:nvSpPr>
            <p:cNvPr id="14" name="Rectangle 14"/>
            <p:cNvSpPr/>
            <p:nvPr/>
          </p:nvSpPr>
          <p:spPr>
            <a:xfrm>
              <a:off x="609600" y="2400300"/>
              <a:ext cx="5334000" cy="1733550"/>
            </a:xfrm>
            <a:prstGeom prst="roundRect">
              <a:avLst>
                <a:gd name="adj" fmla="val 879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909638" y="2692400"/>
              <a:ext cx="200025" cy="177800"/>
              <a:chOff x="909638" y="2692400"/>
              <a:chExt cx="200025" cy="177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20763" y="27035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20763" y="274796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20763" y="2814638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20763" y="2859088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09638" y="26924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3" y="66675"/>
                    </a:cubicBezTo>
                    <a:lnTo>
                      <a:pt x="11113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09638" y="280352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3" y="66675"/>
                    </a:cubicBezTo>
                    <a:lnTo>
                      <a:pt x="11113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248156" y="26606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工具调用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442" y="3073400"/>
              <a:ext cx="423138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按需调用 list_tables、get_columns、sample_data、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explain 四个工具，实时获取真实表结构、采样数据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与执行计划，从源头杜绝编造表名列名</a:t>
              </a:r>
            </a:p>
          </p:txBody>
        </p:sp>
      </p:grpSp>
      <p:grpSp>
        <p:nvGrpSpPr>
          <p:cNvPr id="32" name="p16-mechanism-retry"/>
          <p:cNvGrpSpPr/>
          <p:nvPr/>
        </p:nvGrpSpPr>
        <p:grpSpPr>
          <a:xfrm>
            <a:off x="6248400" y="2400300"/>
            <a:ext cx="5334000" cy="1733550"/>
            <a:chOff x="6248400" y="2400300"/>
            <a:chExt cx="5334000" cy="1733550"/>
          </a:xfrm>
        </p:grpSpPr>
        <p:sp>
          <p:nvSpPr>
            <p:cNvPr id="25" name="Rectangle 25"/>
            <p:cNvSpPr/>
            <p:nvPr/>
          </p:nvSpPr>
          <p:spPr>
            <a:xfrm>
              <a:off x="6248400" y="2400300"/>
              <a:ext cx="5334000" cy="1733550"/>
            </a:xfrm>
            <a:prstGeom prst="roundRect">
              <a:avLst>
                <a:gd name="adj" fmla="val 879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536379" y="2677596"/>
              <a:ext cx="224134" cy="192560"/>
              <a:chOff x="6536379" y="2677596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48450" y="27479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36379" y="26775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48450" y="28257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886956" y="26606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失败自动修正重试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8242" y="3073400"/>
              <a:ext cx="338270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查询执行失败时，把真实报错回传 LLM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自动修正 SQL 后重试，最多 3 次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鉴权失败等非 SQL 错误不重试</a:t>
              </a:r>
            </a:p>
          </p:txBody>
        </p:sp>
      </p:grpSp>
      <p:grpSp>
        <p:nvGrpSpPr>
          <p:cNvPr id="39" name="p16-mechanism-fewshot"/>
          <p:cNvGrpSpPr/>
          <p:nvPr/>
        </p:nvGrpSpPr>
        <p:grpSpPr>
          <a:xfrm>
            <a:off x="609600" y="4362450"/>
            <a:ext cx="5334000" cy="1733550"/>
            <a:chOff x="609600" y="4362450"/>
            <a:chExt cx="5334000" cy="1733550"/>
          </a:xfrm>
        </p:grpSpPr>
        <p:sp>
          <p:nvSpPr>
            <p:cNvPr id="33" name="Rectangle 33"/>
            <p:cNvSpPr/>
            <p:nvPr/>
          </p:nvSpPr>
          <p:spPr>
            <a:xfrm>
              <a:off x="609600" y="4362450"/>
              <a:ext cx="5334000" cy="1733550"/>
            </a:xfrm>
            <a:prstGeom prst="roundRect">
              <a:avLst>
                <a:gd name="adj" fmla="val 879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10193" y="4641886"/>
              <a:ext cx="205049" cy="209757"/>
              <a:chOff x="910193" y="4641886"/>
              <a:chExt cx="205049" cy="20975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09650" y="4699000"/>
                <a:ext cx="222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66675">
                    <a:moveTo>
                      <a:pt x="0" y="0"/>
                    </a:moveTo>
                    <a:lnTo>
                      <a:pt x="0" y="44450"/>
                    </a:lnTo>
                    <a:lnTo>
                      <a:pt x="22225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10193" y="4641886"/>
                <a:ext cx="205049" cy="209757"/>
              </a:xfrm>
              <a:custGeom>
                <a:avLst/>
                <a:gdLst/>
                <a:ahLst/>
                <a:cxnLst/>
                <a:rect l="l" t="t" r="r" b="b"/>
                <a:pathLst>
                  <a:path w="205049" h="209757">
                    <a:moveTo>
                      <a:pt x="0" y="90452"/>
                    </a:moveTo>
                    <a:cubicBezTo>
                      <a:pt x="5156" y="39840"/>
                      <a:pt x="47484" y="1162"/>
                      <a:pt x="98356" y="581"/>
                    </a:cubicBezTo>
                    <a:cubicBezTo>
                      <a:pt x="149227" y="0"/>
                      <a:pt x="192428" y="37701"/>
                      <a:pt x="198738" y="88182"/>
                    </a:cubicBezTo>
                    <a:cubicBezTo>
                      <a:pt x="205049" y="138664"/>
                      <a:pt x="172457" y="185839"/>
                      <a:pt x="123008" y="197798"/>
                    </a:cubicBezTo>
                    <a:cubicBezTo>
                      <a:pt x="73559" y="209757"/>
                      <a:pt x="23012" y="182689"/>
                      <a:pt x="5556" y="134902"/>
                    </a:cubicBezTo>
                    <a:moveTo>
                      <a:pt x="0" y="190465"/>
                    </a:moveTo>
                    <a:lnTo>
                      <a:pt x="0" y="134902"/>
                    </a:lnTo>
                    <a:lnTo>
                      <a:pt x="55563" y="134902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248156" y="4622800"/>
              <a:ext cx="23271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历史 SQL few-shot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9442" y="5035550"/>
              <a:ext cx="334841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每次会话注入历史执行成功的 SQL 作为示例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提升生成准确率与风格一致性</a:t>
              </a:r>
            </a:p>
          </p:txBody>
        </p:sp>
      </p:grpSp>
      <p:grpSp>
        <p:nvGrpSpPr>
          <p:cNvPr id="44" name="p16-mechanism-streaming"/>
          <p:cNvGrpSpPr/>
          <p:nvPr/>
        </p:nvGrpSpPr>
        <p:grpSpPr>
          <a:xfrm>
            <a:off x="6248400" y="4362450"/>
            <a:ext cx="5334000" cy="1733550"/>
            <a:chOff x="6248400" y="4362450"/>
            <a:chExt cx="5334000" cy="1733550"/>
          </a:xfrm>
        </p:grpSpPr>
        <p:sp>
          <p:nvSpPr>
            <p:cNvPr id="40" name="Rectangle 40"/>
            <p:cNvSpPr/>
            <p:nvPr/>
          </p:nvSpPr>
          <p:spPr>
            <a:xfrm>
              <a:off x="6248400" y="4362450"/>
              <a:ext cx="5334000" cy="1733550"/>
            </a:xfrm>
            <a:prstGeom prst="roundRect">
              <a:avLst>
                <a:gd name="adj" fmla="val 87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548438" y="4654550"/>
              <a:ext cx="200026" cy="177801"/>
            </a:xfrm>
            <a:custGeom>
              <a:avLst/>
              <a:gdLst/>
              <a:ahLst/>
              <a:cxnLst/>
              <a:rect l="l" t="t" r="r" b="b"/>
              <a:pathLst>
                <a:path w="200026" h="177801">
                  <a:moveTo>
                    <a:pt x="0" y="88900"/>
                  </a:moveTo>
                  <a:lnTo>
                    <a:pt x="44450" y="88900"/>
                  </a:lnTo>
                  <a:lnTo>
                    <a:pt x="77788" y="177801"/>
                  </a:lnTo>
                  <a:lnTo>
                    <a:pt x="122238" y="0"/>
                  </a:lnTo>
                  <a:lnTo>
                    <a:pt x="155575" y="88900"/>
                  </a:lnTo>
                  <a:lnTo>
                    <a:pt x="200026" y="8890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6956" y="462280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多轮会话与流式输出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8242" y="5035550"/>
              <a:ext cx="3434144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上下文连续，可追问、也可改条件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SSE 流式输出 thought → tool → sql → result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前端逐段渲染，运行过程完全透明</a:t>
              </a:r>
            </a:p>
          </p:txBody>
        </p:sp>
      </p:grpSp>
      <p:grpSp>
        <p:nvGrpSpPr>
          <p:cNvPr id="47" name="p16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7-header"/>
          <p:cNvGrpSpPr/>
          <p:nvPr/>
        </p:nvGrpSpPr>
        <p:grpSpPr>
          <a:xfrm>
            <a:off x="593598" y="609600"/>
            <a:ext cx="5838444" cy="803783"/>
            <a:chOff x="593598" y="609600"/>
            <a:chExt cx="5838444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把写权限关进确认框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读取放行、写入确认、结构变更高危确认，且确认时再次鉴权并全程审计</a:t>
              </a:r>
            </a:p>
          </p:txBody>
        </p:sp>
      </p:grpSp>
      <p:grpSp>
        <p:nvGrpSpPr>
          <p:cNvPr id="8" name="p17-mechanism"/>
          <p:cNvGrpSpPr/>
          <p:nvPr/>
        </p:nvGrpSpPr>
        <p:grpSpPr>
          <a:xfrm>
            <a:off x="609600" y="1676400"/>
            <a:ext cx="10972800" cy="647700"/>
            <a:chOff x="609600" y="1676400"/>
            <a:chExt cx="10972800" cy="6477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10972800" cy="64770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778000"/>
              <a:ext cx="5931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 SQL 类型分级鉴权：READ 自动执行、DML 需确认、DDL 高危二次确认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1342" y="2044700"/>
              <a:ext cx="90258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写操作返回影响行数预估，前端弹窗确认后才真正执行；所有 SQL 强制走服务层，不允许绕过鉴权直接调适配器</a:t>
              </a:r>
            </a:p>
          </p:txBody>
        </p:sp>
      </p:grpSp>
      <p:grpSp>
        <p:nvGrpSpPr>
          <p:cNvPr id="30" name="sql-risk-matrix"/>
          <p:cNvGrpSpPr/>
          <p:nvPr/>
        </p:nvGrpSpPr>
        <p:grpSpPr>
          <a:xfrm>
            <a:off x="609600" y="2514600"/>
            <a:ext cx="10972800" cy="3438525"/>
            <a:chOff x="609600" y="2514600"/>
            <a:chExt cx="10972800" cy="3438525"/>
          </a:xfrm>
        </p:grpSpPr>
        <p:sp>
          <p:nvSpPr>
            <p:cNvPr id="9" name="Rectangle 9"/>
            <p:cNvSpPr/>
            <p:nvPr/>
          </p:nvSpPr>
          <p:spPr>
            <a:xfrm>
              <a:off x="609600" y="2514600"/>
              <a:ext cx="109728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580" y="267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操作类型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59580" y="267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授权方式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45580" y="267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执行说明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048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580" y="3308350"/>
              <a:ext cx="3117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SELECT、SHOW、DESC、EXPLAIN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59580" y="3308350"/>
              <a:ext cx="992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0021" indent="-170021">
                <a:buClr>
                  <a:srgbClr val="16A34A"/>
                </a:buClr>
                <a:buSzTx/>
                <a:buFontTx/>
                <a:buChar char="●"/>
              </a:pPr>
              <a:r>
                <a:rPr lang="zh-CN" sz="1500" b="1" dirty="0">
                  <a:solidFill>
                    <a:srgbClr val="16A34A"/>
                  </a:solidFill>
                  <a:latin typeface="+mn-lt"/>
                  <a:ea typeface="+mn-ea"/>
                  <a:cs typeface="+mn-cs"/>
                </a:rPr>
                <a:t>自动执行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5580" y="33083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只读查询直接返回结果，无需确认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771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0580" y="4032250"/>
              <a:ext cx="2478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INSERT、UPDATE、DELETE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59580" y="4032250"/>
              <a:ext cx="992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0021" indent="-170021">
                <a:buClr>
                  <a:srgbClr val="F59E0B"/>
                </a:buClr>
                <a:buSzTx/>
                <a:buFontTx/>
                <a:buChar char="●"/>
              </a:pPr>
              <a:r>
                <a:rPr lang="zh-CN" sz="1500" b="1" dirty="0">
                  <a:solidFill>
                    <a:srgbClr val="F59E0B"/>
                  </a:solidFill>
                  <a:latin typeface="+mn-lt"/>
                  <a:ea typeface="+mn-ea"/>
                  <a:cs typeface="+mn-cs"/>
                </a:rPr>
                <a:t>手动确认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5580" y="4032250"/>
              <a:ext cx="4134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返回影响预览与 execution_id，确认后才执行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4495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0580" y="4756150"/>
              <a:ext cx="336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CREATE、ALTER、DROP、TRUNCATE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59580" y="4756150"/>
              <a:ext cx="992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0021" indent="-170021">
                <a:buClr>
                  <a:srgbClr val="DC2626"/>
                </a:buClr>
                <a:buSzTx/>
                <a:buFontTx/>
                <a:buChar char="●"/>
              </a:pPr>
              <a:r>
                <a:rPr lang="zh-CN" sz="150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高危确认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5580" y="4756150"/>
              <a:ext cx="224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红色警告并展示完整 DDL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0580" y="5480050"/>
              <a:ext cx="1281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多条混合 SQL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59580" y="5480050"/>
              <a:ext cx="992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0021" indent="-170021">
                <a:buClr>
                  <a:schemeClr val="accent3"/>
                </a:buClr>
                <a:buSzTx/>
                <a:buFontTx/>
                <a:buChar char="●"/>
              </a:pPr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逐条确认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5580" y="5480050"/>
              <a:ext cx="3566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 SQL 类型分别处理，取最高风险等级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3" name="p17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8-header"/>
          <p:cNvGrpSpPr/>
          <p:nvPr/>
        </p:nvGrpSpPr>
        <p:grpSpPr>
          <a:xfrm>
            <a:off x="593598" y="609600"/>
            <a:ext cx="7664958" cy="803783"/>
            <a:chOff x="593598" y="609600"/>
            <a:chExt cx="7664958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76649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企业级的底子：审计、加密、指标、测试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每一次操作可追溯、每一个密钥被保护、每一处实现有测试覆盖</a:t>
              </a:r>
            </a:p>
          </p:txBody>
        </p:sp>
      </p:grpSp>
      <p:grpSp>
        <p:nvGrpSpPr>
          <p:cNvPr id="20" name="p18-governance"/>
          <p:cNvGrpSpPr/>
          <p:nvPr/>
        </p:nvGrpSpPr>
        <p:grpSpPr>
          <a:xfrm>
            <a:off x="609600" y="1676400"/>
            <a:ext cx="5334000" cy="3733800"/>
            <a:chOff x="609600" y="1676400"/>
            <a:chExt cx="5334000" cy="37338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5334000" cy="3733800"/>
            </a:xfrm>
            <a:prstGeom prst="roundRect">
              <a:avLst>
                <a:gd name="adj" fmla="val 408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909638" y="2009775"/>
              <a:ext cx="200026" cy="133350"/>
              <a:chOff x="909638" y="2009775"/>
              <a:chExt cx="200026" cy="1333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87425" y="20542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09638" y="2009775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200026" y="66675"/>
                    </a:moveTo>
                    <a:cubicBezTo>
                      <a:pt x="173355" y="111125"/>
                      <a:pt x="140018" y="133350"/>
                      <a:pt x="100013" y="133350"/>
                    </a:cubicBezTo>
                    <a:cubicBezTo>
                      <a:pt x="60008" y="133350"/>
                      <a:pt x="26670" y="111125"/>
                      <a:pt x="0" y="66675"/>
                    </a:cubicBezTo>
                    <a:cubicBezTo>
                      <a:pt x="26670" y="22225"/>
                      <a:pt x="60008" y="0"/>
                      <a:pt x="100013" y="0"/>
                    </a:cubicBezTo>
                    <a:cubicBezTo>
                      <a:pt x="140018" y="0"/>
                      <a:pt x="173355" y="22225"/>
                      <a:pt x="200026" y="6667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248156" y="19558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可治理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76300" y="24384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144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5380" y="26416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全链路审计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142" y="2895600"/>
              <a:ext cx="301409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登录、SQL 执行与 Agent 动作全部留痕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操作类型、SQL 文本与状态可追溯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914400" y="36385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5380" y="35560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运维监控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6142" y="3810000"/>
              <a:ext cx="345986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慢查询统计、多环境表结构对比与连接概览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Prometheus /metrics 暴露请求与 SQL 指标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14400" y="4552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5380" y="44704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审计留存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142" y="47498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审计日志支持导出，并按保留期自动清理</a:t>
              </a:r>
            </a:p>
          </p:txBody>
        </p:sp>
      </p:grpSp>
      <p:grpSp>
        <p:nvGrpSpPr>
          <p:cNvPr id="37" name="p18-engineering"/>
          <p:cNvGrpSpPr/>
          <p:nvPr/>
        </p:nvGrpSpPr>
        <p:grpSpPr>
          <a:xfrm>
            <a:off x="6248400" y="1676400"/>
            <a:ext cx="5334000" cy="3733800"/>
            <a:chOff x="6248400" y="1676400"/>
            <a:chExt cx="5334000" cy="3733800"/>
          </a:xfrm>
        </p:grpSpPr>
        <p:sp>
          <p:nvSpPr>
            <p:cNvPr id="21" name="Rectangle 21"/>
            <p:cNvSpPr/>
            <p:nvPr/>
          </p:nvSpPr>
          <p:spPr>
            <a:xfrm>
              <a:off x="6248400" y="1676400"/>
              <a:ext cx="5334000" cy="3733800"/>
            </a:xfrm>
            <a:prstGeom prst="roundRect">
              <a:avLst>
                <a:gd name="adj" fmla="val 408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543810" y="1976438"/>
              <a:ext cx="209281" cy="200026"/>
              <a:chOff x="6543810" y="1976438"/>
              <a:chExt cx="209281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43810" y="1976438"/>
                <a:ext cx="20928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9281" h="200026">
                    <a:moveTo>
                      <a:pt x="104641" y="0"/>
                    </a:moveTo>
                    <a:cubicBezTo>
                      <a:pt x="130598" y="22965"/>
                      <a:pt x="164476" y="34922"/>
                      <a:pt x="199097" y="33338"/>
                    </a:cubicBezTo>
                    <a:cubicBezTo>
                      <a:pt x="209281" y="67981"/>
                      <a:pt x="204980" y="105274"/>
                      <a:pt x="187178" y="136690"/>
                    </a:cubicBezTo>
                    <a:cubicBezTo>
                      <a:pt x="169375" y="168106"/>
                      <a:pt x="139593" y="190959"/>
                      <a:pt x="104641" y="200026"/>
                    </a:cubicBezTo>
                    <a:cubicBezTo>
                      <a:pt x="69688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4" y="22965"/>
                      <a:pt x="104641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37338" y="2054225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48450" y="2076450"/>
                <a:ext cx="9525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781">
                    <a:moveTo>
                      <a:pt x="0" y="0"/>
                    </a:moveTo>
                    <a:lnTo>
                      <a:pt x="0" y="2778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886956" y="19558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工程与安全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15100" y="24384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5532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4180" y="26416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密钥保护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4942" y="2895600"/>
              <a:ext cx="35112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Fernet 加密数据库密码、SSH 私钥与 AI Key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对外只暴露 has_password / has_key 布尔值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53200" y="36385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4180" y="35560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会话与接口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74942" y="3810000"/>
              <a:ext cx="30998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pbkdf2 密码哈希；Cookie 会话 24h TTL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统一响应与统一异常处理，接口风格一致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53200" y="4552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74180" y="44704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可迁移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74942" y="4749800"/>
              <a:ext cx="3893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数据文件相对 data/ 存储，项目迁移无需改配置</a:t>
              </a:r>
            </a:p>
          </p:txBody>
        </p:sp>
      </p:grpSp>
      <p:grpSp>
        <p:nvGrpSpPr>
          <p:cNvPr id="41" name="p18-tests"/>
          <p:cNvGrpSpPr/>
          <p:nvPr/>
        </p:nvGrpSpPr>
        <p:grpSpPr>
          <a:xfrm>
            <a:off x="609600" y="5562600"/>
            <a:ext cx="10972800" cy="609600"/>
            <a:chOff x="609600" y="5562600"/>
            <a:chExt cx="10972800" cy="609600"/>
          </a:xfrm>
        </p:grpSpPr>
        <p:sp>
          <p:nvSpPr>
            <p:cNvPr id="38" name="Rectangle 38"/>
            <p:cNvSpPr/>
            <p:nvPr/>
          </p:nvSpPr>
          <p:spPr>
            <a:xfrm>
              <a:off x="609600" y="5562600"/>
              <a:ext cx="10972800" cy="6096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342" y="5626100"/>
              <a:ext cx="7465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167 个后端自动化用例，覆盖用户与角色、连接池、SQL 执行、Agent、监控、元数据与导出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342" y="5892800"/>
              <a:ext cx="3086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另有前端 E2E 断言与 AI 查询验收案例</a:t>
              </a:r>
            </a:p>
          </p:txBody>
        </p:sp>
      </p:grpSp>
      <p:grpSp>
        <p:nvGrpSpPr>
          <p:cNvPr id="44" name="p18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42" name="TextBox 42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18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19-disc"/>
          <p:cNvSpPr/>
          <p:nvPr/>
        </p:nvSpPr>
        <p:spPr>
          <a:xfrm>
            <a:off x="8667750" y="-190500"/>
            <a:ext cx="7239000" cy="7239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DEE9F8"/>
              </a:gs>
            </a:gsLst>
            <a:lin ang="2700000" scaled="1"/>
          </a:gradFill>
          <a:ln>
            <a:noFill/>
          </a:ln>
        </p:spPr>
      </p:sp>
      <p:sp>
        <p:nvSpPr>
          <p:cNvPr id="3" name="ch19-ring"/>
          <p:cNvSpPr/>
          <p:nvPr/>
        </p:nvSpPr>
        <p:spPr>
          <a:xfrm>
            <a:off x="9696450" y="838200"/>
            <a:ext cx="5181600" cy="5181600"/>
          </a:xfrm>
          <a:prstGeom prst="ellipse">
            <a:avLst/>
          </a:prstGeom>
          <a:noFill/>
          <a:ln w="9525">
            <a:solidFill>
              <a:schemeClr val="accent6"/>
            </a:solidFill>
          </a:ln>
        </p:spPr>
      </p:sp>
      <p:grpSp>
        <p:nvGrpSpPr>
          <p:cNvPr id="16" name="ch19-head"/>
          <p:cNvGrpSpPr/>
          <p:nvPr/>
        </p:nvGrpSpPr>
        <p:grpSpPr>
          <a:xfrm>
            <a:off x="609600" y="1778000"/>
            <a:ext cx="6477000" cy="2946400"/>
            <a:chOff x="609600" y="1778000"/>
            <a:chExt cx="6477000" cy="2946400"/>
          </a:xfrm>
        </p:grpSpPr>
        <p:sp>
          <p:nvSpPr>
            <p:cNvPr id="4" name="Rectangle 4"/>
            <p:cNvSpPr/>
            <p:nvPr/>
          </p:nvSpPr>
          <p:spPr>
            <a:xfrm>
              <a:off x="609600" y="1905000"/>
              <a:ext cx="47625" cy="2667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9150" y="1778000"/>
              <a:ext cx="115760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2908300"/>
              <a:ext cx="21381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推广价值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7532" y="367030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接入成本低、适用面广，先在一个团队跑通闭环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1842" y="44164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数据源与模型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428875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12517" y="44164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多场景适用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019550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03192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后续计划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610225" y="430530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93867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行动建议</a:t>
              </a:r>
            </a:p>
          </p:txBody>
        </p:sp>
      </p:grpSp>
      <p:grpSp>
        <p:nvGrpSpPr>
          <p:cNvPr id="19" name="ch19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19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0-header"/>
          <p:cNvGrpSpPr/>
          <p:nvPr/>
        </p:nvGrpSpPr>
        <p:grpSpPr>
          <a:xfrm>
            <a:off x="593598" y="609600"/>
            <a:ext cx="6392799" cy="803783"/>
            <a:chOff x="593598" y="609600"/>
            <a:chExt cx="6392799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换数据库、换模型，上层都不用改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3718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同一套 Agent 工具屏蔽数据库方言与模型差异</a:t>
              </a:r>
            </a:p>
          </p:txBody>
        </p:sp>
      </p:grpSp>
      <p:grpSp>
        <p:nvGrpSpPr>
          <p:cNvPr id="35" name="p20-providers"/>
          <p:cNvGrpSpPr/>
          <p:nvPr/>
        </p:nvGrpSpPr>
        <p:grpSpPr>
          <a:xfrm>
            <a:off x="601980" y="1765300"/>
            <a:ext cx="10980420" cy="1682750"/>
            <a:chOff x="601980" y="1765300"/>
            <a:chExt cx="10980420" cy="168275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7653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支持大模型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076450"/>
              <a:ext cx="3505200" cy="13716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20750" y="2387600"/>
              <a:ext cx="177801" cy="177801"/>
              <a:chOff x="920750" y="2387600"/>
              <a:chExt cx="177801" cy="17780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38588" y="2409825"/>
                <a:ext cx="137738" cy="137738"/>
              </a:xfrm>
              <a:custGeom>
                <a:avLst/>
                <a:gdLst/>
                <a:ahLst/>
                <a:cxnLst/>
                <a:rect l="l" t="t" r="r" b="b"/>
                <a:pathLst>
                  <a:path w="137738" h="137738">
                    <a:moveTo>
                      <a:pt x="46448" y="0"/>
                    </a:moveTo>
                    <a:lnTo>
                      <a:pt x="137738" y="91289"/>
                    </a:lnTo>
                    <a:lnTo>
                      <a:pt x="114912" y="114115"/>
                    </a:lnTo>
                    <a:cubicBezTo>
                      <a:pt x="98716" y="130959"/>
                      <a:pt x="74681" y="137738"/>
                      <a:pt x="52070" y="131837"/>
                    </a:cubicBezTo>
                    <a:cubicBezTo>
                      <a:pt x="29459" y="125937"/>
                      <a:pt x="11801" y="108279"/>
                      <a:pt x="5900" y="85668"/>
                    </a:cubicBezTo>
                    <a:cubicBezTo>
                      <a:pt x="0" y="63056"/>
                      <a:pt x="6778" y="39022"/>
                      <a:pt x="23623" y="22825"/>
                    </a:cubicBezTo>
                    <a:lnTo>
                      <a:pt x="4644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20750" y="2526507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0" y="38894"/>
                    </a:moveTo>
                    <a:lnTo>
                      <a:pt x="38894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04094" y="2387600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38894" y="0"/>
                    </a:moveTo>
                    <a:lnTo>
                      <a:pt x="0" y="38894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59657" y="2443163"/>
                <a:ext cx="38894" cy="38894"/>
              </a:xfrm>
              <a:custGeom>
                <a:avLst/>
                <a:gdLst/>
                <a:ahLst/>
                <a:cxnLst/>
                <a:rect l="l" t="t" r="r" b="b"/>
                <a:pathLst>
                  <a:path w="38894" h="38894">
                    <a:moveTo>
                      <a:pt x="38894" y="0"/>
                    </a:moveTo>
                    <a:lnTo>
                      <a:pt x="0" y="38894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48156" y="2374900"/>
              <a:ext cx="19163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OpenAI 兼容网关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442" y="2749550"/>
              <a:ext cx="221684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openai SDK 统一抽象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可对接任意 OpenAI 兼容服务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43400" y="2076450"/>
              <a:ext cx="3505200" cy="13716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665663" y="2365375"/>
              <a:ext cx="155575" cy="211138"/>
              <a:chOff x="4665663" y="2365375"/>
              <a:chExt cx="155575" cy="21113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676775" y="238760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743450" y="236537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710113" y="247650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776788" y="247650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665663" y="24987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776788" y="24987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710113" y="254317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21225" y="2432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65675" y="2432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981956" y="2362200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3242" y="2749550"/>
              <a:ext cx="18996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anthropic SDK 统一抽象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支持流式输出与工具调用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77200" y="2076450"/>
              <a:ext cx="3505200" cy="13716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377238" y="2387600"/>
              <a:ext cx="200026" cy="177800"/>
              <a:chOff x="8377238" y="2387600"/>
              <a:chExt cx="200026" cy="177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77238" y="23876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77238" y="24765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421688" y="2432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21688" y="25209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715756" y="2362200"/>
              <a:ext cx="8401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Ollama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7042" y="2749550"/>
              <a:ext cx="191681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本地部署模型接入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走 OpenAI 兼容 /v1 接口</a:t>
              </a:r>
            </a:p>
          </p:txBody>
        </p:sp>
      </p:grpSp>
      <p:grpSp>
        <p:nvGrpSpPr>
          <p:cNvPr id="51" name="p20-datasources"/>
          <p:cNvGrpSpPr/>
          <p:nvPr/>
        </p:nvGrpSpPr>
        <p:grpSpPr>
          <a:xfrm>
            <a:off x="601980" y="3670300"/>
            <a:ext cx="10980420" cy="844550"/>
            <a:chOff x="601980" y="3670300"/>
            <a:chExt cx="10980420" cy="844550"/>
          </a:xfrm>
        </p:grpSpPr>
        <p:sp>
          <p:nvSpPr>
            <p:cNvPr id="36" name="TextBox 36"/>
            <p:cNvSpPr txBox="1"/>
            <p:nvPr/>
          </p:nvSpPr>
          <p:spPr>
            <a:xfrm>
              <a:off x="601980" y="3670300"/>
              <a:ext cx="165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支持数据源 · 7 类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3981450"/>
              <a:ext cx="1428750" cy="533400"/>
            </a:xfrm>
            <a:prstGeom prst="roundRect">
              <a:avLst>
                <a:gd name="adj" fmla="val 2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13436" y="4140200"/>
              <a:ext cx="621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SQLite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200275" y="3981450"/>
              <a:ext cx="1428750" cy="533400"/>
            </a:xfrm>
            <a:prstGeom prst="roundRect">
              <a:avLst>
                <a:gd name="adj" fmla="val 2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608595" y="4140200"/>
              <a:ext cx="612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MySQL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790950" y="3981450"/>
              <a:ext cx="1428750" cy="533400"/>
            </a:xfrm>
            <a:prstGeom prst="roundRect">
              <a:avLst>
                <a:gd name="adj" fmla="val 2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68789" y="4140200"/>
              <a:ext cx="1073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PostgreSQL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81625" y="3981450"/>
              <a:ext cx="1428750" cy="533400"/>
            </a:xfrm>
            <a:prstGeom prst="roundRect">
              <a:avLst>
                <a:gd name="adj" fmla="val 2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91033" y="4140200"/>
              <a:ext cx="609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Oracle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972300" y="3981450"/>
              <a:ext cx="1428750" cy="533400"/>
            </a:xfrm>
            <a:prstGeom prst="roundRect">
              <a:avLst>
                <a:gd name="adj" fmla="val 2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02872" y="4140200"/>
              <a:ext cx="767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MongoDB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562975" y="3981450"/>
              <a:ext cx="1428750" cy="533400"/>
            </a:xfrm>
            <a:prstGeom prst="roundRect">
              <a:avLst>
                <a:gd name="adj" fmla="val 2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96633" y="4140200"/>
              <a:ext cx="961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OceanBase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153650" y="3981450"/>
              <a:ext cx="1428750" cy="533400"/>
            </a:xfrm>
            <a:prstGeom prst="roundRect">
              <a:avLst>
                <a:gd name="adj" fmla="val 2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476058" y="4140200"/>
              <a:ext cx="783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GoldenDB</a:t>
              </a:r>
            </a:p>
          </p:txBody>
        </p:sp>
      </p:grpSp>
      <p:grpSp>
        <p:nvGrpSpPr>
          <p:cNvPr id="55" name="p20-note"/>
          <p:cNvGrpSpPr/>
          <p:nvPr/>
        </p:nvGrpSpPr>
        <p:grpSpPr>
          <a:xfrm>
            <a:off x="609600" y="4743450"/>
            <a:ext cx="10972800" cy="1066800"/>
            <a:chOff x="609600" y="4743450"/>
            <a:chExt cx="10972800" cy="1066800"/>
          </a:xfrm>
        </p:grpSpPr>
        <p:sp>
          <p:nvSpPr>
            <p:cNvPr id="52" name="Rectangle 52"/>
            <p:cNvSpPr/>
            <p:nvPr/>
          </p:nvSpPr>
          <p:spPr>
            <a:xfrm>
              <a:off x="609600" y="4743450"/>
              <a:ext cx="10972800" cy="1066800"/>
            </a:xfrm>
            <a:prstGeom prst="roundRect">
              <a:avLst>
                <a:gd name="adj" fmla="val 14286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1342" y="4959350"/>
              <a:ext cx="6427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OceanBase 与 GoldenDB 复用 MySQL 适配器；模型与数据源接入配置简单快捷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1342" y="5302250"/>
              <a:ext cx="4788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获取表结构在不同数据库执行不同 SQL，但上层服务无感知</a:t>
              </a:r>
            </a:p>
          </p:txBody>
        </p:sp>
      </p:grpSp>
      <p:grpSp>
        <p:nvGrpSpPr>
          <p:cNvPr id="58" name="p20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1-header"/>
          <p:cNvGrpSpPr/>
          <p:nvPr/>
        </p:nvGrpSpPr>
        <p:grpSpPr>
          <a:xfrm>
            <a:off x="593598" y="609600"/>
            <a:ext cx="4780255" cy="803783"/>
            <a:chOff x="593598" y="609600"/>
            <a:chExt cx="4780255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三类人，三种用法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4771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不会 SQL 的人能查数，会 SQL 的人更快，运维的人更好管</a:t>
              </a:r>
            </a:p>
          </p:txBody>
        </p:sp>
      </p:grpSp>
      <p:grpSp>
        <p:nvGrpSpPr>
          <p:cNvPr id="36" name="scenario-table"/>
          <p:cNvGrpSpPr/>
          <p:nvPr/>
        </p:nvGrpSpPr>
        <p:grpSpPr>
          <a:xfrm>
            <a:off x="609600" y="2247900"/>
            <a:ext cx="10972800" cy="2981325"/>
            <a:chOff x="609600" y="2247900"/>
            <a:chExt cx="10972800" cy="2981325"/>
          </a:xfrm>
        </p:grpSpPr>
        <p:sp>
          <p:nvSpPr>
            <p:cNvPr id="5" name="Rectangle 5"/>
            <p:cNvSpPr/>
            <p:nvPr/>
          </p:nvSpPr>
          <p:spPr>
            <a:xfrm>
              <a:off x="609600" y="2247900"/>
              <a:ext cx="109728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0580" y="24130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88080" y="24130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核心需求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07580" y="24130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819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71538" y="3130550"/>
              <a:ext cx="200026" cy="177801"/>
              <a:chOff x="871538" y="3130550"/>
              <a:chExt cx="200026" cy="17780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27100" y="3186113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0"/>
                    </a:moveTo>
                    <a:lnTo>
                      <a:pt x="33338" y="33338"/>
                    </a:ln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2663" y="3252788"/>
                <a:ext cx="333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9525">
                    <a:moveTo>
                      <a:pt x="0" y="0"/>
                    </a:moveTo>
                    <a:lnTo>
                      <a:pt x="3333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1538" y="3130550"/>
                <a:ext cx="200026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7801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55575"/>
                    </a:lnTo>
                    <a:cubicBezTo>
                      <a:pt x="200026" y="167850"/>
                      <a:pt x="190075" y="177801"/>
                      <a:pt x="177801" y="177801"/>
                    </a:cubicBez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10056" y="30797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开发人员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88080" y="3108325"/>
              <a:ext cx="2291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快速查数；写与优化 SQL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07580" y="31083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日常开发、验证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619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71538" y="3919538"/>
              <a:ext cx="200026" cy="200025"/>
              <a:chOff x="871538" y="391953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93763" y="39195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40528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16001" y="39209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38226" y="40545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210056" y="3879850"/>
              <a:ext cx="12801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 / 产品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88080" y="39084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自然语言取数；快速做报表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7580" y="39084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数据分析、辅助决策、快速核对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4419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71538" y="4730750"/>
              <a:ext cx="200026" cy="177800"/>
              <a:chOff x="871538" y="4730750"/>
              <a:chExt cx="200026" cy="177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71538" y="47307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48196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15988" y="4775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15988" y="48641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210056" y="4679950"/>
              <a:ext cx="1255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DBA / 运维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88080" y="4708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统一入口；便于管理；审计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07580" y="47085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生产问题快速定位、数据治理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8" name="p21-closer"/>
          <p:cNvGrpSpPr/>
          <p:nvPr/>
        </p:nvGrpSpPr>
        <p:grpSpPr>
          <a:xfrm>
            <a:off x="3732002" y="5689600"/>
            <a:ext cx="4727997" cy="352044"/>
            <a:chOff x="3732002" y="5689600"/>
            <a:chExt cx="4727997" cy="352044"/>
          </a:xfrm>
        </p:grpSpPr>
        <p:sp>
          <p:nvSpPr>
            <p:cNvPr id="37" name="TextBox 37"/>
            <p:cNvSpPr txBox="1"/>
            <p:nvPr/>
          </p:nvSpPr>
          <p:spPr>
            <a:xfrm>
              <a:off x="3732002" y="5689600"/>
              <a:ext cx="4727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不会 SQL 的人也能查数，会 SQL 的人更快</a:t>
              </a:r>
            </a:p>
          </p:txBody>
        </p:sp>
      </p:grpSp>
      <p:grpSp>
        <p:nvGrpSpPr>
          <p:cNvPr id="41" name="p21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21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2-header"/>
          <p:cNvGrpSpPr/>
          <p:nvPr/>
        </p:nvGrpSpPr>
        <p:grpSpPr>
          <a:xfrm>
            <a:off x="593598" y="609600"/>
            <a:ext cx="3848481" cy="803783"/>
            <a:chOff x="593598" y="609600"/>
            <a:chExt cx="3848481" cy="803783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09600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下一步：把能力补齐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2742" y="11493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从「能用」走向「更好用、更可管」</a:t>
              </a:r>
            </a:p>
          </p:txBody>
        </p:sp>
      </p:grpSp>
      <p:grpSp>
        <p:nvGrpSpPr>
          <p:cNvPr id="13" name="p22-item-1"/>
          <p:cNvGrpSpPr/>
          <p:nvPr/>
        </p:nvGrpSpPr>
        <p:grpSpPr>
          <a:xfrm>
            <a:off x="609600" y="2381250"/>
            <a:ext cx="2571750" cy="2571750"/>
            <a:chOff x="609600" y="2381250"/>
            <a:chExt cx="2571750" cy="2571750"/>
          </a:xfrm>
        </p:grpSpPr>
        <p:sp>
          <p:nvSpPr>
            <p:cNvPr id="5" name="Rectangle 5"/>
            <p:cNvSpPr/>
            <p:nvPr/>
          </p:nvSpPr>
          <p:spPr>
            <a:xfrm>
              <a:off x="609600" y="2381250"/>
              <a:ext cx="2571750" cy="2571750"/>
            </a:xfrm>
            <a:prstGeom prst="roundRect">
              <a:avLst>
                <a:gd name="adj" fmla="val 592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909638" y="2890838"/>
              <a:ext cx="200026" cy="200026"/>
              <a:chOff x="909638" y="2890838"/>
              <a:chExt cx="200026" cy="20002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09638" y="2890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77801"/>
                    </a:lnTo>
                    <a:cubicBezTo>
                      <a:pt x="200026" y="190075"/>
                      <a:pt x="190075" y="200026"/>
                      <a:pt x="177801" y="200026"/>
                    </a:cubicBez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09638" y="2968625"/>
                <a:ext cx="20002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9525">
                    <a:moveTo>
                      <a:pt x="0" y="0"/>
                    </a:move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7425" y="2890838"/>
                <a:ext cx="952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6">
                    <a:moveTo>
                      <a:pt x="0" y="0"/>
                    </a:moveTo>
                    <a:lnTo>
                      <a:pt x="0" y="20002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384782" y="28130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E3EAF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7156" y="34988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更多对象支持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442" y="3937000"/>
              <a:ext cx="15567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补齐更多数据库对象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元数据与 DDL 展示</a:t>
              </a:r>
            </a:p>
          </p:txBody>
        </p:sp>
      </p:grpSp>
      <p:grpSp>
        <p:nvGrpSpPr>
          <p:cNvPr id="19" name="p22-item-2"/>
          <p:cNvGrpSpPr/>
          <p:nvPr/>
        </p:nvGrpSpPr>
        <p:grpSpPr>
          <a:xfrm>
            <a:off x="3409950" y="2381250"/>
            <a:ext cx="2571750" cy="2571750"/>
            <a:chOff x="3409950" y="2381250"/>
            <a:chExt cx="2571750" cy="2571750"/>
          </a:xfrm>
        </p:grpSpPr>
        <p:sp>
          <p:nvSpPr>
            <p:cNvPr id="14" name="Rectangle 14"/>
            <p:cNvSpPr/>
            <p:nvPr/>
          </p:nvSpPr>
          <p:spPr>
            <a:xfrm>
              <a:off x="3409950" y="2381250"/>
              <a:ext cx="2571750" cy="2571750"/>
            </a:xfrm>
            <a:prstGeom prst="roundRect">
              <a:avLst>
                <a:gd name="adj" fmla="val 592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709988" y="2901950"/>
              <a:ext cx="188913" cy="177801"/>
            </a:xfrm>
            <a:custGeom>
              <a:avLst/>
              <a:gdLst/>
              <a:ahLst/>
              <a:cxnLst/>
              <a:rect l="l" t="t" r="r" b="b"/>
              <a:pathLst>
                <a:path w="188913" h="177801">
                  <a:moveTo>
                    <a:pt x="144463" y="155575"/>
                  </a:moveTo>
                  <a:cubicBezTo>
                    <a:pt x="156737" y="155575"/>
                    <a:pt x="166688" y="165526"/>
                    <a:pt x="166688" y="177801"/>
                  </a:cubicBezTo>
                  <a:cubicBezTo>
                    <a:pt x="166688" y="165526"/>
                    <a:pt x="176638" y="155575"/>
                    <a:pt x="188913" y="155575"/>
                  </a:cubicBezTo>
                  <a:cubicBezTo>
                    <a:pt x="176638" y="155575"/>
                    <a:pt x="166688" y="145625"/>
                    <a:pt x="166688" y="133350"/>
                  </a:cubicBezTo>
                  <a:cubicBezTo>
                    <a:pt x="166688" y="145625"/>
                    <a:pt x="156737" y="155575"/>
                    <a:pt x="144463" y="155575"/>
                  </a:cubicBezTo>
                  <a:moveTo>
                    <a:pt x="144463" y="22225"/>
                  </a:moveTo>
                  <a:cubicBezTo>
                    <a:pt x="156737" y="22225"/>
                    <a:pt x="166688" y="32176"/>
                    <a:pt x="166688" y="44450"/>
                  </a:cubicBezTo>
                  <a:cubicBezTo>
                    <a:pt x="166688" y="32176"/>
                    <a:pt x="176638" y="22225"/>
                    <a:pt x="188913" y="22225"/>
                  </a:cubicBezTo>
                  <a:cubicBezTo>
                    <a:pt x="176638" y="22225"/>
                    <a:pt x="166688" y="12275"/>
                    <a:pt x="166688" y="0"/>
                  </a:cubicBezTo>
                  <a:cubicBezTo>
                    <a:pt x="166688" y="12275"/>
                    <a:pt x="156737" y="22225"/>
                    <a:pt x="144463" y="22225"/>
                  </a:cubicBezTo>
                  <a:moveTo>
                    <a:pt x="66675" y="155575"/>
                  </a:moveTo>
                  <a:cubicBezTo>
                    <a:pt x="66675" y="118752"/>
                    <a:pt x="96527" y="88900"/>
                    <a:pt x="133350" y="88900"/>
                  </a:cubicBezTo>
                  <a:cubicBezTo>
                    <a:pt x="96527" y="88900"/>
                    <a:pt x="66675" y="59049"/>
                    <a:pt x="66675" y="22225"/>
                  </a:cubicBezTo>
                  <a:cubicBezTo>
                    <a:pt x="66675" y="59049"/>
                    <a:pt x="36824" y="88900"/>
                    <a:pt x="0" y="88900"/>
                  </a:cubicBezTo>
                  <a:cubicBezTo>
                    <a:pt x="36824" y="88900"/>
                    <a:pt x="66675" y="118752"/>
                    <a:pt x="66675" y="155575"/>
                  </a:cubicBez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85132" y="28130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E3EAF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67506" y="3498850"/>
              <a:ext cx="18495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扩展 Agent 工具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69792" y="3937000"/>
              <a:ext cx="12138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新增索引建议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慢查询根因分析</a:t>
              </a:r>
            </a:p>
          </p:txBody>
        </p:sp>
      </p:grpSp>
      <p:grpSp>
        <p:nvGrpSpPr>
          <p:cNvPr id="29" name="p22-item-3"/>
          <p:cNvGrpSpPr/>
          <p:nvPr/>
        </p:nvGrpSpPr>
        <p:grpSpPr>
          <a:xfrm>
            <a:off x="6210300" y="2381250"/>
            <a:ext cx="2571750" cy="2571750"/>
            <a:chOff x="6210300" y="2381250"/>
            <a:chExt cx="2571750" cy="2571750"/>
          </a:xfrm>
        </p:grpSpPr>
        <p:sp>
          <p:nvSpPr>
            <p:cNvPr id="20" name="Rectangle 20"/>
            <p:cNvSpPr/>
            <p:nvPr/>
          </p:nvSpPr>
          <p:spPr>
            <a:xfrm>
              <a:off x="6210300" y="2381250"/>
              <a:ext cx="2571750" cy="2571750"/>
            </a:xfrm>
            <a:prstGeom prst="roundRect">
              <a:avLst>
                <a:gd name="adj" fmla="val 592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510338" y="2890838"/>
              <a:ext cx="200026" cy="200025"/>
              <a:chOff x="6510338" y="2890838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532563" y="28908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10338" y="30241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54801" y="28922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77026" y="30258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985482" y="28130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E3EAF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856" y="34988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团队协作与订阅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142" y="3937000"/>
              <a:ext cx="10424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增加团队协作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报表订阅推送</a:t>
              </a:r>
            </a:p>
          </p:txBody>
        </p:sp>
      </p:grpSp>
      <p:grpSp>
        <p:nvGrpSpPr>
          <p:cNvPr id="37" name="p22-item-4"/>
          <p:cNvGrpSpPr/>
          <p:nvPr/>
        </p:nvGrpSpPr>
        <p:grpSpPr>
          <a:xfrm>
            <a:off x="9010650" y="2381250"/>
            <a:ext cx="2571750" cy="2571750"/>
            <a:chOff x="9010650" y="2381250"/>
            <a:chExt cx="2571750" cy="2571750"/>
          </a:xfrm>
        </p:grpSpPr>
        <p:sp>
          <p:nvSpPr>
            <p:cNvPr id="30" name="Rectangle 30"/>
            <p:cNvSpPr/>
            <p:nvPr/>
          </p:nvSpPr>
          <p:spPr>
            <a:xfrm>
              <a:off x="9010650" y="2381250"/>
              <a:ext cx="2571750" cy="2571750"/>
            </a:xfrm>
            <a:prstGeom prst="roundRect">
              <a:avLst>
                <a:gd name="adj" fmla="val 592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332913" y="2890838"/>
              <a:ext cx="177801" cy="211138"/>
              <a:chOff x="9332913" y="2890838"/>
              <a:chExt cx="177801" cy="21113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432925" y="28908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332913" y="2890838"/>
                <a:ext cx="177801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211138">
                    <a:moveTo>
                      <a:pt x="72231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11125"/>
                    </a:lnTo>
                    <a:moveTo>
                      <a:pt x="100013" y="177801"/>
                    </a:moveTo>
                    <a:lnTo>
                      <a:pt x="177801" y="177801"/>
                    </a:lnTo>
                    <a:moveTo>
                      <a:pt x="144463" y="144463"/>
                    </a:moveTo>
                    <a:lnTo>
                      <a:pt x="177801" y="177801"/>
                    </a:lnTo>
                    <a:lnTo>
                      <a:pt x="144463" y="2111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785832" y="281305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E3EAF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68206" y="34988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导出审核链路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70492" y="3937000"/>
              <a:ext cx="10424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数据导出增加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审核链路</a:t>
              </a:r>
            </a:p>
          </p:txBody>
        </p:sp>
      </p:grpSp>
      <p:grpSp>
        <p:nvGrpSpPr>
          <p:cNvPr id="40" name="p22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23-halo-field"/>
          <p:cNvSpPr/>
          <p:nvPr/>
        </p:nvSpPr>
        <p:spPr>
          <a:xfrm>
            <a:off x="1143000" y="1809750"/>
            <a:ext cx="9906000" cy="3619500"/>
          </a:xfrm>
          <a:prstGeom prst="ellipse">
            <a:avLst/>
          </a:prstGeom>
          <a:gradFill>
            <a:gsLst>
              <a:gs pos="0">
                <a:srgbClr val="EAF1FE">
                  <a:alpha val="85000"/>
                </a:srgbClr>
              </a:gs>
              <a:gs pos="100000">
                <a:srgbClr val="EAF1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4" name="p23-closing"/>
          <p:cNvGrpSpPr/>
          <p:nvPr/>
        </p:nvGrpSpPr>
        <p:grpSpPr>
          <a:xfrm>
            <a:off x="2303145" y="1498600"/>
            <a:ext cx="7585710" cy="645414"/>
            <a:chOff x="2303145" y="1498600"/>
            <a:chExt cx="7585710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2303145" y="1498600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让每个人都能安全、高效地与数据对话</a:t>
              </a:r>
            </a:p>
          </p:txBody>
        </p:sp>
      </p:grpSp>
      <p:grpSp>
        <p:nvGrpSpPr>
          <p:cNvPr id="41" name="p23-loop"/>
          <p:cNvGrpSpPr/>
          <p:nvPr/>
        </p:nvGrpSpPr>
        <p:grpSpPr>
          <a:xfrm>
            <a:off x="2628900" y="2870200"/>
            <a:ext cx="6934200" cy="1758950"/>
            <a:chOff x="2628900" y="2870200"/>
            <a:chExt cx="6934200" cy="1758950"/>
          </a:xfrm>
        </p:grpSpPr>
        <p:sp>
          <p:nvSpPr>
            <p:cNvPr id="5" name="Line 5"/>
            <p:cNvSpPr/>
            <p:nvPr/>
          </p:nvSpPr>
          <p:spPr>
            <a:xfrm>
              <a:off x="3467100" y="36195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4991100" y="36195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515100" y="36195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39100" y="36195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628900" y="3200400"/>
              <a:ext cx="838200" cy="838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971800" y="3543300"/>
              <a:ext cx="152400" cy="152400"/>
              <a:chOff x="2971800" y="3543300"/>
              <a:chExt cx="152400" cy="152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987090" y="3562350"/>
                <a:ext cx="118060" cy="118060"/>
              </a:xfrm>
              <a:custGeom>
                <a:avLst/>
                <a:gdLst/>
                <a:ahLst/>
                <a:cxnLst/>
                <a:rect l="l" t="t" r="r" b="b"/>
                <a:pathLst>
                  <a:path w="118060" h="118060">
                    <a:moveTo>
                      <a:pt x="39813" y="0"/>
                    </a:moveTo>
                    <a:lnTo>
                      <a:pt x="118060" y="78248"/>
                    </a:lnTo>
                    <a:lnTo>
                      <a:pt x="98496" y="97812"/>
                    </a:lnTo>
                    <a:cubicBezTo>
                      <a:pt x="84613" y="112251"/>
                      <a:pt x="64012" y="118060"/>
                      <a:pt x="44631" y="113003"/>
                    </a:cubicBezTo>
                    <a:cubicBezTo>
                      <a:pt x="25250" y="107945"/>
                      <a:pt x="10115" y="92810"/>
                      <a:pt x="5058" y="73429"/>
                    </a:cubicBezTo>
                    <a:cubicBezTo>
                      <a:pt x="0" y="54048"/>
                      <a:pt x="5810" y="33447"/>
                      <a:pt x="20248" y="19564"/>
                    </a:cubicBezTo>
                    <a:lnTo>
                      <a:pt x="3981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971800" y="3662362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33338"/>
                    </a:move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043238" y="354330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090862" y="3590925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838450" y="28702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52900" y="3200400"/>
              <a:ext cx="838200" cy="838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486275" y="3533775"/>
              <a:ext cx="171450" cy="171450"/>
              <a:chOff x="4486275" y="3533775"/>
              <a:chExt cx="171450" cy="1714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486275" y="35337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600575" y="36480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362450" y="28702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查询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676900" y="3200400"/>
              <a:ext cx="838200" cy="838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019800" y="3562350"/>
              <a:ext cx="152400" cy="133350"/>
              <a:chOff x="6019800" y="3562350"/>
              <a:chExt cx="152400" cy="1333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19800" y="3686175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019800" y="35623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85725"/>
                    </a:moveTo>
                    <a:lnTo>
                      <a:pt x="38100" y="28575"/>
                    </a:lnTo>
                    <a:lnTo>
                      <a:pt x="76200" y="47625"/>
                    </a:lnTo>
                    <a:lnTo>
                      <a:pt x="114300" y="0"/>
                    </a:lnTo>
                    <a:lnTo>
                      <a:pt x="152400" y="38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886450" y="28702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200900" y="3200400"/>
              <a:ext cx="838200" cy="838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534275" y="3543300"/>
              <a:ext cx="171450" cy="161925"/>
              <a:chOff x="7534275" y="3543300"/>
              <a:chExt cx="171450" cy="1619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534275" y="361950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648575" y="358140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591425" y="354330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543800" y="36957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410450" y="28702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报表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724900" y="3200400"/>
              <a:ext cx="838200" cy="838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054308" y="3533775"/>
              <a:ext cx="179383" cy="171450"/>
              <a:chOff x="9054308" y="3533775"/>
              <a:chExt cx="179383" cy="1714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054308" y="3533775"/>
                <a:ext cx="17938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9383" h="171450">
                    <a:moveTo>
                      <a:pt x="89692" y="0"/>
                    </a:moveTo>
                    <a:cubicBezTo>
                      <a:pt x="111940" y="19684"/>
                      <a:pt x="140979" y="29933"/>
                      <a:pt x="170654" y="28575"/>
                    </a:cubicBezTo>
                    <a:cubicBezTo>
                      <a:pt x="179383" y="58269"/>
                      <a:pt x="175697" y="90235"/>
                      <a:pt x="160438" y="117163"/>
                    </a:cubicBezTo>
                    <a:cubicBezTo>
                      <a:pt x="145178" y="144091"/>
                      <a:pt x="119651" y="163679"/>
                      <a:pt x="89692" y="171450"/>
                    </a:cubicBezTo>
                    <a:cubicBezTo>
                      <a:pt x="59732" y="163679"/>
                      <a:pt x="34205" y="144091"/>
                      <a:pt x="18946" y="117163"/>
                    </a:cubicBezTo>
                    <a:cubicBezTo>
                      <a:pt x="3686" y="90235"/>
                      <a:pt x="0" y="58269"/>
                      <a:pt x="8729" y="28575"/>
                    </a:cubicBezTo>
                    <a:cubicBezTo>
                      <a:pt x="38405" y="29933"/>
                      <a:pt x="67443" y="19684"/>
                      <a:pt x="89692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134475" y="36004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144000" y="3619500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934450" y="28702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3048000" y="4038600"/>
              <a:ext cx="6096000" cy="590550"/>
            </a:xfrm>
            <a:custGeom>
              <a:avLst/>
              <a:gdLst/>
              <a:ahLst/>
              <a:cxnLst/>
              <a:rect l="l" t="t" r="r" b="b"/>
              <a:pathLst>
                <a:path w="6096000" h="590550">
                  <a:moveTo>
                    <a:pt x="6096000" y="0"/>
                  </a:moveTo>
                  <a:cubicBezTo>
                    <a:pt x="6096000" y="590550"/>
                    <a:pt x="0" y="590550"/>
                    <a:pt x="0" y="0"/>
                  </a:cubicBezTo>
                </a:path>
              </a:pathLst>
            </a:custGeom>
            <a:noFill/>
            <a:ln w="19050">
              <a:solidFill>
                <a:schemeClr val="accent1">
                  <a:alpha val="35000"/>
                </a:schemeClr>
              </a:solidFill>
              <a:custDash>
                <a:ds d="300000" sp="300000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2990850" y="4038600"/>
              <a:ext cx="114300" cy="152400"/>
            </a:xfrm>
            <a:prstGeom prst="upArrow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3" name="p23-action"/>
          <p:cNvGrpSpPr/>
          <p:nvPr/>
        </p:nvGrpSpPr>
        <p:grpSpPr>
          <a:xfrm>
            <a:off x="2815590" y="5118100"/>
            <a:ext cx="6560820" cy="352044"/>
            <a:chOff x="2815590" y="5118100"/>
            <a:chExt cx="6560820" cy="352044"/>
          </a:xfrm>
        </p:grpSpPr>
        <p:sp>
          <p:nvSpPr>
            <p:cNvPr id="42" name="TextBox 42"/>
            <p:cNvSpPr txBox="1"/>
            <p:nvPr/>
          </p:nvSpPr>
          <p:spPr>
            <a:xfrm>
              <a:off x="2815590" y="511810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选一个团队、接一个数据源、跑通一次「取数到报表」的闭环</a:t>
              </a:r>
            </a:p>
          </p:txBody>
        </p:sp>
      </p:grpSp>
      <p:grpSp>
        <p:nvGrpSpPr>
          <p:cNvPr id="45" name="p23-thanks"/>
          <p:cNvGrpSpPr/>
          <p:nvPr/>
        </p:nvGrpSpPr>
        <p:grpSpPr>
          <a:xfrm>
            <a:off x="4555093" y="5740400"/>
            <a:ext cx="3081814" cy="264033"/>
            <a:chOff x="4555093" y="5740400"/>
            <a:chExt cx="3081814" cy="264033"/>
          </a:xfrm>
        </p:grpSpPr>
        <p:sp>
          <p:nvSpPr>
            <p:cNvPr id="44" name="TextBox 44"/>
            <p:cNvSpPr txBox="1"/>
            <p:nvPr/>
          </p:nvSpPr>
          <p:spPr>
            <a:xfrm>
              <a:off x="4555093" y="5740400"/>
              <a:ext cx="30818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感谢聆听 · DataMind 团队 · 2026-10</a:t>
              </a:r>
            </a:p>
          </p:txBody>
        </p:sp>
      </p:grpSp>
      <p:grpSp>
        <p:nvGrpSpPr>
          <p:cNvPr id="48" name="p23-footer"/>
          <p:cNvGrpSpPr/>
          <p:nvPr/>
        </p:nvGrpSpPr>
        <p:grpSpPr>
          <a:xfrm>
            <a:off x="604266" y="6464300"/>
            <a:ext cx="10983468" cy="205359"/>
            <a:chOff x="604266" y="6464300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464300"/>
              <a:ext cx="22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DataMind · 数据库 Agent Web 应用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03540" y="64643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atamind">
  <a:themeElements>
    <a:clrScheme name="datamind">
      <a:dk1>
        <a:srgbClr val="101828"/>
      </a:dk1>
      <a:lt1>
        <a:srgbClr val="FFFFFF"/>
      </a:lt1>
      <a:dk2>
        <a:srgbClr val="1F497D"/>
      </a:dk2>
      <a:lt2>
        <a:srgbClr val="F2F5F9"/>
      </a:lt2>
      <a:accent1>
        <a:srgbClr val="0B5FFF"/>
      </a:accent1>
      <a:accent2>
        <a:srgbClr val="00B4D8"/>
      </a:accent2>
      <a:accent3>
        <a:srgbClr val="7A93B8"/>
      </a:accent3>
      <a:accent4>
        <a:srgbClr val="0B5FFF"/>
      </a:accent4>
      <a:accent5>
        <a:srgbClr val="5A6B85"/>
      </a:accent5>
      <a:accent6>
        <a:srgbClr val="DCE3ED"/>
      </a:accent6>
      <a:hlink>
        <a:srgbClr val="00B4D8"/>
      </a:hlink>
      <a:folHlink>
        <a:srgbClr val="7A93B8"/>
      </a:folHlink>
    </a:clrScheme>
    <a:fontScheme name="datamin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tami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atamind">
  <a:themeElements>
    <a:clrScheme name="datamind">
      <a:dk1>
        <a:srgbClr val="101828"/>
      </a:dk1>
      <a:lt1>
        <a:srgbClr val="FFFFFF"/>
      </a:lt1>
      <a:dk2>
        <a:srgbClr val="1F497D"/>
      </a:dk2>
      <a:lt2>
        <a:srgbClr val="F2F5F9"/>
      </a:lt2>
      <a:accent1>
        <a:srgbClr val="0B5FFF"/>
      </a:accent1>
      <a:accent2>
        <a:srgbClr val="00B4D8"/>
      </a:accent2>
      <a:accent3>
        <a:srgbClr val="7A93B8"/>
      </a:accent3>
      <a:accent4>
        <a:srgbClr val="0B5FFF"/>
      </a:accent4>
      <a:accent5>
        <a:srgbClr val="5A6B85"/>
      </a:accent5>
      <a:accent6>
        <a:srgbClr val="DCE3ED"/>
      </a:accent6>
      <a:hlink>
        <a:srgbClr val="00B4D8"/>
      </a:hlink>
      <a:folHlink>
        <a:srgbClr val="7A93B8"/>
      </a:folHlink>
    </a:clrScheme>
    <a:fontScheme name="datamin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tami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2026-10-14T15:02:01Z</dcterms:created>
  <dcterms:modified xsi:type="dcterms:W3CDTF">2026-10-14T15:02:01Z</dcterms:modified>
  <cp:category/>
  <cp:contentStatus/>
</cp:coreProperties>
</file>