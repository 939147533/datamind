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Default Extension="mp4" ContentType="video/mp4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3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  <Relationship Id="rId31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这是一个前后端分离、AI Agent 驱动的数据库查询与运维工作台。</a:t>
            </a:r>
          </a:p>
          <a:p>
            <a:pPr/>
            <a:endParaRPr lang="zh-CN" dirty="0"/>
          </a:p>
          <a:p>
            <a:pPr/>
            <a:r>
              <a:rPr lang="zh-CN" dirty="0"/>
              <a:t>一句话说清用户价值：不会 SQL 的人也能查询，会 SQL 的人更快。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先给观众一个清晰的路线图：从为什么做，到产品能力、技术亮点，再到工程治理。</a:t>
            </a:r>
          </a:p>
          <a:p>
            <a:pPr/>
            <a:endParaRPr lang="zh-CN" dirty="0"/>
          </a:p>
          <a:p>
            <a:pPr/>
            <a:r>
              <a:rPr lang="zh-CN" dirty="0"/>
              <a:t>说明后续每一部分都服务于同一个判断：这是一个可运行、可测试、可部署的完整产品。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先给观众一个清晰的路线图：从为什么做，到产品能力、技术亮点，再到工程治理。</a:t>
            </a:r>
          </a:p>
          <a:p>
            <a:pPr/>
            <a:endParaRPr lang="zh-CN" dirty="0"/>
          </a:p>
          <a:p>
            <a:pPr/>
            <a:r>
              <a:rPr lang="zh-CN" dirty="0"/>
              <a:t>说明后续每一部分都服务于同一个判断：这是一个可运行、可测试、可部署的完整产品。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用真实工作流举例：产品经理打开网页，输入“本月新增用户按日分组”，系统生成 SQL、返回结果，并可一键生成图表。</a:t>
            </a:r>
          </a:p>
          <a:p>
            <a:pPr/>
            <a:endParaRPr lang="zh-CN" dirty="0"/>
          </a:p>
          <a:p>
            <a:pPr/>
            <a:r>
              <a:rPr lang="zh-CN" dirty="0"/>
              <a:t>不要逐条念，重点突出从“会写 SQL”到“会描述需求”的降低门槛。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用真实工作流举例：产品经理打开网页，输入“本月新增用户按日分组”，系统生成 SQL、返回结果，并可一键生成图表。</a:t>
            </a:r>
          </a:p>
          <a:p>
            <a:pPr/>
            <a:endParaRPr lang="zh-CN" dirty="0"/>
          </a:p>
          <a:p>
            <a:pPr/>
            <a:r>
              <a:rPr lang="zh-CN" dirty="0"/>
              <a:t>不要逐条念，重点突出从“会写 SQL”到“会描述需求”的降低门槛。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先给观众一个清晰的路线图：从为什么做，到产品能力、技术亮点，再到工程治理。</a:t>
            </a:r>
          </a:p>
          <a:p>
            <a:pPr/>
            <a:endParaRPr lang="zh-CN" dirty="0"/>
          </a:p>
          <a:p>
            <a:pPr/>
            <a:r>
              <a:rPr lang="zh-CN" dirty="0"/>
              <a:t>说明后续每一部分都服务于同一个判断：这是一个可运行、可测试、可部署的完整产品。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不逐条念功能，强调模块围绕工作流组织：连接、查询、分析、报表、管理。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播放视频，包含两个查询案例：</a:t>
            </a:r>
          </a:p>
          <a:p>
            <a:pPr/>
            <a:endParaRPr lang="zh-CN" dirty="0"/>
          </a:p>
          <a:p>
            <a:pPr/>
            <a:r>
              <a:rPr lang="zh-CN" dirty="0"/>
              <a:t>案例一：选择「本地演示库 (SQLite)」，提问「查询所有用户信息」，Agent 生成 SELECT id, username, email, age, created_at FROM users 并返回 8 条记录；</a:t>
            </a:r>
          </a:p>
          <a:p>
            <a:pPr/>
            <a:endParaRPr lang="zh-CN" dirty="0"/>
          </a:p>
          <a:p>
            <a:pPr/>
            <a:r>
              <a:rPr lang="zh-CN" dirty="0"/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播放视频，数据源为 Oracle（UAT）：</a:t>
            </a:r>
          </a:p>
          <a:p>
            <a:pPr/>
            <a:endParaRPr lang="zh-CN" dirty="0"/>
          </a:p>
          <a:p>
            <a:pPr/>
            <a:r>
              <a:rPr lang="zh-CN" dirty="0"/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>
            <a:pPr/>
            <a:endParaRPr lang="zh-CN" dirty="0"/>
          </a:p>
          <a:p>
            <a:pPr/>
            <a:r>
              <a:rPr lang="zh-CN" dirty="0"/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>
            <a:pPr/>
            <a:endParaRPr lang="zh-CN" dirty="0"/>
          </a:p>
          <a:p>
            <a:pPr/>
            <a:r>
              <a:rPr lang="zh-CN" dirty="0"/>
              <a:t>结尾进入「可视化报表」页，可见刚保存的两张图表（笔数与金额量级差异大时前端自动拆分双 Y 轴）。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播放视频，完整演示 SQL 工作台与 Agent 协同：</a:t>
            </a:r>
          </a:p>
          <a:p>
            <a:pPr/>
            <a:endParaRPr lang="zh-CN" dirty="0"/>
          </a:p>
          <a:p>
            <a:pPr/>
            <a:r>
              <a:rPr lang="zh-CN" dirty="0"/>
              <a:t>案例一：数据源切换为「OceanBase（本地）」，在编辑器输入 SELECT * FROM `t_org`; 并点击「▶ 执行」，返回 55 行机构数据；</a:t>
            </a:r>
          </a:p>
          <a:p>
            <a:pPr/>
            <a:endParaRPr lang="zh-CN" dirty="0"/>
          </a:p>
          <a:p>
            <a:pPr/>
            <a:r>
              <a:rPr lang="zh-CN" dirty="0"/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>
            <a:pPr/>
            <a:endParaRPr lang="zh-CN" dirty="0"/>
          </a:p>
          <a:p>
            <a:pPr/>
            <a:r>
              <a:rPr lang="zh-CN" dirty="0"/>
              <a:t>结尾依次切换左侧「历史」页签（本次两条 SQL 的执行记录，含行数与耗时）与「收藏」页签（新增的收藏项排在首位）。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播放视频，三个写操作场景均需人工确认：</a:t>
            </a:r>
          </a:p>
          <a:p>
            <a:pPr/>
            <a:endParaRPr lang="zh-CN" dirty="0"/>
          </a:p>
          <a:p>
            <a:pPr/>
            <a:r>
              <a:rPr lang="zh-CN" dirty="0"/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>
            <a:pPr/>
            <a:endParaRPr lang="zh-CN" dirty="0"/>
          </a:p>
          <a:p>
            <a:pPr/>
            <a:r>
              <a:rPr lang="zh-CN" dirty="0"/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>
            <a:pPr/>
            <a:endParaRPr lang="zh-CN" dirty="0"/>
          </a:p>
          <a:p>
            <a:pPr/>
            <a:r>
              <a:rPr lang="zh-CN" dirty="0"/>
              <a:t>案例三（高危操作被拦下）：继续输入「删除用户表」，Agent 生成 DROP TABLE `t_user`，同样红色高危提示，点「取消」后提示「已取消执行」，表未被删除。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播放视频，四个监控能力依次演示：</a:t>
            </a:r>
          </a:p>
          <a:p>
            <a:pPr/>
            <a:endParaRPr lang="zh-CN" dirty="0"/>
          </a:p>
          <a:p>
            <a:pPr/>
            <a:r>
              <a:rPr lang="zh-CN" dirty="0"/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>
            <a:pPr/>
            <a:endParaRPr lang="zh-CN" dirty="0"/>
          </a:p>
          <a:p>
            <a:pPr/>
            <a:r>
              <a:rPr lang="zh-CN" dirty="0"/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>
            <a:pPr/>
            <a:endParaRPr lang="zh-CN" dirty="0"/>
          </a:p>
          <a:p>
            <a:pPr/>
            <a:r>
              <a:rPr lang="zh-CN" dirty="0"/>
              <a:t>第三步：切到「慢查询」，把耗时阈值从默认 1000ms 改为 100ms 并点击「查询」，列出超过阈值的慢 SQL（含数据源、耗时、行数、状态、SQL、时间）；</a:t>
            </a:r>
          </a:p>
          <a:p>
            <a:pPr/>
            <a:endParaRPr lang="zh-CN" dirty="0"/>
          </a:p>
          <a:p>
            <a:pPr/>
            <a:r>
              <a:rPr lang="zh-CN" dirty="0"/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播放视频，两步验证连接可用性：</a:t>
            </a:r>
          </a:p>
          <a:p>
            <a:pPr/>
            <a:endParaRPr lang="zh-CN" dirty="0"/>
          </a:p>
          <a:p>
            <a:pPr/>
            <a:r>
              <a:rPr lang="zh-CN" dirty="0"/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>
            <a:pPr/>
            <a:endParaRPr lang="zh-CN" dirty="0"/>
          </a:p>
          <a:p>
            <a:pPr/>
            <a:r>
              <a:rPr lang="zh-CN" dirty="0"/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播放视频，从用户到角色依次演示：</a:t>
            </a:r>
          </a:p>
          <a:p>
            <a:pPr/>
            <a:endParaRPr lang="zh-CN" dirty="0"/>
          </a:p>
          <a:p>
            <a:pPr/>
            <a:r>
              <a:rPr lang="zh-CN" dirty="0"/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>
            <a:pPr/>
            <a:endParaRPr lang="zh-CN" dirty="0"/>
          </a:p>
          <a:p>
            <a:pPr/>
            <a:r>
              <a:rPr lang="zh-CN" dirty="0"/>
              <a:t>第二步：切到「角色管理」，左侧列出 5 个内置角色（管理员 / 技术管理 / 技术查询 / 业务管理 / 业务查询）；</a:t>
            </a:r>
          </a:p>
          <a:p>
            <a:pPr/>
            <a:endParaRPr lang="zh-CN" dirty="0"/>
          </a:p>
          <a:p>
            <a:pPr/>
            <a:r>
              <a:rPr lang="zh-CN" dirty="0"/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先给观众一个清晰的路线图：从为什么做，到产品能力、技术亮点，再到工程治理。</a:t>
            </a:r>
          </a:p>
          <a:p>
            <a:pPr/>
            <a:endParaRPr lang="zh-CN" dirty="0"/>
          </a:p>
          <a:p>
            <a:pPr/>
            <a:r>
              <a:rPr lang="zh-CN" dirty="0"/>
              <a:t>说明后续每一部分都服务于同一个判断：这是一个可运行、可测试、可部署的完整产品。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强调 Agent 能力的层次：不只是生成 SQL，还包括 Schema 感知、多轮对话、解释优化和流式输出。</a:t>
            </a:r>
          </a:p>
          <a:p>
            <a:pPr/>
            <a:endParaRPr lang="zh-CN" dirty="0"/>
          </a:p>
          <a:p>
            <a:pPr/>
            <a:r>
              <a:rPr lang="zh-CN" dirty="0"/>
              <a:t>下一页会展开工程实现中的工具调用与失败重试。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这是项目的信任基础：让 AI 能生成 SQL，但不让 AI 拥有不受控的写权限。</a:t>
            </a:r>
          </a:p>
          <a:p>
            <a:pPr/>
            <a:endParaRPr lang="zh-CN" dirty="0"/>
          </a:p>
          <a:p>
            <a:pPr/>
            <a:r>
              <a:rPr lang="zh-CN" dirty="0"/>
              <a:t>可对比“直接给 AI 数据库权限”的传统做法，突出安全设计。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审计与监控是系统可治理的体现，也是企业级部署的关键。</a:t>
            </a:r>
          </a:p>
          <a:p>
            <a:pPr/>
            <a:endParaRPr lang="zh-CN" dirty="0"/>
          </a:p>
          <a:p>
            <a:pPr/>
            <a:r>
              <a:rPr lang="zh-CN" dirty="0"/>
              <a:t>强调审计导出与自动清理，以及 Prometheus 指标对运维友好。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企业级完整性：加密、分级授权、全量审计、指标与测试。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先给观众一个清晰的路线图：从为什么做，到产品能力、技术亮点，再到工程治理。</a:t>
            </a:r>
          </a:p>
          <a:p>
            <a:pPr/>
            <a:endParaRPr lang="zh-CN" dirty="0"/>
          </a:p>
          <a:p>
            <a:pPr/>
            <a:r>
              <a:rPr lang="zh-CN" dirty="0"/>
              <a:t>说明后续每一部分都服务于同一个判断：这是一个可运行、可测试、可部署的完整产品。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重点讲“同一套 Agent 工具如何屏蔽数据库方言差异”。</a:t>
            </a:r>
          </a:p>
          <a:p>
            <a:pPr/>
            <a:endParaRPr lang="zh-CN" dirty="0"/>
          </a:p>
          <a:p>
            <a:pPr/>
            <a:r>
              <a:rPr lang="zh-CN" dirty="0"/>
              <a:t>例如获取表结构在不同数据库里调用不同 SQL，但上层服务无感知。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定位一句话：不会 SQL 的人也能查数，会 SQL 的人更快。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定位一句话：不会 SQL 的人也能查数，会 SQL 的人更快。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收尾回到用户价值，并给出下一步计划。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atamind_templa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atamind_templat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8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65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image" Target="../media/image_75a126d3f6fbb13a.png"/>
  <Relationship Id="rId4" Type="http://schemas.openxmlformats.org/officeDocument/2006/relationships/notesSlide" Target="../notesSlides/notesSlide8.xml"/>
<Relationship Id="rId900" Type="http://schemas.openxmlformats.org/officeDocument/2006/relationships/video" Target="../media/media1.mp4"/><Relationship Id="rId901" Type="http://schemas.microsoft.com/office/2007/relationships/media" Target="../media/media1.mp4"/>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image" Target="../media/image_d19c63ee2c815899.png"/>
  <Relationship Id="rId4" Type="http://schemas.openxmlformats.org/officeDocument/2006/relationships/notesSlide" Target="../notesSlides/notesSlide9.xml"/>
<Relationship Id="rId900" Type="http://schemas.openxmlformats.org/officeDocument/2006/relationships/video" Target="../media/media2.mp4"/><Relationship Id="rId901" Type="http://schemas.microsoft.com/office/2007/relationships/media" Target="../media/media2.mp4"/>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image" Target="../media/image_85e07058b7ea32ae.png"/>
  <Relationship Id="rId4" Type="http://schemas.openxmlformats.org/officeDocument/2006/relationships/notesSlide" Target="../notesSlides/notesSlide10.xml"/>
<Relationship Id="rId900" Type="http://schemas.openxmlformats.org/officeDocument/2006/relationships/video" Target="../media/media3.mp4"/><Relationship Id="rId901" Type="http://schemas.microsoft.com/office/2007/relationships/media" Target="../media/media3.mp4"/>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image" Target="../media/image_971e1673ab4631f6.png"/>
  <Relationship Id="rId4" Type="http://schemas.openxmlformats.org/officeDocument/2006/relationships/notesSlide" Target="../notesSlides/notesSlide11.xml"/>
<Relationship Id="rId900" Type="http://schemas.openxmlformats.org/officeDocument/2006/relationships/video" Target="../media/media4.mp4"/><Relationship Id="rId901" Type="http://schemas.microsoft.com/office/2007/relationships/media" Target="../media/media4.mp4"/>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image" Target="../media/image_a1d22fa9b356f45b.png"/>
  <Relationship Id="rId4" Type="http://schemas.openxmlformats.org/officeDocument/2006/relationships/notesSlide" Target="../notesSlides/notesSlide12.xml"/>
<Relationship Id="rId900" Type="http://schemas.openxmlformats.org/officeDocument/2006/relationships/video" Target="../media/media5.mp4"/><Relationship Id="rId901" Type="http://schemas.microsoft.com/office/2007/relationships/media" Target="../media/media5.mp4"/>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image" Target="../media/image_635cfc78520abe00.png"/>
  <Relationship Id="rId4" Type="http://schemas.openxmlformats.org/officeDocument/2006/relationships/notesSlide" Target="../notesSlides/notesSlide13.xml"/>
<Relationship Id="rId900" Type="http://schemas.openxmlformats.org/officeDocument/2006/relationships/video" Target="../media/media6.mp4"/><Relationship Id="rId901" Type="http://schemas.microsoft.com/office/2007/relationships/media" Target="../media/media6.mp4"/>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image" Target="../media/image_8062caf37d40f157.png"/>
  <Relationship Id="rId4" Type="http://schemas.openxmlformats.org/officeDocument/2006/relationships/notesSlide" Target="../notesSlides/notesSlide14.xml"/>
<Relationship Id="rId900" Type="http://schemas.openxmlformats.org/officeDocument/2006/relationships/video" Target="../media/media7.mp4"/><Relationship Id="rId901" Type="http://schemas.microsoft.com/office/2007/relationships/media" Target="../media/media7.mp4"/>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78c77f43bbf06de3.png"/>
  <Relationship Id="rId3" Type="http://schemas.openxmlformats.org/officeDocument/2006/relationships/notesSlide" Target="../notesSlides/notesSlide24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6096000" y="1714500"/>
            <a:ext cx="6096000" cy="5143500"/>
          </a:xfrm>
          <a:custGeom>
            <a:avLst/>
            <a:gdLst/>
            <a:ahLst/>
            <a:cxnLst/>
            <a:rect l="l" t="t" r="r" b="b"/>
            <a:pathLst>
              <a:path w="6096000" h="5143500">
                <a:moveTo>
                  <a:pt x="0" y="5143500"/>
                </a:moveTo>
                <a:lnTo>
                  <a:pt x="6096000" y="0"/>
                </a:lnTo>
              </a:path>
            </a:pathLst>
          </a:custGeom>
          <a:noFill/>
          <a:ln w="9525">
            <a:solidFill>
              <a:srgbClr val="F1F2F4"/>
            </a:solidFill>
          </a:ln>
        </p:spPr>
      </p:sp>
      <p:sp>
        <p:nvSpPr>
          <p:cNvPr id="3" name="Line 3"/>
          <p:cNvSpPr/>
          <p:nvPr/>
        </p:nvSpPr>
        <p:spPr>
          <a:xfrm>
            <a:off x="6858000" y="2476500"/>
            <a:ext cx="5334000" cy="4381500"/>
          </a:xfrm>
          <a:custGeom>
            <a:avLst/>
            <a:gdLst/>
            <a:ahLst/>
            <a:cxnLst/>
            <a:rect l="l" t="t" r="r" b="b"/>
            <a:pathLst>
              <a:path w="5334000" h="4381500">
                <a:moveTo>
                  <a:pt x="0" y="4381500"/>
                </a:moveTo>
                <a:lnTo>
                  <a:pt x="5334000" y="0"/>
                </a:lnTo>
              </a:path>
            </a:pathLst>
          </a:custGeom>
          <a:noFill/>
          <a:ln w="9525">
            <a:solidFill>
              <a:srgbClr val="F1F2F4"/>
            </a:solidFill>
          </a:ln>
        </p:spPr>
      </p:sp>
      <p:sp>
        <p:nvSpPr>
          <p:cNvPr id="4" name="Line 4"/>
          <p:cNvSpPr/>
          <p:nvPr/>
        </p:nvSpPr>
        <p:spPr>
          <a:xfrm>
            <a:off x="7620000" y="3238500"/>
            <a:ext cx="4572000" cy="3619500"/>
          </a:xfrm>
          <a:custGeom>
            <a:avLst/>
            <a:gdLst/>
            <a:ahLst/>
            <a:cxnLst/>
            <a:rect l="l" t="t" r="r" b="b"/>
            <a:pathLst>
              <a:path w="4572000" h="3619500">
                <a:moveTo>
                  <a:pt x="0" y="361950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F1F2F4"/>
            </a:solidFill>
          </a:ln>
        </p:spPr>
      </p:sp>
      <p:sp>
        <p:nvSpPr>
          <p:cNvPr id="5" name="Line 5"/>
          <p:cNvSpPr/>
          <p:nvPr/>
        </p:nvSpPr>
        <p:spPr>
          <a:xfrm>
            <a:off x="8382000" y="4000500"/>
            <a:ext cx="3810000" cy="2857500"/>
          </a:xfrm>
          <a:custGeom>
            <a:avLst/>
            <a:gdLst/>
            <a:ahLst/>
            <a:cxnLst/>
            <a:rect l="l" t="t" r="r" b="b"/>
            <a:pathLst>
              <a:path w="3810000" h="2857500">
                <a:moveTo>
                  <a:pt x="0" y="2857500"/>
                </a:moveTo>
                <a:lnTo>
                  <a:pt x="3810000" y="0"/>
                </a:lnTo>
              </a:path>
            </a:pathLst>
          </a:custGeom>
          <a:noFill/>
          <a:ln w="9525">
            <a:solidFill>
              <a:srgbClr val="F1F2F4"/>
            </a:solidFill>
          </a:ln>
        </p:spPr>
      </p:sp>
      <p:sp>
        <p:nvSpPr>
          <p:cNvPr id="6" name="Line 6"/>
          <p:cNvSpPr/>
          <p:nvPr/>
        </p:nvSpPr>
        <p:spPr>
          <a:xfrm>
            <a:off x="9144000" y="4762500"/>
            <a:ext cx="3048000" cy="2095500"/>
          </a:xfrm>
          <a:custGeom>
            <a:avLst/>
            <a:gdLst/>
            <a:ahLst/>
            <a:cxnLst/>
            <a:rect l="l" t="t" r="r" b="b"/>
            <a:pathLst>
              <a:path w="3048000" h="2095500">
                <a:moveTo>
                  <a:pt x="0" y="2095500"/>
                </a:moveTo>
                <a:lnTo>
                  <a:pt x="3048000" y="0"/>
                </a:lnTo>
              </a:path>
            </a:pathLst>
          </a:custGeom>
          <a:noFill/>
          <a:ln w="9525">
            <a:solidFill>
              <a:srgbClr val="F1F2F4"/>
            </a:solidFill>
          </a:ln>
        </p:spPr>
      </p:sp>
      <p:sp>
        <p:nvSpPr>
          <p:cNvPr id="7" name="Line 7"/>
          <p:cNvSpPr/>
          <p:nvPr/>
        </p:nvSpPr>
        <p:spPr>
          <a:xfrm>
            <a:off x="9906000" y="5524500"/>
            <a:ext cx="2286000" cy="1333500"/>
          </a:xfrm>
          <a:custGeom>
            <a:avLst/>
            <a:gdLst/>
            <a:ahLst/>
            <a:cxnLst/>
            <a:rect l="l" t="t" r="r" b="b"/>
            <a:pathLst>
              <a:path w="2286000" h="1333500">
                <a:moveTo>
                  <a:pt x="0" y="1333500"/>
                </a:moveTo>
                <a:lnTo>
                  <a:pt x="2286000" y="0"/>
                </a:lnTo>
              </a:path>
            </a:pathLst>
          </a:custGeom>
          <a:noFill/>
          <a:ln w="9525">
            <a:solidFill>
              <a:srgbClr val="F1F2F4"/>
            </a:solidFill>
          </a:ln>
        </p:spPr>
      </p:sp>
      <p:sp>
        <p:nvSpPr>
          <p:cNvPr id="8" name="Line 8"/>
          <p:cNvSpPr/>
          <p:nvPr/>
        </p:nvSpPr>
        <p:spPr>
          <a:xfrm>
            <a:off x="10668000" y="6286500"/>
            <a:ext cx="1524000" cy="571500"/>
          </a:xfrm>
          <a:custGeom>
            <a:avLst/>
            <a:gdLst/>
            <a:ahLst/>
            <a:cxnLst/>
            <a:rect l="l" t="t" r="r" b="b"/>
            <a:pathLst>
              <a:path w="1524000" h="571500">
                <a:moveTo>
                  <a:pt x="0" y="571500"/>
                </a:moveTo>
                <a:lnTo>
                  <a:pt x="1524000" y="0"/>
                </a:lnTo>
              </a:path>
            </a:pathLst>
          </a:custGeom>
          <a:noFill/>
          <a:ln w="9525">
            <a:solidFill>
              <a:srgbClr val="F1F2F4"/>
            </a:solidFill>
          </a:ln>
        </p:spPr>
      </p:sp>
      <p:pic>
        <p:nvPicPr>
          <p:cNvPr id="9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10" name="cover-title"/>
          <p:cNvSpPr txBox="1"/>
          <p:nvPr/>
        </p:nvSpPr>
        <p:spPr>
          <a:xfrm>
            <a:off x="3355814" y="2120900"/>
            <a:ext cx="5480373" cy="1162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60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DataMind</a:t>
            </a:r>
          </a:p>
        </p:txBody>
      </p:sp>
      <p:sp>
        <p:nvSpPr>
          <p:cNvPr id="11" name="cover-rule"/>
          <p:cNvSpPr/>
          <p:nvPr/>
        </p:nvSpPr>
        <p:spPr>
          <a:xfrm>
            <a:off x="5638800" y="3162300"/>
            <a:ext cx="9144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cover-subtitle"/>
          <p:cNvSpPr txBox="1"/>
          <p:nvPr/>
        </p:nvSpPr>
        <p:spPr>
          <a:xfrm>
            <a:off x="3756547" y="3416300"/>
            <a:ext cx="467890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数据库 Agent Web 应用</a:t>
            </a:r>
          </a:p>
        </p:txBody>
      </p:sp>
      <p:sp>
        <p:nvSpPr>
          <p:cNvPr id="13" name="cover-claim"/>
          <p:cNvSpPr txBox="1"/>
          <p:nvPr/>
        </p:nvSpPr>
        <p:spPr>
          <a:xfrm>
            <a:off x="1081412" y="3975100"/>
            <a:ext cx="1002917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让不会写 SQL 的业务人员也能安全地查数据，会写 SQL 的技术人员更高效。</a:t>
            </a:r>
          </a:p>
        </p:txBody>
      </p:sp>
      <p:grpSp>
        <p:nvGrpSpPr>
          <p:cNvPr id="20" name="cover-tags"/>
          <p:cNvGrpSpPr/>
          <p:nvPr/>
        </p:nvGrpSpPr>
        <p:grpSpPr>
          <a:xfrm>
            <a:off x="3590925" y="4762500"/>
            <a:ext cx="5010150" cy="342900"/>
            <a:chOff x="3590925" y="4762500"/>
            <a:chExt cx="5010150" cy="342900"/>
          </a:xfrm>
        </p:grpSpPr>
        <p:sp>
          <p:nvSpPr>
            <p:cNvPr id="14" name="Rectangle 14"/>
            <p:cNvSpPr/>
            <p:nvPr/>
          </p:nvSpPr>
          <p:spPr>
            <a:xfrm>
              <a:off x="3590925" y="4762500"/>
              <a:ext cx="1238250" cy="342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881301" y="4838700"/>
              <a:ext cx="6574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Agent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000625" y="4762500"/>
              <a:ext cx="1714500" cy="342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248861" y="4838700"/>
              <a:ext cx="12180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Multi-Database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86575" y="4762500"/>
              <a:ext cx="1714500" cy="34290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171475" y="4838700"/>
              <a:ext cx="1144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Security First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toc-title"/>
          <p:cNvSpPr txBox="1"/>
          <p:nvPr/>
        </p:nvSpPr>
        <p:spPr>
          <a:xfrm>
            <a:off x="595122" y="723900"/>
            <a:ext cx="917145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目 录</a:t>
            </a:r>
          </a:p>
        </p:txBody>
      </p:sp>
      <p:sp>
        <p:nvSpPr>
          <p:cNvPr id="4" name="toc-rule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9" name="toc-row-1"/>
          <p:cNvGrpSpPr/>
          <p:nvPr/>
        </p:nvGrpSpPr>
        <p:grpSpPr>
          <a:xfrm>
            <a:off x="598170" y="1778000"/>
            <a:ext cx="10984230" cy="822325"/>
            <a:chOff x="598170" y="1778000"/>
            <a:chExt cx="10984230" cy="822325"/>
          </a:xfrm>
        </p:grpSpPr>
        <p:sp>
          <p:nvSpPr>
            <p:cNvPr id="5" name="TextBox 5"/>
            <p:cNvSpPr txBox="1"/>
            <p:nvPr/>
          </p:nvSpPr>
          <p:spPr>
            <a:xfrm>
              <a:off x="598170" y="17780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553718" y="18161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项目背景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55242" y="21590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痛点分析、解决方案、目标用户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609600" y="2590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4" name="toc-row-2"/>
          <p:cNvGrpSpPr/>
          <p:nvPr/>
        </p:nvGrpSpPr>
        <p:grpSpPr>
          <a:xfrm>
            <a:off x="598170" y="2921000"/>
            <a:ext cx="10984230" cy="822325"/>
            <a:chOff x="598170" y="2921000"/>
            <a:chExt cx="10984230" cy="822325"/>
          </a:xfrm>
        </p:grpSpPr>
        <p:sp>
          <p:nvSpPr>
            <p:cNvPr id="10" name="TextBox 10"/>
            <p:cNvSpPr txBox="1"/>
            <p:nvPr/>
          </p:nvSpPr>
          <p:spPr>
            <a:xfrm>
              <a:off x="598170" y="29210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53718" y="29591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系统功能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55242" y="3302000"/>
              <a:ext cx="4364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AI 查询、SQL 工作台、报表、元数据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" y="3733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19" name="toc-row-3"/>
          <p:cNvGrpSpPr/>
          <p:nvPr/>
        </p:nvGrpSpPr>
        <p:grpSpPr>
          <a:xfrm>
            <a:off x="598170" y="4064000"/>
            <a:ext cx="10984230" cy="822325"/>
            <a:chOff x="598170" y="4064000"/>
            <a:chExt cx="10984230" cy="822325"/>
          </a:xfrm>
        </p:grpSpPr>
        <p:sp>
          <p:nvSpPr>
            <p:cNvPr id="15" name="TextBox 15"/>
            <p:cNvSpPr txBox="1"/>
            <p:nvPr/>
          </p:nvSpPr>
          <p:spPr>
            <a:xfrm>
              <a:off x="598170" y="40640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53718" y="41021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技术亮点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55242" y="4445000"/>
              <a:ext cx="45219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Agent 工具调用、安全执行、跨库适配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09600" y="4876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</p:grpSp>
      <p:grpSp>
        <p:nvGrpSpPr>
          <p:cNvPr id="23" name="toc-row-4"/>
          <p:cNvGrpSpPr/>
          <p:nvPr/>
        </p:nvGrpSpPr>
        <p:grpSpPr>
          <a:xfrm>
            <a:off x="598170" y="5207000"/>
            <a:ext cx="3878580" cy="645033"/>
            <a:chOff x="598170" y="5207000"/>
            <a:chExt cx="3878580" cy="645033"/>
          </a:xfrm>
        </p:grpSpPr>
        <p:sp>
          <p:nvSpPr>
            <p:cNvPr id="20" name="TextBox 20"/>
            <p:cNvSpPr txBox="1"/>
            <p:nvPr/>
          </p:nvSpPr>
          <p:spPr>
            <a:xfrm>
              <a:off x="598170" y="520700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53718" y="52451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推广价值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55242" y="5588000"/>
              <a:ext cx="42361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多数据源与大模型支持、多场景适用</a:t>
              </a:r>
            </a:p>
          </p:txBody>
        </p:sp>
      </p:grpSp>
      <p:sp>
        <p:nvSpPr>
          <p:cNvPr id="24" name="Line 24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5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26" name="page-number"/>
          <p:cNvSpPr txBox="1"/>
          <p:nvPr/>
        </p:nvSpPr>
        <p:spPr>
          <a:xfrm>
            <a:off x="11499323" y="6540500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watermark"/>
          <p:cNvGrpSpPr/>
          <p:nvPr/>
        </p:nvGrpSpPr>
        <p:grpSpPr>
          <a:xfrm>
            <a:off x="6667500" y="2286000"/>
            <a:ext cx="5524500" cy="4572000"/>
            <a:chOff x="6667500" y="2286000"/>
            <a:chExt cx="5524500" cy="4572000"/>
          </a:xfrm>
        </p:grpSpPr>
        <p:sp>
          <p:nvSpPr>
            <p:cNvPr id="2" name="Line 2"/>
            <p:cNvSpPr/>
            <p:nvPr/>
          </p:nvSpPr>
          <p:spPr>
            <a:xfrm>
              <a:off x="6667500" y="2286000"/>
              <a:ext cx="5524500" cy="4572000"/>
            </a:xfrm>
            <a:custGeom>
              <a:avLst/>
              <a:gdLst/>
              <a:ahLst/>
              <a:cxnLst/>
              <a:rect l="l" t="t" r="r" b="b"/>
              <a:pathLst>
                <a:path w="5524500" h="4572000">
                  <a:moveTo>
                    <a:pt x="0" y="457200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429500" y="3048000"/>
              <a:ext cx="4762500" cy="3810000"/>
            </a:xfrm>
            <a:custGeom>
              <a:avLst/>
              <a:gdLst/>
              <a:ahLst/>
              <a:cxnLst/>
              <a:rect l="l" t="t" r="r" b="b"/>
              <a:pathLst>
                <a:path w="4762500" h="3810000">
                  <a:moveTo>
                    <a:pt x="0" y="381000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191500" y="3810000"/>
              <a:ext cx="4000500" cy="3048000"/>
            </a:xfrm>
            <a:custGeom>
              <a:avLst/>
              <a:gdLst/>
              <a:ahLst/>
              <a:cxnLst/>
              <a:rect l="l" t="t" r="r" b="b"/>
              <a:pathLst>
                <a:path w="4000500" h="3048000">
                  <a:moveTo>
                    <a:pt x="0" y="304800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953500" y="4572000"/>
              <a:ext cx="3238500" cy="2286000"/>
            </a:xfrm>
            <a:custGeom>
              <a:avLst/>
              <a:gdLst/>
              <a:ahLst/>
              <a:cxnLst/>
              <a:rect l="l" t="t" r="r" b="b"/>
              <a:pathLst>
                <a:path w="3238500" h="2286000">
                  <a:moveTo>
                    <a:pt x="0" y="228600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715500" y="53340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0" y="152400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0477500" y="6096000"/>
              <a:ext cx="1714500" cy="762000"/>
            </a:xfrm>
            <a:custGeom>
              <a:avLst/>
              <a:gdLst/>
              <a:ahLst/>
              <a:cxnLst/>
              <a:rect l="l" t="t" r="r" b="b"/>
              <a:pathLst>
                <a:path w="1714500" h="762000">
                  <a:moveTo>
                    <a:pt x="0" y="76200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</p:grpSp>
      <p:pic>
        <p:nvPicPr>
          <p:cNvPr id="9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10" name="section-number"/>
          <p:cNvSpPr txBox="1"/>
          <p:nvPr/>
        </p:nvSpPr>
        <p:spPr>
          <a:xfrm>
            <a:off x="590550" y="2044700"/>
            <a:ext cx="1157600" cy="1390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1" name="section-rule"/>
          <p:cNvSpPr/>
          <p:nvPr/>
        </p:nvSpPr>
        <p:spPr>
          <a:xfrm>
            <a:off x="609600" y="3162300"/>
            <a:ext cx="9144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section-title"/>
          <p:cNvSpPr txBox="1"/>
          <p:nvPr/>
        </p:nvSpPr>
        <p:spPr>
          <a:xfrm>
            <a:off x="595122" y="3505200"/>
            <a:ext cx="156362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项目背景</a:t>
            </a:r>
          </a:p>
        </p:txBody>
      </p:sp>
      <p:sp>
        <p:nvSpPr>
          <p:cNvPr id="13" name="section-subtitle"/>
          <p:cNvSpPr txBox="1"/>
          <p:nvPr/>
        </p:nvSpPr>
        <p:spPr>
          <a:xfrm>
            <a:off x="598170" y="4064000"/>
            <a:ext cx="442512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痛点、定位、目标用户</a:t>
            </a:r>
          </a:p>
        </p:txBody>
      </p:sp>
      <p:sp>
        <p:nvSpPr>
          <p:cNvPr id="14" name="Line 14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5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16" name="page-number"/>
          <p:cNvSpPr txBox="1"/>
          <p:nvPr/>
        </p:nvSpPr>
        <p:spPr>
          <a:xfrm>
            <a:off x="11499323" y="6540500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156362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痛点分析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2742" y="1530350"/>
            <a:ext cx="792544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在银行、运维、业务分析等场景中，取数与用数存在几个普遍问题：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1866900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09612" y="1966912"/>
            <a:ext cx="142875" cy="142875"/>
            <a:chOff x="709612" y="1966912"/>
            <a:chExt cx="142875" cy="142875"/>
          </a:xfrm>
        </p:grpSpPr>
        <p:sp>
          <p:nvSpPr>
            <p:cNvPr id="7" name="Freeform 7"/>
            <p:cNvSpPr/>
            <p:nvPr/>
          </p:nvSpPr>
          <p:spPr>
            <a:xfrm>
              <a:off x="725487" y="1966912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31750"/>
                  </a:moveTo>
                  <a:cubicBezTo>
                    <a:pt x="0" y="49285"/>
                    <a:pt x="14215" y="63500"/>
                    <a:pt x="31750" y="63500"/>
                  </a:cubicBezTo>
                  <a:cubicBezTo>
                    <a:pt x="49285" y="63500"/>
                    <a:pt x="63500" y="49285"/>
                    <a:pt x="63500" y="31750"/>
                  </a:cubicBezTo>
                  <a:cubicBezTo>
                    <a:pt x="63500" y="14215"/>
                    <a:pt x="49285" y="0"/>
                    <a:pt x="31750" y="0"/>
                  </a:cubicBezTo>
                  <a:cubicBezTo>
                    <a:pt x="14215" y="0"/>
                    <a:pt x="0" y="14215"/>
                    <a:pt x="0" y="31750"/>
                  </a:cubicBez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09612" y="2062162"/>
              <a:ext cx="95250" cy="47625"/>
            </a:xfrm>
            <a:custGeom>
              <a:avLst/>
              <a:gdLst/>
              <a:ahLst/>
              <a:cxnLst/>
              <a:rect l="l" t="t" r="r" b="b"/>
              <a:pathLst>
                <a:path w="95250" h="47625">
                  <a:moveTo>
                    <a:pt x="0" y="47625"/>
                  </a:move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lnTo>
                    <a:pt x="63500" y="0"/>
                  </a:lnTo>
                  <a:cubicBezTo>
                    <a:pt x="81035" y="0"/>
                    <a:pt x="95250" y="14215"/>
                    <a:pt x="95250" y="31750"/>
                  </a:cubicBezTo>
                  <a:lnTo>
                    <a:pt x="95250" y="47625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12800" y="1967944"/>
              <a:ext cx="23875" cy="61516"/>
            </a:xfrm>
            <a:custGeom>
              <a:avLst/>
              <a:gdLst/>
              <a:ahLst/>
              <a:cxnLst/>
              <a:rect l="l" t="t" r="r" b="b"/>
              <a:pathLst>
                <a:path w="23875" h="61516">
                  <a:moveTo>
                    <a:pt x="0" y="0"/>
                  </a:moveTo>
                  <a:cubicBezTo>
                    <a:pt x="14049" y="3597"/>
                    <a:pt x="23875" y="16256"/>
                    <a:pt x="23875" y="30758"/>
                  </a:cubicBezTo>
                  <a:cubicBezTo>
                    <a:pt x="23875" y="45260"/>
                    <a:pt x="14049" y="57919"/>
                    <a:pt x="0" y="61516"/>
                  </a:cubicBez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28675" y="2063353"/>
              <a:ext cx="23812" cy="46434"/>
            </a:xfrm>
            <a:custGeom>
              <a:avLst/>
              <a:gdLst/>
              <a:ahLst/>
              <a:cxnLst/>
              <a:rect l="l" t="t" r="r" b="b"/>
              <a:pathLst>
                <a:path w="23812" h="46434">
                  <a:moveTo>
                    <a:pt x="23812" y="46434"/>
                  </a:moveTo>
                  <a:lnTo>
                    <a:pt x="23812" y="30559"/>
                  </a:lnTo>
                  <a:cubicBezTo>
                    <a:pt x="23730" y="16149"/>
                    <a:pt x="13953" y="3602"/>
                    <a:pt x="0" y="0"/>
                  </a:cubicBez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059180" y="193675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业务人员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9942" y="2216150"/>
            <a:ext cx="219456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想自己看数据，但没有入口</a:t>
            </a:r>
          </a:p>
        </p:txBody>
      </p:sp>
      <p:sp>
        <p:nvSpPr>
          <p:cNvPr id="14" name="Ellipse 14"/>
          <p:cNvSpPr/>
          <p:nvPr/>
        </p:nvSpPr>
        <p:spPr>
          <a:xfrm>
            <a:off x="657225" y="273367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12292" y="2603500"/>
            <a:ext cx="5302690" cy="8355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取数需要提申请、相关系统技术人员根据文字写</a:t>
            </a:r>
            <a:b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sql、运维人员根据SQL查询数据、拍照或导出发</a:t>
            </a:r>
            <a:b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给业务人员，取数链路长；</a:t>
            </a:r>
          </a:p>
        </p:txBody>
      </p:sp>
      <p:sp>
        <p:nvSpPr>
          <p:cNvPr id="16" name="Ellipse 16"/>
          <p:cNvSpPr/>
          <p:nvPr/>
        </p:nvSpPr>
        <p:spPr>
          <a:xfrm>
            <a:off x="657225" y="368617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12292" y="3556000"/>
            <a:ext cx="5240540" cy="5497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报表开发与维护需要提需求进行排期、开发、测</a:t>
            </a:r>
            <a:b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线，耗费时间长。</a:t>
            </a:r>
          </a:p>
        </p:txBody>
      </p:sp>
      <p:sp>
        <p:nvSpPr>
          <p:cNvPr id="18" name="Ellipse 18"/>
          <p:cNvSpPr/>
          <p:nvPr/>
        </p:nvSpPr>
        <p:spPr>
          <a:xfrm>
            <a:off x="657225" y="43529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12292" y="4222750"/>
            <a:ext cx="5240540" cy="5497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只能拿到数字，拿不到图：想看趋势、对比、排</a:t>
            </a:r>
            <a:b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名，还得用Excel制作图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257800" y="1866900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5357812" y="1974850"/>
            <a:ext cx="142875" cy="127000"/>
            <a:chOff x="5357812" y="1974850"/>
            <a:chExt cx="142875" cy="127000"/>
          </a:xfrm>
        </p:grpSpPr>
        <p:sp>
          <p:nvSpPr>
            <p:cNvPr id="21" name="Freeform 21"/>
            <p:cNvSpPr/>
            <p:nvPr/>
          </p:nvSpPr>
          <p:spPr>
            <a:xfrm>
              <a:off x="5357812" y="2006600"/>
              <a:ext cx="31750" cy="63500"/>
            </a:xfrm>
            <a:custGeom>
              <a:avLst/>
              <a:gdLst/>
              <a:ahLst/>
              <a:cxnLst/>
              <a:rect l="l" t="t" r="r" b="b"/>
              <a:pathLst>
                <a:path w="31750" h="63500">
                  <a:moveTo>
                    <a:pt x="31750" y="0"/>
                  </a:moveTo>
                  <a:lnTo>
                    <a:pt x="0" y="31750"/>
                  </a:lnTo>
                  <a:lnTo>
                    <a:pt x="31750" y="6350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468937" y="2006600"/>
              <a:ext cx="31750" cy="63500"/>
            </a:xfrm>
            <a:custGeom>
              <a:avLst/>
              <a:gdLst/>
              <a:ahLst/>
              <a:cxnLst/>
              <a:rect l="l" t="t" r="r" b="b"/>
              <a:pathLst>
                <a:path w="31750" h="63500">
                  <a:moveTo>
                    <a:pt x="0" y="0"/>
                  </a:moveTo>
                  <a:lnTo>
                    <a:pt x="31750" y="31750"/>
                  </a:lnTo>
                  <a:lnTo>
                    <a:pt x="0" y="6350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413375" y="1974850"/>
              <a:ext cx="31750" cy="127000"/>
            </a:xfrm>
            <a:custGeom>
              <a:avLst/>
              <a:gdLst/>
              <a:ahLst/>
              <a:cxnLst/>
              <a:rect l="l" t="t" r="r" b="b"/>
              <a:pathLst>
                <a:path w="31750" h="127000">
                  <a:moveTo>
                    <a:pt x="31750" y="0"/>
                  </a:moveTo>
                  <a:lnTo>
                    <a:pt x="0" y="12700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5707380" y="193675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开发人员</a:t>
            </a:r>
          </a:p>
        </p:txBody>
      </p:sp>
      <p:sp>
        <p:nvSpPr>
          <p:cNvPr id="26" name="Ellipse 26"/>
          <p:cNvSpPr/>
          <p:nvPr/>
        </p:nvSpPr>
        <p:spPr>
          <a:xfrm>
            <a:off x="5305425" y="273367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5460492" y="2603500"/>
            <a:ext cx="2388298" cy="5497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复杂SQL不熟练、常用查询重复</a:t>
            </a:r>
            <a:b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写SQL，效率低；</a:t>
            </a:r>
          </a:p>
        </p:txBody>
      </p:sp>
      <p:sp>
        <p:nvSpPr>
          <p:cNvPr id="28" name="Ellipse 28"/>
          <p:cNvSpPr/>
          <p:nvPr/>
        </p:nvSpPr>
        <p:spPr>
          <a:xfrm>
            <a:off x="5305425" y="34004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5460492" y="3270250"/>
            <a:ext cx="2414016" cy="5497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通用大模型不知道真实表结构，</a:t>
            </a:r>
            <a:b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生成的 SQL无法直接用；</a:t>
            </a:r>
          </a:p>
        </p:txBody>
      </p:sp>
      <p:sp>
        <p:nvSpPr>
          <p:cNvPr id="30" name="Ellipse 30"/>
          <p:cNvSpPr/>
          <p:nvPr/>
        </p:nvSpPr>
        <p:spPr>
          <a:xfrm>
            <a:off x="5305425" y="406717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460492" y="3937000"/>
            <a:ext cx="2379726" cy="5497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误执行 DML、DDL语句会造成数</a:t>
            </a:r>
            <a:b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据事故。</a:t>
            </a:r>
          </a:p>
        </p:txBody>
      </p:sp>
      <p:sp>
        <p:nvSpPr>
          <p:cNvPr id="32" name="Rectangle 32"/>
          <p:cNvSpPr/>
          <p:nvPr/>
        </p:nvSpPr>
        <p:spPr>
          <a:xfrm>
            <a:off x="8572500" y="1866900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39" name="Group 39"/>
          <p:cNvGrpSpPr/>
          <p:nvPr/>
        </p:nvGrpSpPr>
        <p:grpSpPr>
          <a:xfrm>
            <a:off x="8672512" y="1974850"/>
            <a:ext cx="142875" cy="127000"/>
            <a:chOff x="8672512" y="1974850"/>
            <a:chExt cx="142875" cy="127000"/>
          </a:xfrm>
        </p:grpSpPr>
        <p:sp>
          <p:nvSpPr>
            <p:cNvPr id="33" name="Freeform 33"/>
            <p:cNvSpPr/>
            <p:nvPr/>
          </p:nvSpPr>
          <p:spPr>
            <a:xfrm>
              <a:off x="8672512" y="1974850"/>
              <a:ext cx="142875" cy="63500"/>
            </a:xfrm>
            <a:custGeom>
              <a:avLst/>
              <a:gdLst/>
              <a:ahLst/>
              <a:cxnLst/>
              <a:rect l="l" t="t" r="r" b="b"/>
              <a:pathLst>
                <a:path w="142875" h="63500">
                  <a:moveTo>
                    <a:pt x="0" y="23812"/>
                  </a:move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39687"/>
                  </a:lnTo>
                  <a:cubicBezTo>
                    <a:pt x="142875" y="52839"/>
                    <a:pt x="132214" y="63500"/>
                    <a:pt x="119062" y="63500"/>
                  </a:cubicBezTo>
                  <a:lnTo>
                    <a:pt x="23812" y="63500"/>
                  </a:lnTo>
                  <a:cubicBezTo>
                    <a:pt x="10661" y="63500"/>
                    <a:pt x="0" y="52839"/>
                    <a:pt x="0" y="39687"/>
                  </a:cubicBezTo>
                  <a:lnTo>
                    <a:pt x="0" y="23812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672512" y="2038350"/>
              <a:ext cx="142875" cy="63500"/>
            </a:xfrm>
            <a:custGeom>
              <a:avLst/>
              <a:gdLst/>
              <a:ahLst/>
              <a:cxnLst/>
              <a:rect l="l" t="t" r="r" b="b"/>
              <a:pathLst>
                <a:path w="142875" h="63500">
                  <a:moveTo>
                    <a:pt x="0" y="23812"/>
                  </a:move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39687"/>
                  </a:lnTo>
                  <a:cubicBezTo>
                    <a:pt x="142875" y="52839"/>
                    <a:pt x="132214" y="63500"/>
                    <a:pt x="119062" y="63500"/>
                  </a:cubicBezTo>
                  <a:lnTo>
                    <a:pt x="23812" y="63500"/>
                  </a:lnTo>
                  <a:cubicBezTo>
                    <a:pt x="10661" y="63500"/>
                    <a:pt x="0" y="52839"/>
                    <a:pt x="0" y="39687"/>
                  </a:cubicBezTo>
                  <a:lnTo>
                    <a:pt x="0" y="23812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704262" y="20066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79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704262" y="20701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79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736012" y="200660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736012" y="207010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9022080" y="1936750"/>
            <a:ext cx="91196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运维/DBA</a:t>
            </a:r>
          </a:p>
        </p:txBody>
      </p:sp>
      <p:sp>
        <p:nvSpPr>
          <p:cNvPr id="41" name="Ellipse 41"/>
          <p:cNvSpPr/>
          <p:nvPr/>
        </p:nvSpPr>
        <p:spPr>
          <a:xfrm>
            <a:off x="8620125" y="273367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8775192" y="2603500"/>
            <a:ext cx="2585466" cy="5497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负责的系统多，不熟悉所有系统的</a:t>
            </a:r>
            <a:b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数据表，运维难；</a:t>
            </a:r>
          </a:p>
        </p:txBody>
      </p:sp>
      <p:sp>
        <p:nvSpPr>
          <p:cNvPr id="43" name="Ellipse 43"/>
          <p:cNvSpPr/>
          <p:nvPr/>
        </p:nvSpPr>
        <p:spPr>
          <a:xfrm>
            <a:off x="8620125" y="34004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775192" y="3270250"/>
            <a:ext cx="2559748" cy="5497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不同数据库各有各的SQL语句和客</a:t>
            </a:r>
            <a:b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户端，运维烦</a:t>
            </a:r>
          </a:p>
        </p:txBody>
      </p:sp>
      <p:sp>
        <p:nvSpPr>
          <p:cNvPr id="45" name="Ellipse 45"/>
          <p:cNvSpPr/>
          <p:nvPr/>
        </p:nvSpPr>
        <p:spPr>
          <a:xfrm>
            <a:off x="8620125" y="406717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775192" y="3937000"/>
            <a:ext cx="2585466" cy="8355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可观测性差，谁查了什么、慢查询</a:t>
            </a:r>
            <a:b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有哪些、结构何时变更，缺少统一</a:t>
            </a:r>
            <a:b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视图。</a:t>
            </a:r>
          </a:p>
        </p:txBody>
      </p:sp>
      <p:sp>
        <p:nvSpPr>
          <p:cNvPr id="47" name="Line 47"/>
          <p:cNvSpPr/>
          <p:nvPr/>
        </p:nvSpPr>
        <p:spPr>
          <a:xfrm>
            <a:off x="4991100" y="1866900"/>
            <a:ext cx="9525" cy="2857500"/>
          </a:xfrm>
          <a:custGeom>
            <a:avLst/>
            <a:gdLst/>
            <a:ahLst/>
            <a:cxnLst/>
            <a:rect l="l" t="t" r="r" b="b"/>
            <a:pathLst>
              <a:path w="952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48" name="Line 48"/>
          <p:cNvSpPr/>
          <p:nvPr/>
        </p:nvSpPr>
        <p:spPr>
          <a:xfrm>
            <a:off x="8305800" y="1866900"/>
            <a:ext cx="9525" cy="2857500"/>
          </a:xfrm>
          <a:custGeom>
            <a:avLst/>
            <a:gdLst/>
            <a:ahLst/>
            <a:cxnLst/>
            <a:rect l="l" t="t" r="r" b="b"/>
            <a:pathLst>
              <a:path w="9525" h="2857500">
                <a:moveTo>
                  <a:pt x="0" y="0"/>
                </a:moveTo>
                <a:lnTo>
                  <a:pt x="0" y="285750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49" name="Line 49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0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51" name="page-number"/>
          <p:cNvSpPr txBox="1"/>
          <p:nvPr/>
        </p:nvSpPr>
        <p:spPr>
          <a:xfrm>
            <a:off x="11499323" y="6540500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156362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解决方案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1218" y="1720850"/>
            <a:ext cx="5539139" cy="213245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850"/>
              </a:lnSpc>
            </a:pPr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构建一个基于 AI Agent 驱动的数据库查</a:t>
            </a:r>
            <a:b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询与运维工作台。把「自然语言查询、</a:t>
            </a:r>
            <a:b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SQL 工作台、元数据管理、可视化报表、</a:t>
            </a:r>
            <a:b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权限审计、运维监控」整合成一个闭环，</a:t>
            </a:r>
            <a:b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让不会写 SQL 的业务人员也能安全地查</a:t>
            </a:r>
            <a:b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数据，会写 SQL 的技术人员效率更高。</a:t>
            </a:r>
          </a:p>
        </p:txBody>
      </p:sp>
      <p:sp>
        <p:nvSpPr>
          <p:cNvPr id="6" name="Rectangle 6"/>
          <p:cNvSpPr/>
          <p:nvPr/>
        </p:nvSpPr>
        <p:spPr>
          <a:xfrm>
            <a:off x="5334000" y="1962150"/>
            <a:ext cx="2857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5603875" y="2164556"/>
            <a:ext cx="185737" cy="196056"/>
            <a:chOff x="5603875" y="2164556"/>
            <a:chExt cx="185737" cy="196056"/>
          </a:xfrm>
        </p:grpSpPr>
        <p:sp>
          <p:nvSpPr>
            <p:cNvPr id="7" name="Freeform 7"/>
            <p:cNvSpPr/>
            <p:nvPr/>
          </p:nvSpPr>
          <p:spPr>
            <a:xfrm>
              <a:off x="5603875" y="2164556"/>
              <a:ext cx="165099" cy="61912"/>
            </a:xfrm>
            <a:custGeom>
              <a:avLst/>
              <a:gdLst/>
              <a:ahLst/>
              <a:cxnLst/>
              <a:rect l="l" t="t" r="r" b="b"/>
              <a:pathLst>
                <a:path w="165099" h="61912">
                  <a:moveTo>
                    <a:pt x="0" y="30956"/>
                  </a:moveTo>
                  <a:cubicBezTo>
                    <a:pt x="0" y="48054"/>
                    <a:pt x="36962" y="61912"/>
                    <a:pt x="82550" y="61912"/>
                  </a:cubicBezTo>
                  <a:cubicBezTo>
                    <a:pt x="128138" y="61912"/>
                    <a:pt x="165099" y="48054"/>
                    <a:pt x="165099" y="30956"/>
                  </a:cubicBezTo>
                  <a:cubicBezTo>
                    <a:pt x="165099" y="13858"/>
                    <a:pt x="128138" y="0"/>
                    <a:pt x="82550" y="0"/>
                  </a:cubicBezTo>
                  <a:cubicBezTo>
                    <a:pt x="36962" y="0"/>
                    <a:pt x="0" y="13858"/>
                    <a:pt x="0" y="30956"/>
                  </a:cubicBez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5603875" y="2195512"/>
              <a:ext cx="165099" cy="92868"/>
            </a:xfrm>
            <a:custGeom>
              <a:avLst/>
              <a:gdLst/>
              <a:ahLst/>
              <a:cxnLst/>
              <a:rect l="l" t="t" r="r" b="b"/>
              <a:pathLst>
                <a:path w="165099" h="92868">
                  <a:moveTo>
                    <a:pt x="0" y="0"/>
                  </a:moveTo>
                  <a:lnTo>
                    <a:pt x="0" y="61912"/>
                  </a:lnTo>
                  <a:cubicBezTo>
                    <a:pt x="0" y="79010"/>
                    <a:pt x="36962" y="92868"/>
                    <a:pt x="82550" y="92868"/>
                  </a:cubicBezTo>
                  <a:moveTo>
                    <a:pt x="165099" y="56753"/>
                  </a:moveTo>
                  <a:lnTo>
                    <a:pt x="165099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5603875" y="2257425"/>
              <a:ext cx="82550" cy="92868"/>
            </a:xfrm>
            <a:custGeom>
              <a:avLst/>
              <a:gdLst/>
              <a:ahLst/>
              <a:cxnLst/>
              <a:rect l="l" t="t" r="r" b="b"/>
              <a:pathLst>
                <a:path w="82550" h="92868">
                  <a:moveTo>
                    <a:pt x="0" y="0"/>
                  </a:moveTo>
                  <a:lnTo>
                    <a:pt x="0" y="61912"/>
                  </a:lnTo>
                  <a:cubicBezTo>
                    <a:pt x="0" y="79010"/>
                    <a:pt x="36962" y="92868"/>
                    <a:pt x="82550" y="92868"/>
                  </a:cubicBez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5717381" y="2288381"/>
              <a:ext cx="61912" cy="61912"/>
            </a:xfrm>
            <a:custGeom>
              <a:avLst/>
              <a:gdLst/>
              <a:ahLst/>
              <a:cxnLst/>
              <a:rect l="l" t="t" r="r" b="b"/>
              <a:pathLst>
                <a:path w="61912" h="61912">
                  <a:moveTo>
                    <a:pt x="0" y="30956"/>
                  </a:moveTo>
                  <a:cubicBezTo>
                    <a:pt x="0" y="48053"/>
                    <a:pt x="13860" y="61912"/>
                    <a:pt x="30956" y="61912"/>
                  </a:cubicBezTo>
                  <a:cubicBezTo>
                    <a:pt x="48053" y="61912"/>
                    <a:pt x="61912" y="48053"/>
                    <a:pt x="61912" y="30956"/>
                  </a:cubicBezTo>
                  <a:cubicBezTo>
                    <a:pt x="61912" y="13860"/>
                    <a:pt x="48053" y="0"/>
                    <a:pt x="30956" y="0"/>
                  </a:cubicBezTo>
                  <a:cubicBezTo>
                    <a:pt x="13860" y="0"/>
                    <a:pt x="0" y="13860"/>
                    <a:pt x="0" y="30956"/>
                  </a:cubicBez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5771038" y="2342038"/>
              <a:ext cx="18574" cy="18574"/>
            </a:xfrm>
            <a:custGeom>
              <a:avLst/>
              <a:gdLst/>
              <a:ahLst/>
              <a:cxnLst/>
              <a:rect l="l" t="t" r="r" b="b"/>
              <a:pathLst>
                <a:path w="18574" h="18574">
                  <a:moveTo>
                    <a:pt x="0" y="0"/>
                  </a:moveTo>
                  <a:lnTo>
                    <a:pt x="18574" y="18574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5935218" y="2139950"/>
            <a:ext cx="134950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自然语言查询</a:t>
            </a:r>
          </a:p>
        </p:txBody>
      </p:sp>
      <p:sp>
        <p:nvSpPr>
          <p:cNvPr id="14" name="Rectangle 14"/>
          <p:cNvSpPr/>
          <p:nvPr/>
        </p:nvSpPr>
        <p:spPr>
          <a:xfrm>
            <a:off x="8610600" y="1962150"/>
            <a:ext cx="2857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8870156" y="2174875"/>
            <a:ext cx="185737" cy="165099"/>
            <a:chOff x="8870156" y="2174875"/>
            <a:chExt cx="185737" cy="165099"/>
          </a:xfrm>
        </p:grpSpPr>
        <p:sp>
          <p:nvSpPr>
            <p:cNvPr id="15" name="Freeform 15"/>
            <p:cNvSpPr/>
            <p:nvPr/>
          </p:nvSpPr>
          <p:spPr>
            <a:xfrm>
              <a:off x="8921750" y="2226468"/>
              <a:ext cx="30956" cy="61912"/>
            </a:xfrm>
            <a:custGeom>
              <a:avLst/>
              <a:gdLst/>
              <a:ahLst/>
              <a:cxnLst/>
              <a:rect l="l" t="t" r="r" b="b"/>
              <a:pathLst>
                <a:path w="30956" h="61912">
                  <a:moveTo>
                    <a:pt x="0" y="0"/>
                  </a:moveTo>
                  <a:lnTo>
                    <a:pt x="30956" y="30956"/>
                  </a:lnTo>
                  <a:lnTo>
                    <a:pt x="0" y="61912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973343" y="2288381"/>
              <a:ext cx="30956" cy="9525"/>
            </a:xfrm>
            <a:custGeom>
              <a:avLst/>
              <a:gdLst/>
              <a:ahLst/>
              <a:cxnLst/>
              <a:rect l="l" t="t" r="r" b="b"/>
              <a:pathLst>
                <a:path w="30956" h="9525">
                  <a:moveTo>
                    <a:pt x="0" y="0"/>
                  </a:moveTo>
                  <a:lnTo>
                    <a:pt x="30956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8870156" y="2174875"/>
              <a:ext cx="185737" cy="165099"/>
            </a:xfrm>
            <a:custGeom>
              <a:avLst/>
              <a:gdLst/>
              <a:ahLst/>
              <a:cxnLst/>
              <a:rect l="l" t="t" r="r" b="b"/>
              <a:pathLst>
                <a:path w="185737" h="165099">
                  <a:moveTo>
                    <a:pt x="0" y="20637"/>
                  </a:moveTo>
                  <a:cubicBezTo>
                    <a:pt x="0" y="9240"/>
                    <a:pt x="9240" y="0"/>
                    <a:pt x="20637" y="0"/>
                  </a:cubicBezTo>
                  <a:lnTo>
                    <a:pt x="165099" y="0"/>
                  </a:lnTo>
                  <a:cubicBezTo>
                    <a:pt x="176497" y="0"/>
                    <a:pt x="185737" y="9240"/>
                    <a:pt x="185737" y="20637"/>
                  </a:cubicBezTo>
                  <a:lnTo>
                    <a:pt x="185737" y="144462"/>
                  </a:lnTo>
                  <a:cubicBezTo>
                    <a:pt x="185737" y="155860"/>
                    <a:pt x="176497" y="165099"/>
                    <a:pt x="165099" y="165099"/>
                  </a:cubicBezTo>
                  <a:lnTo>
                    <a:pt x="20637" y="165099"/>
                  </a:lnTo>
                  <a:cubicBezTo>
                    <a:pt x="9240" y="165099"/>
                    <a:pt x="0" y="155860"/>
                    <a:pt x="0" y="144462"/>
                  </a:cubicBezTo>
                  <a:lnTo>
                    <a:pt x="0" y="20637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9211818" y="2139950"/>
            <a:ext cx="121295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SQL 工作台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334000" y="2990850"/>
            <a:ext cx="2857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24" name="Group 24"/>
          <p:cNvGrpSpPr/>
          <p:nvPr/>
        </p:nvGrpSpPr>
        <p:grpSpPr>
          <a:xfrm>
            <a:off x="5593556" y="3193256"/>
            <a:ext cx="185737" cy="185737"/>
            <a:chOff x="5593556" y="3193256"/>
            <a:chExt cx="185737" cy="185737"/>
          </a:xfrm>
        </p:grpSpPr>
        <p:sp>
          <p:nvSpPr>
            <p:cNvPr id="21" name="Freeform 21"/>
            <p:cNvSpPr/>
            <p:nvPr/>
          </p:nvSpPr>
          <p:spPr>
            <a:xfrm>
              <a:off x="5593556" y="3193256"/>
              <a:ext cx="185737" cy="185737"/>
            </a:xfrm>
            <a:custGeom>
              <a:avLst/>
              <a:gdLst/>
              <a:ahLst/>
              <a:cxnLst/>
              <a:rect l="l" t="t" r="r" b="b"/>
              <a:pathLst>
                <a:path w="185737" h="185737">
                  <a:moveTo>
                    <a:pt x="0" y="20637"/>
                  </a:moveTo>
                  <a:cubicBezTo>
                    <a:pt x="0" y="9240"/>
                    <a:pt x="9240" y="0"/>
                    <a:pt x="20637" y="0"/>
                  </a:cubicBezTo>
                  <a:lnTo>
                    <a:pt x="165099" y="0"/>
                  </a:lnTo>
                  <a:cubicBezTo>
                    <a:pt x="176497" y="0"/>
                    <a:pt x="185737" y="9240"/>
                    <a:pt x="185737" y="20637"/>
                  </a:cubicBezTo>
                  <a:lnTo>
                    <a:pt x="185737" y="165099"/>
                  </a:lnTo>
                  <a:cubicBezTo>
                    <a:pt x="185737" y="176497"/>
                    <a:pt x="176497" y="185737"/>
                    <a:pt x="165099" y="185737"/>
                  </a:cubicBezTo>
                  <a:lnTo>
                    <a:pt x="20637" y="185737"/>
                  </a:lnTo>
                  <a:cubicBezTo>
                    <a:pt x="9240" y="185737"/>
                    <a:pt x="0" y="176497"/>
                    <a:pt x="0" y="165099"/>
                  </a:cubicBezTo>
                  <a:lnTo>
                    <a:pt x="0" y="20637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593556" y="3265487"/>
              <a:ext cx="185737" cy="9525"/>
            </a:xfrm>
            <a:custGeom>
              <a:avLst/>
              <a:gdLst/>
              <a:ahLst/>
              <a:cxnLst/>
              <a:rect l="l" t="t" r="r" b="b"/>
              <a:pathLst>
                <a:path w="185737" h="9525">
                  <a:moveTo>
                    <a:pt x="0" y="0"/>
                  </a:moveTo>
                  <a:lnTo>
                    <a:pt x="185737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5665787" y="3193256"/>
              <a:ext cx="9525" cy="185737"/>
            </a:xfrm>
            <a:custGeom>
              <a:avLst/>
              <a:gdLst/>
              <a:ahLst/>
              <a:cxnLst/>
              <a:rect l="l" t="t" r="r" b="b"/>
              <a:pathLst>
                <a:path w="9525" h="185737">
                  <a:moveTo>
                    <a:pt x="0" y="0"/>
                  </a:moveTo>
                  <a:lnTo>
                    <a:pt x="0" y="185737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5935218" y="3168650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元数据管理</a:t>
            </a:r>
          </a:p>
        </p:txBody>
      </p:sp>
      <p:sp>
        <p:nvSpPr>
          <p:cNvPr id="26" name="Rectangle 26"/>
          <p:cNvSpPr/>
          <p:nvPr/>
        </p:nvSpPr>
        <p:spPr>
          <a:xfrm>
            <a:off x="8610600" y="2990850"/>
            <a:ext cx="2857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31" name="Group 31"/>
          <p:cNvGrpSpPr/>
          <p:nvPr/>
        </p:nvGrpSpPr>
        <p:grpSpPr>
          <a:xfrm>
            <a:off x="8870156" y="3203575"/>
            <a:ext cx="185737" cy="174624"/>
            <a:chOff x="8870156" y="3203575"/>
            <a:chExt cx="185737" cy="174624"/>
          </a:xfrm>
        </p:grpSpPr>
        <p:sp>
          <p:nvSpPr>
            <p:cNvPr id="27" name="Freeform 27"/>
            <p:cNvSpPr/>
            <p:nvPr/>
          </p:nvSpPr>
          <p:spPr>
            <a:xfrm>
              <a:off x="8870156" y="3286125"/>
              <a:ext cx="61912" cy="82550"/>
            </a:xfrm>
            <a:custGeom>
              <a:avLst/>
              <a:gdLst/>
              <a:ahLst/>
              <a:cxnLst/>
              <a:rect l="l" t="t" r="r" b="b"/>
              <a:pathLst>
                <a:path w="61912" h="82550">
                  <a:moveTo>
                    <a:pt x="0" y="10319"/>
                  </a:moveTo>
                  <a:cubicBezTo>
                    <a:pt x="0" y="4620"/>
                    <a:pt x="4620" y="0"/>
                    <a:pt x="10319" y="0"/>
                  </a:cubicBezTo>
                  <a:lnTo>
                    <a:pt x="51594" y="0"/>
                  </a:lnTo>
                  <a:cubicBezTo>
                    <a:pt x="57292" y="0"/>
                    <a:pt x="61912" y="4620"/>
                    <a:pt x="61912" y="10319"/>
                  </a:cubicBezTo>
                  <a:lnTo>
                    <a:pt x="61912" y="72231"/>
                  </a:lnTo>
                  <a:cubicBezTo>
                    <a:pt x="61912" y="77930"/>
                    <a:pt x="57292" y="82550"/>
                    <a:pt x="51594" y="82550"/>
                  </a:cubicBezTo>
                  <a:lnTo>
                    <a:pt x="10319" y="82550"/>
                  </a:lnTo>
                  <a:cubicBezTo>
                    <a:pt x="4620" y="82550"/>
                    <a:pt x="0" y="77930"/>
                    <a:pt x="0" y="72231"/>
                  </a:cubicBezTo>
                  <a:lnTo>
                    <a:pt x="0" y="10319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8993981" y="3244850"/>
              <a:ext cx="61912" cy="123825"/>
            </a:xfrm>
            <a:custGeom>
              <a:avLst/>
              <a:gdLst/>
              <a:ahLst/>
              <a:cxnLst/>
              <a:rect l="l" t="t" r="r" b="b"/>
              <a:pathLst>
                <a:path w="61912" h="123825">
                  <a:moveTo>
                    <a:pt x="0" y="10319"/>
                  </a:moveTo>
                  <a:cubicBezTo>
                    <a:pt x="0" y="4620"/>
                    <a:pt x="4620" y="0"/>
                    <a:pt x="10319" y="0"/>
                  </a:cubicBezTo>
                  <a:lnTo>
                    <a:pt x="51594" y="0"/>
                  </a:lnTo>
                  <a:cubicBezTo>
                    <a:pt x="57292" y="0"/>
                    <a:pt x="61912" y="4620"/>
                    <a:pt x="61912" y="10319"/>
                  </a:cubicBezTo>
                  <a:lnTo>
                    <a:pt x="61912" y="113506"/>
                  </a:lnTo>
                  <a:cubicBezTo>
                    <a:pt x="61912" y="119205"/>
                    <a:pt x="57292" y="123825"/>
                    <a:pt x="51594" y="123825"/>
                  </a:cubicBezTo>
                  <a:lnTo>
                    <a:pt x="10319" y="123825"/>
                  </a:lnTo>
                  <a:cubicBezTo>
                    <a:pt x="4620" y="123825"/>
                    <a:pt x="0" y="119205"/>
                    <a:pt x="0" y="113506"/>
                  </a:cubicBezTo>
                  <a:lnTo>
                    <a:pt x="0" y="10319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932068" y="3203575"/>
              <a:ext cx="61912" cy="165099"/>
            </a:xfrm>
            <a:custGeom>
              <a:avLst/>
              <a:gdLst/>
              <a:ahLst/>
              <a:cxnLst/>
              <a:rect l="l" t="t" r="r" b="b"/>
              <a:pathLst>
                <a:path w="61912" h="165099">
                  <a:moveTo>
                    <a:pt x="0" y="10319"/>
                  </a:moveTo>
                  <a:cubicBezTo>
                    <a:pt x="0" y="4620"/>
                    <a:pt x="4620" y="0"/>
                    <a:pt x="10319" y="0"/>
                  </a:cubicBezTo>
                  <a:lnTo>
                    <a:pt x="51594" y="0"/>
                  </a:lnTo>
                  <a:cubicBezTo>
                    <a:pt x="57292" y="0"/>
                    <a:pt x="61912" y="4620"/>
                    <a:pt x="61912" y="10319"/>
                  </a:cubicBezTo>
                  <a:lnTo>
                    <a:pt x="61912" y="154781"/>
                  </a:lnTo>
                  <a:cubicBezTo>
                    <a:pt x="61912" y="160480"/>
                    <a:pt x="57292" y="165099"/>
                    <a:pt x="51594" y="165099"/>
                  </a:cubicBezTo>
                  <a:lnTo>
                    <a:pt x="10319" y="165099"/>
                  </a:lnTo>
                  <a:cubicBezTo>
                    <a:pt x="4620" y="165099"/>
                    <a:pt x="0" y="160480"/>
                    <a:pt x="0" y="154781"/>
                  </a:cubicBezTo>
                  <a:lnTo>
                    <a:pt x="0" y="10319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8880475" y="3368674"/>
              <a:ext cx="144462" cy="9525"/>
            </a:xfrm>
            <a:custGeom>
              <a:avLst/>
              <a:gdLst/>
              <a:ahLst/>
              <a:cxnLst/>
              <a:rect l="l" t="t" r="r" b="b"/>
              <a:pathLst>
                <a:path w="144462" h="9525">
                  <a:moveTo>
                    <a:pt x="0" y="0"/>
                  </a:moveTo>
                  <a:lnTo>
                    <a:pt x="144462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32" name="TextBox 32"/>
          <p:cNvSpPr txBox="1"/>
          <p:nvPr/>
        </p:nvSpPr>
        <p:spPr>
          <a:xfrm>
            <a:off x="9211818" y="3168650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可视化报表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334000" y="4019550"/>
            <a:ext cx="2857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37" name="Group 37"/>
          <p:cNvGrpSpPr/>
          <p:nvPr/>
        </p:nvGrpSpPr>
        <p:grpSpPr>
          <a:xfrm>
            <a:off x="5589259" y="4221956"/>
            <a:ext cx="194331" cy="185737"/>
            <a:chOff x="5589259" y="4221956"/>
            <a:chExt cx="194331" cy="185737"/>
          </a:xfrm>
        </p:grpSpPr>
        <p:sp>
          <p:nvSpPr>
            <p:cNvPr id="34" name="Freeform 34"/>
            <p:cNvSpPr/>
            <p:nvPr/>
          </p:nvSpPr>
          <p:spPr>
            <a:xfrm>
              <a:off x="5589259" y="4221956"/>
              <a:ext cx="194331" cy="185737"/>
            </a:xfrm>
            <a:custGeom>
              <a:avLst/>
              <a:gdLst/>
              <a:ahLst/>
              <a:cxnLst/>
              <a:rect l="l" t="t" r="r" b="b"/>
              <a:pathLst>
                <a:path w="194331" h="185737">
                  <a:moveTo>
                    <a:pt x="97166" y="0"/>
                  </a:moveTo>
                  <a:cubicBezTo>
                    <a:pt x="121268" y="21324"/>
                    <a:pt x="152726" y="32427"/>
                    <a:pt x="184875" y="30956"/>
                  </a:cubicBezTo>
                  <a:cubicBezTo>
                    <a:pt x="194331" y="63125"/>
                    <a:pt x="190338" y="97754"/>
                    <a:pt x="173807" y="126926"/>
                  </a:cubicBezTo>
                  <a:cubicBezTo>
                    <a:pt x="157276" y="156098"/>
                    <a:pt x="129622" y="177318"/>
                    <a:pt x="97166" y="185737"/>
                  </a:cubicBezTo>
                  <a:cubicBezTo>
                    <a:pt x="64710" y="177318"/>
                    <a:pt x="37055" y="156098"/>
                    <a:pt x="20524" y="126926"/>
                  </a:cubicBezTo>
                  <a:cubicBezTo>
                    <a:pt x="3994" y="97754"/>
                    <a:pt x="0" y="63125"/>
                    <a:pt x="9457" y="30956"/>
                  </a:cubicBezTo>
                  <a:cubicBezTo>
                    <a:pt x="41605" y="32427"/>
                    <a:pt x="73063" y="21324"/>
                    <a:pt x="97166" y="0"/>
                  </a:cubicBez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676106" y="4294187"/>
              <a:ext cx="20637" cy="20637"/>
            </a:xfrm>
            <a:custGeom>
              <a:avLst/>
              <a:gdLst/>
              <a:ahLst/>
              <a:cxnLst/>
              <a:rect l="l" t="t" r="r" b="b"/>
              <a:pathLst>
                <a:path w="20637" h="20637">
                  <a:moveTo>
                    <a:pt x="0" y="10319"/>
                  </a:moveTo>
                  <a:cubicBezTo>
                    <a:pt x="0" y="16018"/>
                    <a:pt x="4620" y="20637"/>
                    <a:pt x="10319" y="20637"/>
                  </a:cubicBezTo>
                  <a:cubicBezTo>
                    <a:pt x="16018" y="20637"/>
                    <a:pt x="20637" y="16018"/>
                    <a:pt x="20637" y="10319"/>
                  </a:cubicBezTo>
                  <a:cubicBezTo>
                    <a:pt x="20637" y="4620"/>
                    <a:pt x="16018" y="0"/>
                    <a:pt x="10319" y="0"/>
                  </a:cubicBezTo>
                  <a:cubicBezTo>
                    <a:pt x="4620" y="0"/>
                    <a:pt x="0" y="4620"/>
                    <a:pt x="0" y="10319"/>
                  </a:cubicBez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5686425" y="4314825"/>
              <a:ext cx="9525" cy="25797"/>
            </a:xfrm>
            <a:custGeom>
              <a:avLst/>
              <a:gdLst/>
              <a:ahLst/>
              <a:cxnLst/>
              <a:rect l="l" t="t" r="r" b="b"/>
              <a:pathLst>
                <a:path w="9525" h="25797">
                  <a:moveTo>
                    <a:pt x="0" y="0"/>
                  </a:moveTo>
                  <a:lnTo>
                    <a:pt x="0" y="25797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5935218" y="419735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权限审计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610600" y="4019550"/>
            <a:ext cx="28575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0" name="Freeform 40"/>
          <p:cNvSpPr/>
          <p:nvPr/>
        </p:nvSpPr>
        <p:spPr>
          <a:xfrm>
            <a:off x="8870156" y="4232275"/>
            <a:ext cx="185737" cy="165099"/>
          </a:xfrm>
          <a:custGeom>
            <a:avLst/>
            <a:gdLst/>
            <a:ahLst/>
            <a:cxnLst/>
            <a:rect l="l" t="t" r="r" b="b"/>
            <a:pathLst>
              <a:path w="185737" h="165099">
                <a:moveTo>
                  <a:pt x="0" y="82550"/>
                </a:moveTo>
                <a:lnTo>
                  <a:pt x="41275" y="82550"/>
                </a:lnTo>
                <a:lnTo>
                  <a:pt x="72231" y="165099"/>
                </a:lnTo>
                <a:lnTo>
                  <a:pt x="113506" y="0"/>
                </a:lnTo>
                <a:lnTo>
                  <a:pt x="144462" y="82550"/>
                </a:lnTo>
                <a:lnTo>
                  <a:pt x="185737" y="82550"/>
                </a:lnTo>
              </a:path>
            </a:pathLst>
          </a:custGeom>
          <a:noFill/>
          <a:ln w="20637">
            <a:solidFill>
              <a:schemeClr val="accent1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9211818" y="419735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运维监控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09600" y="5295900"/>
            <a:ext cx="10972800" cy="76200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906780" y="5575300"/>
            <a:ext cx="1039777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让不会写 SQL 的业务人员也能安全地查数据，会写 SQL 的技术人员效率更高。</a:t>
            </a:r>
          </a:p>
        </p:txBody>
      </p:sp>
      <p:sp>
        <p:nvSpPr>
          <p:cNvPr id="44" name="Line 44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45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46" name="page-number"/>
          <p:cNvSpPr txBox="1"/>
          <p:nvPr/>
        </p:nvSpPr>
        <p:spPr>
          <a:xfrm>
            <a:off x="11499323" y="6540500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watermark"/>
          <p:cNvGrpSpPr/>
          <p:nvPr/>
        </p:nvGrpSpPr>
        <p:grpSpPr>
          <a:xfrm>
            <a:off x="6667500" y="2286000"/>
            <a:ext cx="5524500" cy="4572000"/>
            <a:chOff x="6667500" y="2286000"/>
            <a:chExt cx="5524500" cy="4572000"/>
          </a:xfrm>
        </p:grpSpPr>
        <p:sp>
          <p:nvSpPr>
            <p:cNvPr id="2" name="Line 2"/>
            <p:cNvSpPr/>
            <p:nvPr/>
          </p:nvSpPr>
          <p:spPr>
            <a:xfrm>
              <a:off x="6667500" y="2286000"/>
              <a:ext cx="5524500" cy="4572000"/>
            </a:xfrm>
            <a:custGeom>
              <a:avLst/>
              <a:gdLst/>
              <a:ahLst/>
              <a:cxnLst/>
              <a:rect l="l" t="t" r="r" b="b"/>
              <a:pathLst>
                <a:path w="5524500" h="4572000">
                  <a:moveTo>
                    <a:pt x="0" y="457200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429500" y="3048000"/>
              <a:ext cx="4762500" cy="3810000"/>
            </a:xfrm>
            <a:custGeom>
              <a:avLst/>
              <a:gdLst/>
              <a:ahLst/>
              <a:cxnLst/>
              <a:rect l="l" t="t" r="r" b="b"/>
              <a:pathLst>
                <a:path w="4762500" h="3810000">
                  <a:moveTo>
                    <a:pt x="0" y="381000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191500" y="3810000"/>
              <a:ext cx="4000500" cy="3048000"/>
            </a:xfrm>
            <a:custGeom>
              <a:avLst/>
              <a:gdLst/>
              <a:ahLst/>
              <a:cxnLst/>
              <a:rect l="l" t="t" r="r" b="b"/>
              <a:pathLst>
                <a:path w="4000500" h="3048000">
                  <a:moveTo>
                    <a:pt x="0" y="304800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953500" y="4572000"/>
              <a:ext cx="3238500" cy="2286000"/>
            </a:xfrm>
            <a:custGeom>
              <a:avLst/>
              <a:gdLst/>
              <a:ahLst/>
              <a:cxnLst/>
              <a:rect l="l" t="t" r="r" b="b"/>
              <a:pathLst>
                <a:path w="3238500" h="2286000">
                  <a:moveTo>
                    <a:pt x="0" y="228600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715500" y="53340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0" y="152400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0477500" y="6096000"/>
              <a:ext cx="1714500" cy="762000"/>
            </a:xfrm>
            <a:custGeom>
              <a:avLst/>
              <a:gdLst/>
              <a:ahLst/>
              <a:cxnLst/>
              <a:rect l="l" t="t" r="r" b="b"/>
              <a:pathLst>
                <a:path w="1714500" h="762000">
                  <a:moveTo>
                    <a:pt x="0" y="76200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</p:grpSp>
      <p:pic>
        <p:nvPicPr>
          <p:cNvPr id="9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10" name="section-number"/>
          <p:cNvSpPr txBox="1"/>
          <p:nvPr/>
        </p:nvSpPr>
        <p:spPr>
          <a:xfrm>
            <a:off x="590550" y="2044700"/>
            <a:ext cx="1157600" cy="1390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1" name="section-rule"/>
          <p:cNvSpPr/>
          <p:nvPr/>
        </p:nvSpPr>
        <p:spPr>
          <a:xfrm>
            <a:off x="609600" y="3162300"/>
            <a:ext cx="9144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section-title"/>
          <p:cNvSpPr txBox="1"/>
          <p:nvPr/>
        </p:nvSpPr>
        <p:spPr>
          <a:xfrm>
            <a:off x="595122" y="3505200"/>
            <a:ext cx="156362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系统功能</a:t>
            </a:r>
          </a:p>
        </p:txBody>
      </p:sp>
      <p:sp>
        <p:nvSpPr>
          <p:cNvPr id="13" name="section-subtitle"/>
          <p:cNvSpPr txBox="1"/>
          <p:nvPr/>
        </p:nvSpPr>
        <p:spPr>
          <a:xfrm>
            <a:off x="598170" y="4064000"/>
            <a:ext cx="2748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功能全景、功能演示</a:t>
            </a:r>
          </a:p>
        </p:txBody>
      </p:sp>
      <p:sp>
        <p:nvSpPr>
          <p:cNvPr id="14" name="Line 14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5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16" name="page-number"/>
          <p:cNvSpPr txBox="1"/>
          <p:nvPr/>
        </p:nvSpPr>
        <p:spPr>
          <a:xfrm>
            <a:off x="11499323" y="6540500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156362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功能全景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2742" y="1530350"/>
            <a:ext cx="782003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多个功能模块围绕「连接 → 查询 → 分析 → 报表 → 管理」闭环组织。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40556" y="2183606"/>
            <a:ext cx="185737" cy="185737"/>
            <a:chOff x="640556" y="2183606"/>
            <a:chExt cx="185737" cy="185737"/>
          </a:xfrm>
        </p:grpSpPr>
        <p:sp>
          <p:nvSpPr>
            <p:cNvPr id="6" name="Freeform 6"/>
            <p:cNvSpPr/>
            <p:nvPr/>
          </p:nvSpPr>
          <p:spPr>
            <a:xfrm>
              <a:off x="653095" y="2276475"/>
              <a:ext cx="80330" cy="80330"/>
            </a:xfrm>
            <a:custGeom>
              <a:avLst/>
              <a:gdLst/>
              <a:ahLst/>
              <a:cxnLst/>
              <a:rect l="l" t="t" r="r" b="b"/>
              <a:pathLst>
                <a:path w="80330" h="80330">
                  <a:moveTo>
                    <a:pt x="28736" y="0"/>
                  </a:moveTo>
                  <a:lnTo>
                    <a:pt x="80330" y="51594"/>
                  </a:lnTo>
                  <a:lnTo>
                    <a:pt x="64851" y="67072"/>
                  </a:lnTo>
                  <a:cubicBezTo>
                    <a:pt x="55687" y="76539"/>
                    <a:pt x="42129" y="80330"/>
                    <a:pt x="29383" y="76988"/>
                  </a:cubicBezTo>
                  <a:cubicBezTo>
                    <a:pt x="16637" y="73647"/>
                    <a:pt x="6683" y="63692"/>
                    <a:pt x="3341" y="50946"/>
                  </a:cubicBezTo>
                  <a:cubicBezTo>
                    <a:pt x="0" y="38200"/>
                    <a:pt x="3790" y="24643"/>
                    <a:pt x="13258" y="15478"/>
                  </a:cubicBezTo>
                  <a:lnTo>
                    <a:pt x="28736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733425" y="2196145"/>
              <a:ext cx="80330" cy="80330"/>
            </a:xfrm>
            <a:custGeom>
              <a:avLst/>
              <a:gdLst/>
              <a:ahLst/>
              <a:cxnLst/>
              <a:rect l="l" t="t" r="r" b="b"/>
              <a:pathLst>
                <a:path w="80330" h="80330">
                  <a:moveTo>
                    <a:pt x="51594" y="80330"/>
                  </a:moveTo>
                  <a:lnTo>
                    <a:pt x="0" y="28736"/>
                  </a:lnTo>
                  <a:lnTo>
                    <a:pt x="15478" y="13258"/>
                  </a:lnTo>
                  <a:cubicBezTo>
                    <a:pt x="24643" y="3790"/>
                    <a:pt x="38200" y="0"/>
                    <a:pt x="50946" y="3341"/>
                  </a:cubicBezTo>
                  <a:cubicBezTo>
                    <a:pt x="63692" y="6683"/>
                    <a:pt x="73647" y="16637"/>
                    <a:pt x="76988" y="29383"/>
                  </a:cubicBezTo>
                  <a:cubicBezTo>
                    <a:pt x="80330" y="42129"/>
                    <a:pt x="76539" y="55687"/>
                    <a:pt x="67072" y="64851"/>
                  </a:cubicBezTo>
                  <a:lnTo>
                    <a:pt x="51594" y="8033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40556" y="2343546"/>
              <a:ext cx="25797" cy="25797"/>
            </a:xfrm>
            <a:custGeom>
              <a:avLst/>
              <a:gdLst/>
              <a:ahLst/>
              <a:cxnLst/>
              <a:rect l="l" t="t" r="r" b="b"/>
              <a:pathLst>
                <a:path w="25797" h="25797">
                  <a:moveTo>
                    <a:pt x="0" y="25797"/>
                  </a:moveTo>
                  <a:lnTo>
                    <a:pt x="25797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00496" y="2183606"/>
              <a:ext cx="25797" cy="25797"/>
            </a:xfrm>
            <a:custGeom>
              <a:avLst/>
              <a:gdLst/>
              <a:ahLst/>
              <a:cxnLst/>
              <a:rect l="l" t="t" r="r" b="b"/>
              <a:pathLst>
                <a:path w="25797" h="25797">
                  <a:moveTo>
                    <a:pt x="0" y="25797"/>
                  </a:moveTo>
                  <a:lnTo>
                    <a:pt x="25797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692150" y="2266156"/>
              <a:ext cx="20637" cy="20637"/>
            </a:xfrm>
            <a:custGeom>
              <a:avLst/>
              <a:gdLst/>
              <a:ahLst/>
              <a:cxnLst/>
              <a:rect l="l" t="t" r="r" b="b"/>
              <a:pathLst>
                <a:path w="20637" h="20637">
                  <a:moveTo>
                    <a:pt x="20637" y="0"/>
                  </a:moveTo>
                  <a:lnTo>
                    <a:pt x="0" y="20637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723106" y="2297112"/>
              <a:ext cx="20637" cy="20637"/>
            </a:xfrm>
            <a:custGeom>
              <a:avLst/>
              <a:gdLst/>
              <a:ahLst/>
              <a:cxnLst/>
              <a:rect l="l" t="t" r="r" b="b"/>
              <a:pathLst>
                <a:path w="20637" h="20637">
                  <a:moveTo>
                    <a:pt x="20637" y="0"/>
                  </a:moveTo>
                  <a:lnTo>
                    <a:pt x="0" y="20637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601218" y="248285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连接管理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2742" y="2806700"/>
            <a:ext cx="2208276" cy="530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8 类数据源、SSH 隧道、多环</a:t>
            </a:r>
            <a:b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境标签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459956" y="2193925"/>
            <a:ext cx="185737" cy="165099"/>
            <a:chOff x="3459956" y="2193925"/>
            <a:chExt cx="185737" cy="165099"/>
          </a:xfrm>
        </p:grpSpPr>
        <p:sp>
          <p:nvSpPr>
            <p:cNvPr id="15" name="Freeform 15"/>
            <p:cNvSpPr/>
            <p:nvPr/>
          </p:nvSpPr>
          <p:spPr>
            <a:xfrm>
              <a:off x="3511550" y="2245518"/>
              <a:ext cx="30956" cy="61912"/>
            </a:xfrm>
            <a:custGeom>
              <a:avLst/>
              <a:gdLst/>
              <a:ahLst/>
              <a:cxnLst/>
              <a:rect l="l" t="t" r="r" b="b"/>
              <a:pathLst>
                <a:path w="30956" h="61912">
                  <a:moveTo>
                    <a:pt x="0" y="0"/>
                  </a:moveTo>
                  <a:lnTo>
                    <a:pt x="30956" y="30956"/>
                  </a:lnTo>
                  <a:lnTo>
                    <a:pt x="0" y="61912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563143" y="2307431"/>
              <a:ext cx="30956" cy="9525"/>
            </a:xfrm>
            <a:custGeom>
              <a:avLst/>
              <a:gdLst/>
              <a:ahLst/>
              <a:cxnLst/>
              <a:rect l="l" t="t" r="r" b="b"/>
              <a:pathLst>
                <a:path w="30956" h="9525">
                  <a:moveTo>
                    <a:pt x="0" y="0"/>
                  </a:moveTo>
                  <a:lnTo>
                    <a:pt x="30956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459956" y="2193925"/>
              <a:ext cx="185737" cy="165099"/>
            </a:xfrm>
            <a:custGeom>
              <a:avLst/>
              <a:gdLst/>
              <a:ahLst/>
              <a:cxnLst/>
              <a:rect l="l" t="t" r="r" b="b"/>
              <a:pathLst>
                <a:path w="185737" h="165099">
                  <a:moveTo>
                    <a:pt x="0" y="20637"/>
                  </a:moveTo>
                  <a:cubicBezTo>
                    <a:pt x="0" y="9240"/>
                    <a:pt x="9240" y="0"/>
                    <a:pt x="20637" y="0"/>
                  </a:cubicBezTo>
                  <a:lnTo>
                    <a:pt x="165099" y="0"/>
                  </a:lnTo>
                  <a:cubicBezTo>
                    <a:pt x="176497" y="0"/>
                    <a:pt x="185737" y="9240"/>
                    <a:pt x="185737" y="20637"/>
                  </a:cubicBezTo>
                  <a:lnTo>
                    <a:pt x="185737" y="144462"/>
                  </a:lnTo>
                  <a:cubicBezTo>
                    <a:pt x="185737" y="155860"/>
                    <a:pt x="176497" y="165099"/>
                    <a:pt x="165099" y="165099"/>
                  </a:cubicBezTo>
                  <a:lnTo>
                    <a:pt x="20637" y="165099"/>
                  </a:lnTo>
                  <a:cubicBezTo>
                    <a:pt x="9240" y="165099"/>
                    <a:pt x="0" y="155860"/>
                    <a:pt x="0" y="144462"/>
                  </a:cubicBezTo>
                  <a:lnTo>
                    <a:pt x="0" y="20637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3420618" y="2482850"/>
            <a:ext cx="121295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SQL 工作台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422142" y="2806700"/>
            <a:ext cx="2285428" cy="530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多 Tab 编辑、对象树、结果集</a:t>
            </a:r>
            <a:b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直编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6279356" y="2183606"/>
            <a:ext cx="185737" cy="185737"/>
            <a:chOff x="6279356" y="2183606"/>
            <a:chExt cx="185737" cy="185737"/>
          </a:xfrm>
        </p:grpSpPr>
        <p:sp>
          <p:nvSpPr>
            <p:cNvPr id="21" name="Freeform 21"/>
            <p:cNvSpPr/>
            <p:nvPr/>
          </p:nvSpPr>
          <p:spPr>
            <a:xfrm>
              <a:off x="6279356" y="2183606"/>
              <a:ext cx="185737" cy="185737"/>
            </a:xfrm>
            <a:custGeom>
              <a:avLst/>
              <a:gdLst/>
              <a:ahLst/>
              <a:cxnLst/>
              <a:rect l="l" t="t" r="r" b="b"/>
              <a:pathLst>
                <a:path w="185737" h="185737">
                  <a:moveTo>
                    <a:pt x="0" y="20637"/>
                  </a:moveTo>
                  <a:cubicBezTo>
                    <a:pt x="0" y="9240"/>
                    <a:pt x="9240" y="0"/>
                    <a:pt x="20637" y="0"/>
                  </a:cubicBezTo>
                  <a:lnTo>
                    <a:pt x="165099" y="0"/>
                  </a:lnTo>
                  <a:cubicBezTo>
                    <a:pt x="176497" y="0"/>
                    <a:pt x="185737" y="9240"/>
                    <a:pt x="185737" y="20637"/>
                  </a:cubicBezTo>
                  <a:lnTo>
                    <a:pt x="185737" y="165099"/>
                  </a:lnTo>
                  <a:cubicBezTo>
                    <a:pt x="185737" y="176497"/>
                    <a:pt x="176497" y="185737"/>
                    <a:pt x="165099" y="185737"/>
                  </a:cubicBezTo>
                  <a:lnTo>
                    <a:pt x="20637" y="185737"/>
                  </a:lnTo>
                  <a:cubicBezTo>
                    <a:pt x="9240" y="185737"/>
                    <a:pt x="0" y="176497"/>
                    <a:pt x="0" y="165099"/>
                  </a:cubicBezTo>
                  <a:lnTo>
                    <a:pt x="0" y="20637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279356" y="2255837"/>
              <a:ext cx="185737" cy="9525"/>
            </a:xfrm>
            <a:custGeom>
              <a:avLst/>
              <a:gdLst/>
              <a:ahLst/>
              <a:cxnLst/>
              <a:rect l="l" t="t" r="r" b="b"/>
              <a:pathLst>
                <a:path w="185737" h="9525">
                  <a:moveTo>
                    <a:pt x="0" y="0"/>
                  </a:moveTo>
                  <a:lnTo>
                    <a:pt x="185737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351587" y="2183606"/>
              <a:ext cx="9525" cy="185737"/>
            </a:xfrm>
            <a:custGeom>
              <a:avLst/>
              <a:gdLst/>
              <a:ahLst/>
              <a:cxnLst/>
              <a:rect l="l" t="t" r="r" b="b"/>
              <a:pathLst>
                <a:path w="9525" h="185737">
                  <a:moveTo>
                    <a:pt x="0" y="0"/>
                  </a:moveTo>
                  <a:lnTo>
                    <a:pt x="0" y="185737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25" name="TextBox 25"/>
          <p:cNvSpPr txBox="1"/>
          <p:nvPr/>
        </p:nvSpPr>
        <p:spPr>
          <a:xfrm>
            <a:off x="6240018" y="2482850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元数据管理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241542" y="2806700"/>
            <a:ext cx="2216848" cy="530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表/索引/DDL/视图/函数、结</a:t>
            </a:r>
            <a:b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构对比</a:t>
            </a:r>
          </a:p>
        </p:txBody>
      </p:sp>
      <p:sp>
        <p:nvSpPr>
          <p:cNvPr id="27" name="Freeform 27"/>
          <p:cNvSpPr/>
          <p:nvPr/>
        </p:nvSpPr>
        <p:spPr>
          <a:xfrm>
            <a:off x="9098756" y="2193925"/>
            <a:ext cx="175418" cy="165099"/>
          </a:xfrm>
          <a:custGeom>
            <a:avLst/>
            <a:gdLst/>
            <a:ahLst/>
            <a:cxnLst/>
            <a:rect l="l" t="t" r="r" b="b"/>
            <a:pathLst>
              <a:path w="175418" h="165099">
                <a:moveTo>
                  <a:pt x="134143" y="144462"/>
                </a:moveTo>
                <a:cubicBezTo>
                  <a:pt x="145541" y="144462"/>
                  <a:pt x="154781" y="153702"/>
                  <a:pt x="154781" y="165099"/>
                </a:cubicBezTo>
                <a:cubicBezTo>
                  <a:pt x="154781" y="153702"/>
                  <a:pt x="164020" y="144462"/>
                  <a:pt x="175418" y="144462"/>
                </a:cubicBezTo>
                <a:cubicBezTo>
                  <a:pt x="164020" y="144462"/>
                  <a:pt x="154781" y="135222"/>
                  <a:pt x="154781" y="123825"/>
                </a:cubicBezTo>
                <a:cubicBezTo>
                  <a:pt x="154781" y="135222"/>
                  <a:pt x="145541" y="144462"/>
                  <a:pt x="134143" y="144462"/>
                </a:cubicBezTo>
                <a:moveTo>
                  <a:pt x="134143" y="20637"/>
                </a:moveTo>
                <a:cubicBezTo>
                  <a:pt x="145541" y="20637"/>
                  <a:pt x="154781" y="29877"/>
                  <a:pt x="154781" y="41275"/>
                </a:cubicBezTo>
                <a:cubicBezTo>
                  <a:pt x="154781" y="29877"/>
                  <a:pt x="164020" y="20637"/>
                  <a:pt x="175418" y="20637"/>
                </a:cubicBezTo>
                <a:cubicBezTo>
                  <a:pt x="164020" y="20637"/>
                  <a:pt x="154781" y="11398"/>
                  <a:pt x="154781" y="0"/>
                </a:cubicBezTo>
                <a:cubicBezTo>
                  <a:pt x="154781" y="11398"/>
                  <a:pt x="145541" y="20637"/>
                  <a:pt x="134143" y="20637"/>
                </a:cubicBezTo>
                <a:moveTo>
                  <a:pt x="61912" y="144462"/>
                </a:moveTo>
                <a:cubicBezTo>
                  <a:pt x="61912" y="110269"/>
                  <a:pt x="89631" y="82550"/>
                  <a:pt x="123825" y="82550"/>
                </a:cubicBezTo>
                <a:cubicBezTo>
                  <a:pt x="89631" y="82550"/>
                  <a:pt x="61912" y="54831"/>
                  <a:pt x="61912" y="20637"/>
                </a:cubicBezTo>
                <a:cubicBezTo>
                  <a:pt x="61912" y="54831"/>
                  <a:pt x="34193" y="82550"/>
                  <a:pt x="0" y="82550"/>
                </a:cubicBezTo>
                <a:cubicBezTo>
                  <a:pt x="34193" y="82550"/>
                  <a:pt x="61912" y="110269"/>
                  <a:pt x="61912" y="144462"/>
                </a:cubicBezTo>
              </a:path>
            </a:pathLst>
          </a:custGeom>
          <a:noFill/>
          <a:ln w="20637">
            <a:solidFill>
              <a:schemeClr val="accent1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9059418" y="2482850"/>
            <a:ext cx="11886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 智能查询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060942" y="2806700"/>
            <a:ext cx="2268284" cy="530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自然语言转 SQL、多轮会话、</a:t>
            </a:r>
            <a:b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图表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640556" y="4098925"/>
            <a:ext cx="185737" cy="174624"/>
            <a:chOff x="640556" y="4098925"/>
            <a:chExt cx="185737" cy="174624"/>
          </a:xfrm>
        </p:grpSpPr>
        <p:sp>
          <p:nvSpPr>
            <p:cNvPr id="30" name="Freeform 30"/>
            <p:cNvSpPr/>
            <p:nvPr/>
          </p:nvSpPr>
          <p:spPr>
            <a:xfrm>
              <a:off x="640556" y="4181475"/>
              <a:ext cx="61912" cy="82550"/>
            </a:xfrm>
            <a:custGeom>
              <a:avLst/>
              <a:gdLst/>
              <a:ahLst/>
              <a:cxnLst/>
              <a:rect l="l" t="t" r="r" b="b"/>
              <a:pathLst>
                <a:path w="61912" h="82550">
                  <a:moveTo>
                    <a:pt x="0" y="10319"/>
                  </a:moveTo>
                  <a:cubicBezTo>
                    <a:pt x="0" y="4620"/>
                    <a:pt x="4620" y="0"/>
                    <a:pt x="10319" y="0"/>
                  </a:cubicBezTo>
                  <a:lnTo>
                    <a:pt x="51594" y="0"/>
                  </a:lnTo>
                  <a:cubicBezTo>
                    <a:pt x="57292" y="0"/>
                    <a:pt x="61912" y="4620"/>
                    <a:pt x="61912" y="10319"/>
                  </a:cubicBezTo>
                  <a:lnTo>
                    <a:pt x="61912" y="72231"/>
                  </a:lnTo>
                  <a:cubicBezTo>
                    <a:pt x="61912" y="77930"/>
                    <a:pt x="57292" y="82550"/>
                    <a:pt x="51594" y="82550"/>
                  </a:cubicBezTo>
                  <a:lnTo>
                    <a:pt x="10319" y="82550"/>
                  </a:lnTo>
                  <a:cubicBezTo>
                    <a:pt x="4620" y="82550"/>
                    <a:pt x="0" y="77930"/>
                    <a:pt x="0" y="72231"/>
                  </a:cubicBezTo>
                  <a:lnTo>
                    <a:pt x="0" y="10319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64381" y="4140200"/>
              <a:ext cx="61912" cy="123825"/>
            </a:xfrm>
            <a:custGeom>
              <a:avLst/>
              <a:gdLst/>
              <a:ahLst/>
              <a:cxnLst/>
              <a:rect l="l" t="t" r="r" b="b"/>
              <a:pathLst>
                <a:path w="61912" h="123825">
                  <a:moveTo>
                    <a:pt x="0" y="10319"/>
                  </a:moveTo>
                  <a:cubicBezTo>
                    <a:pt x="0" y="4620"/>
                    <a:pt x="4620" y="0"/>
                    <a:pt x="10319" y="0"/>
                  </a:cubicBezTo>
                  <a:lnTo>
                    <a:pt x="51594" y="0"/>
                  </a:lnTo>
                  <a:cubicBezTo>
                    <a:pt x="57292" y="0"/>
                    <a:pt x="61912" y="4620"/>
                    <a:pt x="61912" y="10319"/>
                  </a:cubicBezTo>
                  <a:lnTo>
                    <a:pt x="61912" y="113506"/>
                  </a:lnTo>
                  <a:cubicBezTo>
                    <a:pt x="61912" y="119205"/>
                    <a:pt x="57292" y="123825"/>
                    <a:pt x="51594" y="123825"/>
                  </a:cubicBezTo>
                  <a:lnTo>
                    <a:pt x="10319" y="123825"/>
                  </a:lnTo>
                  <a:cubicBezTo>
                    <a:pt x="4620" y="123825"/>
                    <a:pt x="0" y="119205"/>
                    <a:pt x="0" y="113506"/>
                  </a:cubicBezTo>
                  <a:lnTo>
                    <a:pt x="0" y="10319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02468" y="4098925"/>
              <a:ext cx="61912" cy="165099"/>
            </a:xfrm>
            <a:custGeom>
              <a:avLst/>
              <a:gdLst/>
              <a:ahLst/>
              <a:cxnLst/>
              <a:rect l="l" t="t" r="r" b="b"/>
              <a:pathLst>
                <a:path w="61912" h="165099">
                  <a:moveTo>
                    <a:pt x="0" y="10319"/>
                  </a:moveTo>
                  <a:cubicBezTo>
                    <a:pt x="0" y="4620"/>
                    <a:pt x="4620" y="0"/>
                    <a:pt x="10319" y="0"/>
                  </a:cubicBezTo>
                  <a:lnTo>
                    <a:pt x="51594" y="0"/>
                  </a:lnTo>
                  <a:cubicBezTo>
                    <a:pt x="57292" y="0"/>
                    <a:pt x="61912" y="4620"/>
                    <a:pt x="61912" y="10319"/>
                  </a:cubicBezTo>
                  <a:lnTo>
                    <a:pt x="61912" y="154781"/>
                  </a:lnTo>
                  <a:cubicBezTo>
                    <a:pt x="61912" y="160480"/>
                    <a:pt x="57292" y="165099"/>
                    <a:pt x="51594" y="165099"/>
                  </a:cubicBezTo>
                  <a:lnTo>
                    <a:pt x="10319" y="165099"/>
                  </a:lnTo>
                  <a:cubicBezTo>
                    <a:pt x="4620" y="165099"/>
                    <a:pt x="0" y="160480"/>
                    <a:pt x="0" y="154781"/>
                  </a:cubicBezTo>
                  <a:lnTo>
                    <a:pt x="0" y="10319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650875" y="4264024"/>
              <a:ext cx="144462" cy="9525"/>
            </a:xfrm>
            <a:custGeom>
              <a:avLst/>
              <a:gdLst/>
              <a:ahLst/>
              <a:cxnLst/>
              <a:rect l="l" t="t" r="r" b="b"/>
              <a:pathLst>
                <a:path w="144462" h="9525">
                  <a:moveTo>
                    <a:pt x="0" y="0"/>
                  </a:moveTo>
                  <a:lnTo>
                    <a:pt x="144462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35" name="TextBox 35"/>
          <p:cNvSpPr txBox="1"/>
          <p:nvPr/>
        </p:nvSpPr>
        <p:spPr>
          <a:xfrm>
            <a:off x="601218" y="4387850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可视化报表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02742" y="4749800"/>
            <a:ext cx="24489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11 种图表、仪表盘、分享大屏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3480594" y="4088606"/>
            <a:ext cx="165099" cy="196056"/>
            <a:chOff x="3480594" y="4088606"/>
            <a:chExt cx="165099" cy="196056"/>
          </a:xfrm>
        </p:grpSpPr>
        <p:sp>
          <p:nvSpPr>
            <p:cNvPr id="37" name="Freeform 37"/>
            <p:cNvSpPr/>
            <p:nvPr/>
          </p:nvSpPr>
          <p:spPr>
            <a:xfrm>
              <a:off x="3573462" y="4088606"/>
              <a:ext cx="51594" cy="51594"/>
            </a:xfrm>
            <a:custGeom>
              <a:avLst/>
              <a:gdLst/>
              <a:ahLst/>
              <a:cxnLst/>
              <a:rect l="l" t="t" r="r" b="b"/>
              <a:pathLst>
                <a:path w="51594" h="51594">
                  <a:moveTo>
                    <a:pt x="0" y="0"/>
                  </a:moveTo>
                  <a:lnTo>
                    <a:pt x="0" y="41275"/>
                  </a:lnTo>
                  <a:cubicBezTo>
                    <a:pt x="0" y="46974"/>
                    <a:pt x="4620" y="51594"/>
                    <a:pt x="10319" y="51594"/>
                  </a:cubicBezTo>
                  <a:lnTo>
                    <a:pt x="51594" y="51594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3480594" y="4088606"/>
              <a:ext cx="165099" cy="196056"/>
            </a:xfrm>
            <a:custGeom>
              <a:avLst/>
              <a:gdLst/>
              <a:ahLst/>
              <a:cxnLst/>
              <a:rect l="l" t="t" r="r" b="b"/>
              <a:pathLst>
                <a:path w="165099" h="196056">
                  <a:moveTo>
                    <a:pt x="67072" y="185737"/>
                  </a:moveTo>
                  <a:lnTo>
                    <a:pt x="20637" y="185737"/>
                  </a:lnTo>
                  <a:cubicBezTo>
                    <a:pt x="9240" y="185737"/>
                    <a:pt x="0" y="176497"/>
                    <a:pt x="0" y="165099"/>
                  </a:cubicBezTo>
                  <a:lnTo>
                    <a:pt x="0" y="20637"/>
                  </a:lnTo>
                  <a:cubicBezTo>
                    <a:pt x="0" y="9240"/>
                    <a:pt x="9240" y="0"/>
                    <a:pt x="20637" y="0"/>
                  </a:cubicBezTo>
                  <a:lnTo>
                    <a:pt x="92868" y="0"/>
                  </a:lnTo>
                  <a:lnTo>
                    <a:pt x="144462" y="51594"/>
                  </a:lnTo>
                  <a:lnTo>
                    <a:pt x="144462" y="103187"/>
                  </a:lnTo>
                  <a:moveTo>
                    <a:pt x="92868" y="165099"/>
                  </a:moveTo>
                  <a:lnTo>
                    <a:pt x="165099" y="165099"/>
                  </a:lnTo>
                  <a:moveTo>
                    <a:pt x="134143" y="134143"/>
                  </a:moveTo>
                  <a:lnTo>
                    <a:pt x="165099" y="165099"/>
                  </a:lnTo>
                  <a:lnTo>
                    <a:pt x="134143" y="196056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40" name="TextBox 40"/>
          <p:cNvSpPr txBox="1"/>
          <p:nvPr/>
        </p:nvSpPr>
        <p:spPr>
          <a:xfrm>
            <a:off x="3420618" y="438785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文档导出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22142" y="4711700"/>
            <a:ext cx="2182558" cy="5307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100"/>
              </a:lnSpc>
            </a:pP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CSV/Excel/JSON、库文档导</a:t>
            </a:r>
            <a:b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出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6279356" y="4088606"/>
            <a:ext cx="185737" cy="185738"/>
            <a:chOff x="6279356" y="4088606"/>
            <a:chExt cx="185737" cy="185738"/>
          </a:xfrm>
        </p:grpSpPr>
        <p:sp>
          <p:nvSpPr>
            <p:cNvPr id="42" name="Freeform 42"/>
            <p:cNvSpPr/>
            <p:nvPr/>
          </p:nvSpPr>
          <p:spPr>
            <a:xfrm>
              <a:off x="6299994" y="4088606"/>
              <a:ext cx="82550" cy="82550"/>
            </a:xfrm>
            <a:custGeom>
              <a:avLst/>
              <a:gdLst/>
              <a:ahLst/>
              <a:cxnLst/>
              <a:rect l="l" t="t" r="r" b="b"/>
              <a:pathLst>
                <a:path w="82550" h="82550">
                  <a:moveTo>
                    <a:pt x="0" y="41275"/>
                  </a:moveTo>
                  <a:cubicBezTo>
                    <a:pt x="0" y="64070"/>
                    <a:pt x="18479" y="82550"/>
                    <a:pt x="41275" y="82550"/>
                  </a:cubicBezTo>
                  <a:cubicBezTo>
                    <a:pt x="64070" y="82550"/>
                    <a:pt x="82550" y="64070"/>
                    <a:pt x="82550" y="41275"/>
                  </a:cubicBezTo>
                  <a:cubicBezTo>
                    <a:pt x="82550" y="18479"/>
                    <a:pt x="64070" y="0"/>
                    <a:pt x="41275" y="0"/>
                  </a:cubicBezTo>
                  <a:cubicBezTo>
                    <a:pt x="18479" y="0"/>
                    <a:pt x="0" y="18479"/>
                    <a:pt x="0" y="41275"/>
                  </a:cubicBez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43" name="Freeform 43"/>
            <p:cNvSpPr/>
            <p:nvPr/>
          </p:nvSpPr>
          <p:spPr>
            <a:xfrm>
              <a:off x="6279356" y="4212431"/>
              <a:ext cx="123825" cy="61912"/>
            </a:xfrm>
            <a:custGeom>
              <a:avLst/>
              <a:gdLst/>
              <a:ahLst/>
              <a:cxnLst/>
              <a:rect l="l" t="t" r="r" b="b"/>
              <a:pathLst>
                <a:path w="123825" h="61912">
                  <a:moveTo>
                    <a:pt x="0" y="61912"/>
                  </a:moveTo>
                  <a:lnTo>
                    <a:pt x="0" y="41275"/>
                  </a:lnTo>
                  <a:cubicBezTo>
                    <a:pt x="0" y="18479"/>
                    <a:pt x="18479" y="0"/>
                    <a:pt x="41275" y="0"/>
                  </a:cubicBezTo>
                  <a:lnTo>
                    <a:pt x="82550" y="0"/>
                  </a:lnTo>
                  <a:cubicBezTo>
                    <a:pt x="105345" y="0"/>
                    <a:pt x="123825" y="18479"/>
                    <a:pt x="123825" y="41275"/>
                  </a:cubicBezTo>
                  <a:lnTo>
                    <a:pt x="123825" y="61912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413499" y="4089948"/>
              <a:ext cx="31037" cy="79970"/>
            </a:xfrm>
            <a:custGeom>
              <a:avLst/>
              <a:gdLst/>
              <a:ahLst/>
              <a:cxnLst/>
              <a:rect l="l" t="t" r="r" b="b"/>
              <a:pathLst>
                <a:path w="31037" h="79970">
                  <a:moveTo>
                    <a:pt x="0" y="0"/>
                  </a:moveTo>
                  <a:cubicBezTo>
                    <a:pt x="18263" y="4676"/>
                    <a:pt x="31037" y="21133"/>
                    <a:pt x="31037" y="39985"/>
                  </a:cubicBezTo>
                  <a:cubicBezTo>
                    <a:pt x="31037" y="58837"/>
                    <a:pt x="18263" y="75294"/>
                    <a:pt x="0" y="79970"/>
                  </a:cubicBez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6434137" y="4213979"/>
              <a:ext cx="30956" cy="60365"/>
            </a:xfrm>
            <a:custGeom>
              <a:avLst/>
              <a:gdLst/>
              <a:ahLst/>
              <a:cxnLst/>
              <a:rect l="l" t="t" r="r" b="b"/>
              <a:pathLst>
                <a:path w="30956" h="60365">
                  <a:moveTo>
                    <a:pt x="30956" y="60365"/>
                  </a:moveTo>
                  <a:lnTo>
                    <a:pt x="30956" y="39727"/>
                  </a:lnTo>
                  <a:cubicBezTo>
                    <a:pt x="30848" y="20994"/>
                    <a:pt x="18138" y="4683"/>
                    <a:pt x="0" y="0"/>
                  </a:cubicBez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6240018" y="4387850"/>
            <a:ext cx="11273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用户与角色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41542" y="4749800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按角色控制用户权限</a:t>
            </a:r>
          </a:p>
        </p:txBody>
      </p:sp>
      <p:sp>
        <p:nvSpPr>
          <p:cNvPr id="49" name="Freeform 49"/>
          <p:cNvSpPr/>
          <p:nvPr/>
        </p:nvSpPr>
        <p:spPr>
          <a:xfrm>
            <a:off x="9098756" y="4098925"/>
            <a:ext cx="185737" cy="165099"/>
          </a:xfrm>
          <a:custGeom>
            <a:avLst/>
            <a:gdLst/>
            <a:ahLst/>
            <a:cxnLst/>
            <a:rect l="l" t="t" r="r" b="b"/>
            <a:pathLst>
              <a:path w="185737" h="165099">
                <a:moveTo>
                  <a:pt x="0" y="82550"/>
                </a:moveTo>
                <a:lnTo>
                  <a:pt x="41275" y="82550"/>
                </a:lnTo>
                <a:lnTo>
                  <a:pt x="72231" y="165099"/>
                </a:lnTo>
                <a:lnTo>
                  <a:pt x="113506" y="0"/>
                </a:lnTo>
                <a:lnTo>
                  <a:pt x="144462" y="82550"/>
                </a:lnTo>
                <a:lnTo>
                  <a:pt x="185737" y="82550"/>
                </a:lnTo>
              </a:path>
            </a:pathLst>
          </a:custGeom>
          <a:noFill/>
          <a:ln w="20637">
            <a:solidFill>
              <a:schemeClr val="accent1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9059418" y="438785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运维监控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060942" y="4749800"/>
            <a:ext cx="20128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慢查询、连接概览、审计</a:t>
            </a:r>
          </a:p>
        </p:txBody>
      </p:sp>
      <p:sp>
        <p:nvSpPr>
          <p:cNvPr id="52" name="Line 52"/>
          <p:cNvSpPr/>
          <p:nvPr/>
        </p:nvSpPr>
        <p:spPr>
          <a:xfrm>
            <a:off x="609600" y="1962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3" name="Line 53"/>
          <p:cNvSpPr/>
          <p:nvPr/>
        </p:nvSpPr>
        <p:spPr>
          <a:xfrm>
            <a:off x="609600" y="3867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4" name="Line 54"/>
          <p:cNvSpPr/>
          <p:nvPr/>
        </p:nvSpPr>
        <p:spPr>
          <a:xfrm>
            <a:off x="3048000" y="2152650"/>
            <a:ext cx="9525" cy="3752850"/>
          </a:xfrm>
          <a:custGeom>
            <a:avLst/>
            <a:gdLst/>
            <a:ahLst/>
            <a:cxnLst/>
            <a:rect l="l" t="t" r="r" b="b"/>
            <a:pathLst>
              <a:path w="9525" h="3752850">
                <a:moveTo>
                  <a:pt x="0" y="0"/>
                </a:moveTo>
                <a:lnTo>
                  <a:pt x="0" y="37528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5" name="Line 55"/>
          <p:cNvSpPr/>
          <p:nvPr/>
        </p:nvSpPr>
        <p:spPr>
          <a:xfrm>
            <a:off x="5867400" y="2152650"/>
            <a:ext cx="9525" cy="3752850"/>
          </a:xfrm>
          <a:custGeom>
            <a:avLst/>
            <a:gdLst/>
            <a:ahLst/>
            <a:cxnLst/>
            <a:rect l="l" t="t" r="r" b="b"/>
            <a:pathLst>
              <a:path w="9525" h="3752850">
                <a:moveTo>
                  <a:pt x="0" y="0"/>
                </a:moveTo>
                <a:lnTo>
                  <a:pt x="0" y="37528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6" name="Line 56"/>
          <p:cNvSpPr/>
          <p:nvPr/>
        </p:nvSpPr>
        <p:spPr>
          <a:xfrm>
            <a:off x="8686800" y="2152650"/>
            <a:ext cx="9525" cy="3752850"/>
          </a:xfrm>
          <a:custGeom>
            <a:avLst/>
            <a:gdLst/>
            <a:ahLst/>
            <a:cxnLst/>
            <a:rect l="l" t="t" r="r" b="b"/>
            <a:pathLst>
              <a:path w="9525" h="3752850">
                <a:moveTo>
                  <a:pt x="0" y="0"/>
                </a:moveTo>
                <a:lnTo>
                  <a:pt x="0" y="375285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604266" y="5911850"/>
            <a:ext cx="88775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来源：仓库 需求说明书V2.0/V3.0.md、AGENTS.md、README.md；界面截图取自本地运行实例</a:t>
            </a:r>
          </a:p>
        </p:txBody>
      </p:sp>
      <p:sp>
        <p:nvSpPr>
          <p:cNvPr id="58" name="Line 58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59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60" name="page-number"/>
          <p:cNvSpPr txBox="1"/>
          <p:nvPr/>
        </p:nvSpPr>
        <p:spPr>
          <a:xfrm>
            <a:off x="11499323" y="6540500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800566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功能演示 ：自然语言查询数据库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pic>
        <p:nvPicPr>
          <p:cNvPr id="1005" name="video-po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pic>
        <p:nvPicPr>
          <p:cNvPr id="5" name="demo-frame">
            <a:hlinkClick r:id="" action="ppaction://media"/>
          </p:cNvPr>
          <p:cNvPicPr>
            <a:picLocks noChangeAspect="1"/>
          </p:cNvPicPr>
          <p:nvPr>
            <a:videoFile r:link="rId900"/>
            <p:extLst>
              <p:ext uri="{DAA4B4D4-6D71-4841-9C94-3DE7FCFB9230}">
                <p14:media xmlns:p14="http://schemas.microsoft.com/office/powerpoint/2010/main" r:embed="rId901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sp>
        <p:nvSpPr>
          <p:cNvPr id="6" name="Ellipse 6"/>
          <p:cNvSpPr/>
          <p:nvPr/>
        </p:nvSpPr>
        <p:spPr>
          <a:xfrm>
            <a:off x="7648575" y="18383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802880" y="1746250"/>
            <a:ext cx="420082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一句话生成 SQL，无需手写语句</a:t>
            </a:r>
          </a:p>
        </p:txBody>
      </p:sp>
      <p:sp>
        <p:nvSpPr>
          <p:cNvPr id="8" name="Ellipse 8"/>
          <p:cNvSpPr/>
          <p:nvPr/>
        </p:nvSpPr>
        <p:spPr>
          <a:xfrm>
            <a:off x="7648575" y="23336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802880" y="2241550"/>
            <a:ext cx="270738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SSE 流式回传思考过程与 SQL</a:t>
            </a:r>
          </a:p>
        </p:txBody>
      </p:sp>
      <p:sp>
        <p:nvSpPr>
          <p:cNvPr id="10" name="Ellipse 10"/>
          <p:cNvSpPr/>
          <p:nvPr/>
        </p:nvSpPr>
        <p:spPr>
          <a:xfrm>
            <a:off x="7648575" y="28289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802880" y="27368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切换数据源即可跨库查询</a:t>
            </a:r>
          </a:p>
        </p:txBody>
      </p:sp>
      <p:sp>
        <p:nvSpPr>
          <p:cNvPr id="12" name="Ellipse 12"/>
          <p:cNvSpPr/>
          <p:nvPr/>
        </p:nvSpPr>
        <p:spPr>
          <a:xfrm>
            <a:off x="7648575" y="33242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802880" y="3232150"/>
            <a:ext cx="45590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结果一键导出 CSV / Excel / JSON</a:t>
            </a:r>
          </a:p>
        </p:txBody>
      </p:sp>
      <p:grpSp>
        <p:nvGrpSpPr>
          <p:cNvPr id="16" name="demo-notes"/>
          <p:cNvGrpSpPr/>
          <p:nvPr/>
        </p:nvGrpSpPr>
        <p:grpSpPr>
          <a:xfrm>
            <a:off x="603504" y="5429250"/>
            <a:ext cx="6615611" cy="821309"/>
            <a:chOff x="603504" y="5429250"/>
            <a:chExt cx="6615611" cy="821309"/>
          </a:xfrm>
        </p:grpSpPr>
        <p:sp>
          <p:nvSpPr>
            <p:cNvPr id="14" name="TextBox 14"/>
            <p:cNvSpPr txBox="1"/>
            <p:nvPr/>
          </p:nvSpPr>
          <p:spPr>
            <a:xfrm>
              <a:off x="603504" y="5429250"/>
              <a:ext cx="93744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▶ 点击画面播放演示视频（约 40 秒）：演示库查用户 → Oracle（UAT）查机构 → 导出 CSV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266" y="6045200"/>
              <a:ext cx="95915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来源：视频为本地运行实例的录屏；数据源为内置演示库（SQLite）与远端 Oracle UAT 库（T_ORG 表）</a:t>
              </a:r>
            </a:p>
          </p:txBody>
        </p:sp>
      </p:grpSp>
      <p:sp>
        <p:nvSpPr>
          <p:cNvPr id="17" name="Line 17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8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19" name="page-number"/>
          <p:cNvSpPr txBox="1"/>
          <p:nvPr/>
        </p:nvSpPr>
        <p:spPr>
          <a:xfrm>
            <a:off x="11499323" y="6540500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744934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功能演示 ：自然语言生成图表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pic>
        <p:nvPicPr>
          <p:cNvPr id="1005" name="video-po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pic>
        <p:nvPicPr>
          <p:cNvPr id="5" name="demo-frame">
            <a:hlinkClick r:id="" action="ppaction://media"/>
          </p:cNvPr>
          <p:cNvPicPr>
            <a:picLocks noChangeAspect="1"/>
          </p:cNvPicPr>
          <p:nvPr>
            <a:videoFile r:link="rId900"/>
            <p:extLst>
              <p:ext uri="{DAA4B4D4-6D71-4841-9C94-3DE7FCFB9230}">
                <p14:media xmlns:p14="http://schemas.microsoft.com/office/powerpoint/2010/main" r:embed="rId901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sp>
        <p:nvSpPr>
          <p:cNvPr id="6" name="Ellipse 6"/>
          <p:cNvSpPr/>
          <p:nvPr/>
        </p:nvSpPr>
        <p:spPr>
          <a:xfrm>
            <a:off x="7648575" y="18383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802880" y="1746250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一句话查询数据并生成图表</a:t>
            </a:r>
          </a:p>
        </p:txBody>
      </p:sp>
      <p:sp>
        <p:nvSpPr>
          <p:cNvPr id="8" name="Ellipse 8"/>
          <p:cNvSpPr/>
          <p:nvPr/>
        </p:nvSpPr>
        <p:spPr>
          <a:xfrm>
            <a:off x="7648575" y="23336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802880" y="2241550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根据数据自动选择图表类型</a:t>
            </a:r>
          </a:p>
        </p:txBody>
      </p:sp>
      <p:sp>
        <p:nvSpPr>
          <p:cNvPr id="10" name="Ellipse 10"/>
          <p:cNvSpPr/>
          <p:nvPr/>
        </p:nvSpPr>
        <p:spPr>
          <a:xfrm>
            <a:off x="7648575" y="28289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802880" y="2736850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一键保存到可视化报表复用</a:t>
            </a:r>
          </a:p>
        </p:txBody>
      </p:sp>
      <p:sp>
        <p:nvSpPr>
          <p:cNvPr id="12" name="Ellipse 12"/>
          <p:cNvSpPr/>
          <p:nvPr/>
        </p:nvSpPr>
        <p:spPr>
          <a:xfrm>
            <a:off x="7648575" y="33242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802880" y="32321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拖拽式仪表盘可编辑分享</a:t>
            </a:r>
          </a:p>
        </p:txBody>
      </p:sp>
      <p:grpSp>
        <p:nvGrpSpPr>
          <p:cNvPr id="16" name="demo-notes"/>
          <p:cNvGrpSpPr/>
          <p:nvPr/>
        </p:nvGrpSpPr>
        <p:grpSpPr>
          <a:xfrm>
            <a:off x="603504" y="5429250"/>
            <a:ext cx="9169070" cy="821309"/>
            <a:chOff x="603504" y="5429250"/>
            <a:chExt cx="9169070" cy="821309"/>
          </a:xfrm>
        </p:grpSpPr>
        <p:sp>
          <p:nvSpPr>
            <p:cNvPr id="14" name="TextBox 14"/>
            <p:cNvSpPr txBox="1"/>
            <p:nvPr/>
          </p:nvSpPr>
          <p:spPr>
            <a:xfrm>
              <a:off x="603504" y="5429250"/>
              <a:ext cx="132951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▶ 点击画面播放演示视频（约 60 秒）：Oracle 查分行笔数/金额 → 自动出图 → 保存报表，再看近 30 天成功交易笔数与金额趋势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266" y="6045200"/>
              <a:ext cx="85995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来源：视频为本地运行实例的录屏；数据源为远端 Oracle UAT 库（T_TRANS_LOG / T_ORG）</a:t>
              </a:r>
            </a:p>
          </p:txBody>
        </p:sp>
      </p:grpSp>
      <p:sp>
        <p:nvSpPr>
          <p:cNvPr id="17" name="Line 17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8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19" name="page-number"/>
          <p:cNvSpPr txBox="1"/>
          <p:nvPr/>
        </p:nvSpPr>
        <p:spPr>
          <a:xfrm>
            <a:off x="11499323" y="6540500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5994736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功能演示 ：SQL 工作台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pic>
        <p:nvPicPr>
          <p:cNvPr id="1005" name="video-po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pic>
        <p:nvPicPr>
          <p:cNvPr id="5" name="demo-frame">
            <a:hlinkClick r:id="" action="ppaction://media"/>
          </p:cNvPr>
          <p:cNvPicPr>
            <a:picLocks noChangeAspect="1"/>
          </p:cNvPicPr>
          <p:nvPr>
            <a:videoFile r:link="rId900"/>
            <p:extLst>
              <p:ext uri="{DAA4B4D4-6D71-4841-9C94-3DE7FCFB9230}">
                <p14:media xmlns:p14="http://schemas.microsoft.com/office/powerpoint/2010/main" r:embed="rId901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sp>
        <p:nvSpPr>
          <p:cNvPr id="6" name="Ellipse 6"/>
          <p:cNvSpPr/>
          <p:nvPr/>
        </p:nvSpPr>
        <p:spPr>
          <a:xfrm>
            <a:off x="7648575" y="18383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802880" y="1746250"/>
            <a:ext cx="470853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表/索引/DDL/视图/函数元数据管理</a:t>
            </a:r>
          </a:p>
        </p:txBody>
      </p:sp>
      <p:sp>
        <p:nvSpPr>
          <p:cNvPr id="8" name="Ellipse 8"/>
          <p:cNvSpPr/>
          <p:nvPr/>
        </p:nvSpPr>
        <p:spPr>
          <a:xfrm>
            <a:off x="7648575" y="23336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802880" y="2241550"/>
            <a:ext cx="22443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Agent 辅助快速生成SQL</a:t>
            </a:r>
          </a:p>
        </p:txBody>
      </p:sp>
      <p:sp>
        <p:nvSpPr>
          <p:cNvPr id="10" name="Ellipse 10"/>
          <p:cNvSpPr/>
          <p:nvPr/>
        </p:nvSpPr>
        <p:spPr>
          <a:xfrm>
            <a:off x="7648575" y="28289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802880" y="2736850"/>
            <a:ext cx="20253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SQL填入编辑器再编辑</a:t>
            </a:r>
          </a:p>
        </p:txBody>
      </p:sp>
      <p:sp>
        <p:nvSpPr>
          <p:cNvPr id="12" name="Ellipse 12"/>
          <p:cNvSpPr/>
          <p:nvPr/>
        </p:nvSpPr>
        <p:spPr>
          <a:xfrm>
            <a:off x="7648575" y="33242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802880" y="3232150"/>
            <a:ext cx="273862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执行历史留痕 + SQL 收藏复用</a:t>
            </a:r>
          </a:p>
        </p:txBody>
      </p:sp>
      <p:grpSp>
        <p:nvGrpSpPr>
          <p:cNvPr id="16" name="demo-notes"/>
          <p:cNvGrpSpPr/>
          <p:nvPr/>
        </p:nvGrpSpPr>
        <p:grpSpPr>
          <a:xfrm>
            <a:off x="603504" y="5429250"/>
            <a:ext cx="9629724" cy="989584"/>
            <a:chOff x="603504" y="5429250"/>
            <a:chExt cx="9629724" cy="989584"/>
          </a:xfrm>
        </p:grpSpPr>
        <p:sp>
          <p:nvSpPr>
            <p:cNvPr id="14" name="TextBox 14"/>
            <p:cNvSpPr txBox="1"/>
            <p:nvPr/>
          </p:nvSpPr>
          <p:spPr>
            <a:xfrm>
              <a:off x="603504" y="5429250"/>
              <a:ext cx="13963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▶ 点击画面播放演示视频（约 55 秒）：OceanBase 执行 SQL → Agent 生成聚合 SQL → 填入编辑器执行 → 收藏命名 → 历史 / 收藏页签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266" y="6032500"/>
              <a:ext cx="10766145" cy="386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来源：视频为本地运行实例的录屏；数据源为 OceanBase CE 4.4.2.1（bank_db，T_ORG 55 行 / T_TRANS_LOG 10 万行）；</a:t>
              </a:r>
              <a:b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Agent 生成 SQL 的模型为 openai · deepseek-v4-flash</a:t>
              </a:r>
            </a:p>
          </p:txBody>
        </p:sp>
      </p:grpSp>
      <p:sp>
        <p:nvSpPr>
          <p:cNvPr id="17" name="Line 17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8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19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8776322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功能演示 ：SQL 语句分级安全控制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pic>
        <p:nvPicPr>
          <p:cNvPr id="1005" name="video-po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pic>
        <p:nvPicPr>
          <p:cNvPr id="5" name="demo-frame">
            <a:hlinkClick r:id="" action="ppaction://media"/>
          </p:cNvPr>
          <p:cNvPicPr>
            <a:picLocks noChangeAspect="1"/>
          </p:cNvPicPr>
          <p:nvPr>
            <a:videoFile r:link="rId900"/>
            <p:extLst>
              <p:ext uri="{DAA4B4D4-6D71-4841-9C94-3DE7FCFB9230}">
                <p14:media xmlns:p14="http://schemas.microsoft.com/office/powerpoint/2010/main" r:embed="rId901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sp>
        <p:nvSpPr>
          <p:cNvPr id="6" name="Ellipse 6"/>
          <p:cNvSpPr/>
          <p:nvPr/>
        </p:nvSpPr>
        <p:spPr>
          <a:xfrm>
            <a:off x="7648575" y="18383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802880" y="1746250"/>
            <a:ext cx="230200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READ：只读查询自动执行</a:t>
            </a:r>
          </a:p>
        </p:txBody>
      </p:sp>
      <p:sp>
        <p:nvSpPr>
          <p:cNvPr id="8" name="Ellipse 8"/>
          <p:cNvSpPr/>
          <p:nvPr/>
        </p:nvSpPr>
        <p:spPr>
          <a:xfrm>
            <a:off x="7648575" y="23336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802880" y="2241550"/>
            <a:ext cx="259156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DML：UPDATE 确认后才生效</a:t>
            </a:r>
          </a:p>
        </p:txBody>
      </p:sp>
      <p:sp>
        <p:nvSpPr>
          <p:cNvPr id="10" name="Ellipse 10"/>
          <p:cNvSpPr/>
          <p:nvPr/>
        </p:nvSpPr>
        <p:spPr>
          <a:xfrm>
            <a:off x="7648575" y="28289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802880" y="2736850"/>
            <a:ext cx="17807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DDL：红色危险提示</a:t>
            </a:r>
          </a:p>
        </p:txBody>
      </p:sp>
      <p:sp>
        <p:nvSpPr>
          <p:cNvPr id="12" name="Ellipse 12"/>
          <p:cNvSpPr/>
          <p:nvPr/>
        </p:nvSpPr>
        <p:spPr>
          <a:xfrm>
            <a:off x="7648575" y="33242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802880" y="3232150"/>
            <a:ext cx="20345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操作全部写入审计日志</a:t>
            </a:r>
          </a:p>
        </p:txBody>
      </p:sp>
      <p:grpSp>
        <p:nvGrpSpPr>
          <p:cNvPr id="16" name="demo-notes"/>
          <p:cNvGrpSpPr/>
          <p:nvPr/>
        </p:nvGrpSpPr>
        <p:grpSpPr>
          <a:xfrm>
            <a:off x="603504" y="5429250"/>
            <a:ext cx="8872538" cy="989584"/>
            <a:chOff x="603504" y="5429250"/>
            <a:chExt cx="8872538" cy="989584"/>
          </a:xfrm>
        </p:grpSpPr>
        <p:sp>
          <p:nvSpPr>
            <p:cNvPr id="14" name="TextBox 14"/>
            <p:cNvSpPr txBox="1"/>
            <p:nvPr/>
          </p:nvSpPr>
          <p:spPr>
            <a:xfrm>
              <a:off x="603504" y="5429250"/>
              <a:ext cx="11202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▶ 点击画面播放演示视频（约 52 秒）：UPDATE 确认执行 → Agent 修改字段长度确认执行 → 删除表取消执行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266" y="6032500"/>
              <a:ext cx="12864075" cy="386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来源：视频为本地运行实例的录屏；数据源为 OceanBase CE 4.4.2.1 bank_db（T_USER）；READ 自动执行、DML/DDL 待确认以及 5 分钟过期机制见</a:t>
              </a:r>
              <a:b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en-US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services/sql_service.py</a:t>
              </a:r>
            </a:p>
          </p:txBody>
        </p:sp>
      </p:grpSp>
      <p:sp>
        <p:nvSpPr>
          <p:cNvPr id="17" name="Line 17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8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19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689303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功能演示 ：运维监控与日志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pic>
        <p:nvPicPr>
          <p:cNvPr id="1005" name="video-po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pic>
        <p:nvPicPr>
          <p:cNvPr id="5" name="demo-frame">
            <a:hlinkClick r:id="" action="ppaction://media"/>
          </p:cNvPr>
          <p:cNvPicPr>
            <a:picLocks noChangeAspect="1"/>
          </p:cNvPicPr>
          <p:nvPr>
            <a:videoFile r:link="rId900"/>
            <p:extLst>
              <p:ext uri="{DAA4B4D4-6D71-4841-9C94-3DE7FCFB9230}">
                <p14:media xmlns:p14="http://schemas.microsoft.com/office/powerpoint/2010/main" r:embed="rId901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613904" y="1771650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运维与合规</a:t>
            </a:r>
          </a:p>
        </p:txBody>
      </p:sp>
      <p:sp>
        <p:nvSpPr>
          <p:cNvPr id="7" name="Ellipse 7"/>
          <p:cNvSpPr/>
          <p:nvPr/>
        </p:nvSpPr>
        <p:spPr>
          <a:xfrm>
            <a:off x="7648575" y="22193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7802880" y="2127250"/>
            <a:ext cx="45019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连接概览：查询量 / 耗时 / 成功率</a:t>
            </a:r>
          </a:p>
        </p:txBody>
      </p:sp>
      <p:sp>
        <p:nvSpPr>
          <p:cNvPr id="9" name="Ellipse 9"/>
          <p:cNvSpPr/>
          <p:nvPr/>
        </p:nvSpPr>
        <p:spPr>
          <a:xfrm>
            <a:off x="7648575" y="27146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7802880" y="2622550"/>
            <a:ext cx="469361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审计日志：登录、SQL执行记录留痕</a:t>
            </a:r>
          </a:p>
        </p:txBody>
      </p:sp>
      <p:sp>
        <p:nvSpPr>
          <p:cNvPr id="11" name="Ellipse 11"/>
          <p:cNvSpPr/>
          <p:nvPr/>
        </p:nvSpPr>
        <p:spPr>
          <a:xfrm>
            <a:off x="7648575" y="32099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7802880" y="3117850"/>
            <a:ext cx="44008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慢查询：设置阈值统计查询慢SQL</a:t>
            </a:r>
          </a:p>
        </p:txBody>
      </p:sp>
      <p:sp>
        <p:nvSpPr>
          <p:cNvPr id="13" name="Ellipse 13"/>
          <p:cNvSpPr/>
          <p:nvPr/>
        </p:nvSpPr>
        <p:spPr>
          <a:xfrm>
            <a:off x="7648575" y="37052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802880" y="3613150"/>
            <a:ext cx="470687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表结构对比：多环境表结构差异对比</a:t>
            </a:r>
          </a:p>
        </p:txBody>
      </p:sp>
      <p:grpSp>
        <p:nvGrpSpPr>
          <p:cNvPr id="17" name="demo-notes"/>
          <p:cNvGrpSpPr/>
          <p:nvPr/>
        </p:nvGrpSpPr>
        <p:grpSpPr>
          <a:xfrm>
            <a:off x="603504" y="5429250"/>
            <a:ext cx="8999677" cy="989584"/>
            <a:chOff x="603504" y="5429250"/>
            <a:chExt cx="8999677" cy="989584"/>
          </a:xfrm>
        </p:grpSpPr>
        <p:sp>
          <p:nvSpPr>
            <p:cNvPr id="15" name="TextBox 15"/>
            <p:cNvSpPr txBox="1"/>
            <p:nvPr/>
          </p:nvSpPr>
          <p:spPr>
            <a:xfrm>
              <a:off x="603504" y="5429250"/>
              <a:ext cx="13049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▶ 点击画面播放演示视频（约 32 秒）：连接概览 → 审计日志 → 慢查询（耗时 ≥ 100ms） → 表结构对比（Oracle SIT vs UAT）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4266" y="6032500"/>
              <a:ext cx="12815735" cy="386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来源：视频为本地运行实例的录屏；数据来自 query_history / audit_logs 与远端 Oracle SIT、UAT 库；慢查询阈值、连接概览与 schema diff 实现</a:t>
              </a:r>
              <a:b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见 routers/monitor.py 与 services/metadata_service.py</a:t>
              </a:r>
            </a:p>
          </p:txBody>
        </p:sp>
      </p:grpSp>
      <p:sp>
        <p:nvSpPr>
          <p:cNvPr id="18" name="Line 18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9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20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9118300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功能演示 ：数据库与大模型连接管理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pic>
        <p:nvPicPr>
          <p:cNvPr id="1005" name="video-po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pic>
        <p:nvPicPr>
          <p:cNvPr id="5" name="demo-frame">
            <a:hlinkClick r:id="" action="ppaction://media"/>
          </p:cNvPr>
          <p:cNvPicPr>
            <a:picLocks noChangeAspect="1"/>
          </p:cNvPicPr>
          <p:nvPr>
            <a:videoFile r:link="rId900"/>
            <p:extLst>
              <p:ext uri="{DAA4B4D4-6D71-4841-9C94-3DE7FCFB9230}">
                <p14:media xmlns:p14="http://schemas.microsoft.com/office/powerpoint/2010/main" r:embed="rId901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sp>
        <p:nvSpPr>
          <p:cNvPr id="6" name="Ellipse 6"/>
          <p:cNvSpPr/>
          <p:nvPr/>
        </p:nvSpPr>
        <p:spPr>
          <a:xfrm>
            <a:off x="7648575" y="18383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802880" y="1746250"/>
            <a:ext cx="42823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数据库连接配置：7类数据源支持</a:t>
            </a:r>
          </a:p>
        </p:txBody>
      </p:sp>
      <p:sp>
        <p:nvSpPr>
          <p:cNvPr id="8" name="Ellipse 8"/>
          <p:cNvSpPr/>
          <p:nvPr/>
        </p:nvSpPr>
        <p:spPr>
          <a:xfrm>
            <a:off x="7648575" y="23336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802880" y="2203450"/>
            <a:ext cx="4524565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大模型连接配置：OpenAI、Claude、</a:t>
            </a:r>
            <a:b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Ollama 三类提供方</a:t>
            </a:r>
          </a:p>
        </p:txBody>
      </p:sp>
      <p:sp>
        <p:nvSpPr>
          <p:cNvPr id="10" name="Ellipse 10"/>
          <p:cNvSpPr/>
          <p:nvPr/>
        </p:nvSpPr>
        <p:spPr>
          <a:xfrm>
            <a:off x="7648575" y="311467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802880" y="3022600"/>
            <a:ext cx="2842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一键测试数据库、大模型连通性</a:t>
            </a:r>
          </a:p>
        </p:txBody>
      </p:sp>
      <p:sp>
        <p:nvSpPr>
          <p:cNvPr id="12" name="Ellipse 12"/>
          <p:cNvSpPr/>
          <p:nvPr/>
        </p:nvSpPr>
        <p:spPr>
          <a:xfrm>
            <a:off x="7648575" y="360997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802880" y="3517900"/>
            <a:ext cx="279939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数据库密码、API Key 加密存储</a:t>
            </a:r>
          </a:p>
        </p:txBody>
      </p:sp>
      <p:grpSp>
        <p:nvGrpSpPr>
          <p:cNvPr id="16" name="demo-notes"/>
          <p:cNvGrpSpPr/>
          <p:nvPr/>
        </p:nvGrpSpPr>
        <p:grpSpPr>
          <a:xfrm>
            <a:off x="603504" y="5429250"/>
            <a:ext cx="7352348" cy="989584"/>
            <a:chOff x="603504" y="5429250"/>
            <a:chExt cx="7352348" cy="989584"/>
          </a:xfrm>
        </p:grpSpPr>
        <p:sp>
          <p:nvSpPr>
            <p:cNvPr id="14" name="TextBox 14"/>
            <p:cNvSpPr txBox="1"/>
            <p:nvPr/>
          </p:nvSpPr>
          <p:spPr>
            <a:xfrm>
              <a:off x="603504" y="5429250"/>
              <a:ext cx="10253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▶ 点击画面播放演示视频（约 23 秒）：数据库连接配置一键测连 → 大模型连接配置测试第二个模型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266" y="6032500"/>
              <a:ext cx="10659799" cy="386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来源：视频为本地运行实例的录屏；数据库连接见 routers/connections.py（POST /api/connections/{id}/connect），</a:t>
              </a:r>
              <a:b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大模型测试见 routers/system.py（POST /api/config/ai/test）；API Key 经 Fernet 加密存储</a:t>
              </a:r>
            </a:p>
          </p:txBody>
        </p:sp>
      </p:grpSp>
      <p:sp>
        <p:nvSpPr>
          <p:cNvPr id="17" name="Line 17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8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19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689303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功能演示 ：用户与角色管理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pic>
        <p:nvPicPr>
          <p:cNvPr id="1005" name="video-po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pic>
        <p:nvPicPr>
          <p:cNvPr id="5" name="demo-frame">
            <a:hlinkClick r:id="" action="ppaction://media"/>
          </p:cNvPr>
          <p:cNvPicPr>
            <a:picLocks noChangeAspect="1"/>
          </p:cNvPicPr>
          <p:nvPr>
            <a:videoFile r:link="rId900"/>
            <p:extLst>
              <p:ext uri="{DAA4B4D4-6D71-4841-9C94-3DE7FCFB9230}">
                <p14:media xmlns:p14="http://schemas.microsoft.com/office/powerpoint/2010/main" r:embed="rId901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09600" y="1676400"/>
            <a:ext cx="6667500" cy="3752850"/>
          </a:xfrm>
          <a:prstGeom prst="rect">
            <a:avLst/>
          </a:prstGeom>
        </p:spPr>
      </p:pic>
      <p:sp>
        <p:nvSpPr>
          <p:cNvPr id="6" name="Ellipse 6"/>
          <p:cNvSpPr/>
          <p:nvPr/>
        </p:nvSpPr>
        <p:spPr>
          <a:xfrm>
            <a:off x="7648575" y="18383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802880" y="1746250"/>
            <a:ext cx="542423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用户管理：账号 / 角色 / 状态 / 重置密码</a:t>
            </a:r>
          </a:p>
        </p:txBody>
      </p:sp>
      <p:sp>
        <p:nvSpPr>
          <p:cNvPr id="8" name="Ellipse 8"/>
          <p:cNvSpPr/>
          <p:nvPr/>
        </p:nvSpPr>
        <p:spPr>
          <a:xfrm>
            <a:off x="7648575" y="23336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802880" y="2241550"/>
            <a:ext cx="24384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角色管理：按角色控制权限</a:t>
            </a:r>
          </a:p>
        </p:txBody>
      </p:sp>
      <p:sp>
        <p:nvSpPr>
          <p:cNvPr id="10" name="Ellipse 10"/>
          <p:cNvSpPr/>
          <p:nvPr/>
        </p:nvSpPr>
        <p:spPr>
          <a:xfrm>
            <a:off x="7648575" y="28289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802880" y="2736850"/>
            <a:ext cx="22364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功能权限按模块分组勾选</a:t>
            </a:r>
          </a:p>
        </p:txBody>
      </p:sp>
      <p:sp>
        <p:nvSpPr>
          <p:cNvPr id="12" name="Ellipse 12"/>
          <p:cNvSpPr/>
          <p:nvPr/>
        </p:nvSpPr>
        <p:spPr>
          <a:xfrm>
            <a:off x="7648575" y="33242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802880" y="3232150"/>
            <a:ext cx="441407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前端菜单与后端接口双重控制权限</a:t>
            </a:r>
          </a:p>
        </p:txBody>
      </p:sp>
      <p:grpSp>
        <p:nvGrpSpPr>
          <p:cNvPr id="16" name="demo-notes"/>
          <p:cNvGrpSpPr/>
          <p:nvPr/>
        </p:nvGrpSpPr>
        <p:grpSpPr>
          <a:xfrm>
            <a:off x="603504" y="5429250"/>
            <a:ext cx="7512368" cy="989584"/>
            <a:chOff x="603504" y="5429250"/>
            <a:chExt cx="7512368" cy="989584"/>
          </a:xfrm>
        </p:grpSpPr>
        <p:sp>
          <p:nvSpPr>
            <p:cNvPr id="14" name="TextBox 14"/>
            <p:cNvSpPr txBox="1"/>
            <p:nvPr/>
          </p:nvSpPr>
          <p:spPr>
            <a:xfrm>
              <a:off x="603504" y="5429250"/>
              <a:ext cx="10827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▶ 点击画面播放演示视频（约 23 秒）：用户管理 → 角色管理 → 依次查看技术管理 / 技术查询 / 业务查询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4266" y="6032500"/>
              <a:ext cx="10891828" cy="38633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25"/>
                </a:lnSpc>
              </a:pPr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来源：视频为本地运行实例的录屏；角色与权限码定义见 backend/app/permissions.py（BUILTIN_ROLES / PERMISSIONS），</a:t>
              </a:r>
              <a:b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0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前端路由守卫与菜单按 meta.permission 控制</a:t>
              </a:r>
            </a:p>
          </p:txBody>
        </p:sp>
      </p:grpSp>
      <p:sp>
        <p:nvSpPr>
          <p:cNvPr id="17" name="Line 17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8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19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watermark"/>
          <p:cNvGrpSpPr/>
          <p:nvPr/>
        </p:nvGrpSpPr>
        <p:grpSpPr>
          <a:xfrm>
            <a:off x="6667500" y="2286000"/>
            <a:ext cx="5524500" cy="4572000"/>
            <a:chOff x="6667500" y="2286000"/>
            <a:chExt cx="5524500" cy="4572000"/>
          </a:xfrm>
        </p:grpSpPr>
        <p:sp>
          <p:nvSpPr>
            <p:cNvPr id="2" name="Line 2"/>
            <p:cNvSpPr/>
            <p:nvPr/>
          </p:nvSpPr>
          <p:spPr>
            <a:xfrm>
              <a:off x="6667500" y="2286000"/>
              <a:ext cx="5524500" cy="4572000"/>
            </a:xfrm>
            <a:custGeom>
              <a:avLst/>
              <a:gdLst/>
              <a:ahLst/>
              <a:cxnLst/>
              <a:rect l="l" t="t" r="r" b="b"/>
              <a:pathLst>
                <a:path w="5524500" h="4572000">
                  <a:moveTo>
                    <a:pt x="0" y="457200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429500" y="3048000"/>
              <a:ext cx="4762500" cy="3810000"/>
            </a:xfrm>
            <a:custGeom>
              <a:avLst/>
              <a:gdLst/>
              <a:ahLst/>
              <a:cxnLst/>
              <a:rect l="l" t="t" r="r" b="b"/>
              <a:pathLst>
                <a:path w="4762500" h="3810000">
                  <a:moveTo>
                    <a:pt x="0" y="381000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191500" y="3810000"/>
              <a:ext cx="4000500" cy="3048000"/>
            </a:xfrm>
            <a:custGeom>
              <a:avLst/>
              <a:gdLst/>
              <a:ahLst/>
              <a:cxnLst/>
              <a:rect l="l" t="t" r="r" b="b"/>
              <a:pathLst>
                <a:path w="4000500" h="3048000">
                  <a:moveTo>
                    <a:pt x="0" y="304800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953500" y="4572000"/>
              <a:ext cx="3238500" cy="2286000"/>
            </a:xfrm>
            <a:custGeom>
              <a:avLst/>
              <a:gdLst/>
              <a:ahLst/>
              <a:cxnLst/>
              <a:rect l="l" t="t" r="r" b="b"/>
              <a:pathLst>
                <a:path w="3238500" h="2286000">
                  <a:moveTo>
                    <a:pt x="0" y="228600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715500" y="53340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0" y="152400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0477500" y="6096000"/>
              <a:ext cx="1714500" cy="762000"/>
            </a:xfrm>
            <a:custGeom>
              <a:avLst/>
              <a:gdLst/>
              <a:ahLst/>
              <a:cxnLst/>
              <a:rect l="l" t="t" r="r" b="b"/>
              <a:pathLst>
                <a:path w="1714500" h="762000">
                  <a:moveTo>
                    <a:pt x="0" y="76200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</p:grpSp>
      <p:pic>
        <p:nvPicPr>
          <p:cNvPr id="9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10" name="section-number"/>
          <p:cNvSpPr txBox="1"/>
          <p:nvPr/>
        </p:nvSpPr>
        <p:spPr>
          <a:xfrm>
            <a:off x="590550" y="2044700"/>
            <a:ext cx="1157600" cy="1390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1" name="section-rule"/>
          <p:cNvSpPr/>
          <p:nvPr/>
        </p:nvSpPr>
        <p:spPr>
          <a:xfrm>
            <a:off x="609600" y="3162300"/>
            <a:ext cx="9144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section-title"/>
          <p:cNvSpPr txBox="1"/>
          <p:nvPr/>
        </p:nvSpPr>
        <p:spPr>
          <a:xfrm>
            <a:off x="595122" y="3505200"/>
            <a:ext cx="156362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技术亮点</a:t>
            </a:r>
          </a:p>
        </p:txBody>
      </p:sp>
      <p:sp>
        <p:nvSpPr>
          <p:cNvPr id="13" name="section-subtitle"/>
          <p:cNvSpPr txBox="1"/>
          <p:nvPr/>
        </p:nvSpPr>
        <p:spPr>
          <a:xfrm>
            <a:off x="598170" y="4064000"/>
            <a:ext cx="8051406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AI Agent 集成、SQL安全执行、跨库适配</a:t>
            </a:r>
          </a:p>
        </p:txBody>
      </p:sp>
      <p:sp>
        <p:nvSpPr>
          <p:cNvPr id="14" name="Line 14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5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16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8674349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AI Agent 深度集成，而非套壳聊天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640556" y="2012156"/>
            <a:ext cx="185737" cy="185737"/>
            <a:chOff x="640556" y="2012156"/>
            <a:chExt cx="185737" cy="185737"/>
          </a:xfrm>
        </p:grpSpPr>
        <p:sp>
          <p:nvSpPr>
            <p:cNvPr id="5" name="Freeform 5"/>
            <p:cNvSpPr/>
            <p:nvPr/>
          </p:nvSpPr>
          <p:spPr>
            <a:xfrm>
              <a:off x="640556" y="2012156"/>
              <a:ext cx="185737" cy="185737"/>
            </a:xfrm>
            <a:custGeom>
              <a:avLst/>
              <a:gdLst/>
              <a:ahLst/>
              <a:cxnLst/>
              <a:rect l="l" t="t" r="r" b="b"/>
              <a:pathLst>
                <a:path w="185737" h="185737">
                  <a:moveTo>
                    <a:pt x="30956" y="185737"/>
                  </a:moveTo>
                  <a:lnTo>
                    <a:pt x="185737" y="30956"/>
                  </a:lnTo>
                  <a:lnTo>
                    <a:pt x="154781" y="0"/>
                  </a:lnTo>
                  <a:lnTo>
                    <a:pt x="0" y="154781"/>
                  </a:lnTo>
                  <a:lnTo>
                    <a:pt x="30956" y="185737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764381" y="2043112"/>
              <a:ext cx="30956" cy="30956"/>
            </a:xfrm>
            <a:custGeom>
              <a:avLst/>
              <a:gdLst/>
              <a:ahLst/>
              <a:cxnLst/>
              <a:rect l="l" t="t" r="r" b="b"/>
              <a:pathLst>
                <a:path w="30956" h="30956">
                  <a:moveTo>
                    <a:pt x="0" y="0"/>
                  </a:moveTo>
                  <a:lnTo>
                    <a:pt x="30956" y="30956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681831" y="2012156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20637" y="0"/>
                  </a:moveTo>
                  <a:cubicBezTo>
                    <a:pt x="20637" y="11398"/>
                    <a:pt x="29877" y="20637"/>
                    <a:pt x="41275" y="20637"/>
                  </a:cubicBezTo>
                  <a:cubicBezTo>
                    <a:pt x="29877" y="20637"/>
                    <a:pt x="20637" y="29877"/>
                    <a:pt x="20637" y="41275"/>
                  </a:cubicBezTo>
                  <a:cubicBezTo>
                    <a:pt x="20637" y="29877"/>
                    <a:pt x="11398" y="20637"/>
                    <a:pt x="0" y="20637"/>
                  </a:cubicBezTo>
                  <a:cubicBezTo>
                    <a:pt x="11398" y="20637"/>
                    <a:pt x="20637" y="11398"/>
                    <a:pt x="20637" y="0"/>
                  </a:cubicBez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85018" y="2115343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20637" y="0"/>
                  </a:moveTo>
                  <a:cubicBezTo>
                    <a:pt x="20637" y="11398"/>
                    <a:pt x="29877" y="20637"/>
                    <a:pt x="41275" y="20637"/>
                  </a:cubicBezTo>
                  <a:cubicBezTo>
                    <a:pt x="29877" y="20637"/>
                    <a:pt x="20637" y="29877"/>
                    <a:pt x="20637" y="41275"/>
                  </a:cubicBezTo>
                  <a:cubicBezTo>
                    <a:pt x="20637" y="29877"/>
                    <a:pt x="11398" y="20637"/>
                    <a:pt x="0" y="20637"/>
                  </a:cubicBezTo>
                  <a:cubicBezTo>
                    <a:pt x="11398" y="20637"/>
                    <a:pt x="20637" y="11398"/>
                    <a:pt x="20637" y="0"/>
                  </a:cubicBez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982218" y="198755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工具调用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2742" y="2298700"/>
            <a:ext cx="6819167" cy="8355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Agent 可按需调用 `list_tables / get_columns /</a:t>
            </a:r>
            <a:b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sample_data / explain` 四个工具，实时获取真实表结构、采</a:t>
            </a:r>
            <a:b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样数据与执行计划，从源头杜绝大模型编造表名列名。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137275" y="2018494"/>
            <a:ext cx="165099" cy="173061"/>
            <a:chOff x="6137275" y="2018494"/>
            <a:chExt cx="165099" cy="173061"/>
          </a:xfrm>
        </p:grpSpPr>
        <p:sp>
          <p:nvSpPr>
            <p:cNvPr id="12" name="Freeform 12"/>
            <p:cNvSpPr/>
            <p:nvPr/>
          </p:nvSpPr>
          <p:spPr>
            <a:xfrm>
              <a:off x="6137275" y="2018494"/>
              <a:ext cx="165099" cy="76212"/>
            </a:xfrm>
            <a:custGeom>
              <a:avLst/>
              <a:gdLst/>
              <a:ahLst/>
              <a:cxnLst/>
              <a:rect l="l" t="t" r="r" b="b"/>
              <a:pathLst>
                <a:path w="165099" h="76212">
                  <a:moveTo>
                    <a:pt x="165099" y="76212"/>
                  </a:moveTo>
                  <a:cubicBezTo>
                    <a:pt x="159912" y="38885"/>
                    <a:pt x="130386" y="9646"/>
                    <a:pt x="93010" y="4823"/>
                  </a:cubicBezTo>
                  <a:cubicBezTo>
                    <a:pt x="55633" y="0"/>
                    <a:pt x="19652" y="20787"/>
                    <a:pt x="5159" y="55575"/>
                  </a:cubicBezTo>
                  <a:moveTo>
                    <a:pt x="0" y="14300"/>
                  </a:moveTo>
                  <a:lnTo>
                    <a:pt x="0" y="55575"/>
                  </a:lnTo>
                  <a:lnTo>
                    <a:pt x="41275" y="55575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6137275" y="2115343"/>
              <a:ext cx="165099" cy="76212"/>
            </a:xfrm>
            <a:custGeom>
              <a:avLst/>
              <a:gdLst/>
              <a:ahLst/>
              <a:cxnLst/>
              <a:rect l="l" t="t" r="r" b="b"/>
              <a:pathLst>
                <a:path w="165099" h="76212">
                  <a:moveTo>
                    <a:pt x="0" y="0"/>
                  </a:moveTo>
                  <a:cubicBezTo>
                    <a:pt x="5187" y="37328"/>
                    <a:pt x="34714" y="66567"/>
                    <a:pt x="72090" y="71390"/>
                  </a:cubicBezTo>
                  <a:cubicBezTo>
                    <a:pt x="109466" y="76212"/>
                    <a:pt x="145447" y="55426"/>
                    <a:pt x="159940" y="20637"/>
                  </a:cubicBezTo>
                  <a:moveTo>
                    <a:pt x="165099" y="61912"/>
                  </a:moveTo>
                  <a:lnTo>
                    <a:pt x="165099" y="20637"/>
                  </a:lnTo>
                  <a:lnTo>
                    <a:pt x="123825" y="20637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6468618" y="1987550"/>
            <a:ext cx="17937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失败自动修正重试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89142" y="2298700"/>
            <a:ext cx="6222521" cy="5497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READ 查询执行失败时，把真实报错回传 LLM 自动修正，</a:t>
            </a:r>
            <a:b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最多重试 3 次。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40556" y="3707606"/>
            <a:ext cx="185737" cy="185737"/>
            <a:chOff x="640556" y="3707606"/>
            <a:chExt cx="185737" cy="185737"/>
          </a:xfrm>
        </p:grpSpPr>
        <p:sp>
          <p:nvSpPr>
            <p:cNvPr id="17" name="Freeform 17"/>
            <p:cNvSpPr/>
            <p:nvPr/>
          </p:nvSpPr>
          <p:spPr>
            <a:xfrm>
              <a:off x="712787" y="3707606"/>
              <a:ext cx="113506" cy="113506"/>
            </a:xfrm>
            <a:custGeom>
              <a:avLst/>
              <a:gdLst/>
              <a:ahLst/>
              <a:cxnLst/>
              <a:rect l="l" t="t" r="r" b="b"/>
              <a:pathLst>
                <a:path w="113506" h="113506">
                  <a:moveTo>
                    <a:pt x="113506" y="113506"/>
                  </a:moveTo>
                  <a:lnTo>
                    <a:pt x="82550" y="82550"/>
                  </a:lnTo>
                  <a:lnTo>
                    <a:pt x="10319" y="82550"/>
                  </a:lnTo>
                  <a:cubicBezTo>
                    <a:pt x="4620" y="82550"/>
                    <a:pt x="0" y="77930"/>
                    <a:pt x="0" y="72231"/>
                  </a:cubicBezTo>
                  <a:lnTo>
                    <a:pt x="0" y="10319"/>
                  </a:lnTo>
                  <a:cubicBezTo>
                    <a:pt x="0" y="4620"/>
                    <a:pt x="4620" y="0"/>
                    <a:pt x="10319" y="0"/>
                  </a:cubicBezTo>
                  <a:lnTo>
                    <a:pt x="103187" y="0"/>
                  </a:lnTo>
                  <a:cubicBezTo>
                    <a:pt x="108886" y="0"/>
                    <a:pt x="113506" y="4620"/>
                    <a:pt x="113506" y="10319"/>
                  </a:cubicBezTo>
                  <a:lnTo>
                    <a:pt x="113506" y="113506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40556" y="3779837"/>
              <a:ext cx="113506" cy="113506"/>
            </a:xfrm>
            <a:custGeom>
              <a:avLst/>
              <a:gdLst/>
              <a:ahLst/>
              <a:cxnLst/>
              <a:rect l="l" t="t" r="r" b="b"/>
              <a:pathLst>
                <a:path w="113506" h="113506">
                  <a:moveTo>
                    <a:pt x="113506" y="51594"/>
                  </a:moveTo>
                  <a:lnTo>
                    <a:pt x="113506" y="72231"/>
                  </a:lnTo>
                  <a:cubicBezTo>
                    <a:pt x="113506" y="77930"/>
                    <a:pt x="108886" y="82550"/>
                    <a:pt x="103187" y="82550"/>
                  </a:cubicBezTo>
                  <a:lnTo>
                    <a:pt x="30956" y="82550"/>
                  </a:lnTo>
                  <a:lnTo>
                    <a:pt x="0" y="113506"/>
                  </a:lnTo>
                  <a:lnTo>
                    <a:pt x="0" y="10319"/>
                  </a:lnTo>
                  <a:cubicBezTo>
                    <a:pt x="0" y="4620"/>
                    <a:pt x="4620" y="0"/>
                    <a:pt x="10319" y="0"/>
                  </a:cubicBezTo>
                  <a:lnTo>
                    <a:pt x="30956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982218" y="3683000"/>
            <a:ext cx="213319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历史 SQL few-shot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02742" y="3994150"/>
            <a:ext cx="6844026" cy="5497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每次会话注入历史执行成功的 SQL 作为示例，提升生成准确率</a:t>
            </a:r>
            <a:b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与风格一致性。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137275" y="3707606"/>
            <a:ext cx="165099" cy="185737"/>
            <a:chOff x="6137275" y="3707606"/>
            <a:chExt cx="165099" cy="185737"/>
          </a:xfrm>
        </p:grpSpPr>
        <p:sp>
          <p:nvSpPr>
            <p:cNvPr id="22" name="Freeform 22"/>
            <p:cNvSpPr/>
            <p:nvPr/>
          </p:nvSpPr>
          <p:spPr>
            <a:xfrm>
              <a:off x="6137275" y="3717925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0" y="20637"/>
                  </a:moveTo>
                  <a:cubicBezTo>
                    <a:pt x="0" y="32035"/>
                    <a:pt x="9240" y="41275"/>
                    <a:pt x="20637" y="41275"/>
                  </a:cubicBezTo>
                  <a:cubicBezTo>
                    <a:pt x="32035" y="41275"/>
                    <a:pt x="41275" y="32035"/>
                    <a:pt x="41275" y="20637"/>
                  </a:cubicBezTo>
                  <a:cubicBezTo>
                    <a:pt x="41275" y="9240"/>
                    <a:pt x="32035" y="0"/>
                    <a:pt x="20637" y="0"/>
                  </a:cubicBezTo>
                  <a:cubicBezTo>
                    <a:pt x="9240" y="0"/>
                    <a:pt x="0" y="9240"/>
                    <a:pt x="0" y="20637"/>
                  </a:cubicBez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6261099" y="3841749"/>
              <a:ext cx="41275" cy="41275"/>
            </a:xfrm>
            <a:custGeom>
              <a:avLst/>
              <a:gdLst/>
              <a:ahLst/>
              <a:cxnLst/>
              <a:rect l="l" t="t" r="r" b="b"/>
              <a:pathLst>
                <a:path w="41275" h="41275">
                  <a:moveTo>
                    <a:pt x="0" y="20637"/>
                  </a:moveTo>
                  <a:cubicBezTo>
                    <a:pt x="0" y="32035"/>
                    <a:pt x="9240" y="41275"/>
                    <a:pt x="20637" y="41275"/>
                  </a:cubicBezTo>
                  <a:cubicBezTo>
                    <a:pt x="32035" y="41275"/>
                    <a:pt x="41275" y="32035"/>
                    <a:pt x="41275" y="20637"/>
                  </a:cubicBezTo>
                  <a:cubicBezTo>
                    <a:pt x="41275" y="9240"/>
                    <a:pt x="32035" y="0"/>
                    <a:pt x="20637" y="0"/>
                  </a:cubicBezTo>
                  <a:cubicBezTo>
                    <a:pt x="9240" y="0"/>
                    <a:pt x="0" y="9240"/>
                    <a:pt x="0" y="20637"/>
                  </a:cubicBez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209506" y="3738562"/>
              <a:ext cx="72231" cy="103187"/>
            </a:xfrm>
            <a:custGeom>
              <a:avLst/>
              <a:gdLst/>
              <a:ahLst/>
              <a:cxnLst/>
              <a:rect l="l" t="t" r="r" b="b"/>
              <a:pathLst>
                <a:path w="72231" h="103187">
                  <a:moveTo>
                    <a:pt x="0" y="0"/>
                  </a:moveTo>
                  <a:lnTo>
                    <a:pt x="51594" y="0"/>
                  </a:lnTo>
                  <a:cubicBezTo>
                    <a:pt x="62991" y="0"/>
                    <a:pt x="72231" y="9240"/>
                    <a:pt x="72231" y="20637"/>
                  </a:cubicBezTo>
                  <a:lnTo>
                    <a:pt x="72231" y="103187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209506" y="3707606"/>
              <a:ext cx="30956" cy="61912"/>
            </a:xfrm>
            <a:custGeom>
              <a:avLst/>
              <a:gdLst/>
              <a:ahLst/>
              <a:cxnLst/>
              <a:rect l="l" t="t" r="r" b="b"/>
              <a:pathLst>
                <a:path w="30956" h="61912">
                  <a:moveTo>
                    <a:pt x="30956" y="61912"/>
                  </a:moveTo>
                  <a:lnTo>
                    <a:pt x="0" y="30956"/>
                  </a:lnTo>
                  <a:lnTo>
                    <a:pt x="30956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6157912" y="3759200"/>
              <a:ext cx="72231" cy="103187"/>
            </a:xfrm>
            <a:custGeom>
              <a:avLst/>
              <a:gdLst/>
              <a:ahLst/>
              <a:cxnLst/>
              <a:rect l="l" t="t" r="r" b="b"/>
              <a:pathLst>
                <a:path w="72231" h="103187">
                  <a:moveTo>
                    <a:pt x="72231" y="103187"/>
                  </a:moveTo>
                  <a:lnTo>
                    <a:pt x="20637" y="103187"/>
                  </a:lnTo>
                  <a:cubicBezTo>
                    <a:pt x="9240" y="103187"/>
                    <a:pt x="0" y="93947"/>
                    <a:pt x="0" y="82550"/>
                  </a:cubicBezTo>
                  <a:lnTo>
                    <a:pt x="0" y="0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6199187" y="3831431"/>
              <a:ext cx="30956" cy="61912"/>
            </a:xfrm>
            <a:custGeom>
              <a:avLst/>
              <a:gdLst/>
              <a:ahLst/>
              <a:cxnLst/>
              <a:rect l="l" t="t" r="r" b="b"/>
              <a:pathLst>
                <a:path w="30956" h="61912">
                  <a:moveTo>
                    <a:pt x="0" y="0"/>
                  </a:moveTo>
                  <a:lnTo>
                    <a:pt x="30956" y="30956"/>
                  </a:lnTo>
                  <a:lnTo>
                    <a:pt x="0" y="61912"/>
                  </a:lnTo>
                </a:path>
              </a:pathLst>
            </a:custGeom>
            <a:noFill/>
            <a:ln w="20637">
              <a:solidFill>
                <a:schemeClr val="accent1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6468618" y="36830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多轮会话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089142" y="3994150"/>
            <a:ext cx="6868887" cy="8355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250"/>
              </a:lnSpc>
            </a:pP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上下文连续，可追问、可改条件；SSE 流式输出 `thought →</a:t>
            </a:r>
            <a:b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tool → sql → result` 全过程，前端逐段渲染，运行过程完全透</a:t>
            </a:r>
            <a:b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</a:br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明。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09600" y="5391150"/>
            <a:ext cx="10972800" cy="742950"/>
          </a:xfrm>
          <a:prstGeom prst="rect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906780" y="5651500"/>
            <a:ext cx="1027004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不是简单调用大模型，而是把「工具调用、失败自愈、经验复用」做成工程闭环</a:t>
            </a:r>
          </a:p>
        </p:txBody>
      </p:sp>
      <p:sp>
        <p:nvSpPr>
          <p:cNvPr id="33" name="Line 33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4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35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247877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SQL 分级鉴权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1980" y="1593850"/>
            <a:ext cx="1306986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按 SQL 类型分级鉴权：READ 自动执行、DML 需确认、DDL 高危二次确认；确认时再次鉴权并审计。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1980" y="2241550"/>
            <a:ext cx="14834387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写操作返回影响行数预估，前端弹窗确认后才真正执行；所有 SQL 强制走服务层，不允许绕过鉴权直接调适配器。</a:t>
            </a:r>
          </a:p>
        </p:txBody>
      </p:sp>
      <p:grpSp>
        <p:nvGrpSpPr>
          <p:cNvPr id="29" name="sql-authorization-table"/>
          <p:cNvGrpSpPr/>
          <p:nvPr/>
        </p:nvGrpSpPr>
        <p:grpSpPr>
          <a:xfrm>
            <a:off x="609600" y="3200400"/>
            <a:ext cx="10972800" cy="2714625"/>
            <a:chOff x="609600" y="3200400"/>
            <a:chExt cx="10972800" cy="2714625"/>
          </a:xfrm>
        </p:grpSpPr>
        <p:sp>
          <p:nvSpPr>
            <p:cNvPr id="7" name="Rectangle 7"/>
            <p:cNvSpPr/>
            <p:nvPr/>
          </p:nvSpPr>
          <p:spPr>
            <a:xfrm>
              <a:off x="609600" y="3200400"/>
              <a:ext cx="109728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36385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" y="42005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" y="4762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" y="532447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" y="59055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" y="3200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6666" y="33401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操作类型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52416" y="33401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授权方式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47916" y="33401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执行说明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904" y="3824288"/>
              <a:ext cx="25981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SELECT / SHOW / DESC / EXPLAIN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51654" y="38242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947154" y="3824288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只读查询直接返回结果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904" y="4386262"/>
              <a:ext cx="205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INSERT / UPDATE / DELETE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51654" y="438626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手动确认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47154" y="4386262"/>
              <a:ext cx="2176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返回影响预览与 execution_id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5904" y="4948238"/>
              <a:ext cx="27944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CREATE / ALTER / DROP / TRUNCATE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51654" y="494823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高危确认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47154" y="4948238"/>
              <a:ext cx="17989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红色警告并展示完整 DDL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5904" y="5519738"/>
              <a:ext cx="1025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多条混合 SQL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851654" y="551973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逐条确认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947154" y="5519738"/>
              <a:ext cx="15611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按 SQL 类型分别处理</a:t>
              </a:r>
            </a:p>
          </p:txBody>
        </p:sp>
      </p:grpSp>
      <p:sp>
        <p:nvSpPr>
          <p:cNvPr id="30" name="Line 30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1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32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194729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审计与监控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98170" y="1701800"/>
            <a:ext cx="6181915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让每一次操作都可追溯、可观察</a:t>
            </a:r>
          </a:p>
        </p:txBody>
      </p:sp>
      <p:sp>
        <p:nvSpPr>
          <p:cNvPr id="6" name="Rectangle 6"/>
          <p:cNvSpPr/>
          <p:nvPr/>
        </p:nvSpPr>
        <p:spPr>
          <a:xfrm>
            <a:off x="609600" y="2743200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709612" y="2851150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0" y="63500"/>
                </a:moveTo>
                <a:lnTo>
                  <a:pt x="31750" y="63500"/>
                </a:lnTo>
                <a:lnTo>
                  <a:pt x="55562" y="127000"/>
                </a:lnTo>
                <a:lnTo>
                  <a:pt x="87312" y="0"/>
                </a:lnTo>
                <a:lnTo>
                  <a:pt x="111125" y="63500"/>
                </a:lnTo>
                <a:lnTo>
                  <a:pt x="142875" y="63500"/>
                </a:lnTo>
              </a:path>
            </a:pathLst>
          </a:custGeom>
          <a:noFill/>
          <a:ln w="15875">
            <a:solidFill>
              <a:srgbClr val="FFFFF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96518" y="28067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审计日志</a:t>
            </a:r>
          </a:p>
        </p:txBody>
      </p:sp>
      <p:sp>
        <p:nvSpPr>
          <p:cNvPr id="9" name="Ellipse 9"/>
          <p:cNvSpPr/>
          <p:nvPr/>
        </p:nvSpPr>
        <p:spPr>
          <a:xfrm>
            <a:off x="657225" y="349567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12292" y="3416300"/>
            <a:ext cx="45935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登录、SQL 执行、Agent 动作全量留痕</a:t>
            </a:r>
          </a:p>
        </p:txBody>
      </p:sp>
      <p:sp>
        <p:nvSpPr>
          <p:cNvPr id="11" name="Ellipse 11"/>
          <p:cNvSpPr/>
          <p:nvPr/>
        </p:nvSpPr>
        <p:spPr>
          <a:xfrm>
            <a:off x="657225" y="39338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12292" y="3854450"/>
            <a:ext cx="27891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操作类型、SQL 文本、状态可追溯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324600" y="2743200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6424191" y="2842669"/>
            <a:ext cx="151233" cy="151355"/>
            <a:chOff x="6424191" y="2842669"/>
            <a:chExt cx="151233" cy="151355"/>
          </a:xfrm>
        </p:grpSpPr>
        <p:sp>
          <p:nvSpPr>
            <p:cNvPr id="14" name="Freeform 14"/>
            <p:cNvSpPr/>
            <p:nvPr/>
          </p:nvSpPr>
          <p:spPr>
            <a:xfrm>
              <a:off x="6424191" y="2842669"/>
              <a:ext cx="143240" cy="143371"/>
            </a:xfrm>
            <a:custGeom>
              <a:avLst/>
              <a:gdLst/>
              <a:ahLst/>
              <a:cxnLst/>
              <a:rect l="l" t="t" r="r" b="b"/>
              <a:pathLst>
                <a:path w="143240" h="143371">
                  <a:moveTo>
                    <a:pt x="143240" y="69171"/>
                  </a:moveTo>
                  <a:cubicBezTo>
                    <a:pt x="141717" y="30447"/>
                    <a:pt x="109595" y="0"/>
                    <a:pt x="70845" y="550"/>
                  </a:cubicBezTo>
                  <a:cubicBezTo>
                    <a:pt x="32095" y="1099"/>
                    <a:pt x="850" y="32445"/>
                    <a:pt x="425" y="71196"/>
                  </a:cubicBezTo>
                  <a:cubicBezTo>
                    <a:pt x="0" y="109948"/>
                    <a:pt x="30550" y="141971"/>
                    <a:pt x="69279" y="143371"/>
                  </a:cubicBez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496050" y="2874962"/>
              <a:ext cx="9525" cy="47625"/>
            </a:xfrm>
            <a:custGeom>
              <a:avLst/>
              <a:gdLst/>
              <a:ahLst/>
              <a:cxnLst/>
              <a:rect l="l" t="t" r="r" b="b"/>
              <a:pathLst>
                <a:path w="9525" h="47625">
                  <a:moveTo>
                    <a:pt x="0" y="0"/>
                  </a:moveTo>
                  <a:lnTo>
                    <a:pt x="0" y="39687"/>
                  </a:lnTo>
                  <a:lnTo>
                    <a:pt x="7937" y="47625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519862" y="2938462"/>
              <a:ext cx="47625" cy="47625"/>
            </a:xfrm>
            <a:custGeom>
              <a:avLst/>
              <a:gdLst/>
              <a:ahLst/>
              <a:cxnLst/>
              <a:rect l="l" t="t" r="r" b="b"/>
              <a:pathLst>
                <a:path w="47625" h="47625">
                  <a:moveTo>
                    <a:pt x="0" y="23812"/>
                  </a:moveTo>
                  <a:cubicBezTo>
                    <a:pt x="0" y="36964"/>
                    <a:pt x="10661" y="47625"/>
                    <a:pt x="23812" y="47625"/>
                  </a:cubicBezTo>
                  <a:cubicBezTo>
                    <a:pt x="36964" y="47625"/>
                    <a:pt x="47625" y="36964"/>
                    <a:pt x="47625" y="23812"/>
                  </a:cubicBezTo>
                  <a:cubicBezTo>
                    <a:pt x="47625" y="10661"/>
                    <a:pt x="36964" y="0"/>
                    <a:pt x="23812" y="0"/>
                  </a:cubicBezTo>
                  <a:cubicBezTo>
                    <a:pt x="10661" y="0"/>
                    <a:pt x="0" y="10661"/>
                    <a:pt x="0" y="23812"/>
                  </a:cubicBez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6561137" y="2979737"/>
              <a:ext cx="14287" cy="14287"/>
            </a:xfrm>
            <a:custGeom>
              <a:avLst/>
              <a:gdLst/>
              <a:ahLst/>
              <a:cxnLst/>
              <a:rect l="l" t="t" r="r" b="b"/>
              <a:pathLst>
                <a:path w="14287" h="14287">
                  <a:moveTo>
                    <a:pt x="0" y="0"/>
                  </a:moveTo>
                  <a:lnTo>
                    <a:pt x="14287" y="14287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6811518" y="2806700"/>
            <a:ext cx="90525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运维监控</a:t>
            </a:r>
          </a:p>
        </p:txBody>
      </p:sp>
      <p:sp>
        <p:nvSpPr>
          <p:cNvPr id="20" name="Ellipse 20"/>
          <p:cNvSpPr/>
          <p:nvPr/>
        </p:nvSpPr>
        <p:spPr>
          <a:xfrm>
            <a:off x="6372225" y="349567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527292" y="3416300"/>
            <a:ext cx="92240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慢查询统计</a:t>
            </a:r>
          </a:p>
        </p:txBody>
      </p:sp>
      <p:sp>
        <p:nvSpPr>
          <p:cNvPr id="22" name="Ellipse 22"/>
          <p:cNvSpPr/>
          <p:nvPr/>
        </p:nvSpPr>
        <p:spPr>
          <a:xfrm>
            <a:off x="6372225" y="3933825"/>
            <a:ext cx="57150" cy="5715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527292" y="3854450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不同环境表结构对比</a:t>
            </a:r>
          </a:p>
        </p:txBody>
      </p:sp>
      <p:sp>
        <p:nvSpPr>
          <p:cNvPr id="24" name="Line 24"/>
          <p:cNvSpPr/>
          <p:nvPr/>
        </p:nvSpPr>
        <p:spPr>
          <a:xfrm>
            <a:off x="5753100" y="2743200"/>
            <a:ext cx="9525" cy="2209800"/>
          </a:xfrm>
          <a:custGeom>
            <a:avLst/>
            <a:gdLst/>
            <a:ahLst/>
            <a:cxnLst/>
            <a:rect l="l" t="t" r="r" b="b"/>
            <a:pathLst>
              <a:path w="9525" h="2209800">
                <a:moveTo>
                  <a:pt x="0" y="0"/>
                </a:moveTo>
                <a:lnTo>
                  <a:pt x="0" y="220980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5" name="Line 25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6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27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2330958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工程化与安全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609600" y="2057400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25487" y="2157412"/>
            <a:ext cx="111125" cy="142875"/>
            <a:chOff x="725487" y="2157412"/>
            <a:chExt cx="111125" cy="142875"/>
          </a:xfrm>
        </p:grpSpPr>
        <p:sp>
          <p:nvSpPr>
            <p:cNvPr id="6" name="Freeform 6"/>
            <p:cNvSpPr/>
            <p:nvPr/>
          </p:nvSpPr>
          <p:spPr>
            <a:xfrm>
              <a:off x="725487" y="2220912"/>
              <a:ext cx="111125" cy="79375"/>
            </a:xfrm>
            <a:custGeom>
              <a:avLst/>
              <a:gdLst/>
              <a:ahLst/>
              <a:cxnLst/>
              <a:rect l="l" t="t" r="r" b="b"/>
              <a:pathLst>
                <a:path w="111125" h="79375">
                  <a:moveTo>
                    <a:pt x="0" y="15875"/>
                  </a:moveTo>
                  <a:cubicBezTo>
                    <a:pt x="0" y="7107"/>
                    <a:pt x="7107" y="0"/>
                    <a:pt x="15875" y="0"/>
                  </a:cubicBezTo>
                  <a:lnTo>
                    <a:pt x="95250" y="0"/>
                  </a:lnTo>
                  <a:cubicBezTo>
                    <a:pt x="104017" y="0"/>
                    <a:pt x="111125" y="7107"/>
                    <a:pt x="111125" y="15875"/>
                  </a:cubicBezTo>
                  <a:lnTo>
                    <a:pt x="111125" y="63500"/>
                  </a:lnTo>
                  <a:cubicBezTo>
                    <a:pt x="111125" y="72267"/>
                    <a:pt x="104017" y="79375"/>
                    <a:pt x="95250" y="79375"/>
                  </a:cubicBezTo>
                  <a:lnTo>
                    <a:pt x="15875" y="79375"/>
                  </a:lnTo>
                  <a:cubicBezTo>
                    <a:pt x="7107" y="79375"/>
                    <a:pt x="0" y="72267"/>
                    <a:pt x="0" y="63500"/>
                  </a:cubicBezTo>
                  <a:lnTo>
                    <a:pt x="0" y="15875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773112" y="2252662"/>
              <a:ext cx="15875" cy="15875"/>
            </a:xfrm>
            <a:custGeom>
              <a:avLst/>
              <a:gdLst/>
              <a:ahLst/>
              <a:cxnLst/>
              <a:rect l="l" t="t" r="r" b="b"/>
              <a:pathLst>
                <a:path w="15875" h="15875">
                  <a:moveTo>
                    <a:pt x="0" y="7937"/>
                  </a:moveTo>
                  <a:cubicBezTo>
                    <a:pt x="0" y="12321"/>
                    <a:pt x="3554" y="15875"/>
                    <a:pt x="7937" y="15875"/>
                  </a:cubicBezTo>
                  <a:cubicBezTo>
                    <a:pt x="12321" y="15875"/>
                    <a:pt x="15875" y="12321"/>
                    <a:pt x="15875" y="7937"/>
                  </a:cubicBezTo>
                  <a:cubicBezTo>
                    <a:pt x="15875" y="3554"/>
                    <a:pt x="12321" y="0"/>
                    <a:pt x="7937" y="0"/>
                  </a:cubicBezTo>
                  <a:cubicBezTo>
                    <a:pt x="3554" y="0"/>
                    <a:pt x="0" y="3554"/>
                    <a:pt x="0" y="7937"/>
                  </a:cubicBez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49300" y="2157412"/>
              <a:ext cx="63500" cy="63500"/>
            </a:xfrm>
            <a:custGeom>
              <a:avLst/>
              <a:gdLst/>
              <a:ahLst/>
              <a:cxnLst/>
              <a:rect l="l" t="t" r="r" b="b"/>
              <a:pathLst>
                <a:path w="63500" h="63500">
                  <a:moveTo>
                    <a:pt x="0" y="63500"/>
                  </a:moveTo>
                  <a:lnTo>
                    <a:pt x="0" y="31750"/>
                  </a:lnTo>
                  <a:cubicBezTo>
                    <a:pt x="0" y="14215"/>
                    <a:pt x="14215" y="0"/>
                    <a:pt x="31750" y="0"/>
                  </a:cubicBezTo>
                  <a:cubicBezTo>
                    <a:pt x="49285" y="0"/>
                    <a:pt x="63500" y="14215"/>
                    <a:pt x="63500" y="31750"/>
                  </a:cubicBezTo>
                  <a:lnTo>
                    <a:pt x="63500" y="6350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097280" y="2057400"/>
            <a:ext cx="13391388" cy="5981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Fernet 加密全部密钥（数据库密码、SSH 私钥、AI Key），对外只暴露 `has_*` 布尔值；pbkdf2 密码哈希；</a:t>
            </a:r>
            <a:b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Cookie Session（24h TTL）。</a:t>
            </a:r>
          </a:p>
        </p:txBody>
      </p:sp>
      <p:sp>
        <p:nvSpPr>
          <p:cNvPr id="11" name="Line 11"/>
          <p:cNvSpPr/>
          <p:nvPr/>
        </p:nvSpPr>
        <p:spPr>
          <a:xfrm>
            <a:off x="609600" y="30099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09600" y="3276600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22" name="Group 22"/>
          <p:cNvGrpSpPr/>
          <p:nvPr/>
        </p:nvGrpSpPr>
        <p:grpSpPr>
          <a:xfrm>
            <a:off x="717550" y="3384550"/>
            <a:ext cx="127000" cy="127000"/>
            <a:chOff x="717550" y="3384550"/>
            <a:chExt cx="127000" cy="127000"/>
          </a:xfrm>
        </p:grpSpPr>
        <p:sp>
          <p:nvSpPr>
            <p:cNvPr id="13" name="Freeform 13"/>
            <p:cNvSpPr/>
            <p:nvPr/>
          </p:nvSpPr>
          <p:spPr>
            <a:xfrm>
              <a:off x="717550" y="341630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5875"/>
                  </a:moveTo>
                  <a:cubicBezTo>
                    <a:pt x="0" y="24643"/>
                    <a:pt x="7107" y="31750"/>
                    <a:pt x="15875" y="31750"/>
                  </a:cubicBezTo>
                  <a:cubicBezTo>
                    <a:pt x="24643" y="31750"/>
                    <a:pt x="31750" y="24643"/>
                    <a:pt x="31750" y="15875"/>
                  </a:cubicBezTo>
                  <a:cubicBezTo>
                    <a:pt x="31750" y="7107"/>
                    <a:pt x="24643" y="0"/>
                    <a:pt x="15875" y="0"/>
                  </a:cubicBezTo>
                  <a:cubicBezTo>
                    <a:pt x="7107" y="0"/>
                    <a:pt x="0" y="7107"/>
                    <a:pt x="0" y="15875"/>
                  </a:cubicBez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33425" y="3384550"/>
              <a:ext cx="9525" cy="31750"/>
            </a:xfrm>
            <a:custGeom>
              <a:avLst/>
              <a:gdLst/>
              <a:ahLst/>
              <a:cxnLst/>
              <a:rect l="l" t="t" r="r" b="b"/>
              <a:pathLst>
                <a:path w="9525" h="31750">
                  <a:moveTo>
                    <a:pt x="0" y="0"/>
                  </a:moveTo>
                  <a:lnTo>
                    <a:pt x="0" y="3175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733425" y="3448050"/>
              <a:ext cx="9525" cy="63500"/>
            </a:xfrm>
            <a:custGeom>
              <a:avLst/>
              <a:gdLst/>
              <a:ahLst/>
              <a:cxnLst/>
              <a:rect l="l" t="t" r="r" b="b"/>
              <a:pathLst>
                <a:path w="9525" h="63500">
                  <a:moveTo>
                    <a:pt x="0" y="0"/>
                  </a:moveTo>
                  <a:lnTo>
                    <a:pt x="0" y="6350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765175" y="346392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5875"/>
                  </a:moveTo>
                  <a:cubicBezTo>
                    <a:pt x="0" y="24643"/>
                    <a:pt x="7107" y="31750"/>
                    <a:pt x="15875" y="31750"/>
                  </a:cubicBezTo>
                  <a:cubicBezTo>
                    <a:pt x="24643" y="31750"/>
                    <a:pt x="31750" y="24643"/>
                    <a:pt x="31750" y="15875"/>
                  </a:cubicBezTo>
                  <a:cubicBezTo>
                    <a:pt x="31750" y="7107"/>
                    <a:pt x="24643" y="0"/>
                    <a:pt x="15875" y="0"/>
                  </a:cubicBezTo>
                  <a:cubicBezTo>
                    <a:pt x="7107" y="0"/>
                    <a:pt x="0" y="7107"/>
                    <a:pt x="0" y="15875"/>
                  </a:cubicBez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781050" y="3384550"/>
              <a:ext cx="9525" cy="79375"/>
            </a:xfrm>
            <a:custGeom>
              <a:avLst/>
              <a:gdLst/>
              <a:ahLst/>
              <a:cxnLst/>
              <a:rect l="l" t="t" r="r" b="b"/>
              <a:pathLst>
                <a:path w="9525" h="79375">
                  <a:moveTo>
                    <a:pt x="0" y="0"/>
                  </a:moveTo>
                  <a:lnTo>
                    <a:pt x="0" y="79375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81050" y="3495675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0" y="15875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12800" y="339248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5875"/>
                  </a:moveTo>
                  <a:cubicBezTo>
                    <a:pt x="0" y="24643"/>
                    <a:pt x="7107" y="31750"/>
                    <a:pt x="15875" y="31750"/>
                  </a:cubicBezTo>
                  <a:cubicBezTo>
                    <a:pt x="24643" y="31750"/>
                    <a:pt x="31750" y="24643"/>
                    <a:pt x="31750" y="15875"/>
                  </a:cubicBezTo>
                  <a:cubicBezTo>
                    <a:pt x="31750" y="7107"/>
                    <a:pt x="24643" y="0"/>
                    <a:pt x="15875" y="0"/>
                  </a:cubicBezTo>
                  <a:cubicBezTo>
                    <a:pt x="7107" y="0"/>
                    <a:pt x="0" y="7107"/>
                    <a:pt x="0" y="15875"/>
                  </a:cubicBez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828675" y="33845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7937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28675" y="3424237"/>
              <a:ext cx="9525" cy="87312"/>
            </a:xfrm>
            <a:custGeom>
              <a:avLst/>
              <a:gdLst/>
              <a:ahLst/>
              <a:cxnLst/>
              <a:rect l="l" t="t" r="r" b="b"/>
              <a:pathLst>
                <a:path w="9525" h="87312">
                  <a:moveTo>
                    <a:pt x="0" y="0"/>
                  </a:moveTo>
                  <a:lnTo>
                    <a:pt x="0" y="87312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</p:grpSp>
      <p:sp>
        <p:nvSpPr>
          <p:cNvPr id="23" name="TextBox 23"/>
          <p:cNvSpPr txBox="1"/>
          <p:nvPr/>
        </p:nvSpPr>
        <p:spPr>
          <a:xfrm>
            <a:off x="1097280" y="3276600"/>
            <a:ext cx="12203620" cy="5981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统一响应 `{code, message, data}`、统一异常处理；路径规范化（数据文件相对 `data/` 存储，</a:t>
            </a:r>
            <a:b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项目迁移无需改配置）。</a:t>
            </a:r>
          </a:p>
        </p:txBody>
      </p:sp>
      <p:sp>
        <p:nvSpPr>
          <p:cNvPr id="24" name="Line 24"/>
          <p:cNvSpPr/>
          <p:nvPr/>
        </p:nvSpPr>
        <p:spPr>
          <a:xfrm>
            <a:off x="609600" y="422910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09600" y="4495800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29" name="Group 29"/>
          <p:cNvGrpSpPr/>
          <p:nvPr/>
        </p:nvGrpSpPr>
        <p:grpSpPr>
          <a:xfrm>
            <a:off x="725487" y="4595812"/>
            <a:ext cx="111125" cy="142875"/>
            <a:chOff x="725487" y="4595812"/>
            <a:chExt cx="111125" cy="142875"/>
          </a:xfrm>
        </p:grpSpPr>
        <p:sp>
          <p:nvSpPr>
            <p:cNvPr id="26" name="Freeform 26"/>
            <p:cNvSpPr/>
            <p:nvPr/>
          </p:nvSpPr>
          <p:spPr>
            <a:xfrm>
              <a:off x="796925" y="4595812"/>
              <a:ext cx="39687" cy="39687"/>
            </a:xfrm>
            <a:custGeom>
              <a:avLst/>
              <a:gdLst/>
              <a:ahLst/>
              <a:cxnLst/>
              <a:rect l="l" t="t" r="r" b="b"/>
              <a:pathLst>
                <a:path w="39687" h="39687">
                  <a:moveTo>
                    <a:pt x="0" y="0"/>
                  </a:moveTo>
                  <a:lnTo>
                    <a:pt x="0" y="31750"/>
                  </a:lnTo>
                  <a:cubicBezTo>
                    <a:pt x="0" y="36134"/>
                    <a:pt x="3554" y="39687"/>
                    <a:pt x="7937" y="39687"/>
                  </a:cubicBezTo>
                  <a:lnTo>
                    <a:pt x="39687" y="39687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25487" y="4595812"/>
              <a:ext cx="111125" cy="142875"/>
            </a:xfrm>
            <a:custGeom>
              <a:avLst/>
              <a:gdLst/>
              <a:ahLst/>
              <a:cxnLst/>
              <a:rect l="l" t="t" r="r" b="b"/>
              <a:pathLst>
                <a:path w="111125" h="142875">
                  <a:moveTo>
                    <a:pt x="95250" y="142875"/>
                  </a:moveTo>
                  <a:lnTo>
                    <a:pt x="15875" y="142875"/>
                  </a:lnTo>
                  <a:cubicBezTo>
                    <a:pt x="7107" y="142875"/>
                    <a:pt x="0" y="135767"/>
                    <a:pt x="0" y="127000"/>
                  </a:cubicBezTo>
                  <a:lnTo>
                    <a:pt x="0" y="15875"/>
                  </a:lnTo>
                  <a:cubicBezTo>
                    <a:pt x="0" y="7107"/>
                    <a:pt x="7107" y="0"/>
                    <a:pt x="15875" y="0"/>
                  </a:cubicBezTo>
                  <a:lnTo>
                    <a:pt x="71437" y="0"/>
                  </a:lnTo>
                  <a:lnTo>
                    <a:pt x="111125" y="39687"/>
                  </a:lnTo>
                  <a:lnTo>
                    <a:pt x="111125" y="127000"/>
                  </a:lnTo>
                  <a:cubicBezTo>
                    <a:pt x="111125" y="135767"/>
                    <a:pt x="104017" y="142875"/>
                    <a:pt x="95250" y="142875"/>
                  </a:cubicBez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757237" y="4675187"/>
              <a:ext cx="47625" cy="31750"/>
            </a:xfrm>
            <a:custGeom>
              <a:avLst/>
              <a:gdLst/>
              <a:ahLst/>
              <a:cxnLst/>
              <a:rect l="l" t="t" r="r" b="b"/>
              <a:pathLst>
                <a:path w="47625" h="31750">
                  <a:moveTo>
                    <a:pt x="0" y="15875"/>
                  </a:moveTo>
                  <a:lnTo>
                    <a:pt x="15875" y="31750"/>
                  </a:lnTo>
                  <a:lnTo>
                    <a:pt x="47625" y="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</p:grpSp>
      <p:sp>
        <p:nvSpPr>
          <p:cNvPr id="30" name="TextBox 30"/>
          <p:cNvSpPr txBox="1"/>
          <p:nvPr/>
        </p:nvSpPr>
        <p:spPr>
          <a:xfrm>
            <a:off x="1097280" y="4495800"/>
            <a:ext cx="13529500" cy="5981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>
              <a:lnSpc>
                <a:spcPts val="2400"/>
              </a:lnSpc>
            </a:pPr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167 个后端自动化用例 + 19 个前端 E2E 断言 + 19 个 AI 查询验收案例，测试覆盖用户与角色、连接池、SQL 执</a:t>
            </a:r>
            <a:b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</a:br>
            <a:r>
              <a: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行，Agent ，监控，元数据与导出，大模型连通性等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04266" y="5911850"/>
            <a:ext cx="112089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来源：backend/app/security.py、permissions.py、main.py（/metrics）；后端 117 项 pytest 用例，96 个 API 接口</a:t>
            </a:r>
          </a:p>
        </p:txBody>
      </p:sp>
      <p:sp>
        <p:nvSpPr>
          <p:cNvPr id="32" name="Line 32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33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34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watermark"/>
          <p:cNvGrpSpPr/>
          <p:nvPr/>
        </p:nvGrpSpPr>
        <p:grpSpPr>
          <a:xfrm>
            <a:off x="6667500" y="2286000"/>
            <a:ext cx="5524500" cy="4572000"/>
            <a:chOff x="6667500" y="2286000"/>
            <a:chExt cx="5524500" cy="4572000"/>
          </a:xfrm>
        </p:grpSpPr>
        <p:sp>
          <p:nvSpPr>
            <p:cNvPr id="2" name="Line 2"/>
            <p:cNvSpPr/>
            <p:nvPr/>
          </p:nvSpPr>
          <p:spPr>
            <a:xfrm>
              <a:off x="6667500" y="2286000"/>
              <a:ext cx="5524500" cy="4572000"/>
            </a:xfrm>
            <a:custGeom>
              <a:avLst/>
              <a:gdLst/>
              <a:ahLst/>
              <a:cxnLst/>
              <a:rect l="l" t="t" r="r" b="b"/>
              <a:pathLst>
                <a:path w="5524500" h="4572000">
                  <a:moveTo>
                    <a:pt x="0" y="457200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429500" y="3048000"/>
              <a:ext cx="4762500" cy="3810000"/>
            </a:xfrm>
            <a:custGeom>
              <a:avLst/>
              <a:gdLst/>
              <a:ahLst/>
              <a:cxnLst/>
              <a:rect l="l" t="t" r="r" b="b"/>
              <a:pathLst>
                <a:path w="4762500" h="3810000">
                  <a:moveTo>
                    <a:pt x="0" y="381000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191500" y="3810000"/>
              <a:ext cx="4000500" cy="3048000"/>
            </a:xfrm>
            <a:custGeom>
              <a:avLst/>
              <a:gdLst/>
              <a:ahLst/>
              <a:cxnLst/>
              <a:rect l="l" t="t" r="r" b="b"/>
              <a:pathLst>
                <a:path w="4000500" h="3048000">
                  <a:moveTo>
                    <a:pt x="0" y="304800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953500" y="4572000"/>
              <a:ext cx="3238500" cy="2286000"/>
            </a:xfrm>
            <a:custGeom>
              <a:avLst/>
              <a:gdLst/>
              <a:ahLst/>
              <a:cxnLst/>
              <a:rect l="l" t="t" r="r" b="b"/>
              <a:pathLst>
                <a:path w="3238500" h="2286000">
                  <a:moveTo>
                    <a:pt x="0" y="228600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715500" y="53340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0" y="152400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0477500" y="6096000"/>
              <a:ext cx="1714500" cy="762000"/>
            </a:xfrm>
            <a:custGeom>
              <a:avLst/>
              <a:gdLst/>
              <a:ahLst/>
              <a:cxnLst/>
              <a:rect l="l" t="t" r="r" b="b"/>
              <a:pathLst>
                <a:path w="1714500" h="762000">
                  <a:moveTo>
                    <a:pt x="0" y="76200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</p:grpSp>
      <p:pic>
        <p:nvPicPr>
          <p:cNvPr id="9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10" name="section-number"/>
          <p:cNvSpPr txBox="1"/>
          <p:nvPr/>
        </p:nvSpPr>
        <p:spPr>
          <a:xfrm>
            <a:off x="590550" y="2044700"/>
            <a:ext cx="1157600" cy="13906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2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11" name="section-rule"/>
          <p:cNvSpPr/>
          <p:nvPr/>
        </p:nvSpPr>
        <p:spPr>
          <a:xfrm>
            <a:off x="609600" y="3162300"/>
            <a:ext cx="9144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section-title"/>
          <p:cNvSpPr txBox="1"/>
          <p:nvPr/>
        </p:nvSpPr>
        <p:spPr>
          <a:xfrm>
            <a:off x="595122" y="3505200"/>
            <a:ext cx="156362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推广价值</a:t>
            </a:r>
          </a:p>
        </p:txBody>
      </p:sp>
      <p:sp>
        <p:nvSpPr>
          <p:cNvPr id="13" name="section-subtitle"/>
          <p:cNvSpPr txBox="1"/>
          <p:nvPr/>
        </p:nvSpPr>
        <p:spPr>
          <a:xfrm>
            <a:off x="598170" y="4064000"/>
            <a:ext cx="7060311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多数据源与大模型支持、多场景适用</a:t>
            </a:r>
          </a:p>
        </p:txBody>
      </p:sp>
      <p:sp>
        <p:nvSpPr>
          <p:cNvPr id="14" name="Line 14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5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16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20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5605157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多数据源与大模型支持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609600" y="2247900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5" name="Group 15"/>
          <p:cNvGrpSpPr/>
          <p:nvPr/>
        </p:nvGrpSpPr>
        <p:grpSpPr>
          <a:xfrm>
            <a:off x="725487" y="2339975"/>
            <a:ext cx="111125" cy="150812"/>
            <a:chOff x="725487" y="2339975"/>
            <a:chExt cx="111125" cy="150812"/>
          </a:xfrm>
        </p:grpSpPr>
        <p:sp>
          <p:nvSpPr>
            <p:cNvPr id="6" name="Freeform 6"/>
            <p:cNvSpPr/>
            <p:nvPr/>
          </p:nvSpPr>
          <p:spPr>
            <a:xfrm>
              <a:off x="733425" y="2355850"/>
              <a:ext cx="95250" cy="63500"/>
            </a:xfrm>
            <a:custGeom>
              <a:avLst/>
              <a:gdLst/>
              <a:ahLst/>
              <a:cxnLst/>
              <a:rect l="l" t="t" r="r" b="b"/>
              <a:pathLst>
                <a:path w="95250" h="63500">
                  <a:moveTo>
                    <a:pt x="0" y="15875"/>
                  </a:moveTo>
                  <a:cubicBezTo>
                    <a:pt x="0" y="7107"/>
                    <a:pt x="7107" y="0"/>
                    <a:pt x="15875" y="0"/>
                  </a:cubicBezTo>
                  <a:lnTo>
                    <a:pt x="79375" y="0"/>
                  </a:lnTo>
                  <a:cubicBezTo>
                    <a:pt x="88142" y="0"/>
                    <a:pt x="95250" y="7107"/>
                    <a:pt x="95250" y="15875"/>
                  </a:cubicBezTo>
                  <a:lnTo>
                    <a:pt x="95250" y="47625"/>
                  </a:lnTo>
                  <a:cubicBezTo>
                    <a:pt x="95250" y="56392"/>
                    <a:pt x="88142" y="63500"/>
                    <a:pt x="79375" y="63500"/>
                  </a:cubicBezTo>
                  <a:lnTo>
                    <a:pt x="15875" y="63500"/>
                  </a:lnTo>
                  <a:cubicBezTo>
                    <a:pt x="7107" y="63500"/>
                    <a:pt x="0" y="56392"/>
                    <a:pt x="0" y="47625"/>
                  </a:cubicBezTo>
                  <a:lnTo>
                    <a:pt x="0" y="15875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781050" y="2339975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0" y="15875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757237" y="2419350"/>
              <a:ext cx="9525" cy="71437"/>
            </a:xfrm>
            <a:custGeom>
              <a:avLst/>
              <a:gdLst/>
              <a:ahLst/>
              <a:cxnLst/>
              <a:rect l="l" t="t" r="r" b="b"/>
              <a:pathLst>
                <a:path w="9525" h="71437">
                  <a:moveTo>
                    <a:pt x="0" y="0"/>
                  </a:moveTo>
                  <a:lnTo>
                    <a:pt x="0" y="71437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804862" y="2419350"/>
              <a:ext cx="9525" cy="71437"/>
            </a:xfrm>
            <a:custGeom>
              <a:avLst/>
              <a:gdLst/>
              <a:ahLst/>
              <a:cxnLst/>
              <a:rect l="l" t="t" r="r" b="b"/>
              <a:pathLst>
                <a:path w="9525" h="71437">
                  <a:moveTo>
                    <a:pt x="0" y="0"/>
                  </a:moveTo>
                  <a:lnTo>
                    <a:pt x="0" y="71437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725487" y="2435225"/>
              <a:ext cx="31750" cy="15875"/>
            </a:xfrm>
            <a:custGeom>
              <a:avLst/>
              <a:gdLst/>
              <a:ahLst/>
              <a:cxnLst/>
              <a:rect l="l" t="t" r="r" b="b"/>
              <a:pathLst>
                <a:path w="31750" h="15875">
                  <a:moveTo>
                    <a:pt x="0" y="15875"/>
                  </a:moveTo>
                  <a:lnTo>
                    <a:pt x="31750" y="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04862" y="2435225"/>
              <a:ext cx="31750" cy="15875"/>
            </a:xfrm>
            <a:custGeom>
              <a:avLst/>
              <a:gdLst/>
              <a:ahLst/>
              <a:cxnLst/>
              <a:rect l="l" t="t" r="r" b="b"/>
              <a:pathLst>
                <a:path w="31750" h="15875">
                  <a:moveTo>
                    <a:pt x="0" y="0"/>
                  </a:moveTo>
                  <a:lnTo>
                    <a:pt x="31750" y="15875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757237" y="2466975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765175" y="23876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79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796925" y="23876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79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</p:grpSp>
      <p:sp>
        <p:nvSpPr>
          <p:cNvPr id="16" name="TextBox 16"/>
          <p:cNvSpPr txBox="1"/>
          <p:nvPr/>
        </p:nvSpPr>
        <p:spPr>
          <a:xfrm>
            <a:off x="1096518" y="2292350"/>
            <a:ext cx="1265448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支持大模型：openai / anthropic SDK（OpenAI 兼容网关、Claude、Ollama 统一抽象）</a:t>
            </a:r>
          </a:p>
        </p:txBody>
      </p:sp>
      <p:sp>
        <p:nvSpPr>
          <p:cNvPr id="17" name="Line 17"/>
          <p:cNvSpPr/>
          <p:nvPr/>
        </p:nvSpPr>
        <p:spPr>
          <a:xfrm>
            <a:off x="609600" y="3219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09600" y="3505200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25" name="Group 25"/>
          <p:cNvGrpSpPr/>
          <p:nvPr/>
        </p:nvGrpSpPr>
        <p:grpSpPr>
          <a:xfrm>
            <a:off x="709612" y="3613150"/>
            <a:ext cx="142875" cy="127000"/>
            <a:chOff x="709612" y="3613150"/>
            <a:chExt cx="142875" cy="127000"/>
          </a:xfrm>
        </p:grpSpPr>
        <p:sp>
          <p:nvSpPr>
            <p:cNvPr id="19" name="Freeform 19"/>
            <p:cNvSpPr/>
            <p:nvPr/>
          </p:nvSpPr>
          <p:spPr>
            <a:xfrm>
              <a:off x="709612" y="3613150"/>
              <a:ext cx="142875" cy="63500"/>
            </a:xfrm>
            <a:custGeom>
              <a:avLst/>
              <a:gdLst/>
              <a:ahLst/>
              <a:cxnLst/>
              <a:rect l="l" t="t" r="r" b="b"/>
              <a:pathLst>
                <a:path w="142875" h="63500">
                  <a:moveTo>
                    <a:pt x="0" y="23812"/>
                  </a:move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39687"/>
                  </a:lnTo>
                  <a:cubicBezTo>
                    <a:pt x="142875" y="52839"/>
                    <a:pt x="132214" y="63500"/>
                    <a:pt x="119062" y="63500"/>
                  </a:cubicBezTo>
                  <a:lnTo>
                    <a:pt x="23812" y="63500"/>
                  </a:lnTo>
                  <a:cubicBezTo>
                    <a:pt x="10661" y="63500"/>
                    <a:pt x="0" y="52839"/>
                    <a:pt x="0" y="39687"/>
                  </a:cubicBezTo>
                  <a:lnTo>
                    <a:pt x="0" y="23812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09612" y="3676650"/>
              <a:ext cx="142875" cy="63500"/>
            </a:xfrm>
            <a:custGeom>
              <a:avLst/>
              <a:gdLst/>
              <a:ahLst/>
              <a:cxnLst/>
              <a:rect l="l" t="t" r="r" b="b"/>
              <a:pathLst>
                <a:path w="142875" h="63500">
                  <a:moveTo>
                    <a:pt x="0" y="23812"/>
                  </a:moveTo>
                  <a:cubicBezTo>
                    <a:pt x="0" y="10661"/>
                    <a:pt x="10661" y="0"/>
                    <a:pt x="23812" y="0"/>
                  </a:cubicBezTo>
                  <a:lnTo>
                    <a:pt x="119062" y="0"/>
                  </a:lnTo>
                  <a:cubicBezTo>
                    <a:pt x="132214" y="0"/>
                    <a:pt x="142875" y="10661"/>
                    <a:pt x="142875" y="23812"/>
                  </a:cubicBezTo>
                  <a:lnTo>
                    <a:pt x="142875" y="39687"/>
                  </a:lnTo>
                  <a:cubicBezTo>
                    <a:pt x="142875" y="52839"/>
                    <a:pt x="132214" y="63500"/>
                    <a:pt x="119062" y="63500"/>
                  </a:cubicBezTo>
                  <a:lnTo>
                    <a:pt x="23812" y="63500"/>
                  </a:lnTo>
                  <a:cubicBezTo>
                    <a:pt x="10661" y="63500"/>
                    <a:pt x="0" y="52839"/>
                    <a:pt x="0" y="39687"/>
                  </a:cubicBezTo>
                  <a:lnTo>
                    <a:pt x="0" y="23812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41362" y="36449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79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741362" y="37084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79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773112" y="364490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773112" y="3708400"/>
              <a:ext cx="47625" cy="9525"/>
            </a:xfrm>
            <a:custGeom>
              <a:avLst/>
              <a:gdLst/>
              <a:ahLst/>
              <a:cxnLst/>
              <a:rect l="l" t="t" r="r" b="b"/>
              <a:pathLst>
                <a:path w="47625" h="9525">
                  <a:moveTo>
                    <a:pt x="0" y="0"/>
                  </a:moveTo>
                  <a:lnTo>
                    <a:pt x="47625" y="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</p:grpSp>
      <p:sp>
        <p:nvSpPr>
          <p:cNvPr id="26" name="TextBox 26"/>
          <p:cNvSpPr txBox="1"/>
          <p:nvPr/>
        </p:nvSpPr>
        <p:spPr>
          <a:xfrm>
            <a:off x="1096518" y="3549650"/>
            <a:ext cx="1367728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支持数据源：SQLite / MySQL / PostgreSQL / Oracle / MongoDB / OceanBase / GoldenDB</a:t>
            </a:r>
          </a:p>
        </p:txBody>
      </p:sp>
      <p:sp>
        <p:nvSpPr>
          <p:cNvPr id="27" name="Line 27"/>
          <p:cNvSpPr/>
          <p:nvPr/>
        </p:nvSpPr>
        <p:spPr>
          <a:xfrm>
            <a:off x="609600" y="4476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09600" y="4762500"/>
            <a:ext cx="342900" cy="342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38" name="Group 38"/>
          <p:cNvGrpSpPr/>
          <p:nvPr/>
        </p:nvGrpSpPr>
        <p:grpSpPr>
          <a:xfrm>
            <a:off x="717550" y="4870450"/>
            <a:ext cx="127000" cy="127000"/>
            <a:chOff x="717550" y="4870450"/>
            <a:chExt cx="127000" cy="127000"/>
          </a:xfrm>
        </p:grpSpPr>
        <p:sp>
          <p:nvSpPr>
            <p:cNvPr id="29" name="Freeform 29"/>
            <p:cNvSpPr/>
            <p:nvPr/>
          </p:nvSpPr>
          <p:spPr>
            <a:xfrm>
              <a:off x="717550" y="4902200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5875"/>
                  </a:moveTo>
                  <a:cubicBezTo>
                    <a:pt x="0" y="24643"/>
                    <a:pt x="7107" y="31750"/>
                    <a:pt x="15875" y="31750"/>
                  </a:cubicBezTo>
                  <a:cubicBezTo>
                    <a:pt x="24643" y="31750"/>
                    <a:pt x="31750" y="24643"/>
                    <a:pt x="31750" y="15875"/>
                  </a:cubicBezTo>
                  <a:cubicBezTo>
                    <a:pt x="31750" y="7107"/>
                    <a:pt x="24643" y="0"/>
                    <a:pt x="15875" y="0"/>
                  </a:cubicBezTo>
                  <a:cubicBezTo>
                    <a:pt x="7107" y="0"/>
                    <a:pt x="0" y="7107"/>
                    <a:pt x="0" y="15875"/>
                  </a:cubicBez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733425" y="4870450"/>
              <a:ext cx="9525" cy="31750"/>
            </a:xfrm>
            <a:custGeom>
              <a:avLst/>
              <a:gdLst/>
              <a:ahLst/>
              <a:cxnLst/>
              <a:rect l="l" t="t" r="r" b="b"/>
              <a:pathLst>
                <a:path w="9525" h="31750">
                  <a:moveTo>
                    <a:pt x="0" y="0"/>
                  </a:moveTo>
                  <a:lnTo>
                    <a:pt x="0" y="3175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733425" y="4933950"/>
              <a:ext cx="9525" cy="63500"/>
            </a:xfrm>
            <a:custGeom>
              <a:avLst/>
              <a:gdLst/>
              <a:ahLst/>
              <a:cxnLst/>
              <a:rect l="l" t="t" r="r" b="b"/>
              <a:pathLst>
                <a:path w="9525" h="63500">
                  <a:moveTo>
                    <a:pt x="0" y="0"/>
                  </a:moveTo>
                  <a:lnTo>
                    <a:pt x="0" y="63500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765175" y="4949825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5875"/>
                  </a:moveTo>
                  <a:cubicBezTo>
                    <a:pt x="0" y="24643"/>
                    <a:pt x="7107" y="31750"/>
                    <a:pt x="15875" y="31750"/>
                  </a:cubicBezTo>
                  <a:cubicBezTo>
                    <a:pt x="24643" y="31750"/>
                    <a:pt x="31750" y="24643"/>
                    <a:pt x="31750" y="15875"/>
                  </a:cubicBezTo>
                  <a:cubicBezTo>
                    <a:pt x="31750" y="7107"/>
                    <a:pt x="24643" y="0"/>
                    <a:pt x="15875" y="0"/>
                  </a:cubicBezTo>
                  <a:cubicBezTo>
                    <a:pt x="7107" y="0"/>
                    <a:pt x="0" y="7107"/>
                    <a:pt x="0" y="15875"/>
                  </a:cubicBez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81050" y="4870450"/>
              <a:ext cx="9525" cy="79375"/>
            </a:xfrm>
            <a:custGeom>
              <a:avLst/>
              <a:gdLst/>
              <a:ahLst/>
              <a:cxnLst/>
              <a:rect l="l" t="t" r="r" b="b"/>
              <a:pathLst>
                <a:path w="9525" h="79375">
                  <a:moveTo>
                    <a:pt x="0" y="0"/>
                  </a:moveTo>
                  <a:lnTo>
                    <a:pt x="0" y="79375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81050" y="4981575"/>
              <a:ext cx="9525" cy="15875"/>
            </a:xfrm>
            <a:custGeom>
              <a:avLst/>
              <a:gdLst/>
              <a:ahLst/>
              <a:cxnLst/>
              <a:rect l="l" t="t" r="r" b="b"/>
              <a:pathLst>
                <a:path w="9525" h="15875">
                  <a:moveTo>
                    <a:pt x="0" y="0"/>
                  </a:moveTo>
                  <a:lnTo>
                    <a:pt x="0" y="15875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812800" y="4878387"/>
              <a:ext cx="31750" cy="31750"/>
            </a:xfrm>
            <a:custGeom>
              <a:avLst/>
              <a:gdLst/>
              <a:ahLst/>
              <a:cxnLst/>
              <a:rect l="l" t="t" r="r" b="b"/>
              <a:pathLst>
                <a:path w="31750" h="31750">
                  <a:moveTo>
                    <a:pt x="0" y="15875"/>
                  </a:moveTo>
                  <a:cubicBezTo>
                    <a:pt x="0" y="24643"/>
                    <a:pt x="7107" y="31750"/>
                    <a:pt x="15875" y="31750"/>
                  </a:cubicBezTo>
                  <a:cubicBezTo>
                    <a:pt x="24643" y="31750"/>
                    <a:pt x="31750" y="24643"/>
                    <a:pt x="31750" y="15875"/>
                  </a:cubicBezTo>
                  <a:cubicBezTo>
                    <a:pt x="31750" y="7107"/>
                    <a:pt x="24643" y="0"/>
                    <a:pt x="15875" y="0"/>
                  </a:cubicBezTo>
                  <a:cubicBezTo>
                    <a:pt x="7107" y="0"/>
                    <a:pt x="0" y="7107"/>
                    <a:pt x="0" y="15875"/>
                  </a:cubicBez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28675" y="48704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0" y="0"/>
                  </a:moveTo>
                  <a:lnTo>
                    <a:pt x="0" y="7937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828675" y="4910137"/>
              <a:ext cx="9525" cy="87312"/>
            </a:xfrm>
            <a:custGeom>
              <a:avLst/>
              <a:gdLst/>
              <a:ahLst/>
              <a:cxnLst/>
              <a:rect l="l" t="t" r="r" b="b"/>
              <a:pathLst>
                <a:path w="9525" h="87312">
                  <a:moveTo>
                    <a:pt x="0" y="0"/>
                  </a:moveTo>
                  <a:lnTo>
                    <a:pt x="0" y="87312"/>
                  </a:lnTo>
                </a:path>
              </a:pathLst>
            </a:custGeom>
            <a:noFill/>
            <a:ln w="15875">
              <a:solidFill>
                <a:srgbClr val="FFFFFF"/>
              </a:solidFill>
            </a:ln>
          </p:spPr>
        </p:sp>
      </p:grpSp>
      <p:sp>
        <p:nvSpPr>
          <p:cNvPr id="39" name="TextBox 39"/>
          <p:cNvSpPr txBox="1"/>
          <p:nvPr/>
        </p:nvSpPr>
        <p:spPr>
          <a:xfrm>
            <a:off x="1096518" y="4806950"/>
            <a:ext cx="453340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模型与数据源接入配置简单快捷</a:t>
            </a:r>
          </a:p>
        </p:txBody>
      </p:sp>
      <p:sp>
        <p:nvSpPr>
          <p:cNvPr id="40" name="Line 40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41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42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21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1947291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多场景适用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23" name="scenario-table"/>
          <p:cNvGrpSpPr/>
          <p:nvPr/>
        </p:nvGrpSpPr>
        <p:grpSpPr>
          <a:xfrm>
            <a:off x="609600" y="2057400"/>
            <a:ext cx="10972800" cy="2562225"/>
            <a:chOff x="609600" y="2057400"/>
            <a:chExt cx="10972800" cy="2562225"/>
          </a:xfrm>
        </p:grpSpPr>
        <p:sp>
          <p:nvSpPr>
            <p:cNvPr id="5" name="Rectangle 5"/>
            <p:cNvSpPr/>
            <p:nvPr/>
          </p:nvSpPr>
          <p:spPr>
            <a:xfrm>
              <a:off x="609600" y="2057400"/>
              <a:ext cx="10972800" cy="4572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609600" y="2514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" y="3209925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39052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" y="46101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" y="20574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56666" y="220662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用户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042666" y="22066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核心需求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24166" y="220662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典型场景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904" y="276701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开发人员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41904" y="2767012"/>
              <a:ext cx="1833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快速查数、写与优化 SQL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23404" y="2767012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日常开发、验证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904" y="3462338"/>
              <a:ext cx="853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 / 产品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41904" y="3462338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自然语言取数、快速做报表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3404" y="3462338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数据分析、辅助决策、快速核对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5904" y="4162425"/>
              <a:ext cx="8371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DBA / 运维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041904" y="4162425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便于管理、统一入口、审计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3404" y="416242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生产问题快速定位、数据治理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01980" y="5156200"/>
            <a:ext cx="6005794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不会 SQL 的人也能查数，会 SQL 的人更快。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04266" y="5911850"/>
            <a:ext cx="88775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来源：仓库 需求说明书V2.0/V3.0.md、AGENTS.md、README.md；界面截图取自本地运行实例</a:t>
            </a:r>
          </a:p>
        </p:txBody>
      </p:sp>
      <p:sp>
        <p:nvSpPr>
          <p:cNvPr id="26" name="Line 26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27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28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22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3" name="page-title"/>
          <p:cNvSpPr txBox="1"/>
          <p:nvPr/>
        </p:nvSpPr>
        <p:spPr>
          <a:xfrm>
            <a:off x="595122" y="723900"/>
            <a:ext cx="1563624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后续计划</a:t>
            </a:r>
          </a:p>
        </p:txBody>
      </p:sp>
      <p:sp>
        <p:nvSpPr>
          <p:cNvPr id="4" name="Rectangle 4"/>
          <p:cNvSpPr/>
          <p:nvPr/>
        </p:nvSpPr>
        <p:spPr>
          <a:xfrm>
            <a:off x="609600" y="1219200"/>
            <a:ext cx="8382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01980" y="1689100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下一步：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8170" y="2273300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5118" y="2349500"/>
            <a:ext cx="24601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补齐更多数据库对象支持</a:t>
            </a:r>
          </a:p>
        </p:txBody>
      </p:sp>
      <p:sp>
        <p:nvSpPr>
          <p:cNvPr id="8" name="Line 8"/>
          <p:cNvSpPr/>
          <p:nvPr/>
        </p:nvSpPr>
        <p:spPr>
          <a:xfrm>
            <a:off x="609600" y="31051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598170" y="3149600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5118" y="3225800"/>
            <a:ext cx="6912895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扩展 Agent 工具（索引建议、慢查询根因分析）</a:t>
            </a:r>
          </a:p>
        </p:txBody>
      </p:sp>
      <p:sp>
        <p:nvSpPr>
          <p:cNvPr id="11" name="Line 11"/>
          <p:cNvSpPr/>
          <p:nvPr/>
        </p:nvSpPr>
        <p:spPr>
          <a:xfrm>
            <a:off x="609600" y="39814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598170" y="4025900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5118" y="4102100"/>
            <a:ext cx="246011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增加团队协作与报表订阅</a:t>
            </a:r>
          </a:p>
        </p:txBody>
      </p:sp>
      <p:sp>
        <p:nvSpPr>
          <p:cNvPr id="14" name="Line 14"/>
          <p:cNvSpPr/>
          <p:nvPr/>
        </p:nvSpPr>
        <p:spPr>
          <a:xfrm>
            <a:off x="609600" y="48577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98170" y="4902200"/>
            <a:ext cx="37270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5118" y="4978400"/>
            <a:ext cx="223799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数据导出增加审核链路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4266" y="5911850"/>
            <a:ext cx="88775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来源：仓库 需求说明书V2.0/V3.0.md、AGENTS.md、README.md；界面截图取自本地运行实例</a:t>
            </a:r>
          </a:p>
        </p:txBody>
      </p:sp>
      <p:sp>
        <p:nvSpPr>
          <p:cNvPr id="18" name="Line 18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9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20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watermark"/>
          <p:cNvGrpSpPr/>
          <p:nvPr/>
        </p:nvGrpSpPr>
        <p:grpSpPr>
          <a:xfrm>
            <a:off x="6667500" y="2286000"/>
            <a:ext cx="5524500" cy="4572000"/>
            <a:chOff x="6667500" y="2286000"/>
            <a:chExt cx="5524500" cy="4572000"/>
          </a:xfrm>
        </p:grpSpPr>
        <p:sp>
          <p:nvSpPr>
            <p:cNvPr id="2" name="Line 2"/>
            <p:cNvSpPr/>
            <p:nvPr/>
          </p:nvSpPr>
          <p:spPr>
            <a:xfrm>
              <a:off x="6667500" y="2286000"/>
              <a:ext cx="5524500" cy="4572000"/>
            </a:xfrm>
            <a:custGeom>
              <a:avLst/>
              <a:gdLst/>
              <a:ahLst/>
              <a:cxnLst/>
              <a:rect l="l" t="t" r="r" b="b"/>
              <a:pathLst>
                <a:path w="5524500" h="4572000">
                  <a:moveTo>
                    <a:pt x="0" y="4572000"/>
                  </a:moveTo>
                  <a:lnTo>
                    <a:pt x="5524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7429500" y="3048000"/>
              <a:ext cx="4762500" cy="3810000"/>
            </a:xfrm>
            <a:custGeom>
              <a:avLst/>
              <a:gdLst/>
              <a:ahLst/>
              <a:cxnLst/>
              <a:rect l="l" t="t" r="r" b="b"/>
              <a:pathLst>
                <a:path w="4762500" h="3810000">
                  <a:moveTo>
                    <a:pt x="0" y="381000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8191500" y="3810000"/>
              <a:ext cx="4000500" cy="3048000"/>
            </a:xfrm>
            <a:custGeom>
              <a:avLst/>
              <a:gdLst/>
              <a:ahLst/>
              <a:cxnLst/>
              <a:rect l="l" t="t" r="r" b="b"/>
              <a:pathLst>
                <a:path w="4000500" h="3048000">
                  <a:moveTo>
                    <a:pt x="0" y="304800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8953500" y="4572000"/>
              <a:ext cx="3238500" cy="2286000"/>
            </a:xfrm>
            <a:custGeom>
              <a:avLst/>
              <a:gdLst/>
              <a:ahLst/>
              <a:cxnLst/>
              <a:rect l="l" t="t" r="r" b="b"/>
              <a:pathLst>
                <a:path w="3238500" h="2286000">
                  <a:moveTo>
                    <a:pt x="0" y="2286000"/>
                  </a:moveTo>
                  <a:lnTo>
                    <a:pt x="3238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715500" y="5334000"/>
              <a:ext cx="2476500" cy="1524000"/>
            </a:xfrm>
            <a:custGeom>
              <a:avLst/>
              <a:gdLst/>
              <a:ahLst/>
              <a:cxnLst/>
              <a:rect l="l" t="t" r="r" b="b"/>
              <a:pathLst>
                <a:path w="2476500" h="1524000">
                  <a:moveTo>
                    <a:pt x="0" y="152400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10477500" y="6096000"/>
              <a:ext cx="1714500" cy="762000"/>
            </a:xfrm>
            <a:custGeom>
              <a:avLst/>
              <a:gdLst/>
              <a:ahLst/>
              <a:cxnLst/>
              <a:rect l="l" t="t" r="r" b="b"/>
              <a:pathLst>
                <a:path w="1714500" h="762000">
                  <a:moveTo>
                    <a:pt x="0" y="76200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rgbClr val="F1F2F4"/>
              </a:solidFill>
            </a:ln>
          </p:spPr>
        </p:sp>
      </p:grpSp>
      <p:pic>
        <p:nvPicPr>
          <p:cNvPr id="9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381000"/>
            <a:ext cx="1524000" cy="415290"/>
          </a:xfrm>
          <a:prstGeom prst="rect">
            <a:avLst/>
          </a:prstGeom>
        </p:spPr>
      </p:pic>
      <p:sp>
        <p:nvSpPr>
          <p:cNvPr id="10" name="closing-statement"/>
          <p:cNvSpPr txBox="1"/>
          <p:nvPr/>
        </p:nvSpPr>
        <p:spPr>
          <a:xfrm>
            <a:off x="1346311" y="2895600"/>
            <a:ext cx="9499377" cy="5574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8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让每个人都能安全、高效地与数据对话</a:t>
            </a:r>
          </a:p>
        </p:txBody>
      </p:sp>
      <p:sp>
        <p:nvSpPr>
          <p:cNvPr id="11" name="closing-rule"/>
          <p:cNvSpPr/>
          <p:nvPr/>
        </p:nvSpPr>
        <p:spPr>
          <a:xfrm>
            <a:off x="5638800" y="3543300"/>
            <a:ext cx="9144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609600" y="6419850"/>
            <a:ext cx="10972800" cy="9525"/>
          </a:xfrm>
          <a:custGeom>
            <a:avLst/>
            <a:gdLst/>
            <a:ahLst/>
            <a:cxnLst/>
            <a:rect l="l" t="t" r="r" b="b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chemeClr val="accent6"/>
            </a:solidFill>
          </a:ln>
        </p:spPr>
      </p:sp>
      <p:sp>
        <p:nvSpPr>
          <p:cNvPr id="13" name="footer-text"/>
          <p:cNvSpPr txBox="1"/>
          <p:nvPr/>
        </p:nvSpPr>
        <p:spPr>
          <a:xfrm>
            <a:off x="604266" y="6540500"/>
            <a:ext cx="22942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DataMind · 数据库 Agent Web 应用</a:t>
            </a:r>
          </a:p>
        </p:txBody>
      </p:sp>
      <p:sp>
        <p:nvSpPr>
          <p:cNvPr id="14" name="page-number"/>
          <p:cNvSpPr txBox="1"/>
          <p:nvPr/>
        </p:nvSpPr>
        <p:spPr>
          <a:xfrm>
            <a:off x="11421580" y="6540500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24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atamind_template">
  <a:themeElements>
    <a:clrScheme name="datamind_template">
      <a:dk1>
        <a:srgbClr val="1F2937"/>
      </a:dk1>
      <a:lt1>
        <a:srgbClr val="FFFFFF"/>
      </a:lt1>
      <a:dk2>
        <a:srgbClr val="1F2937"/>
      </a:dk2>
      <a:lt2>
        <a:srgbClr val="F9FAFB"/>
      </a:lt2>
      <a:accent1>
        <a:srgbClr val="8B0000"/>
      </a:accent1>
      <a:accent2>
        <a:srgbClr val="1F2937"/>
      </a:accent2>
      <a:accent3>
        <a:srgbClr val="6B7280"/>
      </a:accent3>
      <a:accent4>
        <a:srgbClr val="8B0000"/>
      </a:accent4>
      <a:accent5>
        <a:srgbClr val="6B7280"/>
      </a:accent5>
      <a:accent6>
        <a:srgbClr val="E5E7EB"/>
      </a:accent6>
      <a:hlink>
        <a:srgbClr val="1F2937"/>
      </a:hlink>
      <a:folHlink>
        <a:srgbClr val="6B7280"/>
      </a:folHlink>
    </a:clrScheme>
    <a:fontScheme name="datamind_templat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tamind_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atamind_template">
  <a:themeElements>
    <a:clrScheme name="datamind_template">
      <a:dk1>
        <a:srgbClr val="1F2937"/>
      </a:dk1>
      <a:lt1>
        <a:srgbClr val="FFFFFF"/>
      </a:lt1>
      <a:dk2>
        <a:srgbClr val="1F2937"/>
      </a:dk2>
      <a:lt2>
        <a:srgbClr val="F9FAFB"/>
      </a:lt2>
      <a:accent1>
        <a:srgbClr val="8B0000"/>
      </a:accent1>
      <a:accent2>
        <a:srgbClr val="1F2937"/>
      </a:accent2>
      <a:accent3>
        <a:srgbClr val="6B7280"/>
      </a:accent3>
      <a:accent4>
        <a:srgbClr val="8B0000"/>
      </a:accent4>
      <a:accent5>
        <a:srgbClr val="6B7280"/>
      </a:accent5>
      <a:accent6>
        <a:srgbClr val="E5E7EB"/>
      </a:accent6>
      <a:hlink>
        <a:srgbClr val="1F2937"/>
      </a:hlink>
      <a:folHlink>
        <a:srgbClr val="6B7280"/>
      </a:folHlink>
    </a:clrScheme>
    <a:fontScheme name="datamind_template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tamind_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2026-10-14T15:09:52Z</dcterms:created>
  <dcterms:modified xsi:type="dcterms:W3CDTF">2026-10-14T15:09:52Z</dcterms:modified>
  <cp:category/>
  <cp:contentStatus/>
</cp:coreProperties>
</file>