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64" r:id="rId11"/>
    <p:sldId id="266" r:id="rId12"/>
    <p:sldId id="284" r:id="rId13"/>
    <p:sldId id="267" r:id="rId14"/>
    <p:sldId id="283" r:id="rId15"/>
    <p:sldId id="268" r:id="rId16"/>
    <p:sldId id="270" r:id="rId17"/>
    <p:sldId id="274" r:id="rId18"/>
    <p:sldId id="285" r:id="rId19"/>
    <p:sldId id="286" r:id="rId20"/>
    <p:sldId id="277" r:id="rId21"/>
    <p:sldId id="278" r:id="rId22"/>
    <p:sldId id="279" r:id="rId2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00"/>
    <a:srgbClr val="E3F3E8"/>
    <a:srgbClr val="FBEBDC"/>
    <a:srgbClr val="DFF1FB"/>
    <a:srgbClr val="8DA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67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0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52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64C9-C6CB-D85D-50A3-31FDD88A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DEB85-12FD-BE19-DF44-C4D7206B2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C8CF2-F451-2214-409F-5268F1A79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1EA6-9FB3-0145-CDB8-0585DF2A1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13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A2E9-C9F8-B39D-3D28-0529FC28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90A12-FB40-6EBB-7502-F990DFE6B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78E67-755A-1277-4CA9-D47BD1894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91CC0-7321-FBD3-2469-2B6B71882F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2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8C81-F222-C15D-0951-B22B796F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B27C2-A7BB-7017-F48C-4E2FD151D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7165B-4763-A53D-8C8D-2CBF58297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3CE45-285C-F1A9-3B0B-8339676A0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18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B4BC-FA3F-9006-ABFC-3FE94AD1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5D2D5-EF9B-ACD9-B4E4-4743A75B7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91E66-B7A8-E813-29CD-B65AD2E39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D2B1B-6F91-109D-CF14-EBF15470E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93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9482-3860-CADC-1262-F35B5B14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ADDC0-4778-1187-A10C-010F47CDD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D32B3-4127-532A-797F-7A1634D5D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119C3-416B-19B4-75DC-3B091FFF8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64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265D2-457A-E0D4-46E2-7868EDC9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90B47-A4C9-6BA7-38BE-25CC590F3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4E3DF-837A-B6D3-312F-7C18D64E8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E8087-E0BE-48D3-FDC8-FC01D69F8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0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57" y="635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F293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952875" y="2614613"/>
            <a:ext cx="4286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审核流程智能化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0" y="36337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3609975" y="3976687"/>
            <a:ext cx="4972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智能审单系统驱动运营效率提升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3776" y="49863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643338" y="496728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汇报人：刘瑶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4026" y="49863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643589" y="4967288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2026年2月9日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TABLE OF CONTENTS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目录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BA2316F-4B27-BFFD-9D89-3C0AE08F2FB8}"/>
              </a:ext>
            </a:extLst>
          </p:cNvPr>
          <p:cNvGrpSpPr/>
          <p:nvPr/>
        </p:nvGrpSpPr>
        <p:grpSpPr>
          <a:xfrm>
            <a:off x="1005531" y="1762125"/>
            <a:ext cx="5514975" cy="762000"/>
            <a:chOff x="390525" y="1762125"/>
            <a:chExt cx="5514975" cy="762000"/>
          </a:xfrm>
        </p:grpSpPr>
        <p:sp>
          <p:nvSpPr>
            <p:cNvPr id="5" name="Shape 3"/>
            <p:cNvSpPr/>
            <p:nvPr/>
          </p:nvSpPr>
          <p:spPr>
            <a:xfrm>
              <a:off x="390525" y="1762125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80430" y="1943100"/>
              <a:ext cx="5334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8B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01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371600" y="1828800"/>
              <a:ext cx="4533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系统创建背景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371600" y="2247900"/>
              <a:ext cx="4505325" cy="276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 dirty="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传统审核流程的挑战与智能化转型的必要性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EBDBD6F-7D1F-3FD4-B500-1CB1A0497414}"/>
              </a:ext>
            </a:extLst>
          </p:cNvPr>
          <p:cNvGrpSpPr/>
          <p:nvPr/>
        </p:nvGrpSpPr>
        <p:grpSpPr>
          <a:xfrm>
            <a:off x="1005531" y="2946855"/>
            <a:ext cx="5514975" cy="762000"/>
            <a:chOff x="6410325" y="1762125"/>
            <a:chExt cx="5514975" cy="762000"/>
          </a:xfrm>
        </p:grpSpPr>
        <p:sp>
          <p:nvSpPr>
            <p:cNvPr id="9" name="Shape 7"/>
            <p:cNvSpPr/>
            <p:nvPr/>
          </p:nvSpPr>
          <p:spPr>
            <a:xfrm>
              <a:off x="6410325" y="1762125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578203" y="1943100"/>
              <a:ext cx="5810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rgbClr val="8B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02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391400" y="1828800"/>
              <a:ext cx="4533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系统介绍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391400" y="2247900"/>
              <a:ext cx="4505325" cy="276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zh-CN" altLang="en-US" sz="13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从工具化、组件化、智能化三个角度介绍系统的功能模块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19AA7B9-F2EF-17A3-E3E1-421CE7F0C5D7}"/>
              </a:ext>
            </a:extLst>
          </p:cNvPr>
          <p:cNvGrpSpPr/>
          <p:nvPr/>
        </p:nvGrpSpPr>
        <p:grpSpPr>
          <a:xfrm>
            <a:off x="1005531" y="4149504"/>
            <a:ext cx="5514975" cy="762000"/>
            <a:chOff x="368712" y="3863068"/>
            <a:chExt cx="5514975" cy="762000"/>
          </a:xfrm>
        </p:grpSpPr>
        <p:sp>
          <p:nvSpPr>
            <p:cNvPr id="17" name="Shape 15"/>
            <p:cNvSpPr/>
            <p:nvPr/>
          </p:nvSpPr>
          <p:spPr>
            <a:xfrm>
              <a:off x="368712" y="3863068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36789" y="4044043"/>
              <a:ext cx="58102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>
                  <a:solidFill>
                    <a:srgbClr val="8B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03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349787" y="3929743"/>
              <a:ext cx="45339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系统优势及</a:t>
              </a:r>
              <a:r>
                <a:rPr lang="zh-CN" altLang="en-US" sz="18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推广</a:t>
              </a:r>
              <a:r>
                <a:rPr lang="en-US" sz="18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价值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349787" y="4348843"/>
              <a:ext cx="4505325" cy="276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系统的技术优势与业务推广价值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Shape 19"/>
          <p:cNvSpPr/>
          <p:nvPr/>
        </p:nvSpPr>
        <p:spPr>
          <a:xfrm>
            <a:off x="1005531" y="5316316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0" y="0"/>
                </a:moveTo>
                <a:lnTo>
                  <a:pt x="742950" y="0"/>
                </a:lnTo>
                <a:lnTo>
                  <a:pt x="74295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3409" y="5497291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04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86606" y="5382991"/>
            <a:ext cx="1055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系统未来规划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86606" y="5802091"/>
            <a:ext cx="10525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3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业务场景扩展与系统功能提升</a:t>
            </a:r>
          </a:p>
        </p:txBody>
      </p:sp>
      <p:pic>
        <p:nvPicPr>
          <p:cNvPr id="25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00050" y="1825228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1783" y="2053828"/>
            <a:ext cx="895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01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52600" y="1958578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177778"/>
            <a:ext cx="1177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系统创建背景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4168378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" y="45874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传统审核流程的挑战与智能化转型的必要性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1.1 BUSINESS PAIN POINTS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业务痛点剖析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24E9F8F-9EF0-D95B-32E0-F6B0197408A5}"/>
              </a:ext>
            </a:extLst>
          </p:cNvPr>
          <p:cNvGrpSpPr/>
          <p:nvPr/>
        </p:nvGrpSpPr>
        <p:grpSpPr>
          <a:xfrm>
            <a:off x="6799953" y="1447800"/>
            <a:ext cx="3743325" cy="2047875"/>
            <a:chOff x="400050" y="1447800"/>
            <a:chExt cx="3743325" cy="2047875"/>
          </a:xfrm>
        </p:grpSpPr>
        <p:sp>
          <p:nvSpPr>
            <p:cNvPr id="5" name="Shape 3"/>
            <p:cNvSpPr/>
            <p:nvPr/>
          </p:nvSpPr>
          <p:spPr>
            <a:xfrm>
              <a:off x="400050" y="1447800"/>
              <a:ext cx="38100" cy="2047875"/>
            </a:xfrm>
            <a:custGeom>
              <a:avLst/>
              <a:gdLst/>
              <a:ahLst/>
              <a:cxnLst/>
              <a:rect l="l" t="t" r="r" b="b"/>
              <a:pathLst>
                <a:path w="38100" h="2047875">
                  <a:moveTo>
                    <a:pt x="0" y="0"/>
                  </a:moveTo>
                  <a:lnTo>
                    <a:pt x="38100" y="0"/>
                  </a:lnTo>
                  <a:lnTo>
                    <a:pt x="38100" y="2047875"/>
                  </a:lnTo>
                  <a:lnTo>
                    <a:pt x="0" y="2047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609600" y="1600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719138" y="1733550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50750" y="47625"/>
                  </a:moveTo>
                  <a:cubicBezTo>
                    <a:pt x="50750" y="31674"/>
                    <a:pt x="59260" y="16934"/>
                    <a:pt x="73075" y="8958"/>
                  </a:cubicBezTo>
                  <a:cubicBezTo>
                    <a:pt x="86889" y="983"/>
                    <a:pt x="103909" y="983"/>
                    <a:pt x="117723" y="8958"/>
                  </a:cubicBezTo>
                  <a:cubicBezTo>
                    <a:pt x="131537" y="16934"/>
                    <a:pt x="140047" y="31674"/>
                    <a:pt x="140047" y="47625"/>
                  </a:cubicBezTo>
                  <a:cubicBezTo>
                    <a:pt x="140047" y="72267"/>
                    <a:pt x="120041" y="92273"/>
                    <a:pt x="95399" y="92273"/>
                  </a:cubicBezTo>
                  <a:cubicBezTo>
                    <a:pt x="70757" y="92273"/>
                    <a:pt x="50750" y="72267"/>
                    <a:pt x="50750" y="47625"/>
                  </a:cubicBezTo>
                  <a:close/>
                  <a:moveTo>
                    <a:pt x="18008" y="179450"/>
                  </a:moveTo>
                  <a:cubicBezTo>
                    <a:pt x="18008" y="142801"/>
                    <a:pt x="47699" y="113109"/>
                    <a:pt x="84348" y="113109"/>
                  </a:cubicBezTo>
                  <a:lnTo>
                    <a:pt x="106449" y="113109"/>
                  </a:lnTo>
                  <a:cubicBezTo>
                    <a:pt x="143098" y="113109"/>
                    <a:pt x="172789" y="142801"/>
                    <a:pt x="172789" y="179450"/>
                  </a:cubicBezTo>
                  <a:cubicBezTo>
                    <a:pt x="172789" y="185551"/>
                    <a:pt x="167841" y="190500"/>
                    <a:pt x="161739" y="190500"/>
                  </a:cubicBezTo>
                  <a:lnTo>
                    <a:pt x="29059" y="190500"/>
                  </a:lnTo>
                  <a:cubicBezTo>
                    <a:pt x="22957" y="190500"/>
                    <a:pt x="18008" y="185551"/>
                    <a:pt x="18008" y="179450"/>
                  </a:cubicBezTo>
                  <a:close/>
                  <a:moveTo>
                    <a:pt x="227819" y="46174"/>
                  </a:moveTo>
                  <a:cubicBezTo>
                    <a:pt x="231316" y="49671"/>
                    <a:pt x="231316" y="55327"/>
                    <a:pt x="227819" y="58787"/>
                  </a:cubicBezTo>
                  <a:lnTo>
                    <a:pt x="215205" y="71400"/>
                  </a:lnTo>
                  <a:lnTo>
                    <a:pt x="227819" y="84013"/>
                  </a:lnTo>
                  <a:cubicBezTo>
                    <a:pt x="231316" y="87511"/>
                    <a:pt x="231316" y="93166"/>
                    <a:pt x="227819" y="96627"/>
                  </a:cubicBezTo>
                  <a:cubicBezTo>
                    <a:pt x="224321" y="100087"/>
                    <a:pt x="218666" y="100124"/>
                    <a:pt x="215205" y="96627"/>
                  </a:cubicBezTo>
                  <a:lnTo>
                    <a:pt x="202592" y="84013"/>
                  </a:lnTo>
                  <a:lnTo>
                    <a:pt x="189979" y="96627"/>
                  </a:lnTo>
                  <a:cubicBezTo>
                    <a:pt x="186482" y="100124"/>
                    <a:pt x="180826" y="100124"/>
                    <a:pt x="177366" y="96627"/>
                  </a:cubicBezTo>
                  <a:cubicBezTo>
                    <a:pt x="173906" y="93129"/>
                    <a:pt x="173868" y="87474"/>
                    <a:pt x="177366" y="84013"/>
                  </a:cubicBezTo>
                  <a:lnTo>
                    <a:pt x="189979" y="71400"/>
                  </a:lnTo>
                  <a:lnTo>
                    <a:pt x="177366" y="58787"/>
                  </a:lnTo>
                  <a:cubicBezTo>
                    <a:pt x="173868" y="55290"/>
                    <a:pt x="173868" y="49634"/>
                    <a:pt x="177366" y="46174"/>
                  </a:cubicBezTo>
                  <a:cubicBezTo>
                    <a:pt x="180863" y="42714"/>
                    <a:pt x="186519" y="42676"/>
                    <a:pt x="189979" y="46174"/>
                  </a:cubicBezTo>
                  <a:lnTo>
                    <a:pt x="202592" y="58787"/>
                  </a:lnTo>
                  <a:lnTo>
                    <a:pt x="215205" y="46174"/>
                  </a:lnTo>
                  <a:cubicBezTo>
                    <a:pt x="218703" y="42676"/>
                    <a:pt x="224358" y="42676"/>
                    <a:pt x="227819" y="4617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181100" y="1695450"/>
              <a:ext cx="12382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人工审核局限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09600" y="2209800"/>
              <a:ext cx="3533775" cy="742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审核质量高度依赖个人业务能力，缺乏统一标准，不同审核人员之间存在显著差异，难以保证审核结果的一致性和可靠性。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CE32D18-8C49-17A0-F2D5-A4FF2F5B0A33}"/>
              </a:ext>
            </a:extLst>
          </p:cNvPr>
          <p:cNvGrpSpPr/>
          <p:nvPr/>
        </p:nvGrpSpPr>
        <p:grpSpPr>
          <a:xfrm>
            <a:off x="406375" y="1447800"/>
            <a:ext cx="3743325" cy="2047875"/>
            <a:chOff x="4273550" y="1447800"/>
            <a:chExt cx="3743325" cy="2047875"/>
          </a:xfrm>
        </p:grpSpPr>
        <p:sp>
          <p:nvSpPr>
            <p:cNvPr id="10" name="Shape 8"/>
            <p:cNvSpPr/>
            <p:nvPr/>
          </p:nvSpPr>
          <p:spPr>
            <a:xfrm>
              <a:off x="4273550" y="1447800"/>
              <a:ext cx="38100" cy="2047875"/>
            </a:xfrm>
            <a:custGeom>
              <a:avLst/>
              <a:gdLst/>
              <a:ahLst/>
              <a:cxnLst/>
              <a:rect l="l" t="t" r="r" b="b"/>
              <a:pathLst>
                <a:path w="38100" h="2047875">
                  <a:moveTo>
                    <a:pt x="0" y="0"/>
                  </a:moveTo>
                  <a:lnTo>
                    <a:pt x="38100" y="0"/>
                  </a:lnTo>
                  <a:lnTo>
                    <a:pt x="38100" y="2047875"/>
                  </a:lnTo>
                  <a:lnTo>
                    <a:pt x="0" y="2047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4483100" y="1600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4616450" y="17335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23812" y="23812"/>
                  </a:moveTo>
                  <a:cubicBezTo>
                    <a:pt x="23812" y="17227"/>
                    <a:pt x="18492" y="11906"/>
                    <a:pt x="11906" y="11906"/>
                  </a:cubicBezTo>
                  <a:cubicBezTo>
                    <a:pt x="5321" y="11906"/>
                    <a:pt x="0" y="17227"/>
                    <a:pt x="0" y="23812"/>
                  </a:cubicBezTo>
                  <a:lnTo>
                    <a:pt x="0" y="148828"/>
                  </a:lnTo>
                  <a:cubicBezTo>
                    <a:pt x="0" y="165274"/>
                    <a:pt x="13320" y="178594"/>
                    <a:pt x="29766" y="178594"/>
                  </a:cubicBezTo>
                  <a:lnTo>
                    <a:pt x="178594" y="178594"/>
                  </a:lnTo>
                  <a:cubicBezTo>
                    <a:pt x="185179" y="178594"/>
                    <a:pt x="190500" y="173273"/>
                    <a:pt x="190500" y="166688"/>
                  </a:cubicBezTo>
                  <a:cubicBezTo>
                    <a:pt x="190500" y="160102"/>
                    <a:pt x="185179" y="154781"/>
                    <a:pt x="178594" y="154781"/>
                  </a:cubicBezTo>
                  <a:lnTo>
                    <a:pt x="29766" y="154781"/>
                  </a:lnTo>
                  <a:cubicBezTo>
                    <a:pt x="26491" y="154781"/>
                    <a:pt x="23812" y="152102"/>
                    <a:pt x="23812" y="148828"/>
                  </a:cubicBezTo>
                  <a:lnTo>
                    <a:pt x="23812" y="23812"/>
                  </a:lnTo>
                  <a:close/>
                  <a:moveTo>
                    <a:pt x="175096" y="56034"/>
                  </a:moveTo>
                  <a:cubicBezTo>
                    <a:pt x="179747" y="51383"/>
                    <a:pt x="179747" y="43830"/>
                    <a:pt x="175096" y="39179"/>
                  </a:cubicBezTo>
                  <a:cubicBezTo>
                    <a:pt x="170445" y="34528"/>
                    <a:pt x="162892" y="34528"/>
                    <a:pt x="158242" y="39179"/>
                  </a:cubicBezTo>
                  <a:lnTo>
                    <a:pt x="119063" y="78395"/>
                  </a:lnTo>
                  <a:lnTo>
                    <a:pt x="97706" y="57076"/>
                  </a:lnTo>
                  <a:cubicBezTo>
                    <a:pt x="93055" y="52425"/>
                    <a:pt x="85502" y="52425"/>
                    <a:pt x="80851" y="57076"/>
                  </a:cubicBezTo>
                  <a:lnTo>
                    <a:pt x="45132" y="92794"/>
                  </a:lnTo>
                  <a:cubicBezTo>
                    <a:pt x="40481" y="97445"/>
                    <a:pt x="40481" y="104998"/>
                    <a:pt x="45132" y="109649"/>
                  </a:cubicBezTo>
                  <a:cubicBezTo>
                    <a:pt x="49783" y="114300"/>
                    <a:pt x="57336" y="114300"/>
                    <a:pt x="61987" y="109649"/>
                  </a:cubicBezTo>
                  <a:lnTo>
                    <a:pt x="89297" y="82339"/>
                  </a:lnTo>
                  <a:lnTo>
                    <a:pt x="110654" y="103696"/>
                  </a:lnTo>
                  <a:cubicBezTo>
                    <a:pt x="115305" y="108347"/>
                    <a:pt x="122858" y="108347"/>
                    <a:pt x="127508" y="103696"/>
                  </a:cubicBezTo>
                  <a:lnTo>
                    <a:pt x="175133" y="56071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5054600" y="1695450"/>
              <a:ext cx="10477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交易量激增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483100" y="2209800"/>
              <a:ext cx="3533775" cy="742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业务种类与交易量快速增长，高峰时段交易易排队积压，</a:t>
              </a:r>
              <a:r>
                <a:rPr 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人工审核效率难以满足业务发展需求，</a:t>
              </a: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造成</a:t>
              </a:r>
              <a:r>
                <a:rPr 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业务瓶颈</a:t>
              </a:r>
              <a:r>
                <a:rPr lang="en-US" sz="1200" dirty="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。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2819A7A-7814-3A9A-8E0E-86A33CA9F760}"/>
              </a:ext>
            </a:extLst>
          </p:cNvPr>
          <p:cNvGrpSpPr/>
          <p:nvPr/>
        </p:nvGrpSpPr>
        <p:grpSpPr>
          <a:xfrm>
            <a:off x="6811737" y="3653961"/>
            <a:ext cx="3743325" cy="2047875"/>
            <a:chOff x="6811737" y="3624933"/>
            <a:chExt cx="3743325" cy="2047875"/>
          </a:xfrm>
        </p:grpSpPr>
        <p:sp>
          <p:nvSpPr>
            <p:cNvPr id="15" name="Shape 13"/>
            <p:cNvSpPr/>
            <p:nvPr/>
          </p:nvSpPr>
          <p:spPr>
            <a:xfrm>
              <a:off x="6811737" y="3624933"/>
              <a:ext cx="38100" cy="2047875"/>
            </a:xfrm>
            <a:custGeom>
              <a:avLst/>
              <a:gdLst/>
              <a:ahLst/>
              <a:cxnLst/>
              <a:rect l="l" t="t" r="r" b="b"/>
              <a:pathLst>
                <a:path w="38100" h="2047875">
                  <a:moveTo>
                    <a:pt x="0" y="0"/>
                  </a:moveTo>
                  <a:lnTo>
                    <a:pt x="38100" y="0"/>
                  </a:lnTo>
                  <a:lnTo>
                    <a:pt x="38100" y="2047875"/>
                  </a:lnTo>
                  <a:lnTo>
                    <a:pt x="0" y="2047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7021287" y="377733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7154637" y="391068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00719" y="0"/>
                    <a:pt x="105742" y="3014"/>
                    <a:pt x="108347" y="7813"/>
                  </a:cubicBezTo>
                  <a:lnTo>
                    <a:pt x="188714" y="156642"/>
                  </a:lnTo>
                  <a:cubicBezTo>
                    <a:pt x="191207" y="161255"/>
                    <a:pt x="191095" y="166836"/>
                    <a:pt x="188416" y="171338"/>
                  </a:cubicBezTo>
                  <a:cubicBezTo>
                    <a:pt x="185737" y="175840"/>
                    <a:pt x="180863" y="178594"/>
                    <a:pt x="175617" y="178594"/>
                  </a:cubicBezTo>
                  <a:lnTo>
                    <a:pt x="14883" y="178594"/>
                  </a:lnTo>
                  <a:cubicBezTo>
                    <a:pt x="9637" y="178594"/>
                    <a:pt x="4800" y="175840"/>
                    <a:pt x="2084" y="171338"/>
                  </a:cubicBezTo>
                  <a:cubicBezTo>
                    <a:pt x="-633" y="166836"/>
                    <a:pt x="-707" y="161255"/>
                    <a:pt x="1786" y="156642"/>
                  </a:cubicBezTo>
                  <a:lnTo>
                    <a:pt x="82153" y="7813"/>
                  </a:lnTo>
                  <a:cubicBezTo>
                    <a:pt x="84758" y="3014"/>
                    <a:pt x="89781" y="0"/>
                    <a:pt x="95250" y="0"/>
                  </a:cubicBezTo>
                  <a:close/>
                  <a:moveTo>
                    <a:pt x="95250" y="62508"/>
                  </a:moveTo>
                  <a:cubicBezTo>
                    <a:pt x="90301" y="62508"/>
                    <a:pt x="86320" y="66489"/>
                    <a:pt x="86320" y="71438"/>
                  </a:cubicBezTo>
                  <a:lnTo>
                    <a:pt x="86320" y="113109"/>
                  </a:lnTo>
                  <a:cubicBezTo>
                    <a:pt x="86320" y="118058"/>
                    <a:pt x="90301" y="122039"/>
                    <a:pt x="95250" y="122039"/>
                  </a:cubicBezTo>
                  <a:cubicBezTo>
                    <a:pt x="100199" y="122039"/>
                    <a:pt x="104180" y="118058"/>
                    <a:pt x="104180" y="113109"/>
                  </a:cubicBezTo>
                  <a:lnTo>
                    <a:pt x="104180" y="71438"/>
                  </a:lnTo>
                  <a:cubicBezTo>
                    <a:pt x="104180" y="66489"/>
                    <a:pt x="100199" y="62508"/>
                    <a:pt x="95250" y="62508"/>
                  </a:cubicBezTo>
                  <a:close/>
                  <a:moveTo>
                    <a:pt x="105184" y="142875"/>
                  </a:moveTo>
                  <a:cubicBezTo>
                    <a:pt x="105410" y="139188"/>
                    <a:pt x="103571" y="135679"/>
                    <a:pt x="100410" y="133767"/>
                  </a:cubicBezTo>
                  <a:cubicBezTo>
                    <a:pt x="97249" y="131855"/>
                    <a:pt x="93288" y="131855"/>
                    <a:pt x="90127" y="133767"/>
                  </a:cubicBezTo>
                  <a:cubicBezTo>
                    <a:pt x="86966" y="135679"/>
                    <a:pt x="85127" y="139188"/>
                    <a:pt x="85353" y="142875"/>
                  </a:cubicBezTo>
                  <a:cubicBezTo>
                    <a:pt x="85127" y="146562"/>
                    <a:pt x="86966" y="150071"/>
                    <a:pt x="90127" y="151983"/>
                  </a:cubicBezTo>
                  <a:cubicBezTo>
                    <a:pt x="93288" y="153895"/>
                    <a:pt x="97249" y="153895"/>
                    <a:pt x="100410" y="151983"/>
                  </a:cubicBezTo>
                  <a:cubicBezTo>
                    <a:pt x="103571" y="150071"/>
                    <a:pt x="105410" y="146562"/>
                    <a:pt x="105184" y="14287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7592787" y="3872583"/>
              <a:ext cx="8572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退件率高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021287" y="4386933"/>
              <a:ext cx="3533775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退件率居高不下，造成人力和时间资源的严重浪费，影响客户体验，增加业务运营成本。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Shape 18"/>
          <p:cNvSpPr/>
          <p:nvPr/>
        </p:nvSpPr>
        <p:spPr>
          <a:xfrm>
            <a:off x="400050" y="3686175"/>
            <a:ext cx="38100" cy="2047875"/>
          </a:xfrm>
          <a:custGeom>
            <a:avLst/>
            <a:gdLst/>
            <a:ahLst/>
            <a:cxnLst/>
            <a:rect l="l" t="t" r="r" b="b"/>
            <a:pathLst>
              <a:path w="38100" h="2047875">
                <a:moveTo>
                  <a:pt x="0" y="0"/>
                </a:moveTo>
                <a:lnTo>
                  <a:pt x="38100" y="0"/>
                </a:lnTo>
                <a:lnTo>
                  <a:pt x="38100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3838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138" y="39719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39338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规则管理缺失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9600" y="4448175"/>
            <a:ext cx="3533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缺乏统一的规则管理体系和审核记录机制，风险控制难度大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，难以实现规则的标准化管理。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0050" y="5924550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0" y="0"/>
                </a:moveTo>
                <a:lnTo>
                  <a:pt x="11410950" y="0"/>
                </a:lnTo>
                <a:lnTo>
                  <a:pt x="1141095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59245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09600" y="6076950"/>
            <a:ext cx="11277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核心问题</a:t>
            </a:r>
            <a:r>
              <a:rPr lang="en-US" sz="12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：</a:t>
            </a:r>
            <a:r>
              <a:rPr lang="en-US" sz="120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传统人工审核模式已无法满足业务发展需求</a:t>
            </a: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，亟需通过智能化手段提升审核效率</a:t>
            </a:r>
            <a:r>
              <a:rPr lang="en-US" sz="120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、规范审核标准。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3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1.2 SOLUTION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解决方案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50975"/>
            <a:ext cx="6591300" cy="1571625"/>
          </a:xfrm>
          <a:custGeom>
            <a:avLst/>
            <a:gdLst/>
            <a:ahLst/>
            <a:cxnLst/>
            <a:rect l="l" t="t" r="r" b="b"/>
            <a:pathLst>
              <a:path w="3390900" h="2400300">
                <a:moveTo>
                  <a:pt x="0" y="0"/>
                </a:moveTo>
                <a:lnTo>
                  <a:pt x="3390900" y="0"/>
                </a:lnTo>
                <a:lnTo>
                  <a:pt x="3390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55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57238" y="1809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17907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规则库建设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300" y="2222500"/>
            <a:ext cx="596179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通过配置化方式建立统一的审核规则库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，实现规则的标准化管理，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确保审核标准的一致性和可追溯性。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3225" y="3178175"/>
            <a:ext cx="6591300" cy="1571625"/>
          </a:xfrm>
          <a:custGeom>
            <a:avLst/>
            <a:gdLst/>
            <a:ahLst/>
            <a:cxnLst/>
            <a:rect l="l" t="t" r="r" b="b"/>
            <a:pathLst>
              <a:path w="3390900" h="2400300">
                <a:moveTo>
                  <a:pt x="0" y="0"/>
                </a:moveTo>
                <a:lnTo>
                  <a:pt x="3390900" y="0"/>
                </a:lnTo>
                <a:lnTo>
                  <a:pt x="3390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250" y="3378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50949" y="3511550"/>
            <a:ext cx="1304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智能审核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3943350"/>
            <a:ext cx="596179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结合</a:t>
            </a:r>
            <a:r>
              <a: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OCR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、规则引擎、大模型技术，对规则进行智能计算并提供审核建议，辅助人工决策，提高审核效率与质量。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3225" y="4930775"/>
            <a:ext cx="6591300" cy="1571625"/>
          </a:xfrm>
          <a:custGeom>
            <a:avLst/>
            <a:gdLst/>
            <a:ahLst/>
            <a:cxnLst/>
            <a:rect l="l" t="t" r="r" b="b"/>
            <a:pathLst>
              <a:path w="3390900" h="2400300">
                <a:moveTo>
                  <a:pt x="0" y="0"/>
                </a:moveTo>
                <a:lnTo>
                  <a:pt x="3390900" y="0"/>
                </a:lnTo>
                <a:lnTo>
                  <a:pt x="3390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250" y="5130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69938" y="5283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77376"/>
                </a:lnTo>
                <a:cubicBezTo>
                  <a:pt x="200025" y="69786"/>
                  <a:pt x="197034" y="62508"/>
                  <a:pt x="191676" y="57150"/>
                </a:cubicBezTo>
                <a:lnTo>
                  <a:pt x="157163" y="22637"/>
                </a:lnTo>
                <a:cubicBezTo>
                  <a:pt x="151805" y="17279"/>
                  <a:pt x="144527" y="14288"/>
                  <a:pt x="136937" y="14288"/>
                </a:cubicBezTo>
                <a:lnTo>
                  <a:pt x="28575" y="14288"/>
                </a:lnTo>
                <a:close/>
                <a:moveTo>
                  <a:pt x="42863" y="57150"/>
                </a:moveTo>
                <a:cubicBezTo>
                  <a:pt x="42863" y="49247"/>
                  <a:pt x="49247" y="42863"/>
                  <a:pt x="57150" y="42863"/>
                </a:cubicBezTo>
                <a:lnTo>
                  <a:pt x="128588" y="42863"/>
                </a:lnTo>
                <a:cubicBezTo>
                  <a:pt x="136490" y="42863"/>
                  <a:pt x="142875" y="49247"/>
                  <a:pt x="142875" y="57150"/>
                </a:cubicBezTo>
                <a:lnTo>
                  <a:pt x="142875" y="85725"/>
                </a:lnTo>
                <a:cubicBezTo>
                  <a:pt x="142875" y="93628"/>
                  <a:pt x="136490" y="100013"/>
                  <a:pt x="128588" y="100013"/>
                </a:cubicBezTo>
                <a:lnTo>
                  <a:pt x="57150" y="100013"/>
                </a:lnTo>
                <a:cubicBezTo>
                  <a:pt x="49247" y="100013"/>
                  <a:pt x="42863" y="93628"/>
                  <a:pt x="42863" y="85725"/>
                </a:cubicBezTo>
                <a:lnTo>
                  <a:pt x="42863" y="57150"/>
                </a:lnTo>
                <a:close/>
                <a:moveTo>
                  <a:pt x="100013" y="128588"/>
                </a:moveTo>
                <a:cubicBezTo>
                  <a:pt x="115783" y="128588"/>
                  <a:pt x="128588" y="141392"/>
                  <a:pt x="128588" y="157163"/>
                </a:cubicBezTo>
                <a:cubicBezTo>
                  <a:pt x="128588" y="172933"/>
                  <a:pt x="115783" y="185738"/>
                  <a:pt x="100013" y="185738"/>
                </a:cubicBezTo>
                <a:cubicBezTo>
                  <a:pt x="84242" y="185738"/>
                  <a:pt x="71438" y="172933"/>
                  <a:pt x="71438" y="157163"/>
                </a:cubicBezTo>
                <a:cubicBezTo>
                  <a:pt x="71438" y="141392"/>
                  <a:pt x="84242" y="128588"/>
                  <a:pt x="100013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0950" y="52641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保存审核细节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2000" y="5695950"/>
            <a:ext cx="596179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完整保存规则计算结果和审核细节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，实现审核过程的可追溯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化。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39050" y="1466850"/>
            <a:ext cx="4152900" cy="4991100"/>
          </a:xfrm>
          <a:custGeom>
            <a:avLst/>
            <a:gdLst/>
            <a:ahLst/>
            <a:cxnLst/>
            <a:rect l="l" t="t" r="r" b="b"/>
            <a:pathLst>
              <a:path w="4152900" h="4991100">
                <a:moveTo>
                  <a:pt x="0" y="0"/>
                </a:moveTo>
                <a:lnTo>
                  <a:pt x="4152900" y="0"/>
                </a:lnTo>
                <a:lnTo>
                  <a:pt x="4152900" y="4991100"/>
                </a:lnTo>
                <a:lnTo>
                  <a:pt x="0" y="49911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2738438"/>
            <a:ext cx="1143000" cy="914400"/>
          </a:xfrm>
          <a:custGeom>
            <a:avLst/>
            <a:gdLst/>
            <a:ahLst/>
            <a:cxnLst/>
            <a:rect l="l" t="t" r="r" b="b"/>
            <a:pathLst>
              <a:path w="1143000" h="914400">
                <a:moveTo>
                  <a:pt x="628650" y="0"/>
                </a:moveTo>
                <a:cubicBezTo>
                  <a:pt x="628650" y="-31611"/>
                  <a:pt x="603111" y="-57150"/>
                  <a:pt x="571500" y="-57150"/>
                </a:cubicBezTo>
                <a:cubicBezTo>
                  <a:pt x="539889" y="-57150"/>
                  <a:pt x="514350" y="-31611"/>
                  <a:pt x="514350" y="0"/>
                </a:cubicBezTo>
                <a:lnTo>
                  <a:pt x="514350" y="114300"/>
                </a:lnTo>
                <a:lnTo>
                  <a:pt x="342900" y="114300"/>
                </a:lnTo>
                <a:cubicBezTo>
                  <a:pt x="248245" y="114300"/>
                  <a:pt x="171450" y="191095"/>
                  <a:pt x="171450" y="285750"/>
                </a:cubicBezTo>
                <a:lnTo>
                  <a:pt x="171450" y="685800"/>
                </a:lnTo>
                <a:cubicBezTo>
                  <a:pt x="171450" y="780455"/>
                  <a:pt x="248245" y="857250"/>
                  <a:pt x="342900" y="857250"/>
                </a:cubicBezTo>
                <a:lnTo>
                  <a:pt x="800100" y="857250"/>
                </a:lnTo>
                <a:cubicBezTo>
                  <a:pt x="894755" y="857250"/>
                  <a:pt x="971550" y="780455"/>
                  <a:pt x="971550" y="685800"/>
                </a:cubicBezTo>
                <a:lnTo>
                  <a:pt x="971550" y="285750"/>
                </a:lnTo>
                <a:cubicBezTo>
                  <a:pt x="971550" y="191095"/>
                  <a:pt x="894755" y="114300"/>
                  <a:pt x="800100" y="114300"/>
                </a:cubicBezTo>
                <a:lnTo>
                  <a:pt x="628650" y="114300"/>
                </a:lnTo>
                <a:lnTo>
                  <a:pt x="628650" y="0"/>
                </a:lnTo>
                <a:close/>
                <a:moveTo>
                  <a:pt x="285750" y="657225"/>
                </a:moveTo>
                <a:cubicBezTo>
                  <a:pt x="285750" y="633472"/>
                  <a:pt x="304860" y="614363"/>
                  <a:pt x="328613" y="614363"/>
                </a:cubicBezTo>
                <a:lnTo>
                  <a:pt x="385763" y="614363"/>
                </a:lnTo>
                <a:cubicBezTo>
                  <a:pt x="409515" y="614363"/>
                  <a:pt x="428625" y="633472"/>
                  <a:pt x="428625" y="657225"/>
                </a:cubicBezTo>
                <a:cubicBezTo>
                  <a:pt x="428625" y="680978"/>
                  <a:pt x="409515" y="700088"/>
                  <a:pt x="385763" y="700088"/>
                </a:cubicBezTo>
                <a:lnTo>
                  <a:pt x="328613" y="700088"/>
                </a:lnTo>
                <a:cubicBezTo>
                  <a:pt x="304860" y="700088"/>
                  <a:pt x="285750" y="680978"/>
                  <a:pt x="285750" y="657225"/>
                </a:cubicBezTo>
                <a:close/>
                <a:moveTo>
                  <a:pt x="500063" y="657225"/>
                </a:moveTo>
                <a:cubicBezTo>
                  <a:pt x="500063" y="633472"/>
                  <a:pt x="519172" y="614363"/>
                  <a:pt x="542925" y="614363"/>
                </a:cubicBezTo>
                <a:lnTo>
                  <a:pt x="600075" y="614363"/>
                </a:lnTo>
                <a:cubicBezTo>
                  <a:pt x="623828" y="614363"/>
                  <a:pt x="642938" y="633472"/>
                  <a:pt x="642938" y="657225"/>
                </a:cubicBezTo>
                <a:cubicBezTo>
                  <a:pt x="642938" y="680978"/>
                  <a:pt x="623828" y="700088"/>
                  <a:pt x="600075" y="700088"/>
                </a:cubicBezTo>
                <a:lnTo>
                  <a:pt x="542925" y="700088"/>
                </a:lnTo>
                <a:cubicBezTo>
                  <a:pt x="519172" y="700088"/>
                  <a:pt x="500063" y="680978"/>
                  <a:pt x="500063" y="657225"/>
                </a:cubicBezTo>
                <a:close/>
                <a:moveTo>
                  <a:pt x="714375" y="657225"/>
                </a:moveTo>
                <a:cubicBezTo>
                  <a:pt x="714375" y="633472"/>
                  <a:pt x="733485" y="614363"/>
                  <a:pt x="757238" y="614363"/>
                </a:cubicBezTo>
                <a:lnTo>
                  <a:pt x="814388" y="614363"/>
                </a:lnTo>
                <a:cubicBezTo>
                  <a:pt x="838140" y="614363"/>
                  <a:pt x="857250" y="633472"/>
                  <a:pt x="857250" y="657225"/>
                </a:cubicBezTo>
                <a:cubicBezTo>
                  <a:pt x="857250" y="680978"/>
                  <a:pt x="838140" y="700088"/>
                  <a:pt x="814388" y="700088"/>
                </a:cubicBezTo>
                <a:lnTo>
                  <a:pt x="757238" y="700088"/>
                </a:lnTo>
                <a:cubicBezTo>
                  <a:pt x="733485" y="700088"/>
                  <a:pt x="714375" y="680978"/>
                  <a:pt x="714375" y="657225"/>
                </a:cubicBezTo>
                <a:close/>
                <a:moveTo>
                  <a:pt x="400050" y="314325"/>
                </a:moveTo>
                <a:cubicBezTo>
                  <a:pt x="447363" y="314325"/>
                  <a:pt x="485775" y="352737"/>
                  <a:pt x="485775" y="400050"/>
                </a:cubicBezTo>
                <a:cubicBezTo>
                  <a:pt x="485775" y="447363"/>
                  <a:pt x="447363" y="485775"/>
                  <a:pt x="400050" y="485775"/>
                </a:cubicBezTo>
                <a:cubicBezTo>
                  <a:pt x="352737" y="485775"/>
                  <a:pt x="314325" y="447363"/>
                  <a:pt x="314325" y="400050"/>
                </a:cubicBezTo>
                <a:cubicBezTo>
                  <a:pt x="314325" y="352737"/>
                  <a:pt x="352737" y="314325"/>
                  <a:pt x="400050" y="314325"/>
                </a:cubicBezTo>
                <a:close/>
                <a:moveTo>
                  <a:pt x="657225" y="400050"/>
                </a:moveTo>
                <a:cubicBezTo>
                  <a:pt x="657225" y="352737"/>
                  <a:pt x="695637" y="314325"/>
                  <a:pt x="742950" y="314325"/>
                </a:cubicBezTo>
                <a:cubicBezTo>
                  <a:pt x="790263" y="314325"/>
                  <a:pt x="828675" y="352737"/>
                  <a:pt x="828675" y="400050"/>
                </a:cubicBezTo>
                <a:cubicBezTo>
                  <a:pt x="828675" y="447363"/>
                  <a:pt x="790263" y="485775"/>
                  <a:pt x="742950" y="485775"/>
                </a:cubicBezTo>
                <a:cubicBezTo>
                  <a:pt x="695637" y="485775"/>
                  <a:pt x="657225" y="447363"/>
                  <a:pt x="657225" y="400050"/>
                </a:cubicBezTo>
                <a:close/>
                <a:moveTo>
                  <a:pt x="114300" y="400050"/>
                </a:moveTo>
                <a:cubicBezTo>
                  <a:pt x="114300" y="368439"/>
                  <a:pt x="88761" y="342900"/>
                  <a:pt x="57150" y="342900"/>
                </a:cubicBezTo>
                <a:cubicBezTo>
                  <a:pt x="25539" y="342900"/>
                  <a:pt x="0" y="368439"/>
                  <a:pt x="0" y="400050"/>
                </a:cubicBezTo>
                <a:lnTo>
                  <a:pt x="0" y="571500"/>
                </a:lnTo>
                <a:cubicBezTo>
                  <a:pt x="0" y="603111"/>
                  <a:pt x="25539" y="628650"/>
                  <a:pt x="57150" y="628650"/>
                </a:cubicBezTo>
                <a:cubicBezTo>
                  <a:pt x="88761" y="628650"/>
                  <a:pt x="114300" y="603111"/>
                  <a:pt x="114300" y="571500"/>
                </a:cubicBezTo>
                <a:lnTo>
                  <a:pt x="114300" y="400050"/>
                </a:lnTo>
                <a:close/>
                <a:moveTo>
                  <a:pt x="1085850" y="342900"/>
                </a:moveTo>
                <a:cubicBezTo>
                  <a:pt x="1054239" y="342900"/>
                  <a:pt x="1028700" y="368439"/>
                  <a:pt x="1028700" y="400050"/>
                </a:cubicBezTo>
                <a:lnTo>
                  <a:pt x="1028700" y="571500"/>
                </a:lnTo>
                <a:cubicBezTo>
                  <a:pt x="1028700" y="603111"/>
                  <a:pt x="1054239" y="628650"/>
                  <a:pt x="1085850" y="628650"/>
                </a:cubicBezTo>
                <a:cubicBezTo>
                  <a:pt x="1117461" y="628650"/>
                  <a:pt x="1143000" y="603111"/>
                  <a:pt x="1143000" y="571500"/>
                </a:cubicBezTo>
                <a:lnTo>
                  <a:pt x="1143000" y="400050"/>
                </a:lnTo>
                <a:cubicBezTo>
                  <a:pt x="1143000" y="368439"/>
                  <a:pt x="1117461" y="342900"/>
                  <a:pt x="1085850" y="3429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601075" y="3957638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智能审单平台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6451" y="4567238"/>
            <a:ext cx="282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构建一套规则可配、智能辅助、审核留痕的智能化审核体系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9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2115BB8A-7215-DDC0-7395-87F92AC9D6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156" y="3480608"/>
            <a:ext cx="292087" cy="2920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00050" y="1825228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5171" y="2053828"/>
            <a:ext cx="962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02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52600" y="1958578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177778"/>
            <a:ext cx="1177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系统介绍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4168378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" y="45874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22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从工具化、组件化、智能化三个角度介绍</a:t>
            </a:r>
            <a:r>
              <a:rPr lang="en-US" sz="22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系统的</a:t>
            </a:r>
            <a:r>
              <a:rPr lang="zh-CN" altLang="en-US" sz="22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功能模块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9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617C7-0270-DE50-56FF-8B8EE4A2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77B2DF-4463-450A-46BE-A905AF8AEA0D}"/>
              </a:ext>
            </a:extLst>
          </p:cNvPr>
          <p:cNvSpPr/>
          <p:nvPr/>
        </p:nvSpPr>
        <p:spPr>
          <a:xfrm>
            <a:off x="12700" y="-1619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https://kimi-img.moonshot.cn/pub/slides/26-02-07-14:21:21-d63djo940tj8cmhuh0k0.png">
            <a:extLst>
              <a:ext uri="{FF2B5EF4-FFF2-40B4-BE49-F238E27FC236}">
                <a16:creationId xmlns:a16="http://schemas.microsoft.com/office/drawing/2014/main" id="{DD44C493-0E93-D799-B170-4FE142F8A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8EAE025-01E3-7DF1-00ED-A81DD6DD1C9C}"/>
              </a:ext>
            </a:extLst>
          </p:cNvPr>
          <p:cNvGrpSpPr/>
          <p:nvPr/>
        </p:nvGrpSpPr>
        <p:grpSpPr>
          <a:xfrm>
            <a:off x="4978400" y="2238375"/>
            <a:ext cx="2235200" cy="2381250"/>
            <a:chOff x="381000" y="1825228"/>
            <a:chExt cx="2235200" cy="238125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1B5B864B-3FCC-6581-F2B5-06E1CF2475F4}"/>
                </a:ext>
              </a:extLst>
            </p:cNvPr>
            <p:cNvSpPr/>
            <p:nvPr/>
          </p:nvSpPr>
          <p:spPr>
            <a:xfrm>
              <a:off x="400050" y="1825228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0800">
              <a:solidFill>
                <a:srgbClr val="8B0000"/>
              </a:solidFill>
              <a:prstDash val="solid"/>
            </a:ln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5A33401-6367-451C-5E05-6052D88DF8BB}"/>
                </a:ext>
              </a:extLst>
            </p:cNvPr>
            <p:cNvSpPr/>
            <p:nvPr/>
          </p:nvSpPr>
          <p:spPr>
            <a:xfrm>
              <a:off x="1752600" y="1958578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280C2FED-9720-8B35-7E8C-BA97104B9885}"/>
                </a:ext>
              </a:extLst>
            </p:cNvPr>
            <p:cNvSpPr/>
            <p:nvPr/>
          </p:nvSpPr>
          <p:spPr>
            <a:xfrm>
              <a:off x="381000" y="3177778"/>
              <a:ext cx="2235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zh-CN" altLang="en-US" sz="54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工具化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43CC4EC9-B6D3-A095-A20D-453E6566AD16}"/>
                </a:ext>
              </a:extLst>
            </p:cNvPr>
            <p:cNvSpPr/>
            <p:nvPr/>
          </p:nvSpPr>
          <p:spPr>
            <a:xfrm>
              <a:off x="381000" y="4168378"/>
              <a:ext cx="1828800" cy="38100"/>
            </a:xfrm>
            <a:custGeom>
              <a:avLst/>
              <a:gdLst/>
              <a:ahLst/>
              <a:cxnLst/>
              <a:rect l="l" t="t" r="r" b="b"/>
              <a:pathLst>
                <a:path w="1828800" h="38100">
                  <a:moveTo>
                    <a:pt x="0" y="0"/>
                  </a:moveTo>
                  <a:lnTo>
                    <a:pt x="1828800" y="0"/>
                  </a:lnTo>
                  <a:lnTo>
                    <a:pt x="18288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</p:grpSp>
      <p:pic>
        <p:nvPicPr>
          <p:cNvPr id="11" name="图形 10">
            <a:extLst>
              <a:ext uri="{FF2B5EF4-FFF2-40B4-BE49-F238E27FC236}">
                <a16:creationId xmlns:a16="http://schemas.microsoft.com/office/drawing/2014/main" id="{237ACFBB-FE56-138E-F4BF-07B8A4DB96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5449" y="2326424"/>
            <a:ext cx="832701" cy="83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034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2.1 DATA MANAGEMENT TOOLS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数据管理</a:t>
            </a:r>
            <a:r>
              <a:rPr lang="zh-CN" alt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工具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0525" y="1419225"/>
            <a:ext cx="5543550" cy="4419600"/>
          </a:xfrm>
          <a:custGeom>
            <a:avLst/>
            <a:gdLst/>
            <a:ahLst/>
            <a:cxnLst/>
            <a:rect l="l" t="t" r="r" b="b"/>
            <a:pathLst>
              <a:path w="5543550" h="4419600">
                <a:moveTo>
                  <a:pt x="0" y="0"/>
                </a:moveTo>
                <a:lnTo>
                  <a:pt x="5543550" y="0"/>
                </a:lnTo>
                <a:lnTo>
                  <a:pt x="5543550" y="4419600"/>
                </a:lnTo>
                <a:lnTo>
                  <a:pt x="0" y="4419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5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828675" y="18192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95157"/>
                </a:lnTo>
                <a:cubicBezTo>
                  <a:pt x="214313" y="85669"/>
                  <a:pt x="210573" y="76572"/>
                  <a:pt x="203876" y="69875"/>
                </a:cubicBezTo>
                <a:lnTo>
                  <a:pt x="144382" y="10437"/>
                </a:lnTo>
                <a:cubicBezTo>
                  <a:pt x="137685" y="3739"/>
                  <a:pt x="128643" y="0"/>
                  <a:pt x="119156" y="0"/>
                </a:cubicBezTo>
                <a:lnTo>
                  <a:pt x="35719" y="0"/>
                </a:lnTo>
                <a:close/>
                <a:moveTo>
                  <a:pt x="181663" y="98227"/>
                </a:moveTo>
                <a:lnTo>
                  <a:pt x="129480" y="98227"/>
                </a:lnTo>
                <a:cubicBezTo>
                  <a:pt x="122058" y="98227"/>
                  <a:pt x="116086" y="92255"/>
                  <a:pt x="116086" y="84832"/>
                </a:cubicBezTo>
                <a:lnTo>
                  <a:pt x="116086" y="32649"/>
                </a:lnTo>
                <a:lnTo>
                  <a:pt x="181663" y="98227"/>
                </a:lnTo>
                <a:close/>
                <a:moveTo>
                  <a:pt x="35719" y="214313"/>
                </a:moveTo>
                <a:lnTo>
                  <a:pt x="35719" y="178594"/>
                </a:lnTo>
                <a:cubicBezTo>
                  <a:pt x="35719" y="168715"/>
                  <a:pt x="43700" y="160734"/>
                  <a:pt x="53578" y="160734"/>
                </a:cubicBezTo>
                <a:lnTo>
                  <a:pt x="160734" y="160734"/>
                </a:lnTo>
                <a:cubicBezTo>
                  <a:pt x="170613" y="160734"/>
                  <a:pt x="178594" y="168715"/>
                  <a:pt x="178594" y="178594"/>
                </a:cubicBezTo>
                <a:lnTo>
                  <a:pt x="178594" y="214313"/>
                </a:lnTo>
                <a:cubicBezTo>
                  <a:pt x="178594" y="224191"/>
                  <a:pt x="170613" y="232172"/>
                  <a:pt x="160734" y="232172"/>
                </a:cubicBezTo>
                <a:lnTo>
                  <a:pt x="53578" y="232172"/>
                </a:lnTo>
                <a:cubicBezTo>
                  <a:pt x="43700" y="232172"/>
                  <a:pt x="35719" y="224191"/>
                  <a:pt x="35719" y="214313"/>
                </a:cubicBezTo>
                <a:close/>
                <a:moveTo>
                  <a:pt x="49113" y="35719"/>
                </a:moveTo>
                <a:lnTo>
                  <a:pt x="75902" y="35719"/>
                </a:lnTo>
                <a:cubicBezTo>
                  <a:pt x="83325" y="35719"/>
                  <a:pt x="89297" y="41690"/>
                  <a:pt x="89297" y="49113"/>
                </a:cubicBezTo>
                <a:cubicBezTo>
                  <a:pt x="89297" y="56536"/>
                  <a:pt x="83325" y="62508"/>
                  <a:pt x="75902" y="62508"/>
                </a:cubicBezTo>
                <a:lnTo>
                  <a:pt x="49113" y="62508"/>
                </a:lnTo>
                <a:cubicBezTo>
                  <a:pt x="41690" y="62508"/>
                  <a:pt x="35719" y="56536"/>
                  <a:pt x="35719" y="49113"/>
                </a:cubicBezTo>
                <a:cubicBezTo>
                  <a:pt x="35719" y="41690"/>
                  <a:pt x="41690" y="35719"/>
                  <a:pt x="49113" y="35719"/>
                </a:cubicBezTo>
                <a:close/>
                <a:moveTo>
                  <a:pt x="49113" y="89297"/>
                </a:moveTo>
                <a:lnTo>
                  <a:pt x="75902" y="89297"/>
                </a:lnTo>
                <a:cubicBezTo>
                  <a:pt x="83325" y="89297"/>
                  <a:pt x="89297" y="95269"/>
                  <a:pt x="89297" y="102691"/>
                </a:cubicBezTo>
                <a:cubicBezTo>
                  <a:pt x="89297" y="110114"/>
                  <a:pt x="83325" y="116086"/>
                  <a:pt x="75902" y="116086"/>
                </a:cubicBezTo>
                <a:lnTo>
                  <a:pt x="49113" y="116086"/>
                </a:lnTo>
                <a:cubicBezTo>
                  <a:pt x="41690" y="116086"/>
                  <a:pt x="35719" y="110114"/>
                  <a:pt x="35719" y="102691"/>
                </a:cubicBezTo>
                <a:cubicBezTo>
                  <a:pt x="35719" y="95269"/>
                  <a:pt x="41690" y="89297"/>
                  <a:pt x="49113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180975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凭证管理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8175" y="25050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0"/>
                </a:lnTo>
                <a:lnTo>
                  <a:pt x="361950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788" y="24955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1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62050" y="2495550"/>
            <a:ext cx="450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上传凭证模板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2050" y="280035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选择凭证种类，上传凭证模板，支持PNG、JPG、PDF等多种格式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8175" y="320992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0"/>
                </a:lnTo>
                <a:lnTo>
                  <a:pt x="361950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788" y="32004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62050" y="3200400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自动调用OCR识别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2050" y="3505200"/>
            <a:ext cx="3914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系统自动调用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OCR接口识别凭证内容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8175" y="39147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0"/>
                </a:lnTo>
                <a:lnTo>
                  <a:pt x="361950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788" y="39052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3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62050" y="3905250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字段映射配置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2050" y="4210050"/>
            <a:ext cx="4067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根据OCR识别结果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，系统自动解析并导入凭证字段配置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57925" y="1419225"/>
            <a:ext cx="5543550" cy="4419600"/>
          </a:xfrm>
          <a:custGeom>
            <a:avLst/>
            <a:gdLst/>
            <a:ahLst/>
            <a:cxnLst/>
            <a:rect l="l" t="t" r="r" b="b"/>
            <a:pathLst>
              <a:path w="5543550" h="4419600">
                <a:moveTo>
                  <a:pt x="0" y="0"/>
                </a:moveTo>
                <a:lnTo>
                  <a:pt x="5543550" y="0"/>
                </a:lnTo>
                <a:lnTo>
                  <a:pt x="5543550" y="4419600"/>
                </a:lnTo>
                <a:lnTo>
                  <a:pt x="0" y="4419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605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0356" y="1819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84051"/>
                </a:moveTo>
                <a:lnTo>
                  <a:pt x="226926" y="137629"/>
                </a:lnTo>
                <a:cubicBezTo>
                  <a:pt x="221791" y="142763"/>
                  <a:pt x="214145" y="144270"/>
                  <a:pt x="207448" y="141480"/>
                </a:cubicBezTo>
                <a:cubicBezTo>
                  <a:pt x="200751" y="138689"/>
                  <a:pt x="196453" y="132215"/>
                  <a:pt x="196453" y="125016"/>
                </a:cubicBezTo>
                <a:lnTo>
                  <a:pt x="196453" y="89297"/>
                </a:ln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196453" y="53578"/>
                </a:lnTo>
                <a:lnTo>
                  <a:pt x="196453" y="17859"/>
                </a:lnTo>
                <a:cubicBezTo>
                  <a:pt x="196453" y="10660"/>
                  <a:pt x="200806" y="4130"/>
                  <a:pt x="207504" y="1339"/>
                </a:cubicBezTo>
                <a:cubicBezTo>
                  <a:pt x="214201" y="-1451"/>
                  <a:pt x="221847" y="112"/>
                  <a:pt x="226981" y="5190"/>
                </a:cubicBezTo>
                <a:lnTo>
                  <a:pt x="280560" y="58769"/>
                </a:lnTo>
                <a:cubicBezTo>
                  <a:pt x="287536" y="65745"/>
                  <a:pt x="287536" y="77074"/>
                  <a:pt x="280560" y="84051"/>
                </a:cubicBezTo>
                <a:close/>
                <a:moveTo>
                  <a:pt x="58769" y="280504"/>
                </a:moveTo>
                <a:lnTo>
                  <a:pt x="5190" y="226926"/>
                </a:lnTo>
                <a:cubicBezTo>
                  <a:pt x="-1786" y="219949"/>
                  <a:pt x="-1786" y="208620"/>
                  <a:pt x="5190" y="201644"/>
                </a:cubicBezTo>
                <a:lnTo>
                  <a:pt x="58769" y="148065"/>
                </a:lnTo>
                <a:cubicBezTo>
                  <a:pt x="63903" y="142931"/>
                  <a:pt x="71549" y="141424"/>
                  <a:pt x="78246" y="144214"/>
                </a:cubicBezTo>
                <a:cubicBezTo>
                  <a:pt x="84944" y="147005"/>
                  <a:pt x="89297" y="153535"/>
                  <a:pt x="89297" y="160734"/>
                </a:cubicBezTo>
                <a:lnTo>
                  <a:pt x="89297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cubicBezTo>
                  <a:pt x="285750" y="224191"/>
                  <a:pt x="277769" y="232172"/>
                  <a:pt x="267891" y="232172"/>
                </a:cubicBezTo>
                <a:lnTo>
                  <a:pt x="89297" y="232172"/>
                </a:lnTo>
                <a:lnTo>
                  <a:pt x="89297" y="267891"/>
                </a:lnTo>
                <a:cubicBezTo>
                  <a:pt x="89297" y="275090"/>
                  <a:pt x="84944" y="281620"/>
                  <a:pt x="78246" y="284411"/>
                </a:cubicBezTo>
                <a:cubicBezTo>
                  <a:pt x="71549" y="287201"/>
                  <a:pt x="63903" y="285638"/>
                  <a:pt x="58769" y="2805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58050" y="180975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交易管理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05575" y="25050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0"/>
                </a:lnTo>
                <a:lnTo>
                  <a:pt x="361950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3188" y="24955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1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29450" y="2495550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Excel模板准备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29450" y="2800350"/>
            <a:ext cx="461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调用方根据标准模板提供业务字段定义，包含字段名、字段类型等元数据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05575" y="35337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0"/>
                </a:moveTo>
                <a:lnTo>
                  <a:pt x="361950" y="0"/>
                </a:lnTo>
                <a:lnTo>
                  <a:pt x="361950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3188" y="35242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29450" y="3524250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批量导入字段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29450" y="3829050"/>
            <a:ext cx="461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上传Excel文件，系统自动解析并批量导入机内字段配置，大幅提升配置效率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00050" y="6000750"/>
            <a:ext cx="11410950" cy="476250"/>
          </a:xfrm>
          <a:custGeom>
            <a:avLst/>
            <a:gdLst/>
            <a:ahLst/>
            <a:cxnLst/>
            <a:rect l="l" t="t" r="r" b="b"/>
            <a:pathLst>
              <a:path w="11410950" h="476250">
                <a:moveTo>
                  <a:pt x="0" y="0"/>
                </a:moveTo>
                <a:lnTo>
                  <a:pt x="11410950" y="0"/>
                </a:lnTo>
                <a:lnTo>
                  <a:pt x="114109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" y="6000750"/>
            <a:ext cx="38100" cy="476250"/>
          </a:xfrm>
          <a:custGeom>
            <a:avLst/>
            <a:gdLst/>
            <a:ahLst/>
            <a:cxnLst/>
            <a:rect l="l" t="t" r="r" b="b"/>
            <a:pathLst>
              <a:path w="38100" h="476250">
                <a:moveTo>
                  <a:pt x="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09600" y="6115050"/>
            <a:ext cx="11277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数据管理自动化</a:t>
            </a:r>
            <a:r>
              <a:rPr lang="en-US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：</a:t>
            </a: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通过自动化的数据管理流程，大幅减少人工配置工作量</a:t>
            </a:r>
            <a:r>
              <a:rPr lang="en-US" sz="120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，提升数据</a:t>
            </a:r>
            <a:r>
              <a:rPr lang="zh-CN" altLang="en-US" sz="120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管理</a:t>
            </a:r>
            <a:r>
              <a:rPr lang="en-US" sz="120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效率</a:t>
            </a: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，为后续规则配置奠定坚实基础。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6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2.2 RULE COMPONENTS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图形化规则配置工具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0525" y="1419226"/>
            <a:ext cx="2724606" cy="2458986"/>
          </a:xfrm>
          <a:custGeom>
            <a:avLst/>
            <a:gdLst/>
            <a:ahLst/>
            <a:cxnLst/>
            <a:rect l="l" t="t" r="r" b="b"/>
            <a:pathLst>
              <a:path w="2228850" h="2800350">
                <a:moveTo>
                  <a:pt x="0" y="0"/>
                </a:moveTo>
                <a:lnTo>
                  <a:pt x="2228850" y="0"/>
                </a:lnTo>
                <a:lnTo>
                  <a:pt x="222885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550" y="1619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11994" y="17526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62050" y="17145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工具集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0549" y="2228850"/>
            <a:ext cx="2328723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提供日期处理、金额格式化、字符串截取等丰富的内置工具函数，快速实现数据清洗与转换。</a:t>
            </a:r>
            <a:endParaRPr lang="en-US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9019" y="1419226"/>
            <a:ext cx="2724606" cy="2458986"/>
          </a:xfrm>
          <a:custGeom>
            <a:avLst/>
            <a:gdLst/>
            <a:ahLst/>
            <a:cxnLst/>
            <a:rect l="l" t="t" r="r" b="b"/>
            <a:pathLst>
              <a:path w="2228850" h="2800350">
                <a:moveTo>
                  <a:pt x="0" y="0"/>
                </a:moveTo>
                <a:lnTo>
                  <a:pt x="2228850" y="0"/>
                </a:lnTo>
                <a:lnTo>
                  <a:pt x="222885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9044" y="1619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764300" y="17526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90544" y="17145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数据集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19043" y="2228850"/>
            <a:ext cx="2328723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包含凭证要素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、机内数据、外部接口数据等多种数据源，支持灵活的数据引用和组合</a:t>
            </a:r>
            <a:r>
              <a:rPr lang="en-US" sz="14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。</a:t>
            </a: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0525" y="4155814"/>
            <a:ext cx="2724606" cy="2458986"/>
          </a:xfrm>
          <a:custGeom>
            <a:avLst/>
            <a:gdLst/>
            <a:ahLst/>
            <a:cxnLst/>
            <a:rect l="l" t="t" r="r" b="b"/>
            <a:pathLst>
              <a:path w="2228850" h="2800350">
                <a:moveTo>
                  <a:pt x="0" y="0"/>
                </a:moveTo>
                <a:lnTo>
                  <a:pt x="2228850" y="0"/>
                </a:lnTo>
                <a:lnTo>
                  <a:pt x="222885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550" y="43558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7713" y="4489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62050" y="4451088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运算</a:t>
            </a: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集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0549" y="4965438"/>
            <a:ext cx="2328723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集成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加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减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乘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除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运算，等于、不等于、大于、小于、大于等于、小于等于比较运算。</a:t>
            </a:r>
            <a:endParaRPr lang="en-US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3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sp>
        <p:nvSpPr>
          <p:cNvPr id="43" name="Shape 13">
            <a:extLst>
              <a:ext uri="{FF2B5EF4-FFF2-40B4-BE49-F238E27FC236}">
                <a16:creationId xmlns:a16="http://schemas.microsoft.com/office/drawing/2014/main" id="{7F76D11E-2AE7-4407-4C42-65634353D729}"/>
              </a:ext>
            </a:extLst>
          </p:cNvPr>
          <p:cNvSpPr/>
          <p:nvPr/>
        </p:nvSpPr>
        <p:spPr>
          <a:xfrm>
            <a:off x="3419019" y="4155814"/>
            <a:ext cx="2724606" cy="2458986"/>
          </a:xfrm>
          <a:custGeom>
            <a:avLst/>
            <a:gdLst/>
            <a:ahLst/>
            <a:cxnLst/>
            <a:rect l="l" t="t" r="r" b="b"/>
            <a:pathLst>
              <a:path w="2228850" h="2800350">
                <a:moveTo>
                  <a:pt x="0" y="0"/>
                </a:moveTo>
                <a:lnTo>
                  <a:pt x="2228850" y="0"/>
                </a:lnTo>
                <a:lnTo>
                  <a:pt x="222885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18944DBD-0579-A5B2-995C-1645FBC04D28}"/>
              </a:ext>
            </a:extLst>
          </p:cNvPr>
          <p:cNvSpPr/>
          <p:nvPr/>
        </p:nvSpPr>
        <p:spPr>
          <a:xfrm>
            <a:off x="3619044" y="43558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6F886202-164E-F443-C9F5-D6E2540A1A7B}"/>
              </a:ext>
            </a:extLst>
          </p:cNvPr>
          <p:cNvSpPr/>
          <p:nvPr/>
        </p:nvSpPr>
        <p:spPr>
          <a:xfrm>
            <a:off x="3776207" y="4489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651256B2-A8DA-6733-5755-7599D3249B40}"/>
              </a:ext>
            </a:extLst>
          </p:cNvPr>
          <p:cNvSpPr/>
          <p:nvPr/>
        </p:nvSpPr>
        <p:spPr>
          <a:xfrm>
            <a:off x="4190544" y="4451088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逻辑运算集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6AE6A527-1542-7149-E0DF-90414B8FFB5A}"/>
              </a:ext>
            </a:extLst>
          </p:cNvPr>
          <p:cNvSpPr/>
          <p:nvPr/>
        </p:nvSpPr>
        <p:spPr>
          <a:xfrm>
            <a:off x="3619043" y="4965438"/>
            <a:ext cx="2328723" cy="146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提供且、或、包含、被包含等逻辑运算，用于配置复杂逻辑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。</a:t>
            </a:r>
            <a:endParaRPr lang="en-US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16992" y="1428750"/>
            <a:ext cx="5044168" cy="5186050"/>
          </a:xfrm>
          <a:custGeom>
            <a:avLst/>
            <a:gdLst/>
            <a:ahLst/>
            <a:cxnLst/>
            <a:rect l="l" t="t" r="r" b="b"/>
            <a:pathLst>
              <a:path w="4048125" h="5029200">
                <a:moveTo>
                  <a:pt x="0" y="0"/>
                </a:moveTo>
                <a:lnTo>
                  <a:pt x="4048125" y="0"/>
                </a:lnTo>
                <a:lnTo>
                  <a:pt x="4048125" y="5029200"/>
                </a:ln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897763" y="173664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107156"/>
                </a:moveTo>
                <a:cubicBezTo>
                  <a:pt x="0" y="71661"/>
                  <a:pt x="28798" y="42863"/>
                  <a:pt x="64294" y="42863"/>
                </a:cubicBezTo>
                <a:lnTo>
                  <a:pt x="192881" y="42863"/>
                </a:lnTo>
                <a:cubicBezTo>
                  <a:pt x="228377" y="42863"/>
                  <a:pt x="257175" y="71661"/>
                  <a:pt x="257175" y="107156"/>
                </a:cubicBezTo>
                <a:lnTo>
                  <a:pt x="257175" y="128588"/>
                </a:lnTo>
                <a:lnTo>
                  <a:pt x="428625" y="128588"/>
                </a:lnTo>
                <a:lnTo>
                  <a:pt x="428625" y="107156"/>
                </a:lnTo>
                <a:cubicBezTo>
                  <a:pt x="428625" y="71661"/>
                  <a:pt x="457423" y="42863"/>
                  <a:pt x="492919" y="42863"/>
                </a:cubicBezTo>
                <a:lnTo>
                  <a:pt x="621506" y="42863"/>
                </a:lnTo>
                <a:cubicBezTo>
                  <a:pt x="657002" y="42863"/>
                  <a:pt x="685800" y="71661"/>
                  <a:pt x="685800" y="107156"/>
                </a:cubicBezTo>
                <a:lnTo>
                  <a:pt x="685800" y="235744"/>
                </a:lnTo>
                <a:cubicBezTo>
                  <a:pt x="685800" y="271239"/>
                  <a:pt x="657002" y="300038"/>
                  <a:pt x="621506" y="300038"/>
                </a:cubicBezTo>
                <a:lnTo>
                  <a:pt x="492919" y="300038"/>
                </a:lnTo>
                <a:cubicBezTo>
                  <a:pt x="457423" y="300038"/>
                  <a:pt x="428625" y="271239"/>
                  <a:pt x="428625" y="235744"/>
                </a:cubicBezTo>
                <a:lnTo>
                  <a:pt x="428625" y="214313"/>
                </a:lnTo>
                <a:lnTo>
                  <a:pt x="257175" y="214313"/>
                </a:lnTo>
                <a:lnTo>
                  <a:pt x="257175" y="235744"/>
                </a:lnTo>
                <a:cubicBezTo>
                  <a:pt x="257175" y="245522"/>
                  <a:pt x="254898" y="254898"/>
                  <a:pt x="251014" y="263203"/>
                </a:cubicBezTo>
                <a:lnTo>
                  <a:pt x="342900" y="385763"/>
                </a:lnTo>
                <a:lnTo>
                  <a:pt x="450056" y="385763"/>
                </a:lnTo>
                <a:cubicBezTo>
                  <a:pt x="485552" y="385763"/>
                  <a:pt x="514350" y="414561"/>
                  <a:pt x="514350" y="450056"/>
                </a:cubicBezTo>
                <a:lnTo>
                  <a:pt x="514350" y="578644"/>
                </a:lnTo>
                <a:cubicBezTo>
                  <a:pt x="514350" y="614139"/>
                  <a:pt x="485552" y="642938"/>
                  <a:pt x="450056" y="642938"/>
                </a:cubicBezTo>
                <a:lnTo>
                  <a:pt x="321469" y="642938"/>
                </a:lnTo>
                <a:cubicBezTo>
                  <a:pt x="285973" y="642938"/>
                  <a:pt x="257175" y="614139"/>
                  <a:pt x="257175" y="578644"/>
                </a:cubicBezTo>
                <a:lnTo>
                  <a:pt x="257175" y="450056"/>
                </a:lnTo>
                <a:cubicBezTo>
                  <a:pt x="257175" y="440278"/>
                  <a:pt x="259452" y="430902"/>
                  <a:pt x="263336" y="422597"/>
                </a:cubicBezTo>
                <a:lnTo>
                  <a:pt x="171450" y="300038"/>
                </a:lnTo>
                <a:lnTo>
                  <a:pt x="64294" y="300038"/>
                </a:lnTo>
                <a:cubicBezTo>
                  <a:pt x="28798" y="300038"/>
                  <a:pt x="0" y="271239"/>
                  <a:pt x="0" y="235744"/>
                </a:cubicBezTo>
                <a:lnTo>
                  <a:pt x="0" y="10715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169001" y="2651046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225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规则组件化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62663" y="5081349"/>
            <a:ext cx="3552825" cy="19050"/>
          </a:xfrm>
          <a:custGeom>
            <a:avLst/>
            <a:gdLst/>
            <a:ahLst/>
            <a:cxnLst/>
            <a:rect l="l" t="t" r="r" b="b"/>
            <a:pathLst>
              <a:path w="3552825" h="19050">
                <a:moveTo>
                  <a:pt x="0" y="0"/>
                </a:moveTo>
                <a:lnTo>
                  <a:pt x="3552825" y="0"/>
                </a:lnTo>
                <a:lnTo>
                  <a:pt x="35528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424563" y="5413011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6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规则配置易上手</a:t>
            </a:r>
            <a:r>
              <a:rPr lang="en-US" sz="16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：</a:t>
            </a:r>
            <a:endParaRPr lang="en-US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40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降低技术门槛</a:t>
            </a: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，业务人员可独立完成规则配置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A5F3706-18CD-54C0-86D7-166BE4E0049E}"/>
              </a:ext>
            </a:extLst>
          </p:cNvPr>
          <p:cNvGrpSpPr/>
          <p:nvPr/>
        </p:nvGrpSpPr>
        <p:grpSpPr>
          <a:xfrm>
            <a:off x="8660234" y="3268505"/>
            <a:ext cx="2624137" cy="266700"/>
            <a:chOff x="8775223" y="3268505"/>
            <a:chExt cx="2624137" cy="266700"/>
          </a:xfrm>
        </p:grpSpPr>
        <p:sp>
          <p:nvSpPr>
            <p:cNvPr id="67" name="Shape 10">
              <a:extLst>
                <a:ext uri="{FF2B5EF4-FFF2-40B4-BE49-F238E27FC236}">
                  <a16:creationId xmlns:a16="http://schemas.microsoft.com/office/drawing/2014/main" id="{5BE38AF5-225A-4ADC-BE6D-7C26E2BE747F}"/>
                </a:ext>
              </a:extLst>
            </p:cNvPr>
            <p:cNvSpPr/>
            <p:nvPr/>
          </p:nvSpPr>
          <p:spPr>
            <a:xfrm>
              <a:off x="8775223" y="331613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38" y="171450"/>
                    <a:pt x="171450" y="133038"/>
                    <a:pt x="171450" y="85725"/>
                  </a:cubicBezTo>
                  <a:cubicBezTo>
                    <a:pt x="171450" y="38412"/>
                    <a:pt x="133038" y="0"/>
                    <a:pt x="85725" y="0"/>
                  </a:cubicBezTo>
                  <a:cubicBezTo>
                    <a:pt x="38412" y="0"/>
                    <a:pt x="0" y="38412"/>
                    <a:pt x="0" y="85725"/>
                  </a:cubicBezTo>
                  <a:cubicBezTo>
                    <a:pt x="0" y="133038"/>
                    <a:pt x="38412" y="171450"/>
                    <a:pt x="85725" y="171450"/>
                  </a:cubicBezTo>
                  <a:close/>
                  <a:moveTo>
                    <a:pt x="113987" y="71225"/>
                  </a:moveTo>
                  <a:lnTo>
                    <a:pt x="87198" y="114088"/>
                  </a:lnTo>
                  <a:cubicBezTo>
                    <a:pt x="85792" y="116332"/>
                    <a:pt x="83381" y="117738"/>
                    <a:pt x="80736" y="117872"/>
                  </a:cubicBezTo>
                  <a:cubicBezTo>
                    <a:pt x="78090" y="118006"/>
                    <a:pt x="75545" y="116800"/>
                    <a:pt x="73971" y="114657"/>
                  </a:cubicBezTo>
                  <a:lnTo>
                    <a:pt x="57898" y="93226"/>
                  </a:lnTo>
                  <a:cubicBezTo>
                    <a:pt x="55219" y="89676"/>
                    <a:pt x="55956" y="84653"/>
                    <a:pt x="59505" y="81975"/>
                  </a:cubicBezTo>
                  <a:cubicBezTo>
                    <a:pt x="63055" y="79296"/>
                    <a:pt x="68078" y="80032"/>
                    <a:pt x="70757" y="83582"/>
                  </a:cubicBezTo>
                  <a:lnTo>
                    <a:pt x="79798" y="95637"/>
                  </a:lnTo>
                  <a:lnTo>
                    <a:pt x="100359" y="62720"/>
                  </a:lnTo>
                  <a:cubicBezTo>
                    <a:pt x="102703" y="58969"/>
                    <a:pt x="107659" y="57797"/>
                    <a:pt x="111443" y="60175"/>
                  </a:cubicBezTo>
                  <a:cubicBezTo>
                    <a:pt x="115226" y="62552"/>
                    <a:pt x="116365" y="67475"/>
                    <a:pt x="113987" y="71259"/>
                  </a:cubicBez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68" name="Text 11">
              <a:extLst>
                <a:ext uri="{FF2B5EF4-FFF2-40B4-BE49-F238E27FC236}">
                  <a16:creationId xmlns:a16="http://schemas.microsoft.com/office/drawing/2014/main" id="{4850364C-168C-79AE-FBE4-26583515D95C}"/>
                </a:ext>
              </a:extLst>
            </p:cNvPr>
            <p:cNvSpPr/>
            <p:nvPr/>
          </p:nvSpPr>
          <p:spPr>
            <a:xfrm>
              <a:off x="9084785" y="3268505"/>
              <a:ext cx="23145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35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拖拽式组件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E529F984-D033-2AE8-4823-830869F6000A}"/>
              </a:ext>
            </a:extLst>
          </p:cNvPr>
          <p:cNvGrpSpPr/>
          <p:nvPr/>
        </p:nvGrpSpPr>
        <p:grpSpPr>
          <a:xfrm>
            <a:off x="8660234" y="3621010"/>
            <a:ext cx="2624137" cy="266700"/>
            <a:chOff x="8775223" y="3268505"/>
            <a:chExt cx="2624137" cy="266700"/>
          </a:xfrm>
        </p:grpSpPr>
        <p:sp>
          <p:nvSpPr>
            <p:cNvPr id="79" name="Shape 10">
              <a:extLst>
                <a:ext uri="{FF2B5EF4-FFF2-40B4-BE49-F238E27FC236}">
                  <a16:creationId xmlns:a16="http://schemas.microsoft.com/office/drawing/2014/main" id="{DEE6CB9B-EE17-EF22-F749-99EA5AF727F4}"/>
                </a:ext>
              </a:extLst>
            </p:cNvPr>
            <p:cNvSpPr/>
            <p:nvPr/>
          </p:nvSpPr>
          <p:spPr>
            <a:xfrm>
              <a:off x="8775223" y="331613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38" y="171450"/>
                    <a:pt x="171450" y="133038"/>
                    <a:pt x="171450" y="85725"/>
                  </a:cubicBezTo>
                  <a:cubicBezTo>
                    <a:pt x="171450" y="38412"/>
                    <a:pt x="133038" y="0"/>
                    <a:pt x="85725" y="0"/>
                  </a:cubicBezTo>
                  <a:cubicBezTo>
                    <a:pt x="38412" y="0"/>
                    <a:pt x="0" y="38412"/>
                    <a:pt x="0" y="85725"/>
                  </a:cubicBezTo>
                  <a:cubicBezTo>
                    <a:pt x="0" y="133038"/>
                    <a:pt x="38412" y="171450"/>
                    <a:pt x="85725" y="171450"/>
                  </a:cubicBezTo>
                  <a:close/>
                  <a:moveTo>
                    <a:pt x="113987" y="71225"/>
                  </a:moveTo>
                  <a:lnTo>
                    <a:pt x="87198" y="114088"/>
                  </a:lnTo>
                  <a:cubicBezTo>
                    <a:pt x="85792" y="116332"/>
                    <a:pt x="83381" y="117738"/>
                    <a:pt x="80736" y="117872"/>
                  </a:cubicBezTo>
                  <a:cubicBezTo>
                    <a:pt x="78090" y="118006"/>
                    <a:pt x="75545" y="116800"/>
                    <a:pt x="73971" y="114657"/>
                  </a:cubicBezTo>
                  <a:lnTo>
                    <a:pt x="57898" y="93226"/>
                  </a:lnTo>
                  <a:cubicBezTo>
                    <a:pt x="55219" y="89676"/>
                    <a:pt x="55956" y="84653"/>
                    <a:pt x="59505" y="81975"/>
                  </a:cubicBezTo>
                  <a:cubicBezTo>
                    <a:pt x="63055" y="79296"/>
                    <a:pt x="68078" y="80032"/>
                    <a:pt x="70757" y="83582"/>
                  </a:cubicBezTo>
                  <a:lnTo>
                    <a:pt x="79798" y="95637"/>
                  </a:lnTo>
                  <a:lnTo>
                    <a:pt x="100359" y="62720"/>
                  </a:lnTo>
                  <a:cubicBezTo>
                    <a:pt x="102703" y="58969"/>
                    <a:pt x="107659" y="57797"/>
                    <a:pt x="111443" y="60175"/>
                  </a:cubicBezTo>
                  <a:cubicBezTo>
                    <a:pt x="115226" y="62552"/>
                    <a:pt x="116365" y="67475"/>
                    <a:pt x="113987" y="71259"/>
                  </a:cubicBez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80" name="Text 11">
              <a:extLst>
                <a:ext uri="{FF2B5EF4-FFF2-40B4-BE49-F238E27FC236}">
                  <a16:creationId xmlns:a16="http://schemas.microsoft.com/office/drawing/2014/main" id="{42DE185F-564C-C81E-87FD-6F71EEF89503}"/>
                </a:ext>
              </a:extLst>
            </p:cNvPr>
            <p:cNvSpPr/>
            <p:nvPr/>
          </p:nvSpPr>
          <p:spPr>
            <a:xfrm>
              <a:off x="9084785" y="3268505"/>
              <a:ext cx="23145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35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零代码配置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A6F9A369-4A9D-89B2-C781-35C4C543D5C8}"/>
              </a:ext>
            </a:extLst>
          </p:cNvPr>
          <p:cNvGrpSpPr/>
          <p:nvPr/>
        </p:nvGrpSpPr>
        <p:grpSpPr>
          <a:xfrm>
            <a:off x="8660234" y="3973515"/>
            <a:ext cx="2624137" cy="266700"/>
            <a:chOff x="8775223" y="3268505"/>
            <a:chExt cx="2624137" cy="266700"/>
          </a:xfrm>
        </p:grpSpPr>
        <p:sp>
          <p:nvSpPr>
            <p:cNvPr id="82" name="Shape 10">
              <a:extLst>
                <a:ext uri="{FF2B5EF4-FFF2-40B4-BE49-F238E27FC236}">
                  <a16:creationId xmlns:a16="http://schemas.microsoft.com/office/drawing/2014/main" id="{A5AA102E-1128-3EA3-B056-09F4343F5595}"/>
                </a:ext>
              </a:extLst>
            </p:cNvPr>
            <p:cNvSpPr/>
            <p:nvPr/>
          </p:nvSpPr>
          <p:spPr>
            <a:xfrm>
              <a:off x="8775223" y="331613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38" y="171450"/>
                    <a:pt x="171450" y="133038"/>
                    <a:pt x="171450" y="85725"/>
                  </a:cubicBezTo>
                  <a:cubicBezTo>
                    <a:pt x="171450" y="38412"/>
                    <a:pt x="133038" y="0"/>
                    <a:pt x="85725" y="0"/>
                  </a:cubicBezTo>
                  <a:cubicBezTo>
                    <a:pt x="38412" y="0"/>
                    <a:pt x="0" y="38412"/>
                    <a:pt x="0" y="85725"/>
                  </a:cubicBezTo>
                  <a:cubicBezTo>
                    <a:pt x="0" y="133038"/>
                    <a:pt x="38412" y="171450"/>
                    <a:pt x="85725" y="171450"/>
                  </a:cubicBezTo>
                  <a:close/>
                  <a:moveTo>
                    <a:pt x="113987" y="71225"/>
                  </a:moveTo>
                  <a:lnTo>
                    <a:pt x="87198" y="114088"/>
                  </a:lnTo>
                  <a:cubicBezTo>
                    <a:pt x="85792" y="116332"/>
                    <a:pt x="83381" y="117738"/>
                    <a:pt x="80736" y="117872"/>
                  </a:cubicBezTo>
                  <a:cubicBezTo>
                    <a:pt x="78090" y="118006"/>
                    <a:pt x="75545" y="116800"/>
                    <a:pt x="73971" y="114657"/>
                  </a:cubicBezTo>
                  <a:lnTo>
                    <a:pt x="57898" y="93226"/>
                  </a:lnTo>
                  <a:cubicBezTo>
                    <a:pt x="55219" y="89676"/>
                    <a:pt x="55956" y="84653"/>
                    <a:pt x="59505" y="81975"/>
                  </a:cubicBezTo>
                  <a:cubicBezTo>
                    <a:pt x="63055" y="79296"/>
                    <a:pt x="68078" y="80032"/>
                    <a:pt x="70757" y="83582"/>
                  </a:cubicBezTo>
                  <a:lnTo>
                    <a:pt x="79798" y="95637"/>
                  </a:lnTo>
                  <a:lnTo>
                    <a:pt x="100359" y="62720"/>
                  </a:lnTo>
                  <a:cubicBezTo>
                    <a:pt x="102703" y="58969"/>
                    <a:pt x="107659" y="57797"/>
                    <a:pt x="111443" y="60175"/>
                  </a:cubicBezTo>
                  <a:cubicBezTo>
                    <a:pt x="115226" y="62552"/>
                    <a:pt x="116365" y="67475"/>
                    <a:pt x="113987" y="71259"/>
                  </a:cubicBez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83" name="Text 11">
              <a:extLst>
                <a:ext uri="{FF2B5EF4-FFF2-40B4-BE49-F238E27FC236}">
                  <a16:creationId xmlns:a16="http://schemas.microsoft.com/office/drawing/2014/main" id="{282F0E96-00BA-CE23-3A06-81D417F2C6E0}"/>
                </a:ext>
              </a:extLst>
            </p:cNvPr>
            <p:cNvSpPr/>
            <p:nvPr/>
          </p:nvSpPr>
          <p:spPr>
            <a:xfrm>
              <a:off x="9084785" y="3268505"/>
              <a:ext cx="23145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35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近自然语言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804C351-B57E-2B73-8E71-4E024B43E915}"/>
              </a:ext>
            </a:extLst>
          </p:cNvPr>
          <p:cNvGrpSpPr/>
          <p:nvPr/>
        </p:nvGrpSpPr>
        <p:grpSpPr>
          <a:xfrm>
            <a:off x="8660234" y="4326019"/>
            <a:ext cx="2624137" cy="266700"/>
            <a:chOff x="8775223" y="3268505"/>
            <a:chExt cx="2624137" cy="266700"/>
          </a:xfrm>
        </p:grpSpPr>
        <p:sp>
          <p:nvSpPr>
            <p:cNvPr id="85" name="Shape 10">
              <a:extLst>
                <a:ext uri="{FF2B5EF4-FFF2-40B4-BE49-F238E27FC236}">
                  <a16:creationId xmlns:a16="http://schemas.microsoft.com/office/drawing/2014/main" id="{8721B897-044C-EC8A-0353-A56B14FAB9CB}"/>
                </a:ext>
              </a:extLst>
            </p:cNvPr>
            <p:cNvSpPr/>
            <p:nvPr/>
          </p:nvSpPr>
          <p:spPr>
            <a:xfrm>
              <a:off x="8775223" y="331613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3038" y="171450"/>
                    <a:pt x="171450" y="133038"/>
                    <a:pt x="171450" y="85725"/>
                  </a:cubicBezTo>
                  <a:cubicBezTo>
                    <a:pt x="171450" y="38412"/>
                    <a:pt x="133038" y="0"/>
                    <a:pt x="85725" y="0"/>
                  </a:cubicBezTo>
                  <a:cubicBezTo>
                    <a:pt x="38412" y="0"/>
                    <a:pt x="0" y="38412"/>
                    <a:pt x="0" y="85725"/>
                  </a:cubicBezTo>
                  <a:cubicBezTo>
                    <a:pt x="0" y="133038"/>
                    <a:pt x="38412" y="171450"/>
                    <a:pt x="85725" y="171450"/>
                  </a:cubicBezTo>
                  <a:close/>
                  <a:moveTo>
                    <a:pt x="113987" y="71225"/>
                  </a:moveTo>
                  <a:lnTo>
                    <a:pt x="87198" y="114088"/>
                  </a:lnTo>
                  <a:cubicBezTo>
                    <a:pt x="85792" y="116332"/>
                    <a:pt x="83381" y="117738"/>
                    <a:pt x="80736" y="117872"/>
                  </a:cubicBezTo>
                  <a:cubicBezTo>
                    <a:pt x="78090" y="118006"/>
                    <a:pt x="75545" y="116800"/>
                    <a:pt x="73971" y="114657"/>
                  </a:cubicBezTo>
                  <a:lnTo>
                    <a:pt x="57898" y="93226"/>
                  </a:lnTo>
                  <a:cubicBezTo>
                    <a:pt x="55219" y="89676"/>
                    <a:pt x="55956" y="84653"/>
                    <a:pt x="59505" y="81975"/>
                  </a:cubicBezTo>
                  <a:cubicBezTo>
                    <a:pt x="63055" y="79296"/>
                    <a:pt x="68078" y="80032"/>
                    <a:pt x="70757" y="83582"/>
                  </a:cubicBezTo>
                  <a:lnTo>
                    <a:pt x="79798" y="95637"/>
                  </a:lnTo>
                  <a:lnTo>
                    <a:pt x="100359" y="62720"/>
                  </a:lnTo>
                  <a:cubicBezTo>
                    <a:pt x="102703" y="58969"/>
                    <a:pt x="107659" y="57797"/>
                    <a:pt x="111443" y="60175"/>
                  </a:cubicBezTo>
                  <a:cubicBezTo>
                    <a:pt x="115226" y="62552"/>
                    <a:pt x="116365" y="67475"/>
                    <a:pt x="113987" y="71259"/>
                  </a:cubicBez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86" name="Text 11">
              <a:extLst>
                <a:ext uri="{FF2B5EF4-FFF2-40B4-BE49-F238E27FC236}">
                  <a16:creationId xmlns:a16="http://schemas.microsoft.com/office/drawing/2014/main" id="{1D4180A5-EA04-96BF-29AF-666265A0151E}"/>
                </a:ext>
              </a:extLst>
            </p:cNvPr>
            <p:cNvSpPr/>
            <p:nvPr/>
          </p:nvSpPr>
          <p:spPr>
            <a:xfrm>
              <a:off x="9084785" y="3268505"/>
              <a:ext cx="23145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35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组件易扩展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2.3 RULE ENGINE CONFIGURATION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规则配置示例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pic>
        <p:nvPicPr>
          <p:cNvPr id="27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4A3A07E0-C630-FEAB-9E36-6109988BDBD3}"/>
              </a:ext>
            </a:extLst>
          </p:cNvPr>
          <p:cNvGrpSpPr/>
          <p:nvPr/>
        </p:nvGrpSpPr>
        <p:grpSpPr>
          <a:xfrm>
            <a:off x="906463" y="2227496"/>
            <a:ext cx="10393362" cy="4561869"/>
            <a:chOff x="390525" y="1419225"/>
            <a:chExt cx="10379075" cy="4743456"/>
          </a:xfrm>
        </p:grpSpPr>
        <p:sp>
          <p:nvSpPr>
            <p:cNvPr id="5" name="Shape 3"/>
            <p:cNvSpPr/>
            <p:nvPr/>
          </p:nvSpPr>
          <p:spPr>
            <a:xfrm>
              <a:off x="390525" y="1419225"/>
              <a:ext cx="10379075" cy="4743456"/>
            </a:xfrm>
            <a:custGeom>
              <a:avLst/>
              <a:gdLst/>
              <a:ahLst/>
              <a:cxnLst/>
              <a:rect l="l" t="t" r="r" b="b"/>
              <a:pathLst>
                <a:path w="8505825" h="5048250">
                  <a:moveTo>
                    <a:pt x="0" y="0"/>
                  </a:moveTo>
                  <a:lnTo>
                    <a:pt x="8505825" y="0"/>
                  </a:lnTo>
                  <a:lnTo>
                    <a:pt x="8505825" y="5048250"/>
                  </a:lnTo>
                  <a:lnTo>
                    <a:pt x="0" y="5048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F2D1D410-F456-45D2-30D0-19267D197F32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1154" t="6924" r="1539" b="7818"/>
            <a:stretch>
              <a:fillRect/>
            </a:stretch>
          </p:blipFill>
          <p:spPr>
            <a:xfrm>
              <a:off x="607589" y="1468822"/>
              <a:ext cx="9944945" cy="4664683"/>
            </a:xfrm>
            <a:prstGeom prst="rect">
              <a:avLst/>
            </a:prstGeom>
          </p:spPr>
        </p:pic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EFE52FE-94AC-921A-3FA8-7A4D5874964F}"/>
              </a:ext>
            </a:extLst>
          </p:cNvPr>
          <p:cNvGrpSpPr/>
          <p:nvPr/>
        </p:nvGrpSpPr>
        <p:grpSpPr>
          <a:xfrm>
            <a:off x="906463" y="1364178"/>
            <a:ext cx="10426689" cy="759412"/>
            <a:chOff x="1200161" y="6206538"/>
            <a:chExt cx="10426689" cy="759412"/>
          </a:xfrm>
        </p:grpSpPr>
        <p:sp>
          <p:nvSpPr>
            <p:cNvPr id="30" name="Shape 19"/>
            <p:cNvSpPr/>
            <p:nvPr/>
          </p:nvSpPr>
          <p:spPr>
            <a:xfrm>
              <a:off x="1200161" y="6209687"/>
              <a:ext cx="45719" cy="756263"/>
            </a:xfrm>
            <a:custGeom>
              <a:avLst/>
              <a:gdLst/>
              <a:ahLst/>
              <a:cxnLst/>
              <a:rect l="l" t="t" r="r" b="b"/>
              <a:pathLst>
                <a:path w="38100" h="2057400">
                  <a:moveTo>
                    <a:pt x="0" y="0"/>
                  </a:moveTo>
                  <a:lnTo>
                    <a:pt x="38100" y="0"/>
                  </a:lnTo>
                  <a:lnTo>
                    <a:pt x="381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29" name="Shape 18"/>
            <p:cNvSpPr/>
            <p:nvPr/>
          </p:nvSpPr>
          <p:spPr>
            <a:xfrm>
              <a:off x="1233488" y="6206538"/>
              <a:ext cx="10393362" cy="759412"/>
            </a:xfrm>
            <a:custGeom>
              <a:avLst/>
              <a:gdLst/>
              <a:ahLst/>
              <a:cxnLst/>
              <a:rect l="l" t="t" r="r" b="b"/>
              <a:pathLst>
                <a:path w="7096125" h="2057400">
                  <a:moveTo>
                    <a:pt x="0" y="0"/>
                  </a:moveTo>
                  <a:lnTo>
                    <a:pt x="7096125" y="0"/>
                  </a:lnTo>
                  <a:lnTo>
                    <a:pt x="7096125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  <a:ln/>
          </p:spPr>
        </p:sp>
        <p:sp>
          <p:nvSpPr>
            <p:cNvPr id="31" name="Shape 20"/>
            <p:cNvSpPr/>
            <p:nvPr/>
          </p:nvSpPr>
          <p:spPr>
            <a:xfrm>
              <a:off x="9671277" y="6320840"/>
              <a:ext cx="142875" cy="1905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108979" y="142875"/>
                  </a:moveTo>
                  <a:cubicBezTo>
                    <a:pt x="111696" y="134578"/>
                    <a:pt x="117128" y="127062"/>
                    <a:pt x="123267" y="120588"/>
                  </a:cubicBezTo>
                  <a:cubicBezTo>
                    <a:pt x="135434" y="107789"/>
                    <a:pt x="142875" y="90488"/>
                    <a:pt x="142875" y="71438"/>
                  </a:cubicBezTo>
                  <a:cubicBezTo>
                    <a:pt x="142875" y="31998"/>
                    <a:pt x="110877" y="0"/>
                    <a:pt x="71437" y="0"/>
                  </a:cubicBezTo>
                  <a:cubicBezTo>
                    <a:pt x="31998" y="0"/>
                    <a:pt x="0" y="31998"/>
                    <a:pt x="0" y="71438"/>
                  </a:cubicBezTo>
                  <a:cubicBezTo>
                    <a:pt x="0" y="90488"/>
                    <a:pt x="7441" y="107789"/>
                    <a:pt x="19608" y="120588"/>
                  </a:cubicBezTo>
                  <a:cubicBezTo>
                    <a:pt x="25747" y="127062"/>
                    <a:pt x="31217" y="134578"/>
                    <a:pt x="33896" y="142875"/>
                  </a:cubicBezTo>
                  <a:lnTo>
                    <a:pt x="108942" y="142875"/>
                  </a:lnTo>
                  <a:close/>
                  <a:moveTo>
                    <a:pt x="107156" y="160734"/>
                  </a:moveTo>
                  <a:lnTo>
                    <a:pt x="35719" y="160734"/>
                  </a:lnTo>
                  <a:lnTo>
                    <a:pt x="35719" y="166688"/>
                  </a:lnTo>
                  <a:cubicBezTo>
                    <a:pt x="35719" y="183133"/>
                    <a:pt x="49039" y="196453"/>
                    <a:pt x="65484" y="196453"/>
                  </a:cubicBezTo>
                  <a:lnTo>
                    <a:pt x="77391" y="196453"/>
                  </a:lnTo>
                  <a:cubicBezTo>
                    <a:pt x="93836" y="196453"/>
                    <a:pt x="107156" y="183133"/>
                    <a:pt x="107156" y="166688"/>
                  </a:cubicBezTo>
                  <a:lnTo>
                    <a:pt x="107156" y="160734"/>
                  </a:lnTo>
                  <a:close/>
                  <a:moveTo>
                    <a:pt x="68461" y="41672"/>
                  </a:moveTo>
                  <a:cubicBezTo>
                    <a:pt x="53653" y="41672"/>
                    <a:pt x="41672" y="53653"/>
                    <a:pt x="41672" y="68461"/>
                  </a:cubicBezTo>
                  <a:cubicBezTo>
                    <a:pt x="41672" y="73409"/>
                    <a:pt x="37691" y="77391"/>
                    <a:pt x="32742" y="77391"/>
                  </a:cubicBezTo>
                  <a:cubicBezTo>
                    <a:pt x="27794" y="77391"/>
                    <a:pt x="23812" y="73409"/>
                    <a:pt x="23812" y="68461"/>
                  </a:cubicBezTo>
                  <a:cubicBezTo>
                    <a:pt x="23812" y="43793"/>
                    <a:pt x="43793" y="23812"/>
                    <a:pt x="68461" y="23812"/>
                  </a:cubicBezTo>
                  <a:cubicBezTo>
                    <a:pt x="73409" y="23812"/>
                    <a:pt x="77391" y="27794"/>
                    <a:pt x="77391" y="32742"/>
                  </a:cubicBezTo>
                  <a:cubicBezTo>
                    <a:pt x="77391" y="37691"/>
                    <a:pt x="73409" y="41672"/>
                    <a:pt x="68461" y="41672"/>
                  </a:cubicBez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32" name="Text 21"/>
            <p:cNvSpPr/>
            <p:nvPr/>
          </p:nvSpPr>
          <p:spPr>
            <a:xfrm>
              <a:off x="10058184" y="6282740"/>
              <a:ext cx="148772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5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图形化配置界面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6" name="Text 24"/>
            <p:cNvSpPr/>
            <p:nvPr/>
          </p:nvSpPr>
          <p:spPr>
            <a:xfrm>
              <a:off x="2326061" y="6303145"/>
              <a:ext cx="6221276" cy="6050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30000"/>
                </a:lnSpc>
                <a:buClr>
                  <a:srgbClr val="8B0000"/>
                </a:buClr>
                <a:buSzPct val="80000"/>
                <a:buFont typeface="Wingdings" panose="05000000000000000000" pitchFamily="2" charset="2"/>
                <a:buChar char="l"/>
              </a:pPr>
              <a:r>
                <a:rPr lang="en-US" altLang="zh-CN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通过直观的画布界面，轻松拖拽各类组件进行规则配置</a:t>
              </a:r>
            </a:p>
            <a:p>
              <a:pPr marL="285750" indent="-285750">
                <a:lnSpc>
                  <a:spcPct val="130000"/>
                </a:lnSpc>
                <a:buClr>
                  <a:srgbClr val="8B0000"/>
                </a:buClr>
                <a:buSzPct val="80000"/>
                <a:buFont typeface="Wingdings" panose="05000000000000000000" pitchFamily="2" charset="2"/>
                <a:buChar char="l"/>
              </a:pPr>
              <a:r>
                <a:rPr 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所见即所得，极大降低配置门槛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945697" y="2295530"/>
            <a:ext cx="10380889" cy="4491716"/>
          </a:xfrm>
          <a:custGeom>
            <a:avLst/>
            <a:gdLst/>
            <a:ahLst/>
            <a:cxnLst/>
            <a:rect l="l" t="t" r="r" b="b"/>
            <a:pathLst>
              <a:path w="5581650" h="3829050">
                <a:moveTo>
                  <a:pt x="0" y="0"/>
                </a:moveTo>
                <a:lnTo>
                  <a:pt x="5581650" y="0"/>
                </a:lnTo>
                <a:lnTo>
                  <a:pt x="5581650" y="3829050"/>
                </a:lnTo>
                <a:lnTo>
                  <a:pt x="0" y="382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2.4 </a:t>
            </a: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RULE EXECUTION FLOW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规则流程配置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pic>
        <p:nvPicPr>
          <p:cNvPr id="22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8611554-2852-3AB4-9C4E-AF0801436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140" y="2382640"/>
            <a:ext cx="9511554" cy="4280327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B9CC05AD-AE69-0A04-4994-6FCE2FA1A7F7}"/>
              </a:ext>
            </a:extLst>
          </p:cNvPr>
          <p:cNvGrpSpPr/>
          <p:nvPr/>
        </p:nvGrpSpPr>
        <p:grpSpPr>
          <a:xfrm>
            <a:off x="968380" y="1429492"/>
            <a:ext cx="10426689" cy="759412"/>
            <a:chOff x="1200161" y="6206538"/>
            <a:chExt cx="10426689" cy="759412"/>
          </a:xfrm>
        </p:grpSpPr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B44A1C5A-B8F4-1D34-F6CC-8C41C2C5A251}"/>
                </a:ext>
              </a:extLst>
            </p:cNvPr>
            <p:cNvSpPr/>
            <p:nvPr/>
          </p:nvSpPr>
          <p:spPr>
            <a:xfrm>
              <a:off x="1200161" y="6209687"/>
              <a:ext cx="45719" cy="756263"/>
            </a:xfrm>
            <a:custGeom>
              <a:avLst/>
              <a:gdLst/>
              <a:ahLst/>
              <a:cxnLst/>
              <a:rect l="l" t="t" r="r" b="b"/>
              <a:pathLst>
                <a:path w="38100" h="2057400">
                  <a:moveTo>
                    <a:pt x="0" y="0"/>
                  </a:moveTo>
                  <a:lnTo>
                    <a:pt x="38100" y="0"/>
                  </a:lnTo>
                  <a:lnTo>
                    <a:pt x="381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26" name="Shape 18">
              <a:extLst>
                <a:ext uri="{FF2B5EF4-FFF2-40B4-BE49-F238E27FC236}">
                  <a16:creationId xmlns:a16="http://schemas.microsoft.com/office/drawing/2014/main" id="{5C1818F4-DE13-79BC-0C9D-6A3C0D4FE0FA}"/>
                </a:ext>
              </a:extLst>
            </p:cNvPr>
            <p:cNvSpPr/>
            <p:nvPr/>
          </p:nvSpPr>
          <p:spPr>
            <a:xfrm>
              <a:off x="1233488" y="6206538"/>
              <a:ext cx="10393362" cy="759412"/>
            </a:xfrm>
            <a:custGeom>
              <a:avLst/>
              <a:gdLst/>
              <a:ahLst/>
              <a:cxnLst/>
              <a:rect l="l" t="t" r="r" b="b"/>
              <a:pathLst>
                <a:path w="7096125" h="2057400">
                  <a:moveTo>
                    <a:pt x="0" y="0"/>
                  </a:moveTo>
                  <a:lnTo>
                    <a:pt x="7096125" y="0"/>
                  </a:lnTo>
                  <a:lnTo>
                    <a:pt x="7096125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  <a:ln/>
          </p:spPr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E2E7F786-DC3D-B5A9-F39C-767296E9BBB1}"/>
                </a:ext>
              </a:extLst>
            </p:cNvPr>
            <p:cNvSpPr/>
            <p:nvPr/>
          </p:nvSpPr>
          <p:spPr>
            <a:xfrm>
              <a:off x="10058184" y="6282740"/>
              <a:ext cx="148772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5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图形化配置界面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87C58375-5084-15F5-609E-52ADF6DB4B08}"/>
                </a:ext>
              </a:extLst>
            </p:cNvPr>
            <p:cNvSpPr/>
            <p:nvPr/>
          </p:nvSpPr>
          <p:spPr>
            <a:xfrm>
              <a:off x="2326061" y="6303145"/>
              <a:ext cx="6221276" cy="6050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30000"/>
                </a:lnSpc>
                <a:buClr>
                  <a:srgbClr val="8B0000"/>
                </a:buClr>
                <a:buSzPct val="80000"/>
                <a:buFont typeface="Wingdings" panose="05000000000000000000" pitchFamily="2" charset="2"/>
                <a:buChar char="l"/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根据条件配置规则执行顺序</a:t>
              </a:r>
              <a:r>
                <a:rPr lang="en-US" altLang="zh-CN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，实现复杂的业务逻辑编</a:t>
              </a: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排</a:t>
              </a:r>
              <a:endPara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endParaRPr>
            </a:p>
            <a:p>
              <a:pPr marL="285750" indent="-285750">
                <a:lnSpc>
                  <a:spcPct val="130000"/>
                </a:lnSpc>
                <a:buClr>
                  <a:srgbClr val="8B0000"/>
                </a:buClr>
                <a:buSzPct val="80000"/>
                <a:buFont typeface="Wingdings" panose="05000000000000000000" pitchFamily="2" charset="2"/>
                <a:buChar char="l"/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规则流程可视化，便于理解与修改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9333820" y="153693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B00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C36FC-3D9D-54A9-A0EA-A5F36081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C09036-B79C-9322-1DBF-03AE46B69085}"/>
              </a:ext>
            </a:extLst>
          </p:cNvPr>
          <p:cNvSpPr/>
          <p:nvPr/>
        </p:nvSpPr>
        <p:spPr>
          <a:xfrm>
            <a:off x="1270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https://kimi-img.moonshot.cn/pub/slides/26-02-07-14:21:21-d63djo940tj8cmhuh0k0.png">
            <a:extLst>
              <a:ext uri="{FF2B5EF4-FFF2-40B4-BE49-F238E27FC236}">
                <a16:creationId xmlns:a16="http://schemas.microsoft.com/office/drawing/2014/main" id="{993A1999-5DBF-21EF-7832-5CB3C0952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20CDD77-D708-3285-33B5-1F63F3B3214E}"/>
              </a:ext>
            </a:extLst>
          </p:cNvPr>
          <p:cNvGrpSpPr/>
          <p:nvPr/>
        </p:nvGrpSpPr>
        <p:grpSpPr>
          <a:xfrm>
            <a:off x="4978400" y="2238375"/>
            <a:ext cx="2235200" cy="2381250"/>
            <a:chOff x="381000" y="1825228"/>
            <a:chExt cx="2235200" cy="238125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1ECA03D0-757B-2098-3BBC-D55045517CA3}"/>
                </a:ext>
              </a:extLst>
            </p:cNvPr>
            <p:cNvSpPr/>
            <p:nvPr/>
          </p:nvSpPr>
          <p:spPr>
            <a:xfrm>
              <a:off x="400050" y="1825228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0800">
              <a:solidFill>
                <a:srgbClr val="8B0000"/>
              </a:solidFill>
              <a:prstDash val="solid"/>
            </a:ln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421B3C4-E781-4A90-23F9-4C5DD8D0F2E4}"/>
                </a:ext>
              </a:extLst>
            </p:cNvPr>
            <p:cNvSpPr/>
            <p:nvPr/>
          </p:nvSpPr>
          <p:spPr>
            <a:xfrm>
              <a:off x="1752600" y="1958578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D7E33EE-A427-4793-7F62-8925D2B8F0B8}"/>
                </a:ext>
              </a:extLst>
            </p:cNvPr>
            <p:cNvSpPr/>
            <p:nvPr/>
          </p:nvSpPr>
          <p:spPr>
            <a:xfrm>
              <a:off x="381000" y="3177778"/>
              <a:ext cx="2235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zh-CN" altLang="en-US" sz="54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组件化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BBA5DD63-416D-0FD5-3F26-EEAABBEDDF95}"/>
                </a:ext>
              </a:extLst>
            </p:cNvPr>
            <p:cNvSpPr/>
            <p:nvPr/>
          </p:nvSpPr>
          <p:spPr>
            <a:xfrm>
              <a:off x="381000" y="4168378"/>
              <a:ext cx="1828800" cy="38100"/>
            </a:xfrm>
            <a:custGeom>
              <a:avLst/>
              <a:gdLst/>
              <a:ahLst/>
              <a:cxnLst/>
              <a:rect l="l" t="t" r="r" b="b"/>
              <a:pathLst>
                <a:path w="1828800" h="38100">
                  <a:moveTo>
                    <a:pt x="0" y="0"/>
                  </a:moveTo>
                  <a:lnTo>
                    <a:pt x="1828800" y="0"/>
                  </a:lnTo>
                  <a:lnTo>
                    <a:pt x="18288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5CA4D790-E3A7-DF19-0F83-2480F1F5481F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6247" y="1846227"/>
              <a:ext cx="902027" cy="9020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878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2.5 </a:t>
            </a: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THREE-LEVEL RULE REUSE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三级规则复用体系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0525" y="1419225"/>
            <a:ext cx="3638550" cy="3333750"/>
          </a:xfrm>
          <a:custGeom>
            <a:avLst/>
            <a:gdLst/>
            <a:ahLst/>
            <a:cxnLst/>
            <a:rect l="l" t="t" r="r" b="b"/>
            <a:pathLst>
              <a:path w="3638550" h="3333750">
                <a:moveTo>
                  <a:pt x="0" y="0"/>
                </a:moveTo>
                <a:lnTo>
                  <a:pt x="3638550" y="0"/>
                </a:lnTo>
                <a:lnTo>
                  <a:pt x="363855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4050" y="16383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69306" y="17811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" y="238125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通用规则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0550" y="28003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大写金额书写规范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0550" y="31051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日期书写规范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0550" y="34099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凭证非复印件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0550" y="4048125"/>
            <a:ext cx="3238500" cy="19050"/>
          </a:xfrm>
          <a:custGeom>
            <a:avLst/>
            <a:gdLst/>
            <a:ahLst/>
            <a:cxnLst/>
            <a:rect l="l" t="t" r="r" b="b"/>
            <a:pathLst>
              <a:path w="3238500" h="19050">
                <a:moveTo>
                  <a:pt x="0" y="0"/>
                </a:moveTo>
                <a:lnTo>
                  <a:pt x="3238500" y="0"/>
                </a:lnTo>
                <a:lnTo>
                  <a:pt x="3238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" y="4171950"/>
            <a:ext cx="3305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优势：</a:t>
            </a:r>
            <a:r>
              <a:rPr lang="en-US" sz="1050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适用于多种凭证类型，配置一次多处复用，规则变更统一生效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76725" y="1419225"/>
            <a:ext cx="3638550" cy="3333750"/>
          </a:xfrm>
          <a:custGeom>
            <a:avLst/>
            <a:gdLst/>
            <a:ahLst/>
            <a:cxnLst/>
            <a:rect l="l" t="t" r="r" b="b"/>
            <a:pathLst>
              <a:path w="3638550" h="3333750">
                <a:moveTo>
                  <a:pt x="0" y="0"/>
                </a:moveTo>
                <a:lnTo>
                  <a:pt x="3638550" y="0"/>
                </a:lnTo>
                <a:lnTo>
                  <a:pt x="363855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0250" y="16383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1225" y="17811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66973" y="142875"/>
                </a:moveTo>
                <a:cubicBezTo>
                  <a:pt x="59550" y="142875"/>
                  <a:pt x="53578" y="148847"/>
                  <a:pt x="53578" y="156270"/>
                </a:cubicBezTo>
                <a:cubicBezTo>
                  <a:pt x="53578" y="163692"/>
                  <a:pt x="59550" y="169664"/>
                  <a:pt x="66973" y="169664"/>
                </a:cubicBezTo>
                <a:lnTo>
                  <a:pt x="147340" y="169664"/>
                </a:lnTo>
                <a:cubicBezTo>
                  <a:pt x="154763" y="169664"/>
                  <a:pt x="160734" y="163692"/>
                  <a:pt x="160734" y="156270"/>
                </a:cubicBezTo>
                <a:cubicBezTo>
                  <a:pt x="160734" y="148847"/>
                  <a:pt x="154763" y="142875"/>
                  <a:pt x="147340" y="142875"/>
                </a:cubicBezTo>
                <a:lnTo>
                  <a:pt x="66973" y="142875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47340" y="223242"/>
                </a:lnTo>
                <a:cubicBezTo>
                  <a:pt x="154763" y="223242"/>
                  <a:pt x="160734" y="217270"/>
                  <a:pt x="160734" y="209848"/>
                </a:cubicBezTo>
                <a:cubicBezTo>
                  <a:pt x="160734" y="202425"/>
                  <a:pt x="154763" y="196453"/>
                  <a:pt x="147340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429125" y="238125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凭证规则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76750" y="28003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单位结算业务申请书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76750" y="31051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转账支票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76750" y="34099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借款借据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76750" y="4048125"/>
            <a:ext cx="3238500" cy="19050"/>
          </a:xfrm>
          <a:custGeom>
            <a:avLst/>
            <a:gdLst/>
            <a:ahLst/>
            <a:cxnLst/>
            <a:rect l="l" t="t" r="r" b="b"/>
            <a:pathLst>
              <a:path w="3238500" h="19050">
                <a:moveTo>
                  <a:pt x="0" y="0"/>
                </a:moveTo>
                <a:lnTo>
                  <a:pt x="3238500" y="0"/>
                </a:lnTo>
                <a:lnTo>
                  <a:pt x="3238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476750" y="4171950"/>
            <a:ext cx="3305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优势：</a:t>
            </a:r>
            <a:r>
              <a:rPr lang="en-US" sz="1050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可引用通用规则，配置凭证特有规则</a:t>
            </a:r>
            <a:r>
              <a:rPr lang="en-US" sz="105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，可复用到多个场景</a:t>
            </a:r>
            <a:r>
              <a:rPr lang="zh-CN" altLang="en-US" sz="105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62925" y="1419225"/>
            <a:ext cx="3638550" cy="3333750"/>
          </a:xfrm>
          <a:custGeom>
            <a:avLst/>
            <a:gdLst/>
            <a:ahLst/>
            <a:cxnLst/>
            <a:rect l="l" t="t" r="r" b="b"/>
            <a:pathLst>
              <a:path w="3638550" h="3333750">
                <a:moveTo>
                  <a:pt x="0" y="0"/>
                </a:moveTo>
                <a:lnTo>
                  <a:pt x="3638550" y="0"/>
                </a:lnTo>
                <a:lnTo>
                  <a:pt x="363855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6450" y="16383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1706" y="17811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11621" y="26789"/>
                </a:moveTo>
                <a:lnTo>
                  <a:pt x="174129" y="26789"/>
                </a:lnTo>
                <a:cubicBezTo>
                  <a:pt x="176585" y="26789"/>
                  <a:pt x="178594" y="28798"/>
                  <a:pt x="178594" y="31254"/>
                </a:cubicBezTo>
                <a:lnTo>
                  <a:pt x="178594" y="53578"/>
                </a:lnTo>
                <a:lnTo>
                  <a:pt x="107156" y="53578"/>
                </a:lnTo>
                <a:lnTo>
                  <a:pt x="107156" y="31254"/>
                </a:lnTo>
                <a:cubicBezTo>
                  <a:pt x="107156" y="28798"/>
                  <a:pt x="109165" y="26789"/>
                  <a:pt x="111621" y="26789"/>
                </a:cubicBezTo>
                <a:close/>
                <a:moveTo>
                  <a:pt x="80367" y="31254"/>
                </a:moveTo>
                <a:lnTo>
                  <a:pt x="80367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142875"/>
                </a:lnTo>
                <a:lnTo>
                  <a:pt x="285750" y="142875"/>
                </a:ln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5383" y="53578"/>
                </a:lnTo>
                <a:lnTo>
                  <a:pt x="205383" y="31254"/>
                </a:lnTo>
                <a:cubicBezTo>
                  <a:pt x="205383" y="14008"/>
                  <a:pt x="191374" y="0"/>
                  <a:pt x="174129" y="0"/>
                </a:cubicBezTo>
                <a:lnTo>
                  <a:pt x="111621" y="0"/>
                </a:lnTo>
                <a:cubicBezTo>
                  <a:pt x="94376" y="0"/>
                  <a:pt x="80367" y="14008"/>
                  <a:pt x="80367" y="31254"/>
                </a:cubicBezTo>
                <a:close/>
                <a:moveTo>
                  <a:pt x="285750" y="169664"/>
                </a:moveTo>
                <a:lnTo>
                  <a:pt x="178594" y="169664"/>
                </a:lnTo>
                <a:lnTo>
                  <a:pt x="178594" y="178594"/>
                </a:lnTo>
                <a:cubicBezTo>
                  <a:pt x="178594" y="188472"/>
                  <a:pt x="170613" y="196453"/>
                  <a:pt x="160734" y="196453"/>
                </a:cubicBezTo>
                <a:lnTo>
                  <a:pt x="125016" y="196453"/>
                </a:lnTo>
                <a:cubicBezTo>
                  <a:pt x="115137" y="196453"/>
                  <a:pt x="107156" y="188472"/>
                  <a:pt x="107156" y="178594"/>
                </a:cubicBezTo>
                <a:lnTo>
                  <a:pt x="107156" y="169664"/>
                </a:lnTo>
                <a:lnTo>
                  <a:pt x="0" y="169664"/>
                </a:ln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16966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315325" y="238125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场景规则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2950" y="28003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行内转账场景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62950" y="31051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对公开户场景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62950" y="34099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放款审核场景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62950" y="4048125"/>
            <a:ext cx="3238500" cy="19050"/>
          </a:xfrm>
          <a:custGeom>
            <a:avLst/>
            <a:gdLst/>
            <a:ahLst/>
            <a:cxnLst/>
            <a:rect l="l" t="t" r="r" b="b"/>
            <a:pathLst>
              <a:path w="3238500" h="19050">
                <a:moveTo>
                  <a:pt x="0" y="0"/>
                </a:moveTo>
                <a:lnTo>
                  <a:pt x="3238500" y="0"/>
                </a:lnTo>
                <a:lnTo>
                  <a:pt x="3238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362950" y="4171950"/>
            <a:ext cx="3305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优势：</a:t>
            </a:r>
            <a:r>
              <a:rPr lang="en-US" sz="1050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一键引用凭证所有规则，配置场景专有规则，快速上线新业务场景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00050" y="4972050"/>
            <a:ext cx="11391900" cy="1485900"/>
          </a:xfrm>
          <a:custGeom>
            <a:avLst/>
            <a:gdLst/>
            <a:ahLst/>
            <a:cxnLst/>
            <a:rect l="l" t="t" r="r" b="b"/>
            <a:pathLst>
              <a:path w="11391900" h="1485900">
                <a:moveTo>
                  <a:pt x="0" y="0"/>
                </a:moveTo>
                <a:lnTo>
                  <a:pt x="11391900" y="0"/>
                </a:lnTo>
                <a:lnTo>
                  <a:pt x="113919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24550" y="51816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3819525" y="5638800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复用效率提升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87651" y="5892800"/>
            <a:ext cx="6616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3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组件化的规则管理方式，</a:t>
            </a:r>
            <a:r>
              <a:rPr lang="en-US" sz="13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减少重复</a:t>
            </a:r>
            <a:r>
              <a:rPr lang="zh-CN" altLang="en-US" sz="13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工作</a:t>
            </a:r>
            <a:r>
              <a:rPr lang="en-US" sz="13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，提升规则配置效率</a:t>
            </a:r>
            <a:r>
              <a:rPr lang="zh-CN" altLang="en-US" sz="13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，审核标准统一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6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41871-4B96-95C6-C832-195347A7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DCDF82-A3C4-74A2-FBDB-A7EE336672C2}"/>
              </a:ext>
            </a:extLst>
          </p:cNvPr>
          <p:cNvSpPr/>
          <p:nvPr/>
        </p:nvSpPr>
        <p:spPr>
          <a:xfrm>
            <a:off x="1270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https://kimi-img.moonshot.cn/pub/slides/26-02-07-14:21:21-d63djo940tj8cmhuh0k0.png">
            <a:extLst>
              <a:ext uri="{FF2B5EF4-FFF2-40B4-BE49-F238E27FC236}">
                <a16:creationId xmlns:a16="http://schemas.microsoft.com/office/drawing/2014/main" id="{12E4C447-D878-AD74-5698-CE5C92963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50AF31B-123A-7A8F-87EB-0F7A48711E91}"/>
              </a:ext>
            </a:extLst>
          </p:cNvPr>
          <p:cNvGrpSpPr/>
          <p:nvPr/>
        </p:nvGrpSpPr>
        <p:grpSpPr>
          <a:xfrm>
            <a:off x="4978400" y="2238375"/>
            <a:ext cx="2235200" cy="2381250"/>
            <a:chOff x="381000" y="1825228"/>
            <a:chExt cx="2235200" cy="238125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CE0BE74A-D1CE-5B0E-3F32-8B68D2B23BC3}"/>
                </a:ext>
              </a:extLst>
            </p:cNvPr>
            <p:cNvSpPr/>
            <p:nvPr/>
          </p:nvSpPr>
          <p:spPr>
            <a:xfrm>
              <a:off x="400050" y="1825228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0800">
              <a:solidFill>
                <a:srgbClr val="8B0000"/>
              </a:solidFill>
              <a:prstDash val="solid"/>
            </a:ln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DD33B51-7FFB-8A88-F06B-13B1AFD84939}"/>
                </a:ext>
              </a:extLst>
            </p:cNvPr>
            <p:cNvSpPr/>
            <p:nvPr/>
          </p:nvSpPr>
          <p:spPr>
            <a:xfrm>
              <a:off x="1752600" y="1958578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2355EE0-B527-C564-1379-364A66CCD755}"/>
                </a:ext>
              </a:extLst>
            </p:cNvPr>
            <p:cNvSpPr/>
            <p:nvPr/>
          </p:nvSpPr>
          <p:spPr>
            <a:xfrm>
              <a:off x="381000" y="3177778"/>
              <a:ext cx="2235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zh-CN" altLang="en-US" sz="540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智能化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D4C76BC2-88CA-1BD6-8DB6-B0D622BC1DEF}"/>
                </a:ext>
              </a:extLst>
            </p:cNvPr>
            <p:cNvSpPr/>
            <p:nvPr/>
          </p:nvSpPr>
          <p:spPr>
            <a:xfrm>
              <a:off x="381000" y="4168378"/>
              <a:ext cx="1828800" cy="38100"/>
            </a:xfrm>
            <a:custGeom>
              <a:avLst/>
              <a:gdLst/>
              <a:ahLst/>
              <a:cxnLst/>
              <a:rect l="l" t="t" r="r" b="b"/>
              <a:pathLst>
                <a:path w="1828800" h="38100">
                  <a:moveTo>
                    <a:pt x="0" y="0"/>
                  </a:moveTo>
                  <a:lnTo>
                    <a:pt x="1828800" y="0"/>
                  </a:lnTo>
                  <a:lnTo>
                    <a:pt x="18288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</p:grpSp>
      <p:pic>
        <p:nvPicPr>
          <p:cNvPr id="11" name="图形 10">
            <a:extLst>
              <a:ext uri="{FF2B5EF4-FFF2-40B4-BE49-F238E27FC236}">
                <a16:creationId xmlns:a16="http://schemas.microsoft.com/office/drawing/2014/main" id="{EF27C262-0AF6-9191-C773-E73E7504264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8250" y="2266950"/>
            <a:ext cx="908050" cy="90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927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2.6 RULE ENGINE </a:t>
            </a:r>
            <a:r>
              <a:rPr lang="en-US" altLang="zh-CN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AND LLM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规则计算：规则引擎</a:t>
            </a:r>
            <a:r>
              <a:rPr lang="zh-CN" alt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与大模型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0525" y="1869856"/>
            <a:ext cx="5616000" cy="144000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0" y="0"/>
                </a:moveTo>
                <a:lnTo>
                  <a:pt x="5581650" y="0"/>
                </a:lnTo>
                <a:lnTo>
                  <a:pt x="55816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28650" y="19403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338" y="209278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14450" y="2073731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业务规则与代码解耦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8650" y="2441123"/>
            <a:ext cx="5213350" cy="79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基于Drools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规则引擎，实现业务规则与应用程序代码的解耦。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8143" y="3401998"/>
            <a:ext cx="5616000" cy="144000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0" y="0"/>
                </a:moveTo>
                <a:lnTo>
                  <a:pt x="5581650" y="0"/>
                </a:lnTo>
                <a:lnTo>
                  <a:pt x="55816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877" y="3471376"/>
            <a:ext cx="550444" cy="524727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91146" y="3621298"/>
            <a:ext cx="235904" cy="224883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41590" y="3602558"/>
            <a:ext cx="1867577" cy="262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动态规则热更新能力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3877" y="3900071"/>
            <a:ext cx="5347167" cy="83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支持运行时动态加载和更新规则，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规则修改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无需重启服务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25264" y="1869856"/>
            <a:ext cx="5616000" cy="1440000"/>
          </a:xfrm>
          <a:custGeom>
            <a:avLst/>
            <a:gdLst/>
            <a:ahLst/>
            <a:cxnLst/>
            <a:rect l="l" t="t" r="r" b="b"/>
            <a:pathLst>
              <a:path w="5581650" h="1905000">
                <a:moveTo>
                  <a:pt x="0" y="0"/>
                </a:moveTo>
                <a:lnTo>
                  <a:pt x="5581650" y="0"/>
                </a:lnTo>
                <a:lnTo>
                  <a:pt x="558165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3389" y="19596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1502" y="211206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28575"/>
                </a:lnTo>
                <a:lnTo>
                  <a:pt x="142875" y="28575"/>
                </a:lnTo>
                <a:cubicBezTo>
                  <a:pt x="150778" y="28575"/>
                  <a:pt x="157163" y="34960"/>
                  <a:pt x="157163" y="42863"/>
                </a:cubicBezTo>
                <a:cubicBezTo>
                  <a:pt x="157163" y="50765"/>
                  <a:pt x="150778" y="57150"/>
                  <a:pt x="142875" y="57150"/>
                </a:cubicBezTo>
                <a:lnTo>
                  <a:pt x="138589" y="57150"/>
                </a:lnTo>
                <a:lnTo>
                  <a:pt x="134838" y="67464"/>
                </a:lnTo>
                <a:cubicBezTo>
                  <a:pt x="127516" y="87645"/>
                  <a:pt x="116488" y="106085"/>
                  <a:pt x="102602" y="121935"/>
                </a:cubicBezTo>
                <a:cubicBezTo>
                  <a:pt x="108942" y="125864"/>
                  <a:pt x="115550" y="129347"/>
                  <a:pt x="122426" y="132427"/>
                </a:cubicBezTo>
                <a:lnTo>
                  <a:pt x="144929" y="142429"/>
                </a:lnTo>
                <a:lnTo>
                  <a:pt x="172700" y="79921"/>
                </a:lnTo>
                <a:cubicBezTo>
                  <a:pt x="174977" y="74741"/>
                  <a:pt x="180112" y="71438"/>
                  <a:pt x="185737" y="71438"/>
                </a:cubicBezTo>
                <a:cubicBezTo>
                  <a:pt x="191363" y="71438"/>
                  <a:pt x="196498" y="74741"/>
                  <a:pt x="198775" y="79921"/>
                </a:cubicBezTo>
                <a:lnTo>
                  <a:pt x="255925" y="208508"/>
                </a:lnTo>
                <a:cubicBezTo>
                  <a:pt x="259140" y="215741"/>
                  <a:pt x="255880" y="224180"/>
                  <a:pt x="248692" y="227350"/>
                </a:cubicBezTo>
                <a:cubicBezTo>
                  <a:pt x="241503" y="230520"/>
                  <a:pt x="233020" y="227305"/>
                  <a:pt x="229850" y="220117"/>
                </a:cubicBezTo>
                <a:lnTo>
                  <a:pt x="220920" y="200025"/>
                </a:lnTo>
                <a:lnTo>
                  <a:pt x="150599" y="200025"/>
                </a:lnTo>
                <a:lnTo>
                  <a:pt x="141669" y="220117"/>
                </a:lnTo>
                <a:cubicBezTo>
                  <a:pt x="138455" y="227350"/>
                  <a:pt x="130016" y="230565"/>
                  <a:pt x="122828" y="227350"/>
                </a:cubicBezTo>
                <a:cubicBezTo>
                  <a:pt x="115639" y="224135"/>
                  <a:pt x="112380" y="215697"/>
                  <a:pt x="115595" y="208508"/>
                </a:cubicBezTo>
                <a:lnTo>
                  <a:pt x="133365" y="168548"/>
                </a:lnTo>
                <a:lnTo>
                  <a:pt x="110862" y="158547"/>
                </a:lnTo>
                <a:cubicBezTo>
                  <a:pt x="100593" y="153992"/>
                  <a:pt x="90770" y="148545"/>
                  <a:pt x="81483" y="142295"/>
                </a:cubicBezTo>
                <a:cubicBezTo>
                  <a:pt x="71973" y="149974"/>
                  <a:pt x="61570" y="156671"/>
                  <a:pt x="50453" y="162252"/>
                </a:cubicBezTo>
                <a:lnTo>
                  <a:pt x="34960" y="169932"/>
                </a:lnTo>
                <a:cubicBezTo>
                  <a:pt x="27905" y="173459"/>
                  <a:pt x="19333" y="170602"/>
                  <a:pt x="15806" y="163547"/>
                </a:cubicBezTo>
                <a:cubicBezTo>
                  <a:pt x="12278" y="156493"/>
                  <a:pt x="15136" y="147920"/>
                  <a:pt x="22190" y="144393"/>
                </a:cubicBezTo>
                <a:lnTo>
                  <a:pt x="37594" y="136669"/>
                </a:lnTo>
                <a:cubicBezTo>
                  <a:pt x="44872" y="133008"/>
                  <a:pt x="51792" y="128766"/>
                  <a:pt x="58311" y="124033"/>
                </a:cubicBezTo>
                <a:cubicBezTo>
                  <a:pt x="52149" y="118363"/>
                  <a:pt x="46345" y="112246"/>
                  <a:pt x="40943" y="105772"/>
                </a:cubicBezTo>
                <a:lnTo>
                  <a:pt x="36433" y="100325"/>
                </a:lnTo>
                <a:cubicBezTo>
                  <a:pt x="31388" y="94253"/>
                  <a:pt x="32192" y="85234"/>
                  <a:pt x="38264" y="80189"/>
                </a:cubicBezTo>
                <a:cubicBezTo>
                  <a:pt x="44336" y="75143"/>
                  <a:pt x="53355" y="75947"/>
                  <a:pt x="58400" y="82019"/>
                </a:cubicBezTo>
                <a:lnTo>
                  <a:pt x="62954" y="87466"/>
                </a:lnTo>
                <a:cubicBezTo>
                  <a:pt x="68089" y="93672"/>
                  <a:pt x="73715" y="99432"/>
                  <a:pt x="79653" y="104745"/>
                </a:cubicBezTo>
                <a:cubicBezTo>
                  <a:pt x="91931" y="91172"/>
                  <a:pt x="101620" y="75233"/>
                  <a:pt x="108005" y="57686"/>
                </a:cubicBezTo>
                <a:lnTo>
                  <a:pt x="108228" y="57150"/>
                </a:lnTo>
                <a:lnTo>
                  <a:pt x="14332" y="57150"/>
                </a:lnTo>
                <a:cubicBezTo>
                  <a:pt x="6385" y="57150"/>
                  <a:pt x="0" y="50765"/>
                  <a:pt x="0" y="42863"/>
                </a:cubicBezTo>
                <a:cubicBezTo>
                  <a:pt x="0" y="34960"/>
                  <a:pt x="6385" y="28575"/>
                  <a:pt x="14288" y="28575"/>
                </a:cubicBezTo>
                <a:lnTo>
                  <a:pt x="57150" y="28575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85738" y="120908"/>
                </a:moveTo>
                <a:lnTo>
                  <a:pt x="163279" y="171450"/>
                </a:lnTo>
                <a:lnTo>
                  <a:pt x="208196" y="171450"/>
                </a:lnTo>
                <a:lnTo>
                  <a:pt x="185738" y="12090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49188" y="2093013"/>
            <a:ext cx="22996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声明式规则语法</a:t>
            </a: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便于理解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3389" y="2460405"/>
            <a:ext cx="51816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采用接近自然语言的规则描述方式，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业务人员可直接理解和维护规则。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5739" y="3410214"/>
            <a:ext cx="5616000" cy="1440000"/>
          </a:xfrm>
          <a:custGeom>
            <a:avLst/>
            <a:gdLst/>
            <a:ahLst/>
            <a:cxnLst/>
            <a:rect l="l" t="t" r="r" b="b"/>
            <a:pathLst>
              <a:path w="5581650" h="1905000">
                <a:moveTo>
                  <a:pt x="0" y="0"/>
                </a:moveTo>
                <a:lnTo>
                  <a:pt x="5581650" y="0"/>
                </a:lnTo>
                <a:lnTo>
                  <a:pt x="558165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3864" y="350002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606264" y="36524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139664" y="3633371"/>
            <a:ext cx="276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构建的规则网络计算效率高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53864" y="4000763"/>
            <a:ext cx="51816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通过构建高效的规则网络，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减少重复计算，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提升匹配效率。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8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grpSp>
        <p:nvGrpSpPr>
          <p:cNvPr id="90" name="组合 89">
            <a:extLst>
              <a:ext uri="{FF2B5EF4-FFF2-40B4-BE49-F238E27FC236}">
                <a16:creationId xmlns:a16="http://schemas.microsoft.com/office/drawing/2014/main" id="{0E425DB4-1F68-49CA-FDD8-136040610584}"/>
              </a:ext>
            </a:extLst>
          </p:cNvPr>
          <p:cNvGrpSpPr/>
          <p:nvPr/>
        </p:nvGrpSpPr>
        <p:grpSpPr>
          <a:xfrm>
            <a:off x="379642" y="5466348"/>
            <a:ext cx="3638550" cy="1167591"/>
            <a:chOff x="379642" y="4743352"/>
            <a:chExt cx="3638550" cy="1167591"/>
          </a:xfrm>
        </p:grpSpPr>
        <p:sp>
          <p:nvSpPr>
            <p:cNvPr id="46" name="Shape 3">
              <a:extLst>
                <a:ext uri="{FF2B5EF4-FFF2-40B4-BE49-F238E27FC236}">
                  <a16:creationId xmlns:a16="http://schemas.microsoft.com/office/drawing/2014/main" id="{69C5B6C2-0583-80AC-E431-B8609707B987}"/>
                </a:ext>
              </a:extLst>
            </p:cNvPr>
            <p:cNvSpPr/>
            <p:nvPr/>
          </p:nvSpPr>
          <p:spPr>
            <a:xfrm>
              <a:off x="379642" y="4743352"/>
              <a:ext cx="3638550" cy="1167591"/>
            </a:xfrm>
            <a:custGeom>
              <a:avLst/>
              <a:gdLst/>
              <a:ahLst/>
              <a:cxnLst/>
              <a:rect l="l" t="t" r="r" b="b"/>
              <a:pathLst>
                <a:path w="3638550" h="4343400">
                  <a:moveTo>
                    <a:pt x="0" y="0"/>
                  </a:moveTo>
                  <a:lnTo>
                    <a:pt x="3638550" y="0"/>
                  </a:lnTo>
                  <a:lnTo>
                    <a:pt x="3638550" y="4343400"/>
                  </a:lnTo>
                  <a:lnTo>
                    <a:pt x="0" y="434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47" name="Shape 4">
              <a:extLst>
                <a:ext uri="{FF2B5EF4-FFF2-40B4-BE49-F238E27FC236}">
                  <a16:creationId xmlns:a16="http://schemas.microsoft.com/office/drawing/2014/main" id="{021E1740-3FC9-3039-6303-9DEF97AC958E}"/>
                </a:ext>
              </a:extLst>
            </p:cNvPr>
            <p:cNvSpPr/>
            <p:nvPr/>
          </p:nvSpPr>
          <p:spPr>
            <a:xfrm>
              <a:off x="617767" y="495574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ECF6620B-F946-152E-7A5E-F3894FBAB099}"/>
                </a:ext>
              </a:extLst>
            </p:cNvPr>
            <p:cNvSpPr/>
            <p:nvPr/>
          </p:nvSpPr>
          <p:spPr>
            <a:xfrm>
              <a:off x="770167" y="510814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3578" y="25003"/>
                  </a:moveTo>
                  <a:cubicBezTo>
                    <a:pt x="53578" y="11207"/>
                    <a:pt x="64785" y="0"/>
                    <a:pt x="78581" y="0"/>
                  </a:cubicBezTo>
                  <a:lnTo>
                    <a:pt x="89297" y="0"/>
                  </a:lnTo>
                  <a:cubicBezTo>
                    <a:pt x="97200" y="0"/>
                    <a:pt x="103584" y="6385"/>
                    <a:pt x="103584" y="14288"/>
                  </a:cubicBezTo>
                  <a:lnTo>
                    <a:pt x="103584" y="214313"/>
                  </a:lnTo>
                  <a:cubicBezTo>
                    <a:pt x="103584" y="222215"/>
                    <a:pt x="97200" y="228600"/>
                    <a:pt x="89297" y="228600"/>
                  </a:cubicBezTo>
                  <a:lnTo>
                    <a:pt x="75009" y="228600"/>
                  </a:lnTo>
                  <a:cubicBezTo>
                    <a:pt x="61704" y="228600"/>
                    <a:pt x="50497" y="219492"/>
                    <a:pt x="47327" y="207169"/>
                  </a:cubicBezTo>
                  <a:cubicBezTo>
                    <a:pt x="47015" y="207169"/>
                    <a:pt x="46747" y="207169"/>
                    <a:pt x="46434" y="207169"/>
                  </a:cubicBezTo>
                  <a:cubicBezTo>
                    <a:pt x="26700" y="207169"/>
                    <a:pt x="10716" y="191185"/>
                    <a:pt x="10716" y="171450"/>
                  </a:cubicBezTo>
                  <a:cubicBezTo>
                    <a:pt x="10716" y="163413"/>
                    <a:pt x="13395" y="156002"/>
                    <a:pt x="17859" y="150019"/>
                  </a:cubicBezTo>
                  <a:cubicBezTo>
                    <a:pt x="9198" y="143500"/>
                    <a:pt x="3572" y="133142"/>
                    <a:pt x="3572" y="121444"/>
                  </a:cubicBezTo>
                  <a:cubicBezTo>
                    <a:pt x="3572" y="107647"/>
                    <a:pt x="11430" y="95637"/>
                    <a:pt x="22860" y="89699"/>
                  </a:cubicBezTo>
                  <a:cubicBezTo>
                    <a:pt x="19690" y="84341"/>
                    <a:pt x="17859" y="78090"/>
                    <a:pt x="17859" y="71438"/>
                  </a:cubicBezTo>
                  <a:cubicBezTo>
                    <a:pt x="17859" y="51703"/>
                    <a:pt x="33844" y="35719"/>
                    <a:pt x="53578" y="35719"/>
                  </a:cubicBezTo>
                  <a:lnTo>
                    <a:pt x="53578" y="25003"/>
                  </a:lnTo>
                  <a:close/>
                  <a:moveTo>
                    <a:pt x="175022" y="25003"/>
                  </a:moveTo>
                  <a:lnTo>
                    <a:pt x="175022" y="35719"/>
                  </a:lnTo>
                  <a:cubicBezTo>
                    <a:pt x="194756" y="35719"/>
                    <a:pt x="210741" y="51703"/>
                    <a:pt x="210741" y="71438"/>
                  </a:cubicBezTo>
                  <a:cubicBezTo>
                    <a:pt x="210741" y="78135"/>
                    <a:pt x="208910" y="84386"/>
                    <a:pt x="205740" y="89699"/>
                  </a:cubicBezTo>
                  <a:cubicBezTo>
                    <a:pt x="217215" y="95637"/>
                    <a:pt x="225028" y="107603"/>
                    <a:pt x="225028" y="121444"/>
                  </a:cubicBezTo>
                  <a:cubicBezTo>
                    <a:pt x="225028" y="133142"/>
                    <a:pt x="219402" y="143500"/>
                    <a:pt x="210741" y="150019"/>
                  </a:cubicBezTo>
                  <a:cubicBezTo>
                    <a:pt x="215205" y="156002"/>
                    <a:pt x="217884" y="163413"/>
                    <a:pt x="217884" y="171450"/>
                  </a:cubicBezTo>
                  <a:cubicBezTo>
                    <a:pt x="217884" y="191185"/>
                    <a:pt x="201900" y="207169"/>
                    <a:pt x="182166" y="207169"/>
                  </a:cubicBezTo>
                  <a:cubicBezTo>
                    <a:pt x="181853" y="207169"/>
                    <a:pt x="181585" y="207169"/>
                    <a:pt x="181273" y="207169"/>
                  </a:cubicBezTo>
                  <a:cubicBezTo>
                    <a:pt x="178103" y="219492"/>
                    <a:pt x="166896" y="228600"/>
                    <a:pt x="153591" y="228600"/>
                  </a:cubicBezTo>
                  <a:lnTo>
                    <a:pt x="139303" y="228600"/>
                  </a:lnTo>
                  <a:cubicBezTo>
                    <a:pt x="131400" y="228600"/>
                    <a:pt x="125016" y="222215"/>
                    <a:pt x="125016" y="214313"/>
                  </a:cubicBezTo>
                  <a:lnTo>
                    <a:pt x="125016" y="14288"/>
                  </a:lnTo>
                  <a:cubicBezTo>
                    <a:pt x="125016" y="6385"/>
                    <a:pt x="131400" y="0"/>
                    <a:pt x="139303" y="0"/>
                  </a:cubicBezTo>
                  <a:lnTo>
                    <a:pt x="150019" y="0"/>
                  </a:lnTo>
                  <a:cubicBezTo>
                    <a:pt x="163815" y="0"/>
                    <a:pt x="175022" y="11207"/>
                    <a:pt x="175022" y="2500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9" name="Text 6">
              <a:extLst>
                <a:ext uri="{FF2B5EF4-FFF2-40B4-BE49-F238E27FC236}">
                  <a16:creationId xmlns:a16="http://schemas.microsoft.com/office/drawing/2014/main" id="{8308DF3F-4813-6E0D-D329-53642771D769}"/>
                </a:ext>
              </a:extLst>
            </p:cNvPr>
            <p:cNvSpPr/>
            <p:nvPr/>
          </p:nvSpPr>
          <p:spPr>
            <a:xfrm>
              <a:off x="1265467" y="4993841"/>
              <a:ext cx="1295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Qwen3-32B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532D4075-1DD9-A898-4041-57F552F16FCC}"/>
                </a:ext>
              </a:extLst>
            </p:cNvPr>
            <p:cNvSpPr/>
            <p:nvPr/>
          </p:nvSpPr>
          <p:spPr>
            <a:xfrm>
              <a:off x="1265466" y="5233326"/>
              <a:ext cx="2645225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生产大部分场景</a:t>
              </a:r>
              <a:r>
                <a:rPr lang="zh-CN" altLang="en-US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在</a:t>
              </a:r>
              <a:r>
                <a:rPr lang="en-US" altLang="zh-CN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用</a:t>
              </a:r>
              <a:r>
                <a:rPr lang="zh-CN" altLang="en-US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，泛化能力好，但是速度较慢、准确率较低。</a:t>
              </a:r>
              <a:endParaRPr lang="en-US" altLang="zh-CN" sz="105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1ADBE90-3CBE-C0B3-ED55-197521DCA616}"/>
              </a:ext>
            </a:extLst>
          </p:cNvPr>
          <p:cNvGrpSpPr/>
          <p:nvPr/>
        </p:nvGrpSpPr>
        <p:grpSpPr>
          <a:xfrm>
            <a:off x="4282168" y="5473277"/>
            <a:ext cx="3638550" cy="1167591"/>
            <a:chOff x="4276725" y="4663193"/>
            <a:chExt cx="3638550" cy="1167591"/>
          </a:xfrm>
        </p:grpSpPr>
        <p:sp>
          <p:nvSpPr>
            <p:cNvPr id="61" name="Shape 17">
              <a:extLst>
                <a:ext uri="{FF2B5EF4-FFF2-40B4-BE49-F238E27FC236}">
                  <a16:creationId xmlns:a16="http://schemas.microsoft.com/office/drawing/2014/main" id="{ADF1D05E-12D6-6F2A-28A3-D643A7CE9DBF}"/>
                </a:ext>
              </a:extLst>
            </p:cNvPr>
            <p:cNvSpPr/>
            <p:nvPr/>
          </p:nvSpPr>
          <p:spPr>
            <a:xfrm>
              <a:off x="4276725" y="4663193"/>
              <a:ext cx="3638550" cy="1167591"/>
            </a:xfrm>
            <a:custGeom>
              <a:avLst/>
              <a:gdLst/>
              <a:ahLst/>
              <a:cxnLst/>
              <a:rect l="l" t="t" r="r" b="b"/>
              <a:pathLst>
                <a:path w="3638550" h="4343400">
                  <a:moveTo>
                    <a:pt x="0" y="0"/>
                  </a:moveTo>
                  <a:lnTo>
                    <a:pt x="3638550" y="0"/>
                  </a:lnTo>
                  <a:lnTo>
                    <a:pt x="3638550" y="4343400"/>
                  </a:lnTo>
                  <a:lnTo>
                    <a:pt x="0" y="434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62" name="Shape 18">
              <a:extLst>
                <a:ext uri="{FF2B5EF4-FFF2-40B4-BE49-F238E27FC236}">
                  <a16:creationId xmlns:a16="http://schemas.microsoft.com/office/drawing/2014/main" id="{75BBE07D-CAC3-311E-E74B-82B6B34737F5}"/>
                </a:ext>
              </a:extLst>
            </p:cNvPr>
            <p:cNvSpPr/>
            <p:nvPr/>
          </p:nvSpPr>
          <p:spPr>
            <a:xfrm>
              <a:off x="4514850" y="490131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63" name="Shape 19">
              <a:extLst>
                <a:ext uri="{FF2B5EF4-FFF2-40B4-BE49-F238E27FC236}">
                  <a16:creationId xmlns:a16="http://schemas.microsoft.com/office/drawing/2014/main" id="{A08A3451-5BFA-5384-55EE-756612BC9DBA}"/>
                </a:ext>
              </a:extLst>
            </p:cNvPr>
            <p:cNvSpPr/>
            <p:nvPr/>
          </p:nvSpPr>
          <p:spPr>
            <a:xfrm>
              <a:off x="4638675" y="5053718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57163" y="0"/>
                  </a:moveTo>
                  <a:cubicBezTo>
                    <a:pt x="157163" y="-7903"/>
                    <a:pt x="150778" y="-14287"/>
                    <a:pt x="142875" y="-14287"/>
                  </a:cubicBezTo>
                  <a:cubicBezTo>
                    <a:pt x="134972" y="-14287"/>
                    <a:pt x="128588" y="-7903"/>
                    <a:pt x="128588" y="0"/>
                  </a:cubicBezTo>
                  <a:lnTo>
                    <a:pt x="128588" y="28575"/>
                  </a:lnTo>
                  <a:lnTo>
                    <a:pt x="85725" y="28575"/>
                  </a:lnTo>
                  <a:cubicBezTo>
                    <a:pt x="62061" y="28575"/>
                    <a:pt x="42863" y="47774"/>
                    <a:pt x="42863" y="71438"/>
                  </a:cubicBezTo>
                  <a:lnTo>
                    <a:pt x="42863" y="171450"/>
                  </a:lnTo>
                  <a:cubicBezTo>
                    <a:pt x="42863" y="195114"/>
                    <a:pt x="62061" y="214313"/>
                    <a:pt x="85725" y="214313"/>
                  </a:cubicBezTo>
                  <a:lnTo>
                    <a:pt x="200025" y="214313"/>
                  </a:lnTo>
                  <a:cubicBezTo>
                    <a:pt x="223689" y="214313"/>
                    <a:pt x="242888" y="195114"/>
                    <a:pt x="242888" y="171450"/>
                  </a:cubicBezTo>
                  <a:lnTo>
                    <a:pt x="242888" y="71438"/>
                  </a:lnTo>
                  <a:cubicBezTo>
                    <a:pt x="242888" y="47774"/>
                    <a:pt x="223689" y="28575"/>
                    <a:pt x="200025" y="28575"/>
                  </a:cubicBezTo>
                  <a:lnTo>
                    <a:pt x="157163" y="28575"/>
                  </a:lnTo>
                  <a:lnTo>
                    <a:pt x="157163" y="0"/>
                  </a:lnTo>
                  <a:close/>
                  <a:moveTo>
                    <a:pt x="71438" y="164306"/>
                  </a:moveTo>
                  <a:cubicBezTo>
                    <a:pt x="71438" y="158368"/>
                    <a:pt x="76215" y="153591"/>
                    <a:pt x="82153" y="153591"/>
                  </a:cubicBezTo>
                  <a:lnTo>
                    <a:pt x="96441" y="153591"/>
                  </a:lnTo>
                  <a:cubicBezTo>
                    <a:pt x="102379" y="153591"/>
                    <a:pt x="107156" y="158368"/>
                    <a:pt x="107156" y="164306"/>
                  </a:cubicBezTo>
                  <a:cubicBezTo>
                    <a:pt x="107156" y="170244"/>
                    <a:pt x="102379" y="175022"/>
                    <a:pt x="96441" y="175022"/>
                  </a:cubicBezTo>
                  <a:lnTo>
                    <a:pt x="82153" y="175022"/>
                  </a:lnTo>
                  <a:cubicBezTo>
                    <a:pt x="76215" y="175022"/>
                    <a:pt x="71438" y="170244"/>
                    <a:pt x="71438" y="164306"/>
                  </a:cubicBezTo>
                  <a:close/>
                  <a:moveTo>
                    <a:pt x="125016" y="164306"/>
                  </a:moveTo>
                  <a:cubicBezTo>
                    <a:pt x="125016" y="158368"/>
                    <a:pt x="129793" y="153591"/>
                    <a:pt x="135731" y="153591"/>
                  </a:cubicBezTo>
                  <a:lnTo>
                    <a:pt x="150019" y="153591"/>
                  </a:lnTo>
                  <a:cubicBezTo>
                    <a:pt x="155957" y="153591"/>
                    <a:pt x="160734" y="158368"/>
                    <a:pt x="160734" y="164306"/>
                  </a:cubicBezTo>
                  <a:cubicBezTo>
                    <a:pt x="160734" y="170244"/>
                    <a:pt x="155957" y="175022"/>
                    <a:pt x="150019" y="175022"/>
                  </a:cubicBezTo>
                  <a:lnTo>
                    <a:pt x="135731" y="175022"/>
                  </a:lnTo>
                  <a:cubicBezTo>
                    <a:pt x="129793" y="175022"/>
                    <a:pt x="125016" y="170244"/>
                    <a:pt x="125016" y="164306"/>
                  </a:cubicBezTo>
                  <a:close/>
                  <a:moveTo>
                    <a:pt x="178594" y="164306"/>
                  </a:moveTo>
                  <a:cubicBezTo>
                    <a:pt x="178594" y="158368"/>
                    <a:pt x="183371" y="153591"/>
                    <a:pt x="189309" y="153591"/>
                  </a:cubicBezTo>
                  <a:lnTo>
                    <a:pt x="203597" y="153591"/>
                  </a:lnTo>
                  <a:cubicBezTo>
                    <a:pt x="209535" y="153591"/>
                    <a:pt x="214313" y="158368"/>
                    <a:pt x="214313" y="164306"/>
                  </a:cubicBezTo>
                  <a:cubicBezTo>
                    <a:pt x="214313" y="170244"/>
                    <a:pt x="209535" y="175022"/>
                    <a:pt x="203597" y="175022"/>
                  </a:cubicBezTo>
                  <a:lnTo>
                    <a:pt x="189309" y="175022"/>
                  </a:lnTo>
                  <a:cubicBezTo>
                    <a:pt x="183371" y="175022"/>
                    <a:pt x="178594" y="170244"/>
                    <a:pt x="178594" y="164306"/>
                  </a:cubicBezTo>
                  <a:close/>
                  <a:moveTo>
                    <a:pt x="100013" y="78581"/>
                  </a:moveTo>
                  <a:cubicBezTo>
                    <a:pt x="111841" y="78581"/>
                    <a:pt x="121444" y="88184"/>
                    <a:pt x="121444" y="100013"/>
                  </a:cubicBezTo>
                  <a:cubicBezTo>
                    <a:pt x="121444" y="111841"/>
                    <a:pt x="111841" y="121444"/>
                    <a:pt x="100013" y="121444"/>
                  </a:cubicBezTo>
                  <a:cubicBezTo>
                    <a:pt x="88184" y="121444"/>
                    <a:pt x="78581" y="111841"/>
                    <a:pt x="78581" y="100013"/>
                  </a:cubicBezTo>
                  <a:cubicBezTo>
                    <a:pt x="78581" y="88184"/>
                    <a:pt x="88184" y="78581"/>
                    <a:pt x="100013" y="78581"/>
                  </a:cubicBezTo>
                  <a:close/>
                  <a:moveTo>
                    <a:pt x="164306" y="100013"/>
                  </a:moveTo>
                  <a:cubicBezTo>
                    <a:pt x="164306" y="88184"/>
                    <a:pt x="173909" y="78581"/>
                    <a:pt x="185738" y="78581"/>
                  </a:cubicBezTo>
                  <a:cubicBezTo>
                    <a:pt x="197566" y="78581"/>
                    <a:pt x="207169" y="88184"/>
                    <a:pt x="207169" y="100013"/>
                  </a:cubicBezTo>
                  <a:cubicBezTo>
                    <a:pt x="207169" y="111841"/>
                    <a:pt x="197566" y="121444"/>
                    <a:pt x="185738" y="121444"/>
                  </a:cubicBezTo>
                  <a:cubicBezTo>
                    <a:pt x="173909" y="121444"/>
                    <a:pt x="164306" y="111841"/>
                    <a:pt x="164306" y="100013"/>
                  </a:cubicBezTo>
                  <a:close/>
                  <a:moveTo>
                    <a:pt x="28575" y="100013"/>
                  </a:moveTo>
                  <a:cubicBezTo>
                    <a:pt x="28575" y="92110"/>
                    <a:pt x="22190" y="85725"/>
                    <a:pt x="14288" y="85725"/>
                  </a:cubicBezTo>
                  <a:cubicBezTo>
                    <a:pt x="6385" y="85725"/>
                    <a:pt x="0" y="92110"/>
                    <a:pt x="0" y="100013"/>
                  </a:cubicBezTo>
                  <a:lnTo>
                    <a:pt x="0" y="142875"/>
                  </a:lnTo>
                  <a:cubicBezTo>
                    <a:pt x="0" y="150778"/>
                    <a:pt x="6385" y="157163"/>
                    <a:pt x="14288" y="157163"/>
                  </a:cubicBezTo>
                  <a:cubicBezTo>
                    <a:pt x="22190" y="157163"/>
                    <a:pt x="28575" y="150778"/>
                    <a:pt x="28575" y="142875"/>
                  </a:cubicBezTo>
                  <a:lnTo>
                    <a:pt x="28575" y="100013"/>
                  </a:lnTo>
                  <a:close/>
                  <a:moveTo>
                    <a:pt x="271463" y="85725"/>
                  </a:moveTo>
                  <a:cubicBezTo>
                    <a:pt x="263560" y="85725"/>
                    <a:pt x="257175" y="92110"/>
                    <a:pt x="257175" y="100013"/>
                  </a:cubicBezTo>
                  <a:lnTo>
                    <a:pt x="257175" y="142875"/>
                  </a:lnTo>
                  <a:cubicBezTo>
                    <a:pt x="257175" y="150778"/>
                    <a:pt x="263560" y="157163"/>
                    <a:pt x="271463" y="157163"/>
                  </a:cubicBezTo>
                  <a:cubicBezTo>
                    <a:pt x="279365" y="157163"/>
                    <a:pt x="285750" y="150778"/>
                    <a:pt x="285750" y="142875"/>
                  </a:cubicBezTo>
                  <a:lnTo>
                    <a:pt x="285750" y="100013"/>
                  </a:lnTo>
                  <a:cubicBezTo>
                    <a:pt x="285750" y="92110"/>
                    <a:pt x="279365" y="85725"/>
                    <a:pt x="271463" y="8572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64" name="Text 20">
              <a:extLst>
                <a:ext uri="{FF2B5EF4-FFF2-40B4-BE49-F238E27FC236}">
                  <a16:creationId xmlns:a16="http://schemas.microsoft.com/office/drawing/2014/main" id="{6C4DAED6-4E64-AE49-D939-4F68DF72452D}"/>
                </a:ext>
              </a:extLst>
            </p:cNvPr>
            <p:cNvSpPr/>
            <p:nvPr/>
          </p:nvSpPr>
          <p:spPr>
            <a:xfrm>
              <a:off x="5162550" y="4939418"/>
              <a:ext cx="12858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AI-Review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5" name="Text 21">
              <a:extLst>
                <a:ext uri="{FF2B5EF4-FFF2-40B4-BE49-F238E27FC236}">
                  <a16:creationId xmlns:a16="http://schemas.microsoft.com/office/drawing/2014/main" id="{CD0CA79F-739B-6DAD-DDEB-BE0C2DF164A4}"/>
                </a:ext>
              </a:extLst>
            </p:cNvPr>
            <p:cNvSpPr/>
            <p:nvPr/>
          </p:nvSpPr>
          <p:spPr>
            <a:xfrm>
              <a:off x="5162549" y="5140802"/>
              <a:ext cx="2574471" cy="5960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基于Qwen3-8B</a:t>
              </a:r>
              <a:r>
                <a:rPr lang="zh-CN" altLang="en-US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，使用智能审单生产数据训练，速度快、准确率，泛化能力稍差。</a:t>
              </a: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C5B82891-01BB-4F99-DCEB-014459381AE4}"/>
              </a:ext>
            </a:extLst>
          </p:cNvPr>
          <p:cNvGrpSpPr/>
          <p:nvPr/>
        </p:nvGrpSpPr>
        <p:grpSpPr>
          <a:xfrm>
            <a:off x="8173808" y="5475941"/>
            <a:ext cx="3638550" cy="1167591"/>
            <a:chOff x="8162925" y="4663193"/>
            <a:chExt cx="3638550" cy="1167591"/>
          </a:xfrm>
        </p:grpSpPr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271841FB-0DE4-1BA8-6689-1106A9D36D27}"/>
                </a:ext>
              </a:extLst>
            </p:cNvPr>
            <p:cNvSpPr/>
            <p:nvPr/>
          </p:nvSpPr>
          <p:spPr>
            <a:xfrm>
              <a:off x="8162925" y="4663193"/>
              <a:ext cx="3638550" cy="1167591"/>
            </a:xfrm>
            <a:custGeom>
              <a:avLst/>
              <a:gdLst/>
              <a:ahLst/>
              <a:cxnLst/>
              <a:rect l="l" t="t" r="r" b="b"/>
              <a:pathLst>
                <a:path w="3638550" h="4343400">
                  <a:moveTo>
                    <a:pt x="0" y="0"/>
                  </a:moveTo>
                  <a:lnTo>
                    <a:pt x="3638550" y="0"/>
                  </a:lnTo>
                  <a:lnTo>
                    <a:pt x="3638550" y="4343400"/>
                  </a:lnTo>
                  <a:lnTo>
                    <a:pt x="0" y="434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7E9D597A-BE98-9D5B-3782-C8AA1065C804}"/>
                </a:ext>
              </a:extLst>
            </p:cNvPr>
            <p:cNvSpPr/>
            <p:nvPr/>
          </p:nvSpPr>
          <p:spPr>
            <a:xfrm>
              <a:off x="8401050" y="490131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  <a:ln/>
          </p:spPr>
        </p:sp>
        <p:sp>
          <p:nvSpPr>
            <p:cNvPr id="78" name="Shape 33">
              <a:extLst>
                <a:ext uri="{FF2B5EF4-FFF2-40B4-BE49-F238E27FC236}">
                  <a16:creationId xmlns:a16="http://schemas.microsoft.com/office/drawing/2014/main" id="{EE227760-7DC8-8C33-8CA1-BB9D0D146F88}"/>
                </a:ext>
              </a:extLst>
            </p:cNvPr>
            <p:cNvSpPr/>
            <p:nvPr/>
          </p:nvSpPr>
          <p:spPr>
            <a:xfrm>
              <a:off x="8539163" y="5053718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28588" y="14288"/>
                  </a:moveTo>
                  <a:cubicBezTo>
                    <a:pt x="92512" y="14288"/>
                    <a:pt x="63624" y="30718"/>
                    <a:pt x="42595" y="50274"/>
                  </a:cubicBezTo>
                  <a:cubicBezTo>
                    <a:pt x="21699" y="69696"/>
                    <a:pt x="7724" y="92869"/>
                    <a:pt x="1072" y="108808"/>
                  </a:cubicBezTo>
                  <a:cubicBezTo>
                    <a:pt x="-402" y="112335"/>
                    <a:pt x="-402" y="116265"/>
                    <a:pt x="1072" y="119792"/>
                  </a:cubicBezTo>
                  <a:cubicBezTo>
                    <a:pt x="7724" y="135731"/>
                    <a:pt x="21699" y="158948"/>
                    <a:pt x="42595" y="178326"/>
                  </a:cubicBezTo>
                  <a:cubicBezTo>
                    <a:pt x="63624" y="197837"/>
                    <a:pt x="92512" y="214313"/>
                    <a:pt x="128588" y="214313"/>
                  </a:cubicBezTo>
                  <a:cubicBezTo>
                    <a:pt x="164663" y="214313"/>
                    <a:pt x="193551" y="197882"/>
                    <a:pt x="214580" y="178326"/>
                  </a:cubicBezTo>
                  <a:cubicBezTo>
                    <a:pt x="235476" y="158904"/>
                    <a:pt x="249451" y="135731"/>
                    <a:pt x="256103" y="119792"/>
                  </a:cubicBezTo>
                  <a:cubicBezTo>
                    <a:pt x="257577" y="116265"/>
                    <a:pt x="257577" y="112335"/>
                    <a:pt x="256103" y="108808"/>
                  </a:cubicBezTo>
                  <a:cubicBezTo>
                    <a:pt x="249451" y="92869"/>
                    <a:pt x="235476" y="69652"/>
                    <a:pt x="214580" y="50274"/>
                  </a:cubicBezTo>
                  <a:cubicBezTo>
                    <a:pt x="193551" y="30763"/>
                    <a:pt x="164663" y="14287"/>
                    <a:pt x="128588" y="14287"/>
                  </a:cubicBezTo>
                  <a:close/>
                  <a:moveTo>
                    <a:pt x="64294" y="114300"/>
                  </a:moveTo>
                  <a:cubicBezTo>
                    <a:pt x="64294" y="78815"/>
                    <a:pt x="93103" y="50006"/>
                    <a:pt x="128588" y="50006"/>
                  </a:cubicBezTo>
                  <a:cubicBezTo>
                    <a:pt x="164072" y="50006"/>
                    <a:pt x="192881" y="78815"/>
                    <a:pt x="192881" y="114300"/>
                  </a:cubicBezTo>
                  <a:cubicBezTo>
                    <a:pt x="192881" y="149785"/>
                    <a:pt x="164072" y="178594"/>
                    <a:pt x="128588" y="178594"/>
                  </a:cubicBezTo>
                  <a:cubicBezTo>
                    <a:pt x="93103" y="178594"/>
                    <a:pt x="64294" y="149785"/>
                    <a:pt x="64294" y="114300"/>
                  </a:cubicBezTo>
                  <a:close/>
                  <a:moveTo>
                    <a:pt x="128588" y="85725"/>
                  </a:moveTo>
                  <a:cubicBezTo>
                    <a:pt x="128588" y="101486"/>
                    <a:pt x="115773" y="114300"/>
                    <a:pt x="100013" y="114300"/>
                  </a:cubicBezTo>
                  <a:cubicBezTo>
                    <a:pt x="94878" y="114300"/>
                    <a:pt x="90056" y="112961"/>
                    <a:pt x="85859" y="110550"/>
                  </a:cubicBezTo>
                  <a:cubicBezTo>
                    <a:pt x="85412" y="115416"/>
                    <a:pt x="85814" y="120417"/>
                    <a:pt x="87154" y="125373"/>
                  </a:cubicBezTo>
                  <a:cubicBezTo>
                    <a:pt x="93271" y="148233"/>
                    <a:pt x="116800" y="161806"/>
                    <a:pt x="139660" y="155689"/>
                  </a:cubicBezTo>
                  <a:cubicBezTo>
                    <a:pt x="162520" y="149572"/>
                    <a:pt x="176093" y="126043"/>
                    <a:pt x="169977" y="103183"/>
                  </a:cubicBezTo>
                  <a:cubicBezTo>
                    <a:pt x="164529" y="82778"/>
                    <a:pt x="145197" y="69786"/>
                    <a:pt x="124837" y="71571"/>
                  </a:cubicBezTo>
                  <a:cubicBezTo>
                    <a:pt x="127203" y="75724"/>
                    <a:pt x="128588" y="80546"/>
                    <a:pt x="128588" y="8572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9" name="Text 34">
              <a:extLst>
                <a:ext uri="{FF2B5EF4-FFF2-40B4-BE49-F238E27FC236}">
                  <a16:creationId xmlns:a16="http://schemas.microsoft.com/office/drawing/2014/main" id="{D2F272FB-CA91-B10D-0F7C-F28EA1D1DCD5}"/>
                </a:ext>
              </a:extLst>
            </p:cNvPr>
            <p:cNvSpPr/>
            <p:nvPr/>
          </p:nvSpPr>
          <p:spPr>
            <a:xfrm>
              <a:off x="9048750" y="4939418"/>
              <a:ext cx="15906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Qwen3-PRO-VL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0" name="Text 35">
              <a:extLst>
                <a:ext uri="{FF2B5EF4-FFF2-40B4-BE49-F238E27FC236}">
                  <a16:creationId xmlns:a16="http://schemas.microsoft.com/office/drawing/2014/main" id="{5E2613AA-BBCF-F9E2-9436-FCCF966C9ACB}"/>
                </a:ext>
              </a:extLst>
            </p:cNvPr>
            <p:cNvSpPr/>
            <p:nvPr/>
          </p:nvSpPr>
          <p:spPr>
            <a:xfrm>
              <a:off x="9048749" y="5206118"/>
              <a:ext cx="2326821" cy="487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多模态大模型</a:t>
              </a:r>
              <a:r>
                <a:rPr lang="zh-CN" altLang="en-US" sz="105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，图片识别审核一体化，模型还在测试阶段。</a:t>
              </a:r>
            </a:p>
          </p:txBody>
        </p:sp>
      </p:grpSp>
      <p:sp>
        <p:nvSpPr>
          <p:cNvPr id="93" name="Shape 2">
            <a:extLst>
              <a:ext uri="{FF2B5EF4-FFF2-40B4-BE49-F238E27FC236}">
                <a16:creationId xmlns:a16="http://schemas.microsoft.com/office/drawing/2014/main" id="{B29BA466-B476-0472-8AEF-F0F5F23904E5}"/>
              </a:ext>
            </a:extLst>
          </p:cNvPr>
          <p:cNvSpPr/>
          <p:nvPr/>
        </p:nvSpPr>
        <p:spPr>
          <a:xfrm flipV="1">
            <a:off x="1394460" y="1586613"/>
            <a:ext cx="10492740" cy="45719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6353ED99-49CC-F8CC-37E8-DCDD845A9711}"/>
              </a:ext>
            </a:extLst>
          </p:cNvPr>
          <p:cNvSpPr/>
          <p:nvPr/>
        </p:nvSpPr>
        <p:spPr>
          <a:xfrm>
            <a:off x="318605" y="1448054"/>
            <a:ext cx="1022986" cy="32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8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规则引擎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8" name="Shape 2">
            <a:extLst>
              <a:ext uri="{FF2B5EF4-FFF2-40B4-BE49-F238E27FC236}">
                <a16:creationId xmlns:a16="http://schemas.microsoft.com/office/drawing/2014/main" id="{2BB52AC9-4BAE-0820-9BF8-DFBFCEC7D65A}"/>
              </a:ext>
            </a:extLst>
          </p:cNvPr>
          <p:cNvSpPr/>
          <p:nvPr/>
        </p:nvSpPr>
        <p:spPr>
          <a:xfrm flipV="1">
            <a:off x="1394460" y="5185013"/>
            <a:ext cx="10492740" cy="45719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9" name="Text 6">
            <a:extLst>
              <a:ext uri="{FF2B5EF4-FFF2-40B4-BE49-F238E27FC236}">
                <a16:creationId xmlns:a16="http://schemas.microsoft.com/office/drawing/2014/main" id="{775CDA00-6A35-0F2A-03A5-1229ED79C870}"/>
              </a:ext>
            </a:extLst>
          </p:cNvPr>
          <p:cNvSpPr/>
          <p:nvPr/>
        </p:nvSpPr>
        <p:spPr>
          <a:xfrm>
            <a:off x="318605" y="5048146"/>
            <a:ext cx="1112866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68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大模型接入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135" y="400945"/>
            <a:ext cx="11556356" cy="211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1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2.7 </a:t>
            </a:r>
            <a:r>
              <a:rPr lang="en-US" sz="1200" b="1" kern="0" spc="11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ENGINE VS LLM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3135" y="683454"/>
            <a:ext cx="11644640" cy="353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规则计算</a:t>
            </a: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：规则引擎与大模型</a:t>
            </a:r>
            <a:endParaRPr lang="en-US" sz="27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3135" y="1094720"/>
            <a:ext cx="847525" cy="35314"/>
          </a:xfrm>
          <a:custGeom>
            <a:avLst/>
            <a:gdLst/>
            <a:ahLst/>
            <a:cxnLst/>
            <a:rect l="l" t="t" r="r" b="b"/>
            <a:pathLst>
              <a:path w="847525" h="35314">
                <a:moveTo>
                  <a:pt x="0" y="0"/>
                </a:moveTo>
                <a:lnTo>
                  <a:pt x="847525" y="0"/>
                </a:lnTo>
                <a:lnTo>
                  <a:pt x="847525" y="35314"/>
                </a:lnTo>
                <a:lnTo>
                  <a:pt x="0" y="3531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70792" y="1286158"/>
            <a:ext cx="5606025" cy="4626074"/>
          </a:xfrm>
          <a:custGeom>
            <a:avLst/>
            <a:gdLst/>
            <a:ahLst/>
            <a:cxnLst/>
            <a:rect l="l" t="t" r="r" b="b"/>
            <a:pathLst>
              <a:path w="5606025" h="4626074">
                <a:moveTo>
                  <a:pt x="0" y="0"/>
                </a:moveTo>
                <a:lnTo>
                  <a:pt x="5606025" y="0"/>
                </a:lnTo>
                <a:lnTo>
                  <a:pt x="5606025" y="4626074"/>
                </a:lnTo>
                <a:lnTo>
                  <a:pt x="0" y="46260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0330" y="1515696"/>
            <a:ext cx="565017" cy="565017"/>
          </a:xfrm>
          <a:custGeom>
            <a:avLst/>
            <a:gdLst/>
            <a:ahLst/>
            <a:cxnLst/>
            <a:rect l="l" t="t" r="r" b="b"/>
            <a:pathLst>
              <a:path w="565017" h="565017">
                <a:moveTo>
                  <a:pt x="0" y="0"/>
                </a:moveTo>
                <a:lnTo>
                  <a:pt x="565017" y="0"/>
                </a:lnTo>
                <a:lnTo>
                  <a:pt x="565017" y="565017"/>
                </a:lnTo>
                <a:lnTo>
                  <a:pt x="0" y="56501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19513" y="1665778"/>
            <a:ext cx="331064" cy="264852"/>
          </a:xfrm>
          <a:custGeom>
            <a:avLst/>
            <a:gdLst/>
            <a:ahLst/>
            <a:cxnLst/>
            <a:rect l="l" t="t" r="r" b="b"/>
            <a:pathLst>
              <a:path w="331064" h="264852">
                <a:moveTo>
                  <a:pt x="215140" y="108889"/>
                </a:moveTo>
                <a:cubicBezTo>
                  <a:pt x="221451" y="107182"/>
                  <a:pt x="228072" y="110182"/>
                  <a:pt x="230917" y="116028"/>
                </a:cubicBezTo>
                <a:lnTo>
                  <a:pt x="240539" y="135478"/>
                </a:lnTo>
                <a:cubicBezTo>
                  <a:pt x="245867" y="136202"/>
                  <a:pt x="251092" y="137650"/>
                  <a:pt x="256006" y="139668"/>
                </a:cubicBezTo>
                <a:lnTo>
                  <a:pt x="274111" y="127615"/>
                </a:lnTo>
                <a:cubicBezTo>
                  <a:pt x="279543" y="123994"/>
                  <a:pt x="286733" y="124718"/>
                  <a:pt x="291337" y="129322"/>
                </a:cubicBezTo>
                <a:lnTo>
                  <a:pt x="301269" y="139254"/>
                </a:lnTo>
                <a:cubicBezTo>
                  <a:pt x="305873" y="143858"/>
                  <a:pt x="306597" y="151100"/>
                  <a:pt x="302976" y="156480"/>
                </a:cubicBezTo>
                <a:lnTo>
                  <a:pt x="290923" y="174533"/>
                </a:lnTo>
                <a:cubicBezTo>
                  <a:pt x="291906" y="176964"/>
                  <a:pt x="292785" y="179499"/>
                  <a:pt x="293509" y="182137"/>
                </a:cubicBezTo>
                <a:cubicBezTo>
                  <a:pt x="294234" y="184775"/>
                  <a:pt x="294699" y="187362"/>
                  <a:pt x="295061" y="190000"/>
                </a:cubicBezTo>
                <a:lnTo>
                  <a:pt x="314563" y="199622"/>
                </a:lnTo>
                <a:cubicBezTo>
                  <a:pt x="320408" y="202518"/>
                  <a:pt x="323409" y="209140"/>
                  <a:pt x="321702" y="215399"/>
                </a:cubicBezTo>
                <a:lnTo>
                  <a:pt x="318081" y="228952"/>
                </a:lnTo>
                <a:cubicBezTo>
                  <a:pt x="316373" y="235211"/>
                  <a:pt x="310528" y="239453"/>
                  <a:pt x="304010" y="239039"/>
                </a:cubicBezTo>
                <a:lnTo>
                  <a:pt x="282284" y="237642"/>
                </a:lnTo>
                <a:cubicBezTo>
                  <a:pt x="279025" y="241832"/>
                  <a:pt x="275249" y="245712"/>
                  <a:pt x="270956" y="249023"/>
                </a:cubicBezTo>
                <a:lnTo>
                  <a:pt x="272352" y="270697"/>
                </a:lnTo>
                <a:cubicBezTo>
                  <a:pt x="272766" y="277215"/>
                  <a:pt x="268524" y="283112"/>
                  <a:pt x="262265" y="284767"/>
                </a:cubicBezTo>
                <a:lnTo>
                  <a:pt x="248712" y="288388"/>
                </a:lnTo>
                <a:cubicBezTo>
                  <a:pt x="242401" y="290095"/>
                  <a:pt x="235832" y="287095"/>
                  <a:pt x="232935" y="281250"/>
                </a:cubicBezTo>
                <a:lnTo>
                  <a:pt x="223313" y="261800"/>
                </a:lnTo>
                <a:cubicBezTo>
                  <a:pt x="217985" y="261075"/>
                  <a:pt x="212761" y="259627"/>
                  <a:pt x="207846" y="257610"/>
                </a:cubicBezTo>
                <a:lnTo>
                  <a:pt x="189741" y="269662"/>
                </a:lnTo>
                <a:cubicBezTo>
                  <a:pt x="184310" y="273283"/>
                  <a:pt x="177119" y="272559"/>
                  <a:pt x="172516" y="267955"/>
                </a:cubicBezTo>
                <a:lnTo>
                  <a:pt x="162584" y="258023"/>
                </a:lnTo>
                <a:cubicBezTo>
                  <a:pt x="157980" y="253419"/>
                  <a:pt x="157256" y="246229"/>
                  <a:pt x="160877" y="240798"/>
                </a:cubicBezTo>
                <a:lnTo>
                  <a:pt x="172929" y="222693"/>
                </a:lnTo>
                <a:cubicBezTo>
                  <a:pt x="171947" y="220261"/>
                  <a:pt x="171067" y="217727"/>
                  <a:pt x="170343" y="215088"/>
                </a:cubicBezTo>
                <a:cubicBezTo>
                  <a:pt x="169619" y="212450"/>
                  <a:pt x="169153" y="209812"/>
                  <a:pt x="168791" y="207226"/>
                </a:cubicBezTo>
                <a:lnTo>
                  <a:pt x="149289" y="197604"/>
                </a:lnTo>
                <a:cubicBezTo>
                  <a:pt x="143444" y="194707"/>
                  <a:pt x="140495" y="188086"/>
                  <a:pt x="142151" y="181827"/>
                </a:cubicBezTo>
                <a:lnTo>
                  <a:pt x="145772" y="168274"/>
                </a:lnTo>
                <a:cubicBezTo>
                  <a:pt x="147479" y="162015"/>
                  <a:pt x="153324" y="157773"/>
                  <a:pt x="159842" y="158187"/>
                </a:cubicBezTo>
                <a:lnTo>
                  <a:pt x="181516" y="159583"/>
                </a:lnTo>
                <a:cubicBezTo>
                  <a:pt x="184775" y="155393"/>
                  <a:pt x="188552" y="151514"/>
                  <a:pt x="192845" y="148203"/>
                </a:cubicBezTo>
                <a:lnTo>
                  <a:pt x="191448" y="126580"/>
                </a:lnTo>
                <a:cubicBezTo>
                  <a:pt x="191035" y="120063"/>
                  <a:pt x="195276" y="114166"/>
                  <a:pt x="201535" y="112510"/>
                </a:cubicBezTo>
                <a:lnTo>
                  <a:pt x="215088" y="108889"/>
                </a:lnTo>
                <a:close/>
                <a:moveTo>
                  <a:pt x="231952" y="175878"/>
                </a:moveTo>
                <a:cubicBezTo>
                  <a:pt x="219390" y="175892"/>
                  <a:pt x="209203" y="186103"/>
                  <a:pt x="209217" y="198665"/>
                </a:cubicBezTo>
                <a:cubicBezTo>
                  <a:pt x="209231" y="211226"/>
                  <a:pt x="219442" y="221414"/>
                  <a:pt x="232004" y="221399"/>
                </a:cubicBezTo>
                <a:cubicBezTo>
                  <a:pt x="244566" y="221385"/>
                  <a:pt x="254753" y="211175"/>
                  <a:pt x="254739" y="198613"/>
                </a:cubicBezTo>
                <a:cubicBezTo>
                  <a:pt x="254724" y="186051"/>
                  <a:pt x="244514" y="175864"/>
                  <a:pt x="231952" y="175878"/>
                </a:cubicBezTo>
                <a:close/>
                <a:moveTo>
                  <a:pt x="116338" y="-23537"/>
                </a:moveTo>
                <a:lnTo>
                  <a:pt x="129891" y="-19916"/>
                </a:lnTo>
                <a:cubicBezTo>
                  <a:pt x="136150" y="-18209"/>
                  <a:pt x="140392" y="-12311"/>
                  <a:pt x="139978" y="-5845"/>
                </a:cubicBezTo>
                <a:lnTo>
                  <a:pt x="138582" y="15777"/>
                </a:lnTo>
                <a:cubicBezTo>
                  <a:pt x="142875" y="19088"/>
                  <a:pt x="146651" y="22916"/>
                  <a:pt x="149910" y="27158"/>
                </a:cubicBezTo>
                <a:lnTo>
                  <a:pt x="171636" y="25761"/>
                </a:lnTo>
                <a:cubicBezTo>
                  <a:pt x="178102" y="25347"/>
                  <a:pt x="183999" y="29589"/>
                  <a:pt x="185706" y="35848"/>
                </a:cubicBezTo>
                <a:lnTo>
                  <a:pt x="189327" y="49401"/>
                </a:lnTo>
                <a:cubicBezTo>
                  <a:pt x="190983" y="55660"/>
                  <a:pt x="188034" y="62281"/>
                  <a:pt x="182189" y="65178"/>
                </a:cubicBezTo>
                <a:lnTo>
                  <a:pt x="162687" y="74800"/>
                </a:lnTo>
                <a:cubicBezTo>
                  <a:pt x="162325" y="77438"/>
                  <a:pt x="161808" y="80076"/>
                  <a:pt x="161135" y="82663"/>
                </a:cubicBezTo>
                <a:cubicBezTo>
                  <a:pt x="160463" y="85249"/>
                  <a:pt x="159532" y="87836"/>
                  <a:pt x="158549" y="90267"/>
                </a:cubicBezTo>
                <a:lnTo>
                  <a:pt x="170602" y="108372"/>
                </a:lnTo>
                <a:cubicBezTo>
                  <a:pt x="174223" y="113803"/>
                  <a:pt x="173498" y="120994"/>
                  <a:pt x="168895" y="125598"/>
                </a:cubicBezTo>
                <a:lnTo>
                  <a:pt x="158963" y="135530"/>
                </a:lnTo>
                <a:cubicBezTo>
                  <a:pt x="154359" y="140133"/>
                  <a:pt x="147168" y="140858"/>
                  <a:pt x="141737" y="137237"/>
                </a:cubicBezTo>
                <a:lnTo>
                  <a:pt x="123632" y="125184"/>
                </a:lnTo>
                <a:cubicBezTo>
                  <a:pt x="118718" y="127201"/>
                  <a:pt x="113493" y="128650"/>
                  <a:pt x="108165" y="129374"/>
                </a:cubicBezTo>
                <a:lnTo>
                  <a:pt x="98543" y="148824"/>
                </a:lnTo>
                <a:cubicBezTo>
                  <a:pt x="95647" y="154669"/>
                  <a:pt x="89025" y="157618"/>
                  <a:pt x="82766" y="155962"/>
                </a:cubicBezTo>
                <a:lnTo>
                  <a:pt x="69213" y="152341"/>
                </a:lnTo>
                <a:cubicBezTo>
                  <a:pt x="62902" y="150634"/>
                  <a:pt x="58712" y="144737"/>
                  <a:pt x="59126" y="138271"/>
                </a:cubicBezTo>
                <a:lnTo>
                  <a:pt x="60523" y="116597"/>
                </a:lnTo>
                <a:cubicBezTo>
                  <a:pt x="56229" y="113286"/>
                  <a:pt x="52453" y="109458"/>
                  <a:pt x="49194" y="105216"/>
                </a:cubicBezTo>
                <a:lnTo>
                  <a:pt x="27468" y="106613"/>
                </a:lnTo>
                <a:cubicBezTo>
                  <a:pt x="21002" y="107027"/>
                  <a:pt x="15105" y="102785"/>
                  <a:pt x="13398" y="96526"/>
                </a:cubicBezTo>
                <a:lnTo>
                  <a:pt x="9777" y="82973"/>
                </a:lnTo>
                <a:cubicBezTo>
                  <a:pt x="8121" y="76714"/>
                  <a:pt x="11070" y="70093"/>
                  <a:pt x="16915" y="67196"/>
                </a:cubicBezTo>
                <a:lnTo>
                  <a:pt x="36417" y="57574"/>
                </a:lnTo>
                <a:cubicBezTo>
                  <a:pt x="36779" y="54936"/>
                  <a:pt x="37296" y="52350"/>
                  <a:pt x="37969" y="49711"/>
                </a:cubicBezTo>
                <a:cubicBezTo>
                  <a:pt x="38693" y="47073"/>
                  <a:pt x="39521" y="44539"/>
                  <a:pt x="40555" y="42107"/>
                </a:cubicBezTo>
                <a:lnTo>
                  <a:pt x="28503" y="24054"/>
                </a:lnTo>
                <a:cubicBezTo>
                  <a:pt x="24882" y="18622"/>
                  <a:pt x="25606" y="11432"/>
                  <a:pt x="30210" y="6828"/>
                </a:cubicBezTo>
                <a:lnTo>
                  <a:pt x="40142" y="-3104"/>
                </a:lnTo>
                <a:cubicBezTo>
                  <a:pt x="44745" y="-7708"/>
                  <a:pt x="51936" y="-8432"/>
                  <a:pt x="57367" y="-4811"/>
                </a:cubicBezTo>
                <a:lnTo>
                  <a:pt x="75472" y="7242"/>
                </a:lnTo>
                <a:cubicBezTo>
                  <a:pt x="80387" y="5225"/>
                  <a:pt x="85611" y="3776"/>
                  <a:pt x="90939" y="3052"/>
                </a:cubicBezTo>
                <a:lnTo>
                  <a:pt x="100561" y="-16398"/>
                </a:lnTo>
                <a:cubicBezTo>
                  <a:pt x="103458" y="-22243"/>
                  <a:pt x="110027" y="-25192"/>
                  <a:pt x="116338" y="-23537"/>
                </a:cubicBezTo>
                <a:close/>
                <a:moveTo>
                  <a:pt x="99526" y="43452"/>
                </a:moveTo>
                <a:cubicBezTo>
                  <a:pt x="86964" y="43452"/>
                  <a:pt x="76766" y="53651"/>
                  <a:pt x="76766" y="66213"/>
                </a:cubicBezTo>
                <a:cubicBezTo>
                  <a:pt x="76766" y="78775"/>
                  <a:pt x="86964" y="88974"/>
                  <a:pt x="99526" y="88974"/>
                </a:cubicBezTo>
                <a:cubicBezTo>
                  <a:pt x="112088" y="88974"/>
                  <a:pt x="122287" y="78775"/>
                  <a:pt x="122287" y="66213"/>
                </a:cubicBezTo>
                <a:cubicBezTo>
                  <a:pt x="122287" y="53651"/>
                  <a:pt x="112088" y="43452"/>
                  <a:pt x="99526" y="434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06601" y="1656950"/>
            <a:ext cx="953466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8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规则引擎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987" y="2292594"/>
            <a:ext cx="35314" cy="741584"/>
          </a:xfrm>
          <a:custGeom>
            <a:avLst/>
            <a:gdLst/>
            <a:ahLst/>
            <a:cxnLst/>
            <a:rect l="l" t="t" r="r" b="b"/>
            <a:pathLst>
              <a:path w="35314" h="741584">
                <a:moveTo>
                  <a:pt x="0" y="0"/>
                </a:moveTo>
                <a:lnTo>
                  <a:pt x="35314" y="0"/>
                </a:lnTo>
                <a:lnTo>
                  <a:pt x="35314" y="741584"/>
                </a:lnTo>
                <a:lnTo>
                  <a:pt x="0" y="74158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76898" y="2398534"/>
            <a:ext cx="5049836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1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特点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6898" y="2716356"/>
            <a:ext cx="5041008" cy="211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准确率高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</a:t>
            </a:r>
            <a:r>
              <a: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结果确定性强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、计算速度快，毫秒级</a:t>
            </a:r>
          </a:p>
        </p:txBody>
      </p:sp>
      <p:sp>
        <p:nvSpPr>
          <p:cNvPr id="12" name="Shape 10"/>
          <p:cNvSpPr/>
          <p:nvPr/>
        </p:nvSpPr>
        <p:spPr>
          <a:xfrm>
            <a:off x="617987" y="3175432"/>
            <a:ext cx="35314" cy="1080000"/>
          </a:xfrm>
          <a:custGeom>
            <a:avLst/>
            <a:gdLst/>
            <a:ahLst/>
            <a:cxnLst/>
            <a:rect l="l" t="t" r="r" b="b"/>
            <a:pathLst>
              <a:path w="35314" h="741584">
                <a:moveTo>
                  <a:pt x="0" y="0"/>
                </a:moveTo>
                <a:lnTo>
                  <a:pt x="35314" y="0"/>
                </a:lnTo>
                <a:lnTo>
                  <a:pt x="35314" y="741584"/>
                </a:lnTo>
                <a:lnTo>
                  <a:pt x="0" y="74158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6898" y="3281373"/>
            <a:ext cx="5049836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1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适用场景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7CBAAF9-FB85-68B2-A3E9-E020E8534E29}"/>
              </a:ext>
            </a:extLst>
          </p:cNvPr>
          <p:cNvGrpSpPr/>
          <p:nvPr/>
        </p:nvGrpSpPr>
        <p:grpSpPr>
          <a:xfrm>
            <a:off x="617987" y="4429482"/>
            <a:ext cx="5208747" cy="1234357"/>
            <a:chOff x="617987" y="4663522"/>
            <a:chExt cx="5208747" cy="1234357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EFEE045A-8437-AFFB-2AEB-33014476D7E7}"/>
                </a:ext>
              </a:extLst>
            </p:cNvPr>
            <p:cNvGrpSpPr/>
            <p:nvPr/>
          </p:nvGrpSpPr>
          <p:grpSpPr>
            <a:xfrm>
              <a:off x="617987" y="4663522"/>
              <a:ext cx="5129292" cy="1234357"/>
              <a:chOff x="617987" y="4663523"/>
              <a:chExt cx="5129292" cy="741584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617987" y="4663523"/>
                <a:ext cx="5129292" cy="741584"/>
              </a:xfrm>
              <a:custGeom>
                <a:avLst/>
                <a:gdLst/>
                <a:ahLst/>
                <a:cxnLst/>
                <a:rect l="l" t="t" r="r" b="b"/>
                <a:pathLst>
                  <a:path w="5129292" h="741584">
                    <a:moveTo>
                      <a:pt x="0" y="0"/>
                    </a:moveTo>
                    <a:lnTo>
                      <a:pt x="5129292" y="0"/>
                    </a:lnTo>
                    <a:lnTo>
                      <a:pt x="5129292" y="741584"/>
                    </a:lnTo>
                    <a:lnTo>
                      <a:pt x="0" y="741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AFB"/>
              </a:solidFill>
              <a:ln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617987" y="4663523"/>
                <a:ext cx="35314" cy="741584"/>
              </a:xfrm>
              <a:custGeom>
                <a:avLst/>
                <a:gdLst/>
                <a:ahLst/>
                <a:cxnLst/>
                <a:rect l="l" t="t" r="r" b="b"/>
                <a:pathLst>
                  <a:path w="35314" h="741584">
                    <a:moveTo>
                      <a:pt x="0" y="0"/>
                    </a:moveTo>
                    <a:lnTo>
                      <a:pt x="35314" y="0"/>
                    </a:lnTo>
                    <a:lnTo>
                      <a:pt x="35314" y="741584"/>
                    </a:lnTo>
                    <a:lnTo>
                      <a:pt x="0" y="741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0000"/>
              </a:solidFill>
              <a:ln/>
            </p:spPr>
          </p:sp>
        </p:grpSp>
        <p:sp>
          <p:nvSpPr>
            <p:cNvPr id="20" name="Text 18"/>
            <p:cNvSpPr/>
            <p:nvPr/>
          </p:nvSpPr>
          <p:spPr>
            <a:xfrm>
              <a:off x="776898" y="4769464"/>
              <a:ext cx="5049836" cy="2471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51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规则列举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76898" y="5087286"/>
              <a:ext cx="5041008" cy="779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凭证字段与机内字段一致</a:t>
              </a:r>
              <a:endPara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日期在有效范围内</a:t>
              </a:r>
              <a:endPara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大小写金额一致</a:t>
              </a:r>
              <a:endPara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endParaRPr>
            </a:p>
          </p:txBody>
        </p:sp>
      </p:grpSp>
      <p:sp>
        <p:nvSpPr>
          <p:cNvPr id="22" name="Shape 20"/>
          <p:cNvSpPr/>
          <p:nvPr/>
        </p:nvSpPr>
        <p:spPr>
          <a:xfrm>
            <a:off x="6221069" y="1286158"/>
            <a:ext cx="5606025" cy="4626074"/>
          </a:xfrm>
          <a:custGeom>
            <a:avLst/>
            <a:gdLst/>
            <a:ahLst/>
            <a:cxnLst/>
            <a:rect l="l" t="t" r="r" b="b"/>
            <a:pathLst>
              <a:path w="5606025" h="4626074">
                <a:moveTo>
                  <a:pt x="0" y="0"/>
                </a:moveTo>
                <a:lnTo>
                  <a:pt x="5606025" y="0"/>
                </a:lnTo>
                <a:lnTo>
                  <a:pt x="5606025" y="4626074"/>
                </a:lnTo>
                <a:lnTo>
                  <a:pt x="0" y="46260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0607" y="1515696"/>
            <a:ext cx="565017" cy="565017"/>
          </a:xfrm>
          <a:custGeom>
            <a:avLst/>
            <a:gdLst/>
            <a:ahLst/>
            <a:cxnLst/>
            <a:rect l="l" t="t" r="r" b="b"/>
            <a:pathLst>
              <a:path w="565017" h="565017">
                <a:moveTo>
                  <a:pt x="0" y="0"/>
                </a:moveTo>
                <a:lnTo>
                  <a:pt x="565017" y="0"/>
                </a:lnTo>
                <a:lnTo>
                  <a:pt x="565017" y="565017"/>
                </a:lnTo>
                <a:lnTo>
                  <a:pt x="0" y="56501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602897" y="1665778"/>
            <a:ext cx="264852" cy="264852"/>
          </a:xfrm>
          <a:custGeom>
            <a:avLst/>
            <a:gdLst/>
            <a:ahLst/>
            <a:cxnLst/>
            <a:rect l="l" t="t" r="r" b="b"/>
            <a:pathLst>
              <a:path w="264852" h="264852">
                <a:moveTo>
                  <a:pt x="62075" y="28968"/>
                </a:moveTo>
                <a:cubicBezTo>
                  <a:pt x="62075" y="12984"/>
                  <a:pt x="75059" y="0"/>
                  <a:pt x="91043" y="0"/>
                </a:cubicBezTo>
                <a:lnTo>
                  <a:pt x="103458" y="0"/>
                </a:lnTo>
                <a:cubicBezTo>
                  <a:pt x="112614" y="0"/>
                  <a:pt x="120011" y="7397"/>
                  <a:pt x="120011" y="16553"/>
                </a:cubicBezTo>
                <a:lnTo>
                  <a:pt x="120011" y="248298"/>
                </a:lnTo>
                <a:cubicBezTo>
                  <a:pt x="120011" y="257454"/>
                  <a:pt x="112614" y="264852"/>
                  <a:pt x="103458" y="264852"/>
                </a:cubicBezTo>
                <a:lnTo>
                  <a:pt x="86904" y="264852"/>
                </a:lnTo>
                <a:cubicBezTo>
                  <a:pt x="71489" y="264852"/>
                  <a:pt x="58505" y="254299"/>
                  <a:pt x="54833" y="240022"/>
                </a:cubicBezTo>
                <a:cubicBezTo>
                  <a:pt x="54470" y="240022"/>
                  <a:pt x="54160" y="240022"/>
                  <a:pt x="53798" y="240022"/>
                </a:cubicBezTo>
                <a:cubicBezTo>
                  <a:pt x="30934" y="240022"/>
                  <a:pt x="12415" y="221503"/>
                  <a:pt x="12415" y="198639"/>
                </a:cubicBezTo>
                <a:cubicBezTo>
                  <a:pt x="12415" y="189327"/>
                  <a:pt x="15519" y="180740"/>
                  <a:pt x="20692" y="173809"/>
                </a:cubicBezTo>
                <a:cubicBezTo>
                  <a:pt x="10656" y="166256"/>
                  <a:pt x="4138" y="154255"/>
                  <a:pt x="4138" y="140702"/>
                </a:cubicBezTo>
                <a:cubicBezTo>
                  <a:pt x="4138" y="124718"/>
                  <a:pt x="13243" y="110803"/>
                  <a:pt x="26485" y="103923"/>
                </a:cubicBezTo>
                <a:cubicBezTo>
                  <a:pt x="22812" y="97716"/>
                  <a:pt x="20692" y="90474"/>
                  <a:pt x="20692" y="82766"/>
                </a:cubicBezTo>
                <a:cubicBezTo>
                  <a:pt x="20692" y="59902"/>
                  <a:pt x="39210" y="41383"/>
                  <a:pt x="62075" y="41383"/>
                </a:cubicBezTo>
                <a:lnTo>
                  <a:pt x="62075" y="28968"/>
                </a:lnTo>
                <a:close/>
                <a:moveTo>
                  <a:pt x="202777" y="28968"/>
                </a:moveTo>
                <a:lnTo>
                  <a:pt x="202777" y="41383"/>
                </a:lnTo>
                <a:cubicBezTo>
                  <a:pt x="225641" y="41383"/>
                  <a:pt x="244160" y="59902"/>
                  <a:pt x="244160" y="82766"/>
                </a:cubicBezTo>
                <a:cubicBezTo>
                  <a:pt x="244160" y="90525"/>
                  <a:pt x="242039" y="97767"/>
                  <a:pt x="238366" y="103923"/>
                </a:cubicBezTo>
                <a:cubicBezTo>
                  <a:pt x="251661" y="110803"/>
                  <a:pt x="260713" y="124666"/>
                  <a:pt x="260713" y="140702"/>
                </a:cubicBezTo>
                <a:cubicBezTo>
                  <a:pt x="260713" y="154255"/>
                  <a:pt x="254195" y="166256"/>
                  <a:pt x="244160" y="173809"/>
                </a:cubicBezTo>
                <a:cubicBezTo>
                  <a:pt x="249333" y="180740"/>
                  <a:pt x="252437" y="189327"/>
                  <a:pt x="252437" y="198639"/>
                </a:cubicBezTo>
                <a:cubicBezTo>
                  <a:pt x="252437" y="221503"/>
                  <a:pt x="233918" y="240022"/>
                  <a:pt x="211054" y="240022"/>
                </a:cubicBezTo>
                <a:cubicBezTo>
                  <a:pt x="210691" y="240022"/>
                  <a:pt x="210381" y="240022"/>
                  <a:pt x="210019" y="240022"/>
                </a:cubicBezTo>
                <a:cubicBezTo>
                  <a:pt x="206346" y="254299"/>
                  <a:pt x="193362" y="264852"/>
                  <a:pt x="177947" y="264852"/>
                </a:cubicBezTo>
                <a:lnTo>
                  <a:pt x="161394" y="264852"/>
                </a:lnTo>
                <a:cubicBezTo>
                  <a:pt x="152238" y="264852"/>
                  <a:pt x="144841" y="257454"/>
                  <a:pt x="144841" y="248298"/>
                </a:cubicBezTo>
                <a:lnTo>
                  <a:pt x="144841" y="16553"/>
                </a:lnTo>
                <a:cubicBezTo>
                  <a:pt x="144841" y="7397"/>
                  <a:pt x="152238" y="0"/>
                  <a:pt x="161394" y="0"/>
                </a:cubicBezTo>
                <a:lnTo>
                  <a:pt x="173809" y="0"/>
                </a:lnTo>
                <a:cubicBezTo>
                  <a:pt x="189793" y="0"/>
                  <a:pt x="202777" y="12984"/>
                  <a:pt x="202777" y="289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156878" y="1656950"/>
            <a:ext cx="741584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8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大模型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68264" y="2292594"/>
            <a:ext cx="35314" cy="741584"/>
          </a:xfrm>
          <a:custGeom>
            <a:avLst/>
            <a:gdLst/>
            <a:ahLst/>
            <a:cxnLst/>
            <a:rect l="l" t="t" r="r" b="b"/>
            <a:pathLst>
              <a:path w="35314" h="741584">
                <a:moveTo>
                  <a:pt x="0" y="0"/>
                </a:moveTo>
                <a:lnTo>
                  <a:pt x="35314" y="0"/>
                </a:lnTo>
                <a:lnTo>
                  <a:pt x="35314" y="741584"/>
                </a:lnTo>
                <a:lnTo>
                  <a:pt x="0" y="74158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27175" y="2398534"/>
            <a:ext cx="5049836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1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特点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27175" y="2716356"/>
            <a:ext cx="5041008" cy="211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灵活性高，泛化推理能力强，速度较慢，响应秒级</a:t>
            </a:r>
          </a:p>
        </p:txBody>
      </p:sp>
      <p:sp>
        <p:nvSpPr>
          <p:cNvPr id="29" name="Shape 27"/>
          <p:cNvSpPr/>
          <p:nvPr/>
        </p:nvSpPr>
        <p:spPr>
          <a:xfrm>
            <a:off x="6468264" y="3175432"/>
            <a:ext cx="35314" cy="1080000"/>
          </a:xfrm>
          <a:custGeom>
            <a:avLst/>
            <a:gdLst/>
            <a:ahLst/>
            <a:cxnLst/>
            <a:rect l="l" t="t" r="r" b="b"/>
            <a:pathLst>
              <a:path w="35314" h="741584">
                <a:moveTo>
                  <a:pt x="0" y="0"/>
                </a:moveTo>
                <a:lnTo>
                  <a:pt x="35314" y="0"/>
                </a:lnTo>
                <a:lnTo>
                  <a:pt x="35314" y="741584"/>
                </a:lnTo>
                <a:lnTo>
                  <a:pt x="0" y="74158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7175" y="3281373"/>
            <a:ext cx="5049836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1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适用场景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27175" y="3599195"/>
            <a:ext cx="5041008" cy="45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复杂、模糊的、需要语义理解的软性规则</a:t>
            </a:r>
            <a:endParaRPr lang="en-US" altLang="zh-CN" sz="120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思源宋体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对响应速度要求不高的场景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5A1E7D8-7140-C9F4-AA8E-64950F645586}"/>
              </a:ext>
            </a:extLst>
          </p:cNvPr>
          <p:cNvGrpSpPr/>
          <p:nvPr/>
        </p:nvGrpSpPr>
        <p:grpSpPr>
          <a:xfrm>
            <a:off x="6468264" y="4429482"/>
            <a:ext cx="5208747" cy="1234357"/>
            <a:chOff x="6468264" y="4663522"/>
            <a:chExt cx="5208747" cy="1234357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D4461F1-B9E2-2663-BE37-DC8E322F62FA}"/>
                </a:ext>
              </a:extLst>
            </p:cNvPr>
            <p:cNvGrpSpPr/>
            <p:nvPr/>
          </p:nvGrpSpPr>
          <p:grpSpPr>
            <a:xfrm>
              <a:off x="6468264" y="4663522"/>
              <a:ext cx="5129292" cy="1234357"/>
              <a:chOff x="6468264" y="4663523"/>
              <a:chExt cx="5129292" cy="741584"/>
            </a:xfrm>
          </p:grpSpPr>
          <p:sp>
            <p:nvSpPr>
              <p:cNvPr id="35" name="Shape 33"/>
              <p:cNvSpPr/>
              <p:nvPr/>
            </p:nvSpPr>
            <p:spPr>
              <a:xfrm>
                <a:off x="6468264" y="4663523"/>
                <a:ext cx="5129292" cy="741584"/>
              </a:xfrm>
              <a:custGeom>
                <a:avLst/>
                <a:gdLst/>
                <a:ahLst/>
                <a:cxnLst/>
                <a:rect l="l" t="t" r="r" b="b"/>
                <a:pathLst>
                  <a:path w="5129292" h="741584">
                    <a:moveTo>
                      <a:pt x="0" y="0"/>
                    </a:moveTo>
                    <a:lnTo>
                      <a:pt x="5129292" y="0"/>
                    </a:lnTo>
                    <a:lnTo>
                      <a:pt x="5129292" y="741584"/>
                    </a:lnTo>
                    <a:lnTo>
                      <a:pt x="0" y="741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FAFB"/>
              </a:solidFill>
              <a:ln/>
            </p:spPr>
          </p:sp>
          <p:sp>
            <p:nvSpPr>
              <p:cNvPr id="36" name="Shape 34"/>
              <p:cNvSpPr/>
              <p:nvPr/>
            </p:nvSpPr>
            <p:spPr>
              <a:xfrm>
                <a:off x="6468264" y="4663523"/>
                <a:ext cx="35314" cy="741584"/>
              </a:xfrm>
              <a:custGeom>
                <a:avLst/>
                <a:gdLst/>
                <a:ahLst/>
                <a:cxnLst/>
                <a:rect l="l" t="t" r="r" b="b"/>
                <a:pathLst>
                  <a:path w="35314" h="741584">
                    <a:moveTo>
                      <a:pt x="0" y="0"/>
                    </a:moveTo>
                    <a:lnTo>
                      <a:pt x="35314" y="0"/>
                    </a:lnTo>
                    <a:lnTo>
                      <a:pt x="35314" y="741584"/>
                    </a:lnTo>
                    <a:lnTo>
                      <a:pt x="0" y="741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0000"/>
              </a:solidFill>
              <a:ln/>
            </p:spPr>
          </p:sp>
        </p:grpSp>
        <p:sp>
          <p:nvSpPr>
            <p:cNvPr id="37" name="Text 35"/>
            <p:cNvSpPr/>
            <p:nvPr/>
          </p:nvSpPr>
          <p:spPr>
            <a:xfrm>
              <a:off x="6627175" y="4756698"/>
              <a:ext cx="5049836" cy="309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51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规则列举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627175" y="5074519"/>
              <a:ext cx="5041008" cy="791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大写金额书写规范</a:t>
              </a:r>
              <a:endPara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大小写日期书写规范</a:t>
              </a:r>
              <a:endPara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凭证无涂改</a:t>
              </a:r>
              <a:endParaRPr lang="en-US" sz="12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Shape 37"/>
          <p:cNvSpPr/>
          <p:nvPr/>
        </p:nvSpPr>
        <p:spPr>
          <a:xfrm>
            <a:off x="370792" y="6022515"/>
            <a:ext cx="11450416" cy="679786"/>
          </a:xfrm>
          <a:custGeom>
            <a:avLst/>
            <a:gdLst/>
            <a:ahLst/>
            <a:cxnLst/>
            <a:rect l="l" t="t" r="r" b="b"/>
            <a:pathLst>
              <a:path w="11450416" h="679786">
                <a:moveTo>
                  <a:pt x="0" y="0"/>
                </a:moveTo>
                <a:lnTo>
                  <a:pt x="11450416" y="0"/>
                </a:lnTo>
                <a:lnTo>
                  <a:pt x="11450416" y="679786"/>
                </a:lnTo>
                <a:lnTo>
                  <a:pt x="0" y="67978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26905" y="6275598"/>
            <a:ext cx="198639" cy="176568"/>
          </a:xfrm>
          <a:custGeom>
            <a:avLst/>
            <a:gdLst/>
            <a:ahLst/>
            <a:cxnLst/>
            <a:rect l="l" t="t" r="r" b="b"/>
            <a:pathLst>
              <a:path w="198639" h="176568">
                <a:moveTo>
                  <a:pt x="92733" y="29382"/>
                </a:moveTo>
                <a:lnTo>
                  <a:pt x="52522" y="74076"/>
                </a:lnTo>
                <a:cubicBezTo>
                  <a:pt x="50936" y="75834"/>
                  <a:pt x="51005" y="78559"/>
                  <a:pt x="52694" y="80249"/>
                </a:cubicBezTo>
                <a:cubicBezTo>
                  <a:pt x="63213" y="90767"/>
                  <a:pt x="80283" y="90767"/>
                  <a:pt x="90801" y="80249"/>
                </a:cubicBezTo>
                <a:lnTo>
                  <a:pt x="101768" y="69282"/>
                </a:lnTo>
                <a:cubicBezTo>
                  <a:pt x="103216" y="67834"/>
                  <a:pt x="105044" y="67041"/>
                  <a:pt x="106906" y="66903"/>
                </a:cubicBezTo>
                <a:cubicBezTo>
                  <a:pt x="109251" y="66696"/>
                  <a:pt x="111665" y="67489"/>
                  <a:pt x="113459" y="69282"/>
                </a:cubicBezTo>
                <a:lnTo>
                  <a:pt x="174361" y="129667"/>
                </a:lnTo>
                <a:lnTo>
                  <a:pt x="198639" y="110355"/>
                </a:lnTo>
                <a:lnTo>
                  <a:pt x="198639" y="11035"/>
                </a:lnTo>
                <a:lnTo>
                  <a:pt x="160014" y="33106"/>
                </a:lnTo>
                <a:lnTo>
                  <a:pt x="151807" y="27623"/>
                </a:lnTo>
                <a:cubicBezTo>
                  <a:pt x="146358" y="24002"/>
                  <a:pt x="139978" y="22071"/>
                  <a:pt x="133426" y="22071"/>
                </a:cubicBezTo>
                <a:lnTo>
                  <a:pt x="109148" y="22071"/>
                </a:lnTo>
                <a:cubicBezTo>
                  <a:pt x="108768" y="22071"/>
                  <a:pt x="108355" y="22071"/>
                  <a:pt x="107975" y="22105"/>
                </a:cubicBezTo>
                <a:cubicBezTo>
                  <a:pt x="102147" y="22416"/>
                  <a:pt x="96664" y="25037"/>
                  <a:pt x="92733" y="29382"/>
                </a:cubicBezTo>
                <a:close/>
                <a:moveTo>
                  <a:pt x="40211" y="63006"/>
                </a:moveTo>
                <a:lnTo>
                  <a:pt x="77041" y="22071"/>
                </a:lnTo>
                <a:lnTo>
                  <a:pt x="63385" y="22071"/>
                </a:lnTo>
                <a:cubicBezTo>
                  <a:pt x="54591" y="22071"/>
                  <a:pt x="46177" y="25554"/>
                  <a:pt x="39969" y="31761"/>
                </a:cubicBezTo>
                <a:lnTo>
                  <a:pt x="38624" y="33106"/>
                </a:lnTo>
                <a:lnTo>
                  <a:pt x="0" y="11035"/>
                </a:lnTo>
                <a:lnTo>
                  <a:pt x="0" y="110355"/>
                </a:lnTo>
                <a:lnTo>
                  <a:pt x="53936" y="155290"/>
                </a:lnTo>
                <a:cubicBezTo>
                  <a:pt x="61868" y="161911"/>
                  <a:pt x="71869" y="165532"/>
                  <a:pt x="82180" y="165532"/>
                </a:cubicBezTo>
                <a:lnTo>
                  <a:pt x="87594" y="165532"/>
                </a:lnTo>
                <a:lnTo>
                  <a:pt x="85180" y="163118"/>
                </a:lnTo>
                <a:cubicBezTo>
                  <a:pt x="81938" y="159877"/>
                  <a:pt x="81938" y="154635"/>
                  <a:pt x="85180" y="151427"/>
                </a:cubicBezTo>
                <a:cubicBezTo>
                  <a:pt x="88422" y="148220"/>
                  <a:pt x="93664" y="148186"/>
                  <a:pt x="96871" y="151427"/>
                </a:cubicBezTo>
                <a:lnTo>
                  <a:pt x="111010" y="165567"/>
                </a:lnTo>
                <a:lnTo>
                  <a:pt x="114114" y="165567"/>
                </a:lnTo>
                <a:cubicBezTo>
                  <a:pt x="120701" y="165567"/>
                  <a:pt x="127149" y="164084"/>
                  <a:pt x="133012" y="161325"/>
                </a:cubicBezTo>
                <a:lnTo>
                  <a:pt x="123804" y="152083"/>
                </a:lnTo>
                <a:cubicBezTo>
                  <a:pt x="120563" y="148841"/>
                  <a:pt x="120563" y="143599"/>
                  <a:pt x="123804" y="140392"/>
                </a:cubicBezTo>
                <a:cubicBezTo>
                  <a:pt x="127046" y="137185"/>
                  <a:pt x="132288" y="137150"/>
                  <a:pt x="135495" y="140392"/>
                </a:cubicBezTo>
                <a:lnTo>
                  <a:pt x="146531" y="151427"/>
                </a:lnTo>
                <a:lnTo>
                  <a:pt x="152566" y="145392"/>
                </a:lnTo>
                <a:cubicBezTo>
                  <a:pt x="155635" y="142323"/>
                  <a:pt x="156531" y="137875"/>
                  <a:pt x="155186" y="133978"/>
                </a:cubicBezTo>
                <a:lnTo>
                  <a:pt x="107630" y="86801"/>
                </a:lnTo>
                <a:lnTo>
                  <a:pt x="102492" y="91939"/>
                </a:lnTo>
                <a:cubicBezTo>
                  <a:pt x="85490" y="108941"/>
                  <a:pt x="57971" y="108941"/>
                  <a:pt x="40969" y="91939"/>
                </a:cubicBezTo>
                <a:cubicBezTo>
                  <a:pt x="33037" y="84008"/>
                  <a:pt x="32727" y="71282"/>
                  <a:pt x="40211" y="6297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815229" y="6216739"/>
            <a:ext cx="10855896" cy="29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9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规则引擎与大模型协同审核：通过规则引擎保障确定性和时效性、通过大模型提升灵活性和智能化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2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sp>
        <p:nvSpPr>
          <p:cNvPr id="55" name="Text 29">
            <a:extLst>
              <a:ext uri="{FF2B5EF4-FFF2-40B4-BE49-F238E27FC236}">
                <a16:creationId xmlns:a16="http://schemas.microsoft.com/office/drawing/2014/main" id="{C75656DD-3C84-4904-4962-6BD9DFC67615}"/>
              </a:ext>
            </a:extLst>
          </p:cNvPr>
          <p:cNvSpPr/>
          <p:nvPr/>
        </p:nvSpPr>
        <p:spPr>
          <a:xfrm>
            <a:off x="776898" y="3599195"/>
            <a:ext cx="5041008" cy="45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明确的、高频的硬性规则</a:t>
            </a: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对响应速度要求高的场景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00050" y="1825228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5469" y="2053828"/>
            <a:ext cx="962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03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52600" y="1958578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177778"/>
            <a:ext cx="1177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系统优势及</a:t>
            </a:r>
            <a:r>
              <a:rPr lang="zh-CN" altLang="en-US" sz="54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推广</a:t>
            </a:r>
            <a:r>
              <a:rPr lang="en-US" sz="54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价值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4168378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" y="45874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系统的技术优势与业务推广价值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9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776FD-5A83-B8C0-7D28-B78E2E3F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1F6767-39A8-C80D-D979-596EF3EAE012}"/>
              </a:ext>
            </a:extLst>
          </p:cNvPr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3</a:t>
            </a:r>
            <a:r>
              <a:rPr lang="en-US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.1 </a:t>
            </a: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TECHNICAL ADVANTAGES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A03446-CB2B-5C66-FAA6-61466F04F1E9}"/>
              </a:ext>
            </a:extLst>
          </p:cNvPr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</a:t>
            </a:r>
            <a:r>
              <a:rPr lang="zh-CN" alt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优势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C4F5F6-29D4-7896-3E3E-9F1E8E8C7742}"/>
              </a:ext>
            </a:extLst>
          </p:cNvPr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pic>
        <p:nvPicPr>
          <p:cNvPr id="47" name="Image 0" descr="https://kimi-img.moonshot.cn/pub/slides/26-02-07-14:21:21-d63djo940tj8cmhuh0k0.png">
            <a:extLst>
              <a:ext uri="{FF2B5EF4-FFF2-40B4-BE49-F238E27FC236}">
                <a16:creationId xmlns:a16="http://schemas.microsoft.com/office/drawing/2014/main" id="{C39C305D-7D60-9666-3C24-D880677F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529A3130-175C-5844-E130-90C14F008665}"/>
              </a:ext>
            </a:extLst>
          </p:cNvPr>
          <p:cNvGrpSpPr/>
          <p:nvPr/>
        </p:nvGrpSpPr>
        <p:grpSpPr>
          <a:xfrm>
            <a:off x="8048678" y="1560742"/>
            <a:ext cx="3667125" cy="4219576"/>
            <a:chOff x="390525" y="1419224"/>
            <a:chExt cx="3667125" cy="4219576"/>
          </a:xfrm>
        </p:grpSpPr>
        <p:sp>
          <p:nvSpPr>
            <p:cNvPr id="52" name="Shape 3">
              <a:extLst>
                <a:ext uri="{FF2B5EF4-FFF2-40B4-BE49-F238E27FC236}">
                  <a16:creationId xmlns:a16="http://schemas.microsoft.com/office/drawing/2014/main" id="{4C254FA2-71DD-9D9F-0341-E2BA74E1C92C}"/>
                </a:ext>
              </a:extLst>
            </p:cNvPr>
            <p:cNvSpPr/>
            <p:nvPr/>
          </p:nvSpPr>
          <p:spPr>
            <a:xfrm>
              <a:off x="390525" y="1419224"/>
              <a:ext cx="3667125" cy="4219576"/>
            </a:xfrm>
            <a:custGeom>
              <a:avLst/>
              <a:gdLst/>
              <a:ahLst/>
              <a:cxnLst/>
              <a:rect l="l" t="t" r="r" b="b"/>
              <a:pathLst>
                <a:path w="3667125" h="1752600">
                  <a:moveTo>
                    <a:pt x="0" y="0"/>
                  </a:moveTo>
                  <a:lnTo>
                    <a:pt x="3667125" y="0"/>
                  </a:lnTo>
                  <a:lnTo>
                    <a:pt x="3667125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53" name="Shape 4">
              <a:extLst>
                <a:ext uri="{FF2B5EF4-FFF2-40B4-BE49-F238E27FC236}">
                  <a16:creationId xmlns:a16="http://schemas.microsoft.com/office/drawing/2014/main" id="{7E776670-738B-A685-A56F-6148E2236F0D}"/>
                </a:ext>
              </a:extLst>
            </p:cNvPr>
            <p:cNvSpPr/>
            <p:nvPr/>
          </p:nvSpPr>
          <p:spPr>
            <a:xfrm>
              <a:off x="600075" y="1628775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0" y="0"/>
                  </a:moveTo>
                  <a:lnTo>
                    <a:pt x="438150" y="0"/>
                  </a:lnTo>
                  <a:lnTo>
                    <a:pt x="4381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79D4E03F-2659-420F-2154-6D93B2463130}"/>
                </a:ext>
              </a:extLst>
            </p:cNvPr>
            <p:cNvSpPr/>
            <p:nvPr/>
          </p:nvSpPr>
          <p:spPr>
            <a:xfrm>
              <a:off x="542925" y="1619250"/>
              <a:ext cx="514350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>
                  <a:solidFill>
                    <a:srgbClr val="8B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03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E596B526-2D96-2DE7-0CB0-7E6A609AD601}"/>
                </a:ext>
              </a:extLst>
            </p:cNvPr>
            <p:cNvSpPr/>
            <p:nvPr/>
          </p:nvSpPr>
          <p:spPr>
            <a:xfrm>
              <a:off x="1162050" y="1714500"/>
              <a:ext cx="13144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35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技术创新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Text 7">
              <a:extLst>
                <a:ext uri="{FF2B5EF4-FFF2-40B4-BE49-F238E27FC236}">
                  <a16:creationId xmlns:a16="http://schemas.microsoft.com/office/drawing/2014/main" id="{13D2856C-C7E3-4787-375D-4D2CA7138BA0}"/>
                </a:ext>
              </a:extLst>
            </p:cNvPr>
            <p:cNvSpPr/>
            <p:nvPr/>
          </p:nvSpPr>
          <p:spPr>
            <a:xfrm>
              <a:off x="590550" y="2217964"/>
              <a:ext cx="3343275" cy="24572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规则引擎与大模型的协同审核，它既保证了硬性规则的准确性和时效性，又通过大模型的泛化能力提升了系统的智能化水平。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55D1028-EF25-1CB0-8FB1-A72E9317CE79}"/>
              </a:ext>
            </a:extLst>
          </p:cNvPr>
          <p:cNvGrpSpPr/>
          <p:nvPr/>
        </p:nvGrpSpPr>
        <p:grpSpPr>
          <a:xfrm>
            <a:off x="4264025" y="1560742"/>
            <a:ext cx="3667125" cy="4219576"/>
            <a:chOff x="4264025" y="1419224"/>
            <a:chExt cx="3667125" cy="4219576"/>
          </a:xfrm>
        </p:grpSpPr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AE1E1BCF-6DDD-C03D-DF04-845510928595}"/>
                </a:ext>
              </a:extLst>
            </p:cNvPr>
            <p:cNvSpPr/>
            <p:nvPr/>
          </p:nvSpPr>
          <p:spPr>
            <a:xfrm>
              <a:off x="4264025" y="1419224"/>
              <a:ext cx="3667125" cy="4219576"/>
            </a:xfrm>
            <a:custGeom>
              <a:avLst/>
              <a:gdLst/>
              <a:ahLst/>
              <a:cxnLst/>
              <a:rect l="l" t="t" r="r" b="b"/>
              <a:pathLst>
                <a:path w="3667125" h="1752600">
                  <a:moveTo>
                    <a:pt x="0" y="0"/>
                  </a:moveTo>
                  <a:lnTo>
                    <a:pt x="3667125" y="0"/>
                  </a:lnTo>
                  <a:lnTo>
                    <a:pt x="3667125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6D0BC974-4C03-E0C0-B6C3-E1007550A4D1}"/>
                </a:ext>
              </a:extLst>
            </p:cNvPr>
            <p:cNvSpPr/>
            <p:nvPr/>
          </p:nvSpPr>
          <p:spPr>
            <a:xfrm>
              <a:off x="4473575" y="1628775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0" y="0"/>
                  </a:moveTo>
                  <a:lnTo>
                    <a:pt x="438150" y="0"/>
                  </a:lnTo>
                  <a:lnTo>
                    <a:pt x="4381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59" name="Text 10">
              <a:extLst>
                <a:ext uri="{FF2B5EF4-FFF2-40B4-BE49-F238E27FC236}">
                  <a16:creationId xmlns:a16="http://schemas.microsoft.com/office/drawing/2014/main" id="{91C194F0-EAD4-442F-7DA4-B6B1980E1499}"/>
                </a:ext>
              </a:extLst>
            </p:cNvPr>
            <p:cNvSpPr/>
            <p:nvPr/>
          </p:nvSpPr>
          <p:spPr>
            <a:xfrm>
              <a:off x="4416425" y="1619250"/>
              <a:ext cx="514350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8B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02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0" name="Text 11">
              <a:extLst>
                <a:ext uri="{FF2B5EF4-FFF2-40B4-BE49-F238E27FC236}">
                  <a16:creationId xmlns:a16="http://schemas.microsoft.com/office/drawing/2014/main" id="{037B9CEC-F956-CB90-3F24-BC6154AE461A}"/>
                </a:ext>
              </a:extLst>
            </p:cNvPr>
            <p:cNvSpPr/>
            <p:nvPr/>
          </p:nvSpPr>
          <p:spPr>
            <a:xfrm>
              <a:off x="5035550" y="1714500"/>
              <a:ext cx="12858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35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模式创新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1" name="Text 12">
              <a:extLst>
                <a:ext uri="{FF2B5EF4-FFF2-40B4-BE49-F238E27FC236}">
                  <a16:creationId xmlns:a16="http://schemas.microsoft.com/office/drawing/2014/main" id="{DF80F0D4-F7F1-F800-2FB1-B904F7F85C14}"/>
                </a:ext>
              </a:extLst>
            </p:cNvPr>
            <p:cNvSpPr/>
            <p:nvPr/>
          </p:nvSpPr>
          <p:spPr>
            <a:xfrm>
              <a:off x="4464050" y="2228851"/>
              <a:ext cx="3343275" cy="24463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采用三级规则复用体系，打破了传统规则配置的重复低效模式，通过组件化设计实现了规则的高效复用和统一管理。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62959C-9794-0975-6DAE-61931A615AF9}"/>
              </a:ext>
            </a:extLst>
          </p:cNvPr>
          <p:cNvGrpSpPr/>
          <p:nvPr/>
        </p:nvGrpSpPr>
        <p:grpSpPr>
          <a:xfrm>
            <a:off x="477612" y="1559717"/>
            <a:ext cx="3667125" cy="4219576"/>
            <a:chOff x="8124878" y="1418199"/>
            <a:chExt cx="3667125" cy="4219576"/>
          </a:xfrm>
        </p:grpSpPr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377E35EC-3213-F2AE-8634-C5FDB69FB295}"/>
                </a:ext>
              </a:extLst>
            </p:cNvPr>
            <p:cNvSpPr/>
            <p:nvPr/>
          </p:nvSpPr>
          <p:spPr>
            <a:xfrm>
              <a:off x="8334428" y="1627750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0" y="0"/>
                  </a:moveTo>
                  <a:lnTo>
                    <a:pt x="438150" y="0"/>
                  </a:lnTo>
                  <a:lnTo>
                    <a:pt x="4381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</p:sp>
        <p:sp>
          <p:nvSpPr>
            <p:cNvPr id="86" name="Shape 23">
              <a:extLst>
                <a:ext uri="{FF2B5EF4-FFF2-40B4-BE49-F238E27FC236}">
                  <a16:creationId xmlns:a16="http://schemas.microsoft.com/office/drawing/2014/main" id="{43E9565A-8901-67E4-7049-959FF4841CBD}"/>
                </a:ext>
              </a:extLst>
            </p:cNvPr>
            <p:cNvSpPr/>
            <p:nvPr/>
          </p:nvSpPr>
          <p:spPr>
            <a:xfrm>
              <a:off x="8124878" y="1418199"/>
              <a:ext cx="3667125" cy="4219576"/>
            </a:xfrm>
            <a:custGeom>
              <a:avLst/>
              <a:gdLst/>
              <a:ahLst/>
              <a:cxnLst/>
              <a:rect l="l" t="t" r="r" b="b"/>
              <a:pathLst>
                <a:path w="3667125" h="1752600">
                  <a:moveTo>
                    <a:pt x="0" y="0"/>
                  </a:moveTo>
                  <a:lnTo>
                    <a:pt x="3667125" y="0"/>
                  </a:lnTo>
                  <a:lnTo>
                    <a:pt x="3667125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5400">
              <a:solidFill>
                <a:srgbClr val="8B00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25">
              <a:extLst>
                <a:ext uri="{FF2B5EF4-FFF2-40B4-BE49-F238E27FC236}">
                  <a16:creationId xmlns:a16="http://schemas.microsoft.com/office/drawing/2014/main" id="{F46BD106-05D3-7964-2488-BEB2704659F2}"/>
                </a:ext>
              </a:extLst>
            </p:cNvPr>
            <p:cNvSpPr/>
            <p:nvPr/>
          </p:nvSpPr>
          <p:spPr>
            <a:xfrm>
              <a:off x="8277278" y="1618225"/>
              <a:ext cx="514350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>
                  <a:solidFill>
                    <a:srgbClr val="8B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01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8" name="Text 26">
              <a:extLst>
                <a:ext uri="{FF2B5EF4-FFF2-40B4-BE49-F238E27FC236}">
                  <a16:creationId xmlns:a16="http://schemas.microsoft.com/office/drawing/2014/main" id="{1EB6BD50-BBE6-A0D0-8A2E-9F1EB98DE60A}"/>
                </a:ext>
              </a:extLst>
            </p:cNvPr>
            <p:cNvSpPr/>
            <p:nvPr/>
          </p:nvSpPr>
          <p:spPr>
            <a:xfrm>
              <a:off x="8896403" y="1713475"/>
              <a:ext cx="12858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350" b="1">
                  <a:solidFill>
                    <a:srgbClr val="1F2937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应用创新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9" name="Text 27">
              <a:extLst>
                <a:ext uri="{FF2B5EF4-FFF2-40B4-BE49-F238E27FC236}">
                  <a16:creationId xmlns:a16="http://schemas.microsoft.com/office/drawing/2014/main" id="{31019E97-BB1E-6245-A037-1CB2B9958897}"/>
                </a:ext>
              </a:extLst>
            </p:cNvPr>
            <p:cNvSpPr/>
            <p:nvPr/>
          </p:nvSpPr>
          <p:spPr>
            <a:xfrm>
              <a:off x="8324903" y="2227824"/>
              <a:ext cx="3343275" cy="25110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自动化数据管理工具、图形化配置界面工具、</a:t>
              </a:r>
              <a:endParaRPr lang="en-US" altLang="zh-CN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思源宋体" pitchFamily="34" charset="-120"/>
                </a:rPr>
                <a:t>近自然语言的规则配置方式，让业务人员能够独立完成规则和流程的配置，降低了技术门槛。</a:t>
              </a:r>
              <a:endParaRPr lang="en-US" sz="16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4185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C22D8-BF44-33E9-3AD4-A336E268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2F57BA-1FE3-23B9-E0C9-66147995BA41}"/>
              </a:ext>
            </a:extLst>
          </p:cNvPr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3</a:t>
            </a:r>
            <a:r>
              <a:rPr lang="en-US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.2 </a:t>
            </a: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BUSINESS VALUE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6CCC78-FCAF-31A2-E997-C9FC7B0A177F}"/>
              </a:ext>
            </a:extLst>
          </p:cNvPr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</a:t>
            </a:r>
            <a:r>
              <a:rPr lang="en-US" sz="27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推广价值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ED04E5-3DBF-2418-1BCE-4455F0D13743}"/>
              </a:ext>
            </a:extLst>
          </p:cNvPr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82D95E-7304-D5DC-B3D4-F3E6CA953D62}"/>
              </a:ext>
            </a:extLst>
          </p:cNvPr>
          <p:cNvSpPr/>
          <p:nvPr/>
        </p:nvSpPr>
        <p:spPr>
          <a:xfrm>
            <a:off x="390525" y="1419225"/>
            <a:ext cx="3638550" cy="2762250"/>
          </a:xfrm>
          <a:custGeom>
            <a:avLst/>
            <a:gdLst/>
            <a:ahLst/>
            <a:cxnLst/>
            <a:rect l="l" t="t" r="r" b="b"/>
            <a:pathLst>
              <a:path w="3638550" h="2762250">
                <a:moveTo>
                  <a:pt x="0" y="0"/>
                </a:moveTo>
                <a:lnTo>
                  <a:pt x="3638550" y="0"/>
                </a:lnTo>
                <a:lnTo>
                  <a:pt x="363855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83814B9-CDEC-CEEF-2FE2-AA5D2A68308E}"/>
              </a:ext>
            </a:extLst>
          </p:cNvPr>
          <p:cNvSpPr/>
          <p:nvPr/>
        </p:nvSpPr>
        <p:spPr>
          <a:xfrm>
            <a:off x="62865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796A6C-0FF9-021B-6FFB-6B3D2826FC04}"/>
              </a:ext>
            </a:extLst>
          </p:cNvPr>
          <p:cNvSpPr/>
          <p:nvPr/>
        </p:nvSpPr>
        <p:spPr>
          <a:xfrm>
            <a:off x="792956" y="1819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7156" y="35719"/>
                </a:moveTo>
                <a:cubicBezTo>
                  <a:pt x="107156" y="25840"/>
                  <a:pt x="115137" y="17859"/>
                  <a:pt x="125016" y="17859"/>
                </a:cubicBezTo>
                <a:lnTo>
                  <a:pt x="160734" y="17859"/>
                </a:lnTo>
                <a:cubicBezTo>
                  <a:pt x="170613" y="17859"/>
                  <a:pt x="178594" y="25840"/>
                  <a:pt x="178594" y="35719"/>
                </a:cubicBezTo>
                <a:lnTo>
                  <a:pt x="178594" y="71438"/>
                </a:lnTo>
                <a:cubicBezTo>
                  <a:pt x="178594" y="81316"/>
                  <a:pt x="170613" y="89297"/>
                  <a:pt x="160734" y="89297"/>
                </a:cubicBezTo>
                <a:lnTo>
                  <a:pt x="156270" y="89297"/>
                </a:lnTo>
                <a:lnTo>
                  <a:pt x="156270" y="125016"/>
                </a:lnTo>
                <a:lnTo>
                  <a:pt x="223242" y="125016"/>
                </a:lnTo>
                <a:cubicBezTo>
                  <a:pt x="245455" y="125016"/>
                  <a:pt x="263426" y="142987"/>
                  <a:pt x="263426" y="165199"/>
                </a:cubicBezTo>
                <a:lnTo>
                  <a:pt x="263426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lnTo>
                  <a:pt x="285750" y="250031"/>
                </a:lnTo>
                <a:cubicBezTo>
                  <a:pt x="285750" y="259910"/>
                  <a:pt x="277769" y="267891"/>
                  <a:pt x="267891" y="267891"/>
                </a:cubicBezTo>
                <a:lnTo>
                  <a:pt x="232172" y="267891"/>
                </a:lnTo>
                <a:cubicBezTo>
                  <a:pt x="222293" y="267891"/>
                  <a:pt x="214313" y="259910"/>
                  <a:pt x="214313" y="250031"/>
                </a:cubicBezTo>
                <a:lnTo>
                  <a:pt x="214313" y="214313"/>
                </a:lnTo>
                <a:cubicBezTo>
                  <a:pt x="214313" y="204434"/>
                  <a:pt x="222293" y="196453"/>
                  <a:pt x="232172" y="196453"/>
                </a:cubicBezTo>
                <a:lnTo>
                  <a:pt x="236637" y="196453"/>
                </a:lnTo>
                <a:lnTo>
                  <a:pt x="236637" y="165199"/>
                </a:lnTo>
                <a:cubicBezTo>
                  <a:pt x="236637" y="157776"/>
                  <a:pt x="230665" y="151805"/>
                  <a:pt x="223242" y="151805"/>
                </a:cubicBezTo>
                <a:lnTo>
                  <a:pt x="156270" y="151805"/>
                </a:lnTo>
                <a:lnTo>
                  <a:pt x="156270" y="196453"/>
                </a:lnTo>
                <a:lnTo>
                  <a:pt x="160734" y="196453"/>
                </a:lnTo>
                <a:cubicBezTo>
                  <a:pt x="170613" y="196453"/>
                  <a:pt x="178594" y="204434"/>
                  <a:pt x="178594" y="214313"/>
                </a:cubicBezTo>
                <a:lnTo>
                  <a:pt x="178594" y="250031"/>
                </a:lnTo>
                <a:cubicBezTo>
                  <a:pt x="178594" y="259910"/>
                  <a:pt x="170613" y="267891"/>
                  <a:pt x="160734" y="267891"/>
                </a:cubicBezTo>
                <a:lnTo>
                  <a:pt x="125016" y="267891"/>
                </a:lnTo>
                <a:cubicBezTo>
                  <a:pt x="115137" y="267891"/>
                  <a:pt x="107156" y="259910"/>
                  <a:pt x="107156" y="250031"/>
                </a:cubicBezTo>
                <a:lnTo>
                  <a:pt x="107156" y="214313"/>
                </a:lnTo>
                <a:cubicBezTo>
                  <a:pt x="107156" y="204434"/>
                  <a:pt x="115137" y="196453"/>
                  <a:pt x="125016" y="196453"/>
                </a:cubicBezTo>
                <a:lnTo>
                  <a:pt x="129480" y="196453"/>
                </a:lnTo>
                <a:lnTo>
                  <a:pt x="129480" y="151805"/>
                </a:lnTo>
                <a:lnTo>
                  <a:pt x="62508" y="151805"/>
                </a:lnTo>
                <a:cubicBezTo>
                  <a:pt x="55085" y="151805"/>
                  <a:pt x="49113" y="157776"/>
                  <a:pt x="49113" y="165199"/>
                </a:cubicBezTo>
                <a:lnTo>
                  <a:pt x="49113" y="196453"/>
                </a:lnTo>
                <a:lnTo>
                  <a:pt x="53578" y="196453"/>
                </a:lnTo>
                <a:cubicBezTo>
                  <a:pt x="63457" y="196453"/>
                  <a:pt x="71438" y="204434"/>
                  <a:pt x="71438" y="214313"/>
                </a:cubicBezTo>
                <a:lnTo>
                  <a:pt x="71438" y="250031"/>
                </a:lnTo>
                <a:cubicBezTo>
                  <a:pt x="71438" y="259910"/>
                  <a:pt x="63457" y="267891"/>
                  <a:pt x="53578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14313"/>
                </a:lnTo>
                <a:cubicBezTo>
                  <a:pt x="0" y="204434"/>
                  <a:pt x="7981" y="196453"/>
                  <a:pt x="17859" y="196453"/>
                </a:cubicBezTo>
                <a:lnTo>
                  <a:pt x="22324" y="196453"/>
                </a:lnTo>
                <a:lnTo>
                  <a:pt x="22324" y="165199"/>
                </a:lnTo>
                <a:cubicBezTo>
                  <a:pt x="22324" y="142987"/>
                  <a:pt x="40295" y="125016"/>
                  <a:pt x="62508" y="125016"/>
                </a:cubicBezTo>
                <a:lnTo>
                  <a:pt x="129480" y="125016"/>
                </a:lnTo>
                <a:lnTo>
                  <a:pt x="129480" y="89297"/>
                </a:lnTo>
                <a:lnTo>
                  <a:pt x="125016" y="89297"/>
                </a:lnTo>
                <a:cubicBezTo>
                  <a:pt x="115137" y="89297"/>
                  <a:pt x="107156" y="81316"/>
                  <a:pt x="107156" y="71438"/>
                </a:cubicBezTo>
                <a:lnTo>
                  <a:pt x="107156" y="35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C26A28-F4F3-C902-0D80-5A4A5CDCB4D9}"/>
              </a:ext>
            </a:extLst>
          </p:cNvPr>
          <p:cNvSpPr/>
          <p:nvPr/>
        </p:nvSpPr>
        <p:spPr>
          <a:xfrm>
            <a:off x="1390650" y="180975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统一管理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6D563EC-E86C-84FB-6CE6-1D1A11BB4770}"/>
              </a:ext>
            </a:extLst>
          </p:cNvPr>
          <p:cNvSpPr/>
          <p:nvPr/>
        </p:nvSpPr>
        <p:spPr>
          <a:xfrm>
            <a:off x="628650" y="245745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集中化规则管理，统一审核标准，消除不同审核人员之间的标准差异，提升管理效率。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2F68A0-FCF2-B49A-F460-C10C8912E762}"/>
              </a:ext>
            </a:extLst>
          </p:cNvPr>
          <p:cNvSpPr/>
          <p:nvPr/>
        </p:nvSpPr>
        <p:spPr>
          <a:xfrm>
            <a:off x="628650" y="31051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规则版本统一管控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0CBBE6-FEDC-C05B-638B-F33759759AA9}"/>
              </a:ext>
            </a:extLst>
          </p:cNvPr>
          <p:cNvSpPr/>
          <p:nvPr/>
        </p:nvSpPr>
        <p:spPr>
          <a:xfrm>
            <a:off x="628650" y="34099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审核标准一致执行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F56FEF-0BB0-FA4F-A3EE-4F6FA364DA55}"/>
              </a:ext>
            </a:extLst>
          </p:cNvPr>
          <p:cNvSpPr/>
          <p:nvPr/>
        </p:nvSpPr>
        <p:spPr>
          <a:xfrm>
            <a:off x="628650" y="37147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变更快速同步生效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66354A-4BB1-56B7-0945-1770711DA034}"/>
              </a:ext>
            </a:extLst>
          </p:cNvPr>
          <p:cNvSpPr/>
          <p:nvPr/>
        </p:nvSpPr>
        <p:spPr>
          <a:xfrm>
            <a:off x="4276725" y="1419225"/>
            <a:ext cx="3638550" cy="2762250"/>
          </a:xfrm>
          <a:custGeom>
            <a:avLst/>
            <a:gdLst/>
            <a:ahLst/>
            <a:cxnLst/>
            <a:rect l="l" t="t" r="r" b="b"/>
            <a:pathLst>
              <a:path w="3638550" h="2762250">
                <a:moveTo>
                  <a:pt x="0" y="0"/>
                </a:moveTo>
                <a:lnTo>
                  <a:pt x="3638550" y="0"/>
                </a:lnTo>
                <a:lnTo>
                  <a:pt x="363855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65F8738-0C50-91FC-0584-5A87B04CC1CC}"/>
              </a:ext>
            </a:extLst>
          </p:cNvPr>
          <p:cNvSpPr/>
          <p:nvPr/>
        </p:nvSpPr>
        <p:spPr>
          <a:xfrm>
            <a:off x="451485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CD12F70-23C6-F923-9AC9-D2275A5CF812}"/>
              </a:ext>
            </a:extLst>
          </p:cNvPr>
          <p:cNvSpPr/>
          <p:nvPr/>
        </p:nvSpPr>
        <p:spPr>
          <a:xfrm>
            <a:off x="4679156" y="1819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5FDD6E-38E7-C0AE-85FA-50E4782754D2}"/>
              </a:ext>
            </a:extLst>
          </p:cNvPr>
          <p:cNvSpPr/>
          <p:nvPr/>
        </p:nvSpPr>
        <p:spPr>
          <a:xfrm>
            <a:off x="5276850" y="180975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提升质效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08FAB69-752C-9B42-B690-16D6C6F8CCA3}"/>
              </a:ext>
            </a:extLst>
          </p:cNvPr>
          <p:cNvSpPr/>
          <p:nvPr/>
        </p:nvSpPr>
        <p:spPr>
          <a:xfrm>
            <a:off x="4514850" y="245745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系统智能审核，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辅助人工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决策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，提高审核效率和准确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率。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7154B3B-A500-51F8-D749-CE84BC8E001B}"/>
              </a:ext>
            </a:extLst>
          </p:cNvPr>
          <p:cNvSpPr/>
          <p:nvPr/>
        </p:nvSpPr>
        <p:spPr>
          <a:xfrm>
            <a:off x="4514850" y="31051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提高审核效率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D46F9C4-E1AC-57C3-A6AD-9B02C1F999B7}"/>
              </a:ext>
            </a:extLst>
          </p:cNvPr>
          <p:cNvSpPr/>
          <p:nvPr/>
        </p:nvSpPr>
        <p:spPr>
          <a:xfrm>
            <a:off x="4514850" y="34099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提升审核质量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F67527D-EF33-7A77-2C65-4909FB30C57E}"/>
              </a:ext>
            </a:extLst>
          </p:cNvPr>
          <p:cNvSpPr/>
          <p:nvPr/>
        </p:nvSpPr>
        <p:spPr>
          <a:xfrm>
            <a:off x="4514850" y="37147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降低退件率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7722383-7C96-4F33-4977-EF96ECD5F120}"/>
              </a:ext>
            </a:extLst>
          </p:cNvPr>
          <p:cNvSpPr/>
          <p:nvPr/>
        </p:nvSpPr>
        <p:spPr>
          <a:xfrm>
            <a:off x="8162925" y="1419225"/>
            <a:ext cx="3638550" cy="2762250"/>
          </a:xfrm>
          <a:custGeom>
            <a:avLst/>
            <a:gdLst/>
            <a:ahLst/>
            <a:cxnLst/>
            <a:rect l="l" t="t" r="r" b="b"/>
            <a:pathLst>
              <a:path w="3638550" h="2762250">
                <a:moveTo>
                  <a:pt x="0" y="0"/>
                </a:moveTo>
                <a:lnTo>
                  <a:pt x="3638550" y="0"/>
                </a:lnTo>
                <a:lnTo>
                  <a:pt x="3638550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9BEB615-1B8D-AD5D-4492-B0895879D3BF}"/>
              </a:ext>
            </a:extLst>
          </p:cNvPr>
          <p:cNvSpPr/>
          <p:nvPr/>
        </p:nvSpPr>
        <p:spPr>
          <a:xfrm>
            <a:off x="8401050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CA38FB1-FB46-3CC0-FC44-AD6CC718F342}"/>
              </a:ext>
            </a:extLst>
          </p:cNvPr>
          <p:cNvSpPr/>
          <p:nvPr/>
        </p:nvSpPr>
        <p:spPr>
          <a:xfrm>
            <a:off x="8565356" y="1819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A8DD004-97FA-C44A-6985-E354E0958C83}"/>
              </a:ext>
            </a:extLst>
          </p:cNvPr>
          <p:cNvSpPr/>
          <p:nvPr/>
        </p:nvSpPr>
        <p:spPr>
          <a:xfrm>
            <a:off x="9163050" y="180975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风险控制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71FEEE8-EBEC-9F22-779B-B364788FDA5D}"/>
              </a:ext>
            </a:extLst>
          </p:cNvPr>
          <p:cNvSpPr/>
          <p:nvPr/>
        </p:nvSpPr>
        <p:spPr>
          <a:xfrm>
            <a:off x="8401050" y="245745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审核流程标准化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、可追溯，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增强风险防控能力。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5C5F4C1-256F-6A34-4680-99FDC57C0DA6}"/>
              </a:ext>
            </a:extLst>
          </p:cNvPr>
          <p:cNvSpPr/>
          <p:nvPr/>
        </p:nvSpPr>
        <p:spPr>
          <a:xfrm>
            <a:off x="8401050" y="31051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记录审核细节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3A5DDC2-2231-0348-F60C-6057CFFC9738}"/>
              </a:ext>
            </a:extLst>
          </p:cNvPr>
          <p:cNvSpPr/>
          <p:nvPr/>
        </p:nvSpPr>
        <p:spPr>
          <a:xfrm>
            <a:off x="8401050" y="34099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增强风险防控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BAADF68-E823-0C51-972C-44C7B6281FAA}"/>
              </a:ext>
            </a:extLst>
          </p:cNvPr>
          <p:cNvSpPr/>
          <p:nvPr/>
        </p:nvSpPr>
        <p:spPr>
          <a:xfrm>
            <a:off x="8401050" y="37147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 问题快速定位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8B0C3D9-A7B2-F1F2-47AC-BC191F5A97C0}"/>
              </a:ext>
            </a:extLst>
          </p:cNvPr>
          <p:cNvSpPr/>
          <p:nvPr/>
        </p:nvSpPr>
        <p:spPr>
          <a:xfrm>
            <a:off x="400050" y="4400550"/>
            <a:ext cx="5514975" cy="2076450"/>
          </a:xfrm>
          <a:custGeom>
            <a:avLst/>
            <a:gdLst/>
            <a:ahLst/>
            <a:cxnLst/>
            <a:rect l="l" t="t" r="r" b="b"/>
            <a:pathLst>
              <a:path w="11391900" h="2076450">
                <a:moveTo>
                  <a:pt x="0" y="0"/>
                </a:moveTo>
                <a:lnTo>
                  <a:pt x="11391900" y="0"/>
                </a:lnTo>
                <a:lnTo>
                  <a:pt x="11391900" y="2076450"/>
                </a:ln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C610E8C-69D9-6791-4A30-CBB30D787CDA}"/>
              </a:ext>
            </a:extLst>
          </p:cNvPr>
          <p:cNvSpPr/>
          <p:nvPr/>
        </p:nvSpPr>
        <p:spPr>
          <a:xfrm>
            <a:off x="671513" y="468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921C5B8-A0FA-A39C-B955-F924F7F1679B}"/>
              </a:ext>
            </a:extLst>
          </p:cNvPr>
          <p:cNvSpPr/>
          <p:nvPr/>
        </p:nvSpPr>
        <p:spPr>
          <a:xfrm>
            <a:off x="885825" y="4648200"/>
            <a:ext cx="10753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适用场景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A28AF69-2D75-9A6F-6FB5-39BF317FD266}"/>
              </a:ext>
            </a:extLst>
          </p:cNvPr>
          <p:cNvSpPr/>
          <p:nvPr/>
        </p:nvSpPr>
        <p:spPr>
          <a:xfrm>
            <a:off x="647700" y="5067300"/>
            <a:ext cx="339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各类业务凭证的自动化校验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BBC5DE9-346E-254F-7193-39EEC275479C}"/>
              </a:ext>
            </a:extLst>
          </p:cNvPr>
          <p:cNvSpPr/>
          <p:nvPr/>
        </p:nvSpPr>
        <p:spPr>
          <a:xfrm>
            <a:off x="622300" y="5727700"/>
            <a:ext cx="339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对审核准确率要求高的业务环节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8139CF3-14F9-D984-E2D9-48A2725521FD}"/>
              </a:ext>
            </a:extLst>
          </p:cNvPr>
          <p:cNvSpPr/>
          <p:nvPr/>
        </p:nvSpPr>
        <p:spPr>
          <a:xfrm>
            <a:off x="647700" y="5410200"/>
            <a:ext cx="339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需要进行合规审查的业务场景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643C301-0C91-912F-C953-CCB54E8A5429}"/>
              </a:ext>
            </a:extLst>
          </p:cNvPr>
          <p:cNvSpPr/>
          <p:nvPr/>
        </p:nvSpPr>
        <p:spPr>
          <a:xfrm>
            <a:off x="622300" y="6070600"/>
            <a:ext cx="339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</a:t>
            </a: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需要标准化审核流程的业务领域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8" name="Image 0" descr="https://kimi-img.moonshot.cn/pub/slides/26-02-07-14:21:21-d63djo940tj8cmhuh0k0.png">
            <a:extLst>
              <a:ext uri="{FF2B5EF4-FFF2-40B4-BE49-F238E27FC236}">
                <a16:creationId xmlns:a16="http://schemas.microsoft.com/office/drawing/2014/main" id="{E7B621D1-EB32-730B-9819-315AE1A7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  <p:sp>
        <p:nvSpPr>
          <p:cNvPr id="39" name="Shape 27">
            <a:extLst>
              <a:ext uri="{FF2B5EF4-FFF2-40B4-BE49-F238E27FC236}">
                <a16:creationId xmlns:a16="http://schemas.microsoft.com/office/drawing/2014/main" id="{CAC54270-BC5C-B872-A029-4D62EE17A361}"/>
              </a:ext>
            </a:extLst>
          </p:cNvPr>
          <p:cNvSpPr/>
          <p:nvPr/>
        </p:nvSpPr>
        <p:spPr>
          <a:xfrm>
            <a:off x="6286500" y="4397375"/>
            <a:ext cx="5514975" cy="2076450"/>
          </a:xfrm>
          <a:custGeom>
            <a:avLst/>
            <a:gdLst/>
            <a:ahLst/>
            <a:cxnLst/>
            <a:rect l="l" t="t" r="r" b="b"/>
            <a:pathLst>
              <a:path w="11391900" h="2076450">
                <a:moveTo>
                  <a:pt x="0" y="0"/>
                </a:moveTo>
                <a:lnTo>
                  <a:pt x="11391900" y="0"/>
                </a:lnTo>
                <a:lnTo>
                  <a:pt x="11391900" y="2076450"/>
                </a:ln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7662F3DA-7D74-B8B7-A6CD-684EBEAF398A}"/>
              </a:ext>
            </a:extLst>
          </p:cNvPr>
          <p:cNvSpPr/>
          <p:nvPr/>
        </p:nvSpPr>
        <p:spPr>
          <a:xfrm>
            <a:off x="6557963" y="4705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0EBF2ACE-CFFD-0B03-3ADB-9A7A94AD6DC5}"/>
              </a:ext>
            </a:extLst>
          </p:cNvPr>
          <p:cNvSpPr/>
          <p:nvPr/>
        </p:nvSpPr>
        <p:spPr>
          <a:xfrm>
            <a:off x="6534150" y="514985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集中作业平台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9FBC6416-657E-14B1-4887-7EBDA0015F38}"/>
              </a:ext>
            </a:extLst>
          </p:cNvPr>
          <p:cNvSpPr/>
          <p:nvPr/>
        </p:nvSpPr>
        <p:spPr>
          <a:xfrm>
            <a:off x="6508750" y="581025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对公信贷系统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F0F92458-4ECA-DB5C-53E1-2FEB74E48F37}"/>
              </a:ext>
            </a:extLst>
          </p:cNvPr>
          <p:cNvSpPr/>
          <p:nvPr/>
        </p:nvSpPr>
        <p:spPr>
          <a:xfrm>
            <a:off x="6534150" y="549275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·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 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前端整合系统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9" name="Text 9">
            <a:extLst>
              <a:ext uri="{FF2B5EF4-FFF2-40B4-BE49-F238E27FC236}">
                <a16:creationId xmlns:a16="http://schemas.microsoft.com/office/drawing/2014/main" id="{A277602C-62C1-6A34-F43E-41FACF2C6E94}"/>
              </a:ext>
            </a:extLst>
          </p:cNvPr>
          <p:cNvSpPr/>
          <p:nvPr/>
        </p:nvSpPr>
        <p:spPr>
          <a:xfrm>
            <a:off x="8255001" y="5067300"/>
            <a:ext cx="3114675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行内转账单位结算业务申请书审核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预约预处理对公开户预审</a:t>
            </a:r>
            <a:endParaRPr lang="en-US" altLang="zh-CN" sz="120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思源宋体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行内转账特种转账凭证审核网点前置校验</a:t>
            </a:r>
            <a:endParaRPr lang="en-US" altLang="zh-CN" sz="120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思源宋体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放款审核</a:t>
            </a:r>
            <a:endParaRPr lang="en-US" altLang="zh-CN" sz="120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思源宋体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……</a:t>
            </a:r>
          </a:p>
        </p:txBody>
      </p:sp>
      <p:sp>
        <p:nvSpPr>
          <p:cNvPr id="100" name="Text 29">
            <a:extLst>
              <a:ext uri="{FF2B5EF4-FFF2-40B4-BE49-F238E27FC236}">
                <a16:creationId xmlns:a16="http://schemas.microsoft.com/office/drawing/2014/main" id="{B11B9D70-0065-3BF9-CED5-C878EDADC3A7}"/>
              </a:ext>
            </a:extLst>
          </p:cNvPr>
          <p:cNvSpPr/>
          <p:nvPr/>
        </p:nvSpPr>
        <p:spPr>
          <a:xfrm>
            <a:off x="6827344" y="4629150"/>
            <a:ext cx="311467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已对接系统及上线场景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7206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00050" y="1825228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5171" y="2053828"/>
            <a:ext cx="962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04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52600" y="1958578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177778"/>
            <a:ext cx="1177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系统未来规划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4168378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" y="45874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业务场景</a:t>
            </a:r>
            <a:r>
              <a:rPr lang="zh-CN" altLang="en-US" sz="22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扩展</a:t>
            </a:r>
            <a:r>
              <a:rPr lang="en-US" sz="225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与系统功能提升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9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4</a:t>
            </a:r>
            <a:r>
              <a:rPr lang="en-US" sz="1200" b="1" kern="0" spc="12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.1 </a:t>
            </a:r>
            <a:r>
              <a:rPr lang="en-US" sz="1200" b="1" kern="0" spc="120" dirty="0">
                <a:solidFill>
                  <a:srgbClr val="8B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FUTURE PLANNING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未来发展规划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0524" y="1531144"/>
            <a:ext cx="11401425" cy="1278731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0" y="0"/>
                </a:moveTo>
                <a:lnTo>
                  <a:pt x="5581650" y="0"/>
                </a:lnTo>
                <a:lnTo>
                  <a:pt x="55816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5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338" y="1809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71438"/>
                </a:ln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lnTo>
                  <a:pt x="28575" y="42863"/>
                </a:lnTo>
                <a:lnTo>
                  <a:pt x="57150" y="42863"/>
                </a:lnTo>
                <a:cubicBezTo>
                  <a:pt x="65053" y="42863"/>
                  <a:pt x="71438" y="36478"/>
                  <a:pt x="71438" y="28575"/>
                </a:cubicBezTo>
                <a:cubicBezTo>
                  <a:pt x="71438" y="20672"/>
                  <a:pt x="65053" y="14288"/>
                  <a:pt x="57150" y="14288"/>
                </a:cubicBezTo>
                <a:lnTo>
                  <a:pt x="14288" y="14288"/>
                </a:lnTo>
                <a:close/>
                <a:moveTo>
                  <a:pt x="28575" y="157163"/>
                </a:moveTo>
                <a:cubicBezTo>
                  <a:pt x="28575" y="149260"/>
                  <a:pt x="22190" y="142875"/>
                  <a:pt x="14288" y="142875"/>
                </a:cubicBezTo>
                <a:cubicBezTo>
                  <a:pt x="6385" y="142875"/>
                  <a:pt x="0" y="149260"/>
                  <a:pt x="0" y="157163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7150" y="214313"/>
                </a:lnTo>
                <a:cubicBezTo>
                  <a:pt x="65053" y="214313"/>
                  <a:pt x="71438" y="207928"/>
                  <a:pt x="71438" y="200025"/>
                </a:cubicBezTo>
                <a:cubicBezTo>
                  <a:pt x="71438" y="192122"/>
                  <a:pt x="65053" y="185738"/>
                  <a:pt x="57150" y="185738"/>
                </a:cubicBezTo>
                <a:lnTo>
                  <a:pt x="28575" y="185738"/>
                </a:lnTo>
                <a:lnTo>
                  <a:pt x="28575" y="157163"/>
                </a:lnTo>
                <a:close/>
                <a:moveTo>
                  <a:pt x="142875" y="14288"/>
                </a:moveTo>
                <a:cubicBezTo>
                  <a:pt x="134972" y="14288"/>
                  <a:pt x="128588" y="20672"/>
                  <a:pt x="128588" y="28575"/>
                </a:cubicBezTo>
                <a:cubicBezTo>
                  <a:pt x="128588" y="36478"/>
                  <a:pt x="134972" y="42863"/>
                  <a:pt x="142875" y="42863"/>
                </a:cubicBezTo>
                <a:lnTo>
                  <a:pt x="171450" y="42863"/>
                </a:lnTo>
                <a:lnTo>
                  <a:pt x="171450" y="71438"/>
                </a:lnTo>
                <a:cubicBezTo>
                  <a:pt x="171450" y="79340"/>
                  <a:pt x="177835" y="85725"/>
                  <a:pt x="185738" y="85725"/>
                </a:cubicBezTo>
                <a:cubicBezTo>
                  <a:pt x="193640" y="85725"/>
                  <a:pt x="200025" y="79340"/>
                  <a:pt x="200025" y="71438"/>
                </a:cubicBezTo>
                <a:lnTo>
                  <a:pt x="200025" y="28575"/>
                </a:lnTo>
                <a:cubicBezTo>
                  <a:pt x="200025" y="20672"/>
                  <a:pt x="193640" y="14288"/>
                  <a:pt x="185738" y="14288"/>
                </a:cubicBezTo>
                <a:lnTo>
                  <a:pt x="142875" y="14288"/>
                </a:lnTo>
                <a:close/>
                <a:moveTo>
                  <a:pt x="200025" y="157163"/>
                </a:moveTo>
                <a:cubicBezTo>
                  <a:pt x="200025" y="149260"/>
                  <a:pt x="193640" y="142875"/>
                  <a:pt x="185738" y="142875"/>
                </a:cubicBezTo>
                <a:cubicBezTo>
                  <a:pt x="177835" y="142875"/>
                  <a:pt x="171450" y="149260"/>
                  <a:pt x="171450" y="157163"/>
                </a:cubicBezTo>
                <a:lnTo>
                  <a:pt x="171450" y="185738"/>
                </a:lnTo>
                <a:lnTo>
                  <a:pt x="142875" y="185738"/>
                </a:lnTo>
                <a:cubicBezTo>
                  <a:pt x="134972" y="185738"/>
                  <a:pt x="128588" y="192122"/>
                  <a:pt x="128588" y="200025"/>
                </a:cubicBezTo>
                <a:cubicBezTo>
                  <a:pt x="128588" y="207928"/>
                  <a:pt x="134972" y="214313"/>
                  <a:pt x="142875" y="214313"/>
                </a:cubicBezTo>
                <a:lnTo>
                  <a:pt x="185738" y="214313"/>
                </a:lnTo>
                <a:cubicBezTo>
                  <a:pt x="193640" y="214313"/>
                  <a:pt x="200025" y="207928"/>
                  <a:pt x="200025" y="200025"/>
                </a:cubicBezTo>
                <a:lnTo>
                  <a:pt x="200025" y="1571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14450" y="17907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扩展更多业务场景支持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74099" y="1933026"/>
            <a:ext cx="973726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接入远程授权、集中出账、集中来账、外汇会计业务等更多业务场景，持续扩大系统覆盖范围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，为更多业务线提供智能化审核</a:t>
            </a:r>
            <a:r>
              <a:rPr lang="zh-CN" alt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服务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0524" y="2919505"/>
            <a:ext cx="11401425" cy="1278731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0" y="0"/>
                </a:moveTo>
                <a:lnTo>
                  <a:pt x="5581650" y="0"/>
                </a:lnTo>
                <a:lnTo>
                  <a:pt x="55816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" y="30457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81050" y="319811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14450" y="3179061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审核任务碎片化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2029" y="3321393"/>
            <a:ext cx="973726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根据凭证审核点切割凭证，将智能审核不通过的子任务和凭证碎片分派给不同的人员审核</a:t>
            </a:r>
            <a:r>
              <a:rPr lang="en-US" sz="120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，实现更精细化的任务分配和更高效的人工复核。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0524" y="4309336"/>
            <a:ext cx="11401425" cy="1278731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0" y="0"/>
                </a:moveTo>
                <a:lnTo>
                  <a:pt x="5581650" y="0"/>
                </a:lnTo>
                <a:lnTo>
                  <a:pt x="55816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" y="44355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66763" y="458794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14450" y="4568892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提升大模型准确率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5935" y="4812810"/>
            <a:ext cx="979431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将人工反馈结果提交给大模型用于优化模型，形成持续学习闭环，通过不断的反馈和迭代，持续提升审核准确率，让系统越用越智能。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0050" y="5729288"/>
            <a:ext cx="11391900" cy="733425"/>
          </a:xfrm>
          <a:custGeom>
            <a:avLst/>
            <a:gdLst/>
            <a:ahLst/>
            <a:cxnLst/>
            <a:rect l="l" t="t" r="r" b="b"/>
            <a:pathLst>
              <a:path w="11391900" h="733425">
                <a:moveTo>
                  <a:pt x="0" y="0"/>
                </a:moveTo>
                <a:lnTo>
                  <a:pt x="11391900" y="0"/>
                </a:lnTo>
                <a:lnTo>
                  <a:pt x="113919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8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9038" y="6002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85825" y="5938838"/>
            <a:ext cx="10744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开拓场景、</a:t>
            </a:r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持续创新</a:t>
            </a:r>
            <a:r>
              <a:rPr lang="zh-CN" alt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、</a:t>
            </a:r>
            <a:r>
              <a:rPr lang="en-US" sz="1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不断优化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8" name="Image 0" descr="https://kimi-img.moonshot.cn/pub/slides/26-02-07-14:21:21-d63djo940tj8cmhuh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3A8ED-4852-A9B1-DCD1-3BEADE01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A0705C-AB35-F946-5081-A3C8CCCF67F1}"/>
              </a:ext>
            </a:extLst>
          </p:cNvPr>
          <p:cNvSpPr/>
          <p:nvPr/>
        </p:nvSpPr>
        <p:spPr>
          <a:xfrm>
            <a:off x="12207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F293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45D4B9-B06D-0229-DAC8-9805CB1E4297}"/>
              </a:ext>
            </a:extLst>
          </p:cNvPr>
          <p:cNvSpPr/>
          <p:nvPr/>
        </p:nvSpPr>
        <p:spPr>
          <a:xfrm>
            <a:off x="3952875" y="2614613"/>
            <a:ext cx="4286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4500" b="1">
                <a:solidFill>
                  <a:srgbClr val="1F293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谢谢聆听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2D2F6E-DF9F-7EA3-3BC1-74AA5C83694A}"/>
              </a:ext>
            </a:extLst>
          </p:cNvPr>
          <p:cNvSpPr/>
          <p:nvPr/>
        </p:nvSpPr>
        <p:spPr>
          <a:xfrm>
            <a:off x="5486400" y="36337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167343A-6590-B4BB-AEEC-97DAC97900CD}"/>
              </a:ext>
            </a:extLst>
          </p:cNvPr>
          <p:cNvSpPr/>
          <p:nvPr/>
        </p:nvSpPr>
        <p:spPr>
          <a:xfrm>
            <a:off x="4333776" y="49863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868C73-D01B-9380-6EDE-D0B19156D5A4}"/>
              </a:ext>
            </a:extLst>
          </p:cNvPr>
          <p:cNvSpPr/>
          <p:nvPr/>
        </p:nvSpPr>
        <p:spPr>
          <a:xfrm>
            <a:off x="4643338" y="496728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汇报人：刘瑶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56B9EA-DC04-CD2D-B13E-08F36D3C6EBA}"/>
              </a:ext>
            </a:extLst>
          </p:cNvPr>
          <p:cNvSpPr/>
          <p:nvPr/>
        </p:nvSpPr>
        <p:spPr>
          <a:xfrm>
            <a:off x="6334026" y="49863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AEBD54-617B-4C49-9B1E-48EA9F9B9040}"/>
              </a:ext>
            </a:extLst>
          </p:cNvPr>
          <p:cNvSpPr/>
          <p:nvPr/>
        </p:nvSpPr>
        <p:spPr>
          <a:xfrm>
            <a:off x="6643589" y="4967288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思源宋体" pitchFamily="34" charset="-120"/>
              </a:rPr>
              <a:t>2026年2月9日</a:t>
            </a: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Image 0" descr="https://kimi-img.moonshot.cn/pub/slides/26-02-07-14:21:21-d63djo940tj8cmhuh0k0.png">
            <a:extLst>
              <a:ext uri="{FF2B5EF4-FFF2-40B4-BE49-F238E27FC236}">
                <a16:creationId xmlns:a16="http://schemas.microsoft.com/office/drawing/2014/main" id="{2FFFCAF0-44BD-CFD0-EF89-8DAB9DD8F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3" y="97408"/>
            <a:ext cx="1838294" cy="52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144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957</Words>
  <Application>Microsoft Office PowerPoint</Application>
  <PresentationFormat>宽屏</PresentationFormat>
  <Paragraphs>238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Wingdings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审核流程智能化：智能审单系统驱动运营效率提升</dc:title>
  <dc:subject>审核流程智能化：智能审单系统驱动运营效率提升</dc:subject>
  <dc:creator>Kimi</dc:creator>
  <cp:lastModifiedBy>yao liu</cp:lastModifiedBy>
  <cp:revision>18</cp:revision>
  <dcterms:created xsi:type="dcterms:W3CDTF">2026-02-07T06:30:09Z</dcterms:created>
  <dcterms:modified xsi:type="dcterms:W3CDTF">2026-02-09T05:36:36Z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审核流程智能化：智能审单系统驱动运营效率提升","ContentProducer":"001191110108MACG2KBH8F10000","ProduceID":"19c36be7-d982-8216-8000-000078f8f3ee","ReservedCode1":"","ContentPropagator":"001191110108MACG2KBH8F20000","PropagateID":"19c36be7-d982-8216-8000-000078f8f3ee","ReservedCode2":""}</vt:lpwstr>
  </property>
</Properties>
</file>